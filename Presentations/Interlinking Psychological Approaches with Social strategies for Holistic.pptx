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0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104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50774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7637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5150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38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6136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9446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95951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0463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1871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8010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25065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9407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5909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4427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96689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3CC05-2A3E-465E-9B83-87FCA4E080FC}" type="datetimeFigureOut">
              <a:rPr lang="en-ZA" smtClean="0"/>
              <a:t>2025/12/17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11F8DC7-65B1-411F-B525-1107FD008A9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7252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F775-8BDE-A4CA-030E-2477ED9A0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288" y="2105954"/>
            <a:ext cx="9797143" cy="1646302"/>
          </a:xfrm>
        </p:spPr>
        <p:txBody>
          <a:bodyPr/>
          <a:lstStyle/>
          <a:p>
            <a:r>
              <a:rPr lang="en-GB" sz="1800" dirty="0"/>
              <a:t>INTERLINKING PSYCHOLOGICAL APPROACHES WITH SOCIAL STRATEGIES FOR HOLISTIC HEALTH</a:t>
            </a:r>
            <a:endParaRPr lang="en-ZA" sz="1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BDD3-F501-5CC3-EFC1-7798C3F932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ZESULIWE MTHEMBU-MABASO</a:t>
            </a:r>
          </a:p>
          <a:p>
            <a:r>
              <a:rPr lang="en-GB" dirty="0"/>
              <a:t>SOCIAL WORK MANAGER</a:t>
            </a:r>
          </a:p>
          <a:p>
            <a:r>
              <a:rPr lang="en-GB" dirty="0"/>
              <a:t>DISTRICT SPECIALIST MENTAL HEALTH TEAM REGION 4  </a:t>
            </a:r>
          </a:p>
          <a:p>
            <a:r>
              <a:rPr lang="en-GB" dirty="0"/>
              <a:t>13 JANUARY 2025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61741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F775-8BDE-A4CA-030E-2477ED9A0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/>
              <a:t>INTRODUCTION</a:t>
            </a:r>
            <a:endParaRPr lang="en-ZA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BDD3-F501-5CC3-EFC1-7798C3F93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session focuses specifically on </a:t>
            </a:r>
            <a:r>
              <a:rPr lang="en-GB" b="1" dirty="0"/>
              <a:t>how interlinking psychological approaches and social strategies enables holistic health outcomes</a:t>
            </a:r>
            <a:r>
              <a:rPr lang="en-GB" dirty="0"/>
              <a:t>, rather than viewing them as separate or parallel interventions.</a:t>
            </a:r>
          </a:p>
          <a:p>
            <a:r>
              <a:rPr lang="en-GB" dirty="0"/>
              <a:t>In real-world health settings, psychological symptoms often emerge from social distress, while social challenges are intensified by psychological vulnerability. When these are addressed in isolation, care becomes fragmented and less effective.</a:t>
            </a:r>
          </a:p>
          <a:p>
            <a:r>
              <a:rPr lang="en-GB" dirty="0"/>
              <a:t>The integration of </a:t>
            </a:r>
            <a:r>
              <a:rPr lang="en-GB" b="1" dirty="0"/>
              <a:t>preventative and curative care</a:t>
            </a:r>
            <a:r>
              <a:rPr lang="en-GB" dirty="0"/>
              <a:t> is only possible when psychological and social interventions are intentionally connected within </a:t>
            </a:r>
            <a:r>
              <a:rPr lang="en-GB" b="1" dirty="0"/>
              <a:t>multidisciplinary health practice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08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F775-8BDE-A4CA-030E-2477ED9A0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/>
              <a:t>INTRODUCTION</a:t>
            </a:r>
            <a:endParaRPr lang="en-ZA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BDD3-F501-5CC3-EFC1-7798C3F93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Purpose of the session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 demonstrate how psychological approaches and social strategies complement and strengthen one another.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 show how this integration supports both prevention and treatment across the continuum of care.</a:t>
            </a:r>
          </a:p>
          <a:p>
            <a:r>
              <a:rPr lang="en-GB" b="1" dirty="0"/>
              <a:t>Learning objectives</a:t>
            </a:r>
          </a:p>
          <a:p>
            <a:r>
              <a:rPr lang="en-GB" dirty="0"/>
              <a:t>By the end of this session, participants will be able to:</a:t>
            </a:r>
          </a:p>
          <a:p>
            <a:pPr>
              <a:buFont typeface="+mj-lt"/>
              <a:buAutoNum type="arabicPeriod"/>
            </a:pPr>
            <a:r>
              <a:rPr lang="en-GB" dirty="0"/>
              <a:t>Explain how psychological and social interventions interlink to promote holistic health.</a:t>
            </a:r>
          </a:p>
          <a:p>
            <a:pPr>
              <a:buFont typeface="+mj-lt"/>
              <a:buAutoNum type="arabicPeriod"/>
            </a:pPr>
            <a:r>
              <a:rPr lang="en-GB" dirty="0"/>
              <a:t>Identify missed opportunities when care is fragmented.</a:t>
            </a:r>
          </a:p>
          <a:p>
            <a:pPr>
              <a:buFont typeface="+mj-lt"/>
              <a:buAutoNum type="arabicPeriod"/>
            </a:pPr>
            <a:r>
              <a:rPr lang="en-GB" dirty="0"/>
              <a:t>Apply integrated approaches within preventative and curative services.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51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F775-8BDE-A4CA-030E-2477ED9A0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UNDERSTANDING HOLISTIC HEALTH THROUGH INTEGRATION </a:t>
            </a:r>
            <a:endParaRPr lang="en-ZA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BDD3-F501-5CC3-EFC1-7798C3F9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085" y="1395307"/>
            <a:ext cx="8596668" cy="4977501"/>
          </a:xfrm>
        </p:spPr>
        <p:txBody>
          <a:bodyPr>
            <a:normAutofit fontScale="85000" lnSpcReduction="10000"/>
          </a:bodyPr>
          <a:lstStyle/>
          <a:p>
            <a:r>
              <a:rPr lang="en-GB" b="1" dirty="0"/>
              <a:t>Holistic health redefined</a:t>
            </a:r>
          </a:p>
          <a:p>
            <a:r>
              <a:rPr lang="en-GB" dirty="0"/>
              <a:t>Holistic health is achieved </a:t>
            </a:r>
            <a:r>
              <a:rPr lang="en-GB" b="1" dirty="0"/>
              <a:t>not by adding multiple services</a:t>
            </a:r>
            <a:r>
              <a:rPr lang="en-GB" dirty="0"/>
              <a:t>, but by </a:t>
            </a:r>
            <a:r>
              <a:rPr lang="en-GB" b="1" dirty="0"/>
              <a:t>interlinking psychological and social responses</a:t>
            </a:r>
            <a:r>
              <a:rPr lang="en-GB" dirty="0"/>
              <a:t> to a person’s lived reality.</a:t>
            </a:r>
          </a:p>
          <a:p>
            <a:r>
              <a:rPr lang="en-GB" b="1" dirty="0"/>
              <a:t>Psychological approaches contribute: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Insight into thoughts, emotions, behaviours, and trauma responses.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Skills for emotional regulation, coping, meaning-making, and behaviour change.</a:t>
            </a:r>
          </a:p>
          <a:p>
            <a:r>
              <a:rPr lang="en-GB" b="1" dirty="0"/>
              <a:t>Social strategies contribute: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Addressing lived conditions such as poverty, violence, isolation, and family dynamics.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Mobilising resources, social protection, and community support systems.</a:t>
            </a:r>
          </a:p>
          <a:p>
            <a:r>
              <a:rPr lang="en-GB" b="1" dirty="0"/>
              <a:t>The interlinking point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Psychological healing cannot be sustained without social stability, and social interventions are ineffective without psychological readiness and support.</a:t>
            </a:r>
          </a:p>
          <a:p>
            <a:r>
              <a:rPr lang="en-GB" b="1" dirty="0"/>
              <a:t>Practical implication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Treating anxiety without addressing unemployment leads to relapse.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Providing food parcels without emotional support sustains dependency, not wellness.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424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F775-8BDE-A4CA-030E-2477ED9A0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" y="0"/>
            <a:ext cx="920868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000" dirty="0"/>
              <a:t>Interlinking Prevention and Cure Through Psychology and Social Strategies</a:t>
            </a:r>
            <a:endParaRPr lang="en-ZA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BDD3-F501-5CC3-EFC1-7798C3F9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033" y="1236686"/>
            <a:ext cx="9208689" cy="4977501"/>
          </a:xfrm>
        </p:spPr>
        <p:txBody>
          <a:bodyPr>
            <a:normAutofit fontScale="85000" lnSpcReduction="20000"/>
          </a:bodyPr>
          <a:lstStyle/>
          <a:p>
            <a:r>
              <a:rPr lang="en-GB" sz="1600" b="1" dirty="0"/>
              <a:t>Prevention through integration</a:t>
            </a:r>
          </a:p>
          <a:p>
            <a:r>
              <a:rPr lang="en-GB" sz="1600" dirty="0"/>
              <a:t>When psychological and social approaches are linked early: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Emotional distress is identified before it becomes pathology.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Social risks are addressed before crisis intervention is required.</a:t>
            </a:r>
          </a:p>
          <a:p>
            <a:r>
              <a:rPr lang="en-GB" sz="1600" b="1" dirty="0"/>
              <a:t>Examples: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Psychoeducation + parenting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School-based mental health screening + social services referral</a:t>
            </a:r>
          </a:p>
          <a:p>
            <a:r>
              <a:rPr lang="en-GB" sz="1600" b="1" dirty="0"/>
              <a:t>Curative care strengthened by integration</a:t>
            </a:r>
          </a:p>
          <a:p>
            <a:r>
              <a:rPr lang="en-GB" sz="1600" dirty="0"/>
              <a:t>In treatment settings: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Psychological therapy addresses internal processes.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Social interventions stabilise the external environment.</a:t>
            </a:r>
          </a:p>
          <a:p>
            <a:r>
              <a:rPr lang="en-GB" sz="1600" b="1" dirty="0"/>
              <a:t>Examples: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Depression treatment + food security interventions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Trauma therapy + GBV shelter and legal support</a:t>
            </a:r>
          </a:p>
          <a:p>
            <a:r>
              <a:rPr lang="en-GB" sz="1600" b="1" dirty="0"/>
              <a:t>Connection to the theme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Integrating preventative and curative care means responding to both why a person is unwell and what maintains the illness.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328708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F775-8BDE-A4CA-030E-2477ED9A0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" y="0"/>
            <a:ext cx="9208688" cy="1320800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Psychological Approaches Relevant to Holistic Health</a:t>
            </a:r>
            <a:endParaRPr lang="en-ZA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BDD3-F501-5CC3-EFC1-7798C3F9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033" y="1236686"/>
            <a:ext cx="9208689" cy="49775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1600" b="1" dirty="0"/>
              <a:t>Key approaches</a:t>
            </a:r>
          </a:p>
          <a:p>
            <a:r>
              <a:rPr lang="en-GB" sz="1600" b="1" dirty="0"/>
              <a:t>1. Cognitive Behavioural Approaches (CBT-informed)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Understanding thought–emotion–behaviour links.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Useful in depression, anxiety, adherence challenges.</a:t>
            </a:r>
          </a:p>
          <a:p>
            <a:r>
              <a:rPr lang="en-GB" sz="1600" b="1" dirty="0"/>
              <a:t>2. Trauma-Informed Care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Recognises impact of trauma on behaviour and health.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Emphasises safety, choice, trust, collaboration, empowerment.</a:t>
            </a:r>
          </a:p>
          <a:p>
            <a:r>
              <a:rPr lang="en-GB" sz="1600" b="1" dirty="0"/>
              <a:t>3. Person-Centred Approach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Respect for autonomy, dignity, lived experience.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Builds therapeutic alliance across disciplines.</a:t>
            </a:r>
          </a:p>
          <a:p>
            <a:r>
              <a:rPr lang="en-GB" sz="1600" b="1" dirty="0"/>
              <a:t>4. Strengths-Based Perspective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Focuses on resilience and existing capacities.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Aligns well with community and social development work.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924069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F775-8BDE-A4CA-030E-2477ED9A0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" y="0"/>
            <a:ext cx="9208688" cy="1320800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Social Strategies for Holistic Health</a:t>
            </a:r>
            <a:endParaRPr lang="en-ZA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BDD3-F501-5CC3-EFC1-7798C3F9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033" y="1236686"/>
            <a:ext cx="9208689" cy="49775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sz="1600" b="1" dirty="0"/>
              <a:t>Core social strategies</a:t>
            </a:r>
          </a:p>
          <a:p>
            <a:r>
              <a:rPr lang="en-GB" sz="1600" b="1" dirty="0"/>
              <a:t>1. Addressing Social Determinants of Health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Food security, housing, income, safety.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Intersectoral referrals (DSD, NGOs, education, labour).</a:t>
            </a:r>
          </a:p>
          <a:p>
            <a:r>
              <a:rPr lang="en-GB" sz="1600" b="1" dirty="0"/>
              <a:t>2. Family and Community Systems Approach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Individual health is embedded in family and community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Engaging caregivers, partners, community leaders.</a:t>
            </a:r>
          </a:p>
          <a:p>
            <a:r>
              <a:rPr lang="en-GB" sz="1600" b="1" dirty="0"/>
              <a:t>3. Social Support and Networks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Peer support groups.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Community-based mental health initiatives.</a:t>
            </a:r>
          </a:p>
          <a:p>
            <a:r>
              <a:rPr lang="en-GB" sz="1600" b="1" dirty="0"/>
              <a:t>4. Advocacy and Policy Engagement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Identifying systemic barriers.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Using data and cases to influence service improvement.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565462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F775-8BDE-A4CA-030E-2477ED9A0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" y="0"/>
            <a:ext cx="920868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000" dirty="0"/>
              <a:t>How Interlinking Psychological and Social Approaches Enables Holistic Health</a:t>
            </a:r>
            <a:endParaRPr lang="en-ZA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BDD3-F501-5CC3-EFC1-7798C3F9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033" y="1390261"/>
            <a:ext cx="9208689" cy="4823926"/>
          </a:xfrm>
        </p:spPr>
        <p:txBody>
          <a:bodyPr>
            <a:normAutofit/>
          </a:bodyPr>
          <a:lstStyle/>
          <a:p>
            <a:r>
              <a:rPr lang="en-GB" sz="1600" b="1" dirty="0"/>
              <a:t>Why interlinking matters</a:t>
            </a:r>
          </a:p>
          <a:p>
            <a:r>
              <a:rPr lang="en-GB" sz="1600" dirty="0"/>
              <a:t>Fragmented care treats parts of a person. Integrated care restores the whole person.</a:t>
            </a:r>
          </a:p>
          <a:p>
            <a:endParaRPr lang="en-GB" sz="1600" dirty="0"/>
          </a:p>
          <a:p>
            <a:pPr marL="0" indent="0" algn="ctr">
              <a:buNone/>
            </a:pPr>
            <a:r>
              <a:rPr lang="en-GB" sz="1600" b="1" dirty="0"/>
              <a:t>Interlinking in practice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50A3A-8015-3B7A-B332-7110BB2F3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29" y="3027855"/>
            <a:ext cx="7702490" cy="355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5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F775-8BDE-A4CA-030E-2477ED9A0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6" y="354563"/>
            <a:ext cx="9208688" cy="1320800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Brief integrated case example</a:t>
            </a:r>
            <a:endParaRPr lang="en-ZA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BDD3-F501-5CC3-EFC1-7798C3F9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033" y="1856791"/>
            <a:ext cx="9208689" cy="43573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1600" dirty="0"/>
              <a:t>A patient presenting with chronic anxiety and somatic complaints: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/>
              <a:t>Psychological approach: trauma-informed counselling and coping skills.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/>
              <a:t>Social strategy: addressing domestic instability and social isolation.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/>
              <a:t>Outcome: reduced health service utilisation and improved quality of life.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600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sz="1600" dirty="0"/>
              <a:t>Holistic health emerges at the point where psychological insight meets social action.</a:t>
            </a:r>
          </a:p>
        </p:txBody>
      </p:sp>
    </p:spTree>
    <p:extLst>
      <p:ext uri="{BB962C8B-B14F-4D97-AF65-F5344CB8AC3E}">
        <p14:creationId xmlns:p14="http://schemas.microsoft.com/office/powerpoint/2010/main" val="3376117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F775-8BDE-A4CA-030E-2477ED9A0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6" y="354563"/>
            <a:ext cx="9208688" cy="1320800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Role of the Multidisciplinary Team (MDT)</a:t>
            </a:r>
            <a:endParaRPr lang="en-ZA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BDD3-F501-5CC3-EFC1-7798C3F9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033" y="1856791"/>
            <a:ext cx="9208689" cy="4357395"/>
          </a:xfrm>
        </p:spPr>
        <p:txBody>
          <a:bodyPr>
            <a:normAutofit/>
          </a:bodyPr>
          <a:lstStyle/>
          <a:p>
            <a:r>
              <a:rPr lang="en-GB" sz="1600" b="1" dirty="0"/>
              <a:t>Why MDTs matter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No single discipline can address holistic health alone.</a:t>
            </a:r>
          </a:p>
          <a:p>
            <a:r>
              <a:rPr lang="en-GB" sz="1600" b="1" dirty="0"/>
              <a:t>Complementary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Medical:</a:t>
            </a:r>
            <a:r>
              <a:rPr lang="en-GB" sz="1600" dirty="0"/>
              <a:t> diagnosis, treatment, monitoring.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Psychological:</a:t>
            </a:r>
            <a:r>
              <a:rPr lang="en-GB" sz="1600" dirty="0"/>
              <a:t> emotional regulation, insight, behaviour change.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Social work:</a:t>
            </a:r>
            <a:r>
              <a:rPr lang="en-GB" sz="1600" dirty="0"/>
              <a:t> social assessment, resource mobilisation, advocacy.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Nursing &amp; CHWs:</a:t>
            </a:r>
            <a:r>
              <a:rPr lang="en-GB" sz="1600" dirty="0"/>
              <a:t> continuity of care, education, follow-up.</a:t>
            </a:r>
          </a:p>
          <a:p>
            <a:r>
              <a:rPr lang="en-GB" sz="1600" b="1" dirty="0"/>
              <a:t>Principles of effective MDT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Shared care plans.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Clear referral pathways.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Mutual respect for professional roles.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099163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F775-8BDE-A4CA-030E-2477ED9A0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6" y="354563"/>
            <a:ext cx="9208688" cy="1320800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Practical Strategies for Integration in Multidisciplinary Health Practice</a:t>
            </a:r>
            <a:endParaRPr lang="en-ZA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BDD3-F501-5CC3-EFC1-7798C3F9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033" y="1856790"/>
            <a:ext cx="9444481" cy="473062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1600" dirty="0"/>
              <a:t>This section translates integration from theory into </a:t>
            </a:r>
            <a:r>
              <a:rPr lang="en-GB" sz="1600" b="1" dirty="0"/>
              <a:t>day-to-day practice</a:t>
            </a:r>
            <a:r>
              <a:rPr lang="en-GB" sz="1600" dirty="0"/>
              <a:t>, demonstrating how psychological approaches and social strategies can be operationalised across preventative and curative care.</a:t>
            </a:r>
          </a:p>
          <a:p>
            <a:r>
              <a:rPr lang="en-GB" sz="1600" b="1" dirty="0"/>
              <a:t>Integration at Service Level</a:t>
            </a:r>
          </a:p>
          <a:p>
            <a:r>
              <a:rPr lang="en-GB" sz="1600" b="1" dirty="0"/>
              <a:t>a) Holistic entry-point assessments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Incorporate routine psychosocial screening in all clinical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Assess emotional well-being </a:t>
            </a:r>
            <a:r>
              <a:rPr lang="en-GB" sz="1600" i="1" dirty="0"/>
              <a:t>and</a:t>
            </a:r>
            <a:r>
              <a:rPr lang="en-GB" sz="1600" dirty="0"/>
              <a:t> social determinants at first contact.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Use standardised tools combined with narrative assessment.</a:t>
            </a:r>
          </a:p>
          <a:p>
            <a:r>
              <a:rPr lang="en-GB" sz="1600" b="1" dirty="0"/>
              <a:t>b) Integrated care planning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Develop care plans that include psychological goals and social interventions.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Align medical, psychological, and social objectives.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Review plans jointly in MDT meetings.</a:t>
            </a:r>
          </a:p>
          <a:p>
            <a:r>
              <a:rPr lang="en-GB" sz="1600" b="1" dirty="0"/>
              <a:t>c) Joint case discussions and referrals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Regular MDT case reviews to prevent fragmented interventions.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Warm referrals rather than paper-based handovers.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Clear feedback loops between disciplines.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endParaRPr lang="en-GB" sz="1600" dirty="0"/>
          </a:p>
          <a:p>
            <a:pPr>
              <a:buFont typeface="Wingdings" panose="05000000000000000000" pitchFamily="2" charset="2"/>
              <a:buChar char="Ø"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547336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F775-8BDE-A4CA-030E-2477ED9A0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36" y="354563"/>
            <a:ext cx="9208688" cy="1320800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Conclusion: Linking Integration to the Theme</a:t>
            </a:r>
            <a:endParaRPr lang="en-ZA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BDD3-F501-5CC3-EFC1-7798C3F9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033" y="1856791"/>
            <a:ext cx="9208689" cy="43573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1600" b="1" dirty="0"/>
              <a:t>Reconnecting to the theme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dirty="0"/>
              <a:t>Integrating preventative and curative care in multidisciplinary practice requires: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Seeing psychological and social care as interdependent, not optional add-ons.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Designing services that respond across the life course and care continuum.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1600" b="1" dirty="0"/>
              <a:t>Final key takeaways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Psychological approaches prepare individuals for healing and change.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Social strategies create environments where healing can be sustained.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Multidisciplinary teams are the bridge that connects prevention and cure.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600" b="1" dirty="0"/>
              <a:t>Closing reflection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When psychology and social strategies work together, health systems move from managing illness to cultivating wholeness.</a:t>
            </a:r>
          </a:p>
        </p:txBody>
      </p:sp>
    </p:spTree>
    <p:extLst>
      <p:ext uri="{BB962C8B-B14F-4D97-AF65-F5344CB8AC3E}">
        <p14:creationId xmlns:p14="http://schemas.microsoft.com/office/powerpoint/2010/main" val="34080737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</TotalTime>
  <Words>1031</Words>
  <Application>Microsoft Office PowerPoint</Application>
  <PresentationFormat>Widescreen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Trebuchet MS</vt:lpstr>
      <vt:lpstr>Wingdings</vt:lpstr>
      <vt:lpstr>Wingdings 3</vt:lpstr>
      <vt:lpstr>Facet</vt:lpstr>
      <vt:lpstr>INTERLINKING PSYCHOLOGICAL APPROACHES WITH SOCIAL STRATEGIES FOR HOLISTIC HEALTH</vt:lpstr>
      <vt:lpstr>INTRODUCTION</vt:lpstr>
      <vt:lpstr>INTRODUCTION</vt:lpstr>
      <vt:lpstr>UNDERSTANDING HOLISTIC HEALTH THROUGH INTEGRATION </vt:lpstr>
      <vt:lpstr>Interlinking Prevention and Cure Through Psychology and Social Strategies</vt:lpstr>
      <vt:lpstr>Psychological Approaches Relevant to Holistic Health</vt:lpstr>
      <vt:lpstr>Social Strategies for Holistic Health</vt:lpstr>
      <vt:lpstr>How Interlinking Psychological and Social Approaches Enables Holistic Health</vt:lpstr>
      <vt:lpstr>Brief integrated case example</vt:lpstr>
      <vt:lpstr>Role of the Multidisciplinary Team (MDT)</vt:lpstr>
      <vt:lpstr>Practical Strategies for Integration in Multidisciplinary Health Practice</vt:lpstr>
      <vt:lpstr>Conclusion: Linking Integration to the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Interlinking Psychological Approaches with Social strategies for Holistic Health</dc:title>
  <dc:creator>mthembumabasozesuliwe@gmail.com</dc:creator>
  <cp:lastModifiedBy>mthembumabasozesuliwe@gmail.com</cp:lastModifiedBy>
  <cp:revision>7</cp:revision>
  <dcterms:created xsi:type="dcterms:W3CDTF">2025-12-15T09:51:33Z</dcterms:created>
  <dcterms:modified xsi:type="dcterms:W3CDTF">2025-12-17T16:09:46Z</dcterms:modified>
</cp:coreProperties>
</file>