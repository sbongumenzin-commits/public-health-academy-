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56" r:id="rId2"/>
    <p:sldId id="521" r:id="rId3"/>
    <p:sldId id="522" r:id="rId4"/>
    <p:sldId id="523" r:id="rId5"/>
    <p:sldId id="524" r:id="rId6"/>
    <p:sldId id="528" r:id="rId7"/>
    <p:sldId id="529" r:id="rId8"/>
    <p:sldId id="526" r:id="rId9"/>
    <p:sldId id="530" r:id="rId10"/>
    <p:sldId id="525" r:id="rId11"/>
    <p:sldId id="527" r:id="rId12"/>
    <p:sldId id="531" r:id="rId13"/>
    <p:sldId id="532" r:id="rId14"/>
    <p:sldId id="533" r:id="rId15"/>
    <p:sldId id="534" r:id="rId16"/>
    <p:sldId id="535" r:id="rId17"/>
    <p:sldId id="536" r:id="rId18"/>
    <p:sldId id="537" r:id="rId19"/>
    <p:sldId id="538" r:id="rId20"/>
    <p:sldId id="539" r:id="rId21"/>
    <p:sldId id="541" r:id="rId22"/>
    <p:sldId id="540" r:id="rId23"/>
  </p:sldIdLst>
  <p:sldSz cx="9144000" cy="6858000" type="screen4x3"/>
  <p:notesSz cx="6797675" cy="9926638"/>
  <p:defaultTextStyle>
    <a:lvl1pPr defTabSz="457200">
      <a:defRPr>
        <a:latin typeface="Calibri"/>
        <a:ea typeface="Calibri"/>
        <a:cs typeface="Calibri"/>
        <a:sym typeface="Calibri"/>
      </a:defRPr>
    </a:lvl1pPr>
    <a:lvl2pPr indent="457200" defTabSz="457200">
      <a:defRPr>
        <a:latin typeface="Calibri"/>
        <a:ea typeface="Calibri"/>
        <a:cs typeface="Calibri"/>
        <a:sym typeface="Calibri"/>
      </a:defRPr>
    </a:lvl2pPr>
    <a:lvl3pPr indent="914400" defTabSz="457200">
      <a:defRPr>
        <a:latin typeface="Calibri"/>
        <a:ea typeface="Calibri"/>
        <a:cs typeface="Calibri"/>
        <a:sym typeface="Calibri"/>
      </a:defRPr>
    </a:lvl3pPr>
    <a:lvl4pPr indent="1371600" defTabSz="457200">
      <a:defRPr>
        <a:latin typeface="Calibri"/>
        <a:ea typeface="Calibri"/>
        <a:cs typeface="Calibri"/>
        <a:sym typeface="Calibri"/>
      </a:defRPr>
    </a:lvl4pPr>
    <a:lvl5pPr indent="1828800" defTabSz="457200">
      <a:defRPr>
        <a:latin typeface="Calibri"/>
        <a:ea typeface="Calibri"/>
        <a:cs typeface="Calibri"/>
        <a:sym typeface="Calibri"/>
      </a:defRPr>
    </a:lvl5pPr>
    <a:lvl6pPr indent="2286000" defTabSz="457200">
      <a:defRPr>
        <a:latin typeface="Calibri"/>
        <a:ea typeface="Calibri"/>
        <a:cs typeface="Calibri"/>
        <a:sym typeface="Calibri"/>
      </a:defRPr>
    </a:lvl6pPr>
    <a:lvl7pPr indent="2743200" defTabSz="457200">
      <a:defRPr>
        <a:latin typeface="Calibri"/>
        <a:ea typeface="Calibri"/>
        <a:cs typeface="Calibri"/>
        <a:sym typeface="Calibri"/>
      </a:defRPr>
    </a:lvl7pPr>
    <a:lvl8pPr indent="3200400" defTabSz="457200">
      <a:defRPr>
        <a:latin typeface="Calibri"/>
        <a:ea typeface="Calibri"/>
        <a:cs typeface="Calibri"/>
        <a:sym typeface="Calibri"/>
      </a:defRPr>
    </a:lvl8pPr>
    <a:lvl9pPr indent="3657600" defTabSz="457200">
      <a:defRPr>
        <a:latin typeface="Calibri"/>
        <a:ea typeface="Calibri"/>
        <a:cs typeface="Calibri"/>
        <a:sym typeface="Calibri"/>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99"/>
    <a:srgbClr val="CFD7E7"/>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7E7"/>
          </a:solidFill>
        </a:fill>
      </a:tcStyle>
    </a:wholeTbl>
    <a:band2H>
      <a:tcTxStyle/>
      <a:tcStyle>
        <a:tcBdr/>
        <a:fill>
          <a:solidFill>
            <a:srgbClr val="E8ECF4"/>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F81BD"/>
          </a:solidFill>
        </a:fill>
      </a:tcStyle>
    </a:firstRow>
  </a:tblStyle>
  <a:tblStyle styleId="{C7B018BB-80A7-4F77-B60F-C8B233D01FF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EE7D0"/>
          </a:solidFill>
        </a:fill>
      </a:tcStyle>
    </a:wholeTbl>
    <a:band2H>
      <a:tcTxStyle/>
      <a:tcStyle>
        <a:tcBdr/>
        <a:fill>
          <a:solidFill>
            <a:srgbClr val="EFF3E9"/>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BBB59"/>
          </a:solidFill>
        </a:fill>
      </a:tcStyle>
    </a:firstRow>
  </a:tblStyle>
  <a:tblStyle styleId="{EEE7283C-3CF3-47DC-8721-378D4A62B228}"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CDCCE"/>
          </a:solidFill>
        </a:fill>
      </a:tcStyle>
    </a:wholeTbl>
    <a:band2H>
      <a:tcTxStyle/>
      <a:tcStyle>
        <a:tcBdr/>
        <a:fill>
          <a:solidFill>
            <a:srgbClr val="FDEEE8"/>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79646"/>
          </a:solidFill>
        </a:fill>
      </a:tcStyle>
    </a:firstRow>
  </a:tblStyle>
  <a:tblStyle styleId="{CF821DB8-F4EB-4A41-A1BA-3FCAFE7338EE}" styleName="">
    <a:tblBg/>
    <a:wholeTbl>
      <a:tcTxStyle b="on" i="on">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F81BD"/>
          </a:solidFill>
        </a:fill>
      </a:tcStyle>
    </a:firstCol>
    <a:lastRow>
      <a:tcTxStyle b="on" i="on">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4F81BD"/>
          </a:solidFill>
        </a:fill>
      </a:tcStyle>
    </a:firstRow>
  </a:tblStyle>
  <a:tblStyle styleId="{33BA23B1-9221-436E-865A-0063620EA4FD}" styleName="">
    <a:tblBg/>
    <a:wholeTbl>
      <a:tcTxStyle b="on" i="on">
        <a:font>
          <a:latin typeface="Calibri"/>
          <a:ea typeface="Calibri"/>
          <a:cs typeface="Calibri"/>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Calibri"/>
          <a:ea typeface="Calibri"/>
          <a:cs typeface="Calibri"/>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Calibri"/>
          <a:ea typeface="Calibri"/>
          <a:cs typeface="Calibri"/>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5745" autoAdjust="0"/>
  </p:normalViewPr>
  <p:slideViewPr>
    <p:cSldViewPr>
      <p:cViewPr varScale="1">
        <p:scale>
          <a:sx n="64" d="100"/>
          <a:sy n="64" d="100"/>
        </p:scale>
        <p:origin x="1590" y="78"/>
      </p:cViewPr>
      <p:guideLst>
        <p:guide orient="horz" pos="2160"/>
        <p:guide pos="2880"/>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6E48C622-C3A1-42FF-A592-B091867AD310}" type="datetimeFigureOut">
              <a:rPr lang="en-ZA" smtClean="0"/>
              <a:t>2025/12/19</a:t>
            </a:fld>
            <a:endParaRPr lang="en-ZA" dirty="0"/>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ZA" dirty="0"/>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503F54F1-17CB-4AB7-B429-7C94BC9A6ED8}" type="slidenum">
              <a:rPr lang="en-ZA" smtClean="0"/>
              <a:t>‹#›</a:t>
            </a:fld>
            <a:endParaRPr lang="en-ZA" dirty="0"/>
          </a:p>
        </p:txBody>
      </p:sp>
    </p:spTree>
    <p:extLst>
      <p:ext uri="{BB962C8B-B14F-4D97-AF65-F5344CB8AC3E}">
        <p14:creationId xmlns:p14="http://schemas.microsoft.com/office/powerpoint/2010/main" val="41562210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 name="Shape 46"/>
          <p:cNvSpPr>
            <a:spLocks noGrp="1" noRot="1" noChangeAspect="1"/>
          </p:cNvSpPr>
          <p:nvPr>
            <p:ph type="sldImg"/>
          </p:nvPr>
        </p:nvSpPr>
        <p:spPr>
          <a:xfrm>
            <a:off x="917575" y="744538"/>
            <a:ext cx="4962525" cy="3722687"/>
          </a:xfrm>
          <a:prstGeom prst="rect">
            <a:avLst/>
          </a:prstGeom>
        </p:spPr>
        <p:txBody>
          <a:bodyPr/>
          <a:lstStyle/>
          <a:p>
            <a:pPr lvl="0"/>
            <a:endParaRPr dirty="0"/>
          </a:p>
        </p:txBody>
      </p:sp>
      <p:sp>
        <p:nvSpPr>
          <p:cNvPr id="47" name="Shape 47"/>
          <p:cNvSpPr>
            <a:spLocks noGrp="1"/>
          </p:cNvSpPr>
          <p:nvPr>
            <p:ph type="body" sz="quarter" idx="1"/>
          </p:nvPr>
        </p:nvSpPr>
        <p:spPr>
          <a:xfrm>
            <a:off x="906357" y="4715153"/>
            <a:ext cx="4984962" cy="4466987"/>
          </a:xfrm>
          <a:prstGeom prst="rect">
            <a:avLst/>
          </a:prstGeom>
        </p:spPr>
        <p:txBody>
          <a:bodyPr/>
          <a:lstStyle/>
          <a:p>
            <a:pPr lvl="0"/>
            <a:endParaRPr/>
          </a:p>
        </p:txBody>
      </p:sp>
    </p:spTree>
    <p:extLst>
      <p:ext uri="{BB962C8B-B14F-4D97-AF65-F5344CB8AC3E}">
        <p14:creationId xmlns:p14="http://schemas.microsoft.com/office/powerpoint/2010/main" val="3011481721"/>
      </p:ext>
    </p:extLst>
  </p:cSld>
  <p:clrMap bg1="lt1" tx1="dk1" bg2="lt2" tx2="dk2" accent1="accent1" accent2="accent2" accent3="accent3" accent4="accent4" accent5="accent5" accent6="accent6" hlink="hlink" folHlink="folHlink"/>
  <p:notesStyle>
    <a:lvl1pPr defTabSz="457200">
      <a:lnSpc>
        <a:spcPct val="117999"/>
      </a:lnSpc>
      <a:defRPr sz="2200">
        <a:latin typeface="+mn-lt"/>
        <a:ea typeface="+mn-ea"/>
        <a:cs typeface="+mn-cs"/>
        <a:sym typeface="Helvetica Neue"/>
      </a:defRPr>
    </a:lvl1pPr>
    <a:lvl2pPr indent="228600" defTabSz="457200">
      <a:lnSpc>
        <a:spcPct val="117999"/>
      </a:lnSpc>
      <a:defRPr sz="2200">
        <a:latin typeface="+mn-lt"/>
        <a:ea typeface="+mn-ea"/>
        <a:cs typeface="+mn-cs"/>
        <a:sym typeface="Helvetica Neue"/>
      </a:defRPr>
    </a:lvl2pPr>
    <a:lvl3pPr indent="457200" defTabSz="457200">
      <a:lnSpc>
        <a:spcPct val="117999"/>
      </a:lnSpc>
      <a:defRPr sz="2200">
        <a:latin typeface="+mn-lt"/>
        <a:ea typeface="+mn-ea"/>
        <a:cs typeface="+mn-cs"/>
        <a:sym typeface="Helvetica Neue"/>
      </a:defRPr>
    </a:lvl3pPr>
    <a:lvl4pPr indent="685800" defTabSz="457200">
      <a:lnSpc>
        <a:spcPct val="117999"/>
      </a:lnSpc>
      <a:defRPr sz="2200">
        <a:latin typeface="+mn-lt"/>
        <a:ea typeface="+mn-ea"/>
        <a:cs typeface="+mn-cs"/>
        <a:sym typeface="Helvetica Neue"/>
      </a:defRPr>
    </a:lvl4pPr>
    <a:lvl5pPr indent="914400" defTabSz="457200">
      <a:lnSpc>
        <a:spcPct val="117999"/>
      </a:lnSpc>
      <a:defRPr sz="2200">
        <a:latin typeface="+mn-lt"/>
        <a:ea typeface="+mn-ea"/>
        <a:cs typeface="+mn-cs"/>
        <a:sym typeface="Helvetica Neue"/>
      </a:defRPr>
    </a:lvl5pPr>
    <a:lvl6pPr indent="1143000" defTabSz="457200">
      <a:lnSpc>
        <a:spcPct val="117999"/>
      </a:lnSpc>
      <a:defRPr sz="2200">
        <a:latin typeface="+mn-lt"/>
        <a:ea typeface="+mn-ea"/>
        <a:cs typeface="+mn-cs"/>
        <a:sym typeface="Helvetica Neue"/>
      </a:defRPr>
    </a:lvl6pPr>
    <a:lvl7pPr indent="1371600" defTabSz="457200">
      <a:lnSpc>
        <a:spcPct val="117999"/>
      </a:lnSpc>
      <a:defRPr sz="2200">
        <a:latin typeface="+mn-lt"/>
        <a:ea typeface="+mn-ea"/>
        <a:cs typeface="+mn-cs"/>
        <a:sym typeface="Helvetica Neue"/>
      </a:defRPr>
    </a:lvl7pPr>
    <a:lvl8pPr indent="1600200" defTabSz="457200">
      <a:lnSpc>
        <a:spcPct val="117999"/>
      </a:lnSpc>
      <a:defRPr sz="2200">
        <a:latin typeface="+mn-lt"/>
        <a:ea typeface="+mn-ea"/>
        <a:cs typeface="+mn-cs"/>
        <a:sym typeface="Helvetica Neue"/>
      </a:defRPr>
    </a:lvl8pPr>
    <a:lvl9pPr indent="1828800" defTabSz="45720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6" name="Shape 6"/>
          <p:cNvSpPr>
            <a:spLocks noGrp="1"/>
          </p:cNvSpPr>
          <p:nvPr>
            <p:ph type="title"/>
          </p:nvPr>
        </p:nvSpPr>
        <p:spPr>
          <a:xfrm>
            <a:off x="685800" y="1844675"/>
            <a:ext cx="7772400" cy="2041525"/>
          </a:xfrm>
          <a:prstGeom prst="rect">
            <a:avLst/>
          </a:prstGeom>
        </p:spPr>
        <p:txBody>
          <a:bodyPr/>
          <a:lstStyle/>
          <a:p>
            <a:pPr lvl="0">
              <a:defRPr sz="1800">
                <a:solidFill>
                  <a:srgbClr val="000000"/>
                </a:solidFill>
              </a:defRPr>
            </a:pPr>
            <a:r>
              <a:rPr sz="3200">
                <a:solidFill>
                  <a:srgbClr val="FFFFFF"/>
                </a:solidFill>
              </a:rPr>
              <a:t>Title Text</a:t>
            </a:r>
          </a:p>
        </p:txBody>
      </p:sp>
      <p:sp>
        <p:nvSpPr>
          <p:cNvPr id="7" name="Shape 7"/>
          <p:cNvSpPr>
            <a:spLocks noGrp="1"/>
          </p:cNvSpPr>
          <p:nvPr>
            <p:ph type="body" idx="1"/>
          </p:nvPr>
        </p:nvSpPr>
        <p:spPr>
          <a:xfrm>
            <a:off x="1371600" y="3886200"/>
            <a:ext cx="6400800" cy="29718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lvl="0">
              <a:defRPr sz="1800">
                <a:solidFill>
                  <a:srgbClr val="000000"/>
                </a:solidFill>
              </a:defRPr>
            </a:pPr>
            <a:r>
              <a:rPr sz="3200">
                <a:solidFill>
                  <a:srgbClr val="888888"/>
                </a:solidFill>
              </a:rPr>
              <a:t>Body Level One</a:t>
            </a:r>
          </a:p>
          <a:p>
            <a:pPr lvl="1">
              <a:defRPr sz="1800">
                <a:solidFill>
                  <a:srgbClr val="000000"/>
                </a:solidFill>
              </a:defRPr>
            </a:pPr>
            <a:r>
              <a:rPr sz="3200">
                <a:solidFill>
                  <a:srgbClr val="888888"/>
                </a:solidFill>
              </a:rPr>
              <a:t>Body Level Two</a:t>
            </a:r>
          </a:p>
          <a:p>
            <a:pPr lvl="2">
              <a:defRPr sz="1800">
                <a:solidFill>
                  <a:srgbClr val="000000"/>
                </a:solidFill>
              </a:defRPr>
            </a:pPr>
            <a:r>
              <a:rPr sz="3200">
                <a:solidFill>
                  <a:srgbClr val="888888"/>
                </a:solidFill>
              </a:rPr>
              <a:t>Body Level Three</a:t>
            </a:r>
          </a:p>
          <a:p>
            <a:pPr lvl="3">
              <a:defRPr sz="1800">
                <a:solidFill>
                  <a:srgbClr val="000000"/>
                </a:solidFill>
              </a:defRPr>
            </a:pPr>
            <a:r>
              <a:rPr sz="3200">
                <a:solidFill>
                  <a:srgbClr val="888888"/>
                </a:solidFill>
              </a:rPr>
              <a:t>Body Level Four</a:t>
            </a:r>
          </a:p>
          <a:p>
            <a:pPr lvl="4">
              <a:defRPr sz="1800">
                <a:solidFill>
                  <a:srgbClr val="000000"/>
                </a:solidFill>
              </a:defRPr>
            </a:pPr>
            <a:r>
              <a:rPr sz="3200">
                <a:solidFill>
                  <a:srgbClr val="888888"/>
                </a:solidFill>
              </a:rPr>
              <a:t>Body Level Five</a:t>
            </a:r>
          </a:p>
        </p:txBody>
      </p:sp>
      <p:sp>
        <p:nvSpPr>
          <p:cNvPr id="8" name="Shape 8"/>
          <p:cNvSpPr>
            <a:spLocks noGrp="1"/>
          </p:cNvSpPr>
          <p:nvPr>
            <p:ph type="sldNum" sz="quarter" idx="2"/>
          </p:nvPr>
        </p:nvSpPr>
        <p:spPr>
          <a:prstGeom prst="rect">
            <a:avLst/>
          </a:prstGeom>
        </p:spPr>
        <p:txBody>
          <a:bodyPr/>
          <a:lstStyle/>
          <a:p>
            <a:pPr lvl="0"/>
            <a:fld id="{86CB4B4D-7CA3-9044-876B-883B54F8677D}" type="slidenum">
              <a:rPr/>
              <a:pPr lvl="0"/>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0" name="Shape 10"/>
          <p:cNvSpPr>
            <a:spLocks noGrp="1"/>
          </p:cNvSpPr>
          <p:nvPr>
            <p:ph type="title"/>
          </p:nvPr>
        </p:nvSpPr>
        <p:spPr>
          <a:prstGeom prst="rect">
            <a:avLst/>
          </a:prstGeom>
        </p:spPr>
        <p:txBody>
          <a:bodyPr/>
          <a:lstStyle/>
          <a:p>
            <a:pPr lvl="0">
              <a:defRPr sz="1800">
                <a:solidFill>
                  <a:srgbClr val="000000"/>
                </a:solidFill>
              </a:defRPr>
            </a:pPr>
            <a:r>
              <a:rPr sz="3200">
                <a:solidFill>
                  <a:srgbClr val="FFFFFF"/>
                </a:solidFill>
              </a:rPr>
              <a:t>Title Text</a:t>
            </a:r>
          </a:p>
        </p:txBody>
      </p:sp>
      <p:sp>
        <p:nvSpPr>
          <p:cNvPr id="11" name="Shape 11"/>
          <p:cNvSpPr>
            <a:spLocks noGrp="1"/>
          </p:cNvSpPr>
          <p:nvPr>
            <p:ph type="body" idx="1"/>
          </p:nvPr>
        </p:nvSpPr>
        <p:spPr>
          <a:prstGeom prst="rect">
            <a:avLst/>
          </a:prstGeom>
        </p:spPr>
        <p:txBody>
          <a:bodyPr/>
          <a:lstStyle/>
          <a:p>
            <a:pPr lvl="0">
              <a:defRPr sz="1800"/>
            </a:pPr>
            <a:r>
              <a:rPr sz="3200"/>
              <a:t>Body Level One</a:t>
            </a:r>
          </a:p>
          <a:p>
            <a:pPr lvl="1">
              <a:defRPr sz="1800"/>
            </a:pPr>
            <a:r>
              <a:rPr sz="3200"/>
              <a:t>Body Level Two</a:t>
            </a:r>
          </a:p>
          <a:p>
            <a:pPr lvl="2">
              <a:defRPr sz="1800"/>
            </a:pPr>
            <a:r>
              <a:rPr sz="3200"/>
              <a:t>Body Level Three</a:t>
            </a:r>
          </a:p>
          <a:p>
            <a:pPr lvl="3">
              <a:defRPr sz="1800"/>
            </a:pPr>
            <a:r>
              <a:rPr sz="3200"/>
              <a:t>Body Level Four</a:t>
            </a:r>
          </a:p>
          <a:p>
            <a:pPr lvl="4">
              <a:defRPr sz="1800"/>
            </a:pPr>
            <a:r>
              <a:rPr sz="3200"/>
              <a:t>Body Level Five</a:t>
            </a:r>
          </a:p>
        </p:txBody>
      </p:sp>
      <p:sp>
        <p:nvSpPr>
          <p:cNvPr id="12" name="Shape 12"/>
          <p:cNvSpPr>
            <a:spLocks noGrp="1"/>
          </p:cNvSpPr>
          <p:nvPr>
            <p:ph type="sldNum" sz="quarter" idx="2"/>
          </p:nvPr>
        </p:nvSpPr>
        <p:spPr>
          <a:prstGeom prst="rect">
            <a:avLst/>
          </a:prstGeom>
        </p:spPr>
        <p:txBody>
          <a:bodyPr/>
          <a:lstStyle/>
          <a:p>
            <a:pPr lvl="0"/>
            <a:fld id="{86CB4B4D-7CA3-9044-876B-883B54F8677D}" type="slidenum">
              <a:rPr/>
              <a:pPr lvl="0"/>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14" name="Shape 14"/>
          <p:cNvSpPr>
            <a:spLocks noGrp="1"/>
          </p:cNvSpPr>
          <p:nvPr>
            <p:ph type="title"/>
          </p:nvPr>
        </p:nvSpPr>
        <p:spPr>
          <a:xfrm>
            <a:off x="722312" y="4406900"/>
            <a:ext cx="7772401" cy="2451100"/>
          </a:xfrm>
          <a:prstGeom prst="rect">
            <a:avLst/>
          </a:prstGeom>
        </p:spPr>
        <p:txBody>
          <a:bodyPr anchor="t"/>
          <a:lstStyle>
            <a:lvl1pPr algn="l">
              <a:defRPr sz="4000" b="1" cap="all"/>
            </a:lvl1pPr>
          </a:lstStyle>
          <a:p>
            <a:pPr lvl="0">
              <a:defRPr sz="1800" b="0" cap="none">
                <a:solidFill>
                  <a:srgbClr val="000000"/>
                </a:solidFill>
              </a:defRPr>
            </a:pPr>
            <a:r>
              <a:rPr sz="4000" b="1" cap="all">
                <a:solidFill>
                  <a:srgbClr val="FFFFFF"/>
                </a:solidFill>
              </a:rPr>
              <a:t>Title Text</a:t>
            </a:r>
          </a:p>
        </p:txBody>
      </p:sp>
      <p:sp>
        <p:nvSpPr>
          <p:cNvPr id="15" name="Shape 15"/>
          <p:cNvSpPr>
            <a:spLocks noGrp="1"/>
          </p:cNvSpPr>
          <p:nvPr>
            <p:ph type="body" idx="1"/>
          </p:nvPr>
        </p:nvSpPr>
        <p:spPr>
          <a:xfrm>
            <a:off x="722312" y="1192213"/>
            <a:ext cx="7772401" cy="32146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lvl="0">
              <a:defRPr sz="1800">
                <a:solidFill>
                  <a:srgbClr val="000000"/>
                </a:solidFill>
              </a:defRPr>
            </a:pPr>
            <a:r>
              <a:rPr sz="2000">
                <a:solidFill>
                  <a:srgbClr val="888888"/>
                </a:solidFill>
              </a:rPr>
              <a:t>Body Level One</a:t>
            </a:r>
          </a:p>
          <a:p>
            <a:pPr lvl="1">
              <a:defRPr sz="1800">
                <a:solidFill>
                  <a:srgbClr val="000000"/>
                </a:solidFill>
              </a:defRPr>
            </a:pPr>
            <a:r>
              <a:rPr sz="2000">
                <a:solidFill>
                  <a:srgbClr val="888888"/>
                </a:solidFill>
              </a:rPr>
              <a:t>Body Level Two</a:t>
            </a:r>
          </a:p>
          <a:p>
            <a:pPr lvl="2">
              <a:defRPr sz="1800">
                <a:solidFill>
                  <a:srgbClr val="000000"/>
                </a:solidFill>
              </a:defRPr>
            </a:pPr>
            <a:r>
              <a:rPr sz="2000">
                <a:solidFill>
                  <a:srgbClr val="888888"/>
                </a:solidFill>
              </a:rPr>
              <a:t>Body Level Three</a:t>
            </a:r>
          </a:p>
          <a:p>
            <a:pPr lvl="3">
              <a:defRPr sz="1800">
                <a:solidFill>
                  <a:srgbClr val="000000"/>
                </a:solidFill>
              </a:defRPr>
            </a:pPr>
            <a:r>
              <a:rPr sz="2000">
                <a:solidFill>
                  <a:srgbClr val="888888"/>
                </a:solidFill>
              </a:rPr>
              <a:t>Body Level Four</a:t>
            </a:r>
          </a:p>
          <a:p>
            <a:pPr lvl="4">
              <a:defRPr sz="1800">
                <a:solidFill>
                  <a:srgbClr val="000000"/>
                </a:solidFill>
              </a:defRPr>
            </a:pPr>
            <a:r>
              <a:rPr sz="2000">
                <a:solidFill>
                  <a:srgbClr val="888888"/>
                </a:solidFill>
              </a:rPr>
              <a:t>Body Level Five</a:t>
            </a:r>
          </a:p>
        </p:txBody>
      </p:sp>
      <p:sp>
        <p:nvSpPr>
          <p:cNvPr id="16" name="Shape 16"/>
          <p:cNvSpPr>
            <a:spLocks noGrp="1"/>
          </p:cNvSpPr>
          <p:nvPr>
            <p:ph type="sldNum" sz="quarter" idx="2"/>
          </p:nvPr>
        </p:nvSpPr>
        <p:spPr>
          <a:prstGeom prst="rect">
            <a:avLst/>
          </a:prstGeom>
        </p:spPr>
        <p:txBody>
          <a:bodyPr/>
          <a:lstStyle/>
          <a:p>
            <a:pPr lvl="0"/>
            <a:fld id="{86CB4B4D-7CA3-9044-876B-883B54F8677D}" type="slidenum">
              <a:rPr/>
              <a:pPr lvl="0"/>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18" name="Shape 18"/>
          <p:cNvSpPr>
            <a:spLocks noGrp="1"/>
          </p:cNvSpPr>
          <p:nvPr>
            <p:ph type="title"/>
          </p:nvPr>
        </p:nvSpPr>
        <p:spPr>
          <a:xfrm>
            <a:off x="1007179" y="491001"/>
            <a:ext cx="8013660" cy="1109199"/>
          </a:xfrm>
          <a:prstGeom prst="rect">
            <a:avLst/>
          </a:prstGeom>
        </p:spPr>
        <p:txBody>
          <a:bodyPr/>
          <a:lstStyle/>
          <a:p>
            <a:pPr lvl="0">
              <a:defRPr sz="1800">
                <a:solidFill>
                  <a:srgbClr val="000000"/>
                </a:solidFill>
              </a:defRPr>
            </a:pPr>
            <a:r>
              <a:rPr sz="3200">
                <a:solidFill>
                  <a:srgbClr val="FFFFFF"/>
                </a:solidFill>
              </a:rPr>
              <a:t>Title Text</a:t>
            </a:r>
          </a:p>
        </p:txBody>
      </p:sp>
      <p:sp>
        <p:nvSpPr>
          <p:cNvPr id="19" name="Shape 19"/>
          <p:cNvSpPr>
            <a:spLocks noGrp="1"/>
          </p:cNvSpPr>
          <p:nvPr>
            <p:ph type="body" idx="1"/>
          </p:nvPr>
        </p:nvSpPr>
        <p:spPr>
          <a:xfrm>
            <a:off x="457200" y="1600199"/>
            <a:ext cx="4038600" cy="5257802"/>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lvl="0">
              <a:defRPr sz="1800"/>
            </a:pPr>
            <a:r>
              <a:rPr sz="2800"/>
              <a:t>Body Level One</a:t>
            </a:r>
          </a:p>
          <a:p>
            <a:pPr lvl="1">
              <a:defRPr sz="1800"/>
            </a:pPr>
            <a:r>
              <a:rPr sz="2800"/>
              <a:t>Body Level Two</a:t>
            </a:r>
          </a:p>
          <a:p>
            <a:pPr lvl="2">
              <a:defRPr sz="1800"/>
            </a:pPr>
            <a:r>
              <a:rPr sz="2800"/>
              <a:t>Body Level Three</a:t>
            </a:r>
          </a:p>
          <a:p>
            <a:pPr lvl="3">
              <a:defRPr sz="1800"/>
            </a:pPr>
            <a:r>
              <a:rPr sz="2800"/>
              <a:t>Body Level Four</a:t>
            </a:r>
          </a:p>
          <a:p>
            <a:pPr lvl="4">
              <a:defRPr sz="1800"/>
            </a:pPr>
            <a:r>
              <a:rPr sz="2800"/>
              <a:t>Body Level Five</a:t>
            </a:r>
          </a:p>
        </p:txBody>
      </p:sp>
      <p:sp>
        <p:nvSpPr>
          <p:cNvPr id="20" name="Shape 20"/>
          <p:cNvSpPr>
            <a:spLocks noGrp="1"/>
          </p:cNvSpPr>
          <p:nvPr>
            <p:ph type="sldNum" sz="quarter" idx="2"/>
          </p:nvPr>
        </p:nvSpPr>
        <p:spPr>
          <a:prstGeom prst="rect">
            <a:avLst/>
          </a:prstGeom>
        </p:spPr>
        <p:txBody>
          <a:bodyPr/>
          <a:lstStyle/>
          <a:p>
            <a:pPr lvl="0"/>
            <a:fld id="{86CB4B4D-7CA3-9044-876B-883B54F8677D}" type="slidenum">
              <a:rPr/>
              <a:pPr lvl="0"/>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22" name="Shape 22"/>
          <p:cNvSpPr>
            <a:spLocks noGrp="1"/>
          </p:cNvSpPr>
          <p:nvPr>
            <p:ph type="title"/>
          </p:nvPr>
        </p:nvSpPr>
        <p:spPr>
          <a:xfrm>
            <a:off x="1007179" y="735078"/>
            <a:ext cx="8013660" cy="621045"/>
          </a:xfrm>
          <a:prstGeom prst="rect">
            <a:avLst/>
          </a:prstGeom>
        </p:spPr>
        <p:txBody>
          <a:bodyPr/>
          <a:lstStyle/>
          <a:p>
            <a:pPr lvl="0">
              <a:defRPr sz="1800">
                <a:solidFill>
                  <a:srgbClr val="000000"/>
                </a:solidFill>
              </a:defRPr>
            </a:pPr>
            <a:r>
              <a:rPr sz="3200">
                <a:solidFill>
                  <a:srgbClr val="FFFFFF"/>
                </a:solidFill>
              </a:rPr>
              <a:t>Title Text</a:t>
            </a:r>
          </a:p>
        </p:txBody>
      </p:sp>
      <p:sp>
        <p:nvSpPr>
          <p:cNvPr id="23" name="Shape 23"/>
          <p:cNvSpPr>
            <a:spLocks noGrp="1"/>
          </p:cNvSpPr>
          <p:nvPr>
            <p:ph type="body" idx="1"/>
          </p:nvPr>
        </p:nvSpPr>
        <p:spPr>
          <a:xfrm>
            <a:off x="457200" y="1356122"/>
            <a:ext cx="4040188" cy="81875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pPr lvl="0">
              <a:defRPr sz="1800" b="0"/>
            </a:pPr>
            <a:r>
              <a:rPr sz="2400" b="1"/>
              <a:t>Body Level One</a:t>
            </a:r>
          </a:p>
          <a:p>
            <a:pPr lvl="1">
              <a:defRPr sz="1800" b="0"/>
            </a:pPr>
            <a:r>
              <a:rPr sz="2400" b="1"/>
              <a:t>Body Level Two</a:t>
            </a:r>
          </a:p>
          <a:p>
            <a:pPr lvl="2">
              <a:defRPr sz="1800" b="0"/>
            </a:pPr>
            <a:r>
              <a:rPr sz="2400" b="1"/>
              <a:t>Body Level Three</a:t>
            </a:r>
          </a:p>
          <a:p>
            <a:pPr lvl="3">
              <a:defRPr sz="1800" b="0"/>
            </a:pPr>
            <a:r>
              <a:rPr sz="2400" b="1"/>
              <a:t>Body Level Four</a:t>
            </a:r>
          </a:p>
          <a:p>
            <a:pPr lvl="4">
              <a:defRPr sz="1800" b="0"/>
            </a:pPr>
            <a:r>
              <a:rPr sz="2400" b="1"/>
              <a:t>Body Level Five</a:t>
            </a:r>
          </a:p>
        </p:txBody>
      </p:sp>
      <p:sp>
        <p:nvSpPr>
          <p:cNvPr id="24" name="Shape 24"/>
          <p:cNvSpPr>
            <a:spLocks noGrp="1"/>
          </p:cNvSpPr>
          <p:nvPr>
            <p:ph type="sldNum" sz="quarter" idx="2"/>
          </p:nvPr>
        </p:nvSpPr>
        <p:spPr>
          <a:prstGeom prst="rect">
            <a:avLst/>
          </a:prstGeom>
        </p:spPr>
        <p:txBody>
          <a:bodyPr/>
          <a:lstStyle/>
          <a:p>
            <a:pPr lvl="0"/>
            <a:fld id="{86CB4B4D-7CA3-9044-876B-883B54F8677D}" type="slidenum">
              <a:rPr/>
              <a:pPr lvl="0"/>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31" name="Shape 31"/>
          <p:cNvSpPr>
            <a:spLocks noGrp="1"/>
          </p:cNvSpPr>
          <p:nvPr>
            <p:ph type="title"/>
          </p:nvPr>
        </p:nvSpPr>
        <p:spPr>
          <a:xfrm>
            <a:off x="457200" y="0"/>
            <a:ext cx="3008314" cy="1435100"/>
          </a:xfrm>
          <a:prstGeom prst="rect">
            <a:avLst/>
          </a:prstGeom>
        </p:spPr>
        <p:txBody>
          <a:bodyPr anchor="b"/>
          <a:lstStyle>
            <a:lvl1pPr algn="l">
              <a:defRPr sz="2000" b="1"/>
            </a:lvl1pPr>
          </a:lstStyle>
          <a:p>
            <a:pPr lvl="0">
              <a:defRPr sz="1800" b="0">
                <a:solidFill>
                  <a:srgbClr val="000000"/>
                </a:solidFill>
              </a:defRPr>
            </a:pPr>
            <a:r>
              <a:rPr sz="2000" b="1">
                <a:solidFill>
                  <a:srgbClr val="FFFFFF"/>
                </a:solidFill>
              </a:rPr>
              <a:t>Title Text</a:t>
            </a:r>
          </a:p>
        </p:txBody>
      </p:sp>
      <p:sp>
        <p:nvSpPr>
          <p:cNvPr id="32" name="Shape 32"/>
          <p:cNvSpPr>
            <a:spLocks noGrp="1"/>
          </p:cNvSpPr>
          <p:nvPr>
            <p:ph type="body" idx="1"/>
          </p:nvPr>
        </p:nvSpPr>
        <p:spPr>
          <a:xfrm>
            <a:off x="3575050" y="273050"/>
            <a:ext cx="5111750" cy="6584950"/>
          </a:xfrm>
          <a:prstGeom prst="rect">
            <a:avLst/>
          </a:prstGeom>
        </p:spPr>
        <p:txBody>
          <a:bodyPr/>
          <a:lstStyle/>
          <a:p>
            <a:pPr lvl="0">
              <a:defRPr sz="1800"/>
            </a:pPr>
            <a:r>
              <a:rPr sz="3200"/>
              <a:t>Body Level One</a:t>
            </a:r>
          </a:p>
          <a:p>
            <a:pPr lvl="1">
              <a:defRPr sz="1800"/>
            </a:pPr>
            <a:r>
              <a:rPr sz="3200"/>
              <a:t>Body Level Two</a:t>
            </a:r>
          </a:p>
          <a:p>
            <a:pPr lvl="2">
              <a:defRPr sz="1800"/>
            </a:pPr>
            <a:r>
              <a:rPr sz="3200"/>
              <a:t>Body Level Three</a:t>
            </a:r>
          </a:p>
          <a:p>
            <a:pPr lvl="3">
              <a:defRPr sz="1800"/>
            </a:pPr>
            <a:r>
              <a:rPr sz="3200"/>
              <a:t>Body Level Four</a:t>
            </a:r>
          </a:p>
          <a:p>
            <a:pPr lvl="4">
              <a:defRPr sz="1800"/>
            </a:pPr>
            <a:r>
              <a:rPr sz="3200"/>
              <a:t>Body Level Five</a:t>
            </a:r>
          </a:p>
        </p:txBody>
      </p:sp>
      <p:sp>
        <p:nvSpPr>
          <p:cNvPr id="33" name="Shape 33"/>
          <p:cNvSpPr>
            <a:spLocks noGrp="1"/>
          </p:cNvSpPr>
          <p:nvPr>
            <p:ph type="sldNum" sz="quarter" idx="2"/>
          </p:nvPr>
        </p:nvSpPr>
        <p:spPr>
          <a:prstGeom prst="rect">
            <a:avLst/>
          </a:prstGeom>
        </p:spPr>
        <p:txBody>
          <a:bodyPr/>
          <a:lstStyle/>
          <a:p>
            <a:pPr lvl="0"/>
            <a:fld id="{86CB4B4D-7CA3-9044-876B-883B54F8677D}" type="slidenum">
              <a:rPr/>
              <a:pPr lvl="0"/>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43" name="Shape 43"/>
          <p:cNvSpPr>
            <a:spLocks noGrp="1"/>
          </p:cNvSpPr>
          <p:nvPr>
            <p:ph type="title"/>
          </p:nvPr>
        </p:nvSpPr>
        <p:spPr>
          <a:xfrm>
            <a:off x="6629400" y="0"/>
            <a:ext cx="2057400" cy="6400802"/>
          </a:xfrm>
          <a:prstGeom prst="rect">
            <a:avLst/>
          </a:prstGeom>
        </p:spPr>
        <p:txBody>
          <a:bodyPr/>
          <a:lstStyle/>
          <a:p>
            <a:pPr lvl="0">
              <a:defRPr sz="1800">
                <a:solidFill>
                  <a:srgbClr val="000000"/>
                </a:solidFill>
              </a:defRPr>
            </a:pPr>
            <a:r>
              <a:rPr sz="3200">
                <a:solidFill>
                  <a:srgbClr val="FFFFFF"/>
                </a:solidFill>
              </a:rPr>
              <a:t>Title Text</a:t>
            </a:r>
          </a:p>
        </p:txBody>
      </p:sp>
      <p:sp>
        <p:nvSpPr>
          <p:cNvPr id="44" name="Shape 44"/>
          <p:cNvSpPr>
            <a:spLocks noGrp="1"/>
          </p:cNvSpPr>
          <p:nvPr>
            <p:ph type="body" idx="1"/>
          </p:nvPr>
        </p:nvSpPr>
        <p:spPr>
          <a:xfrm>
            <a:off x="457200" y="274638"/>
            <a:ext cx="6019800" cy="6583362"/>
          </a:xfrm>
          <a:prstGeom prst="rect">
            <a:avLst/>
          </a:prstGeom>
        </p:spPr>
        <p:txBody>
          <a:bodyPr/>
          <a:lstStyle/>
          <a:p>
            <a:pPr lvl="0">
              <a:defRPr sz="1800"/>
            </a:pPr>
            <a:r>
              <a:rPr sz="3200"/>
              <a:t>Body Level One</a:t>
            </a:r>
          </a:p>
          <a:p>
            <a:pPr lvl="1">
              <a:defRPr sz="1800"/>
            </a:pPr>
            <a:r>
              <a:rPr sz="3200"/>
              <a:t>Body Level Two</a:t>
            </a:r>
          </a:p>
          <a:p>
            <a:pPr lvl="2">
              <a:defRPr sz="1800"/>
            </a:pPr>
            <a:r>
              <a:rPr sz="3200"/>
              <a:t>Body Level Three</a:t>
            </a:r>
          </a:p>
          <a:p>
            <a:pPr lvl="3">
              <a:defRPr sz="1800"/>
            </a:pPr>
            <a:r>
              <a:rPr sz="3200"/>
              <a:t>Body Level Four</a:t>
            </a:r>
          </a:p>
          <a:p>
            <a:pPr lvl="4">
              <a:defRPr sz="1800"/>
            </a:pPr>
            <a:r>
              <a:rPr sz="3200"/>
              <a:t>Body Level Five</a:t>
            </a:r>
          </a:p>
        </p:txBody>
      </p:sp>
      <p:sp>
        <p:nvSpPr>
          <p:cNvPr id="45" name="Shape 45"/>
          <p:cNvSpPr>
            <a:spLocks noGrp="1"/>
          </p:cNvSpPr>
          <p:nvPr>
            <p:ph type="sldNum" sz="quarter" idx="2"/>
          </p:nvPr>
        </p:nvSpPr>
        <p:spPr>
          <a:prstGeom prst="rect">
            <a:avLst/>
          </a:prstGeom>
        </p:spPr>
        <p:txBody>
          <a:bodyPr/>
          <a:lstStyle/>
          <a:p>
            <a:pPr lvl="0"/>
            <a:fld id="{86CB4B4D-7CA3-9044-876B-883B54F8677D}" type="slidenum">
              <a:rPr/>
              <a:pPr lvl="0"/>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cstate="print"/>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007179" y="678816"/>
            <a:ext cx="8013660" cy="733569"/>
          </a:xfrm>
          <a:prstGeom prst="rect">
            <a:avLst/>
          </a:prstGeom>
          <a:ln w="12700">
            <a:miter lim="400000"/>
          </a:ln>
          <a:extLst>
            <a:ext uri="{C572A759-6A51-4108-AA02-DFA0A04FC94B}">
              <ma14:wrappingTextBoxFlag xmlns="" xmlns:ma14="http://schemas.microsoft.com/office/mac/drawingml/2011/main" val="1"/>
            </a:ext>
          </a:extLst>
        </p:spPr>
        <p:txBody>
          <a:bodyPr lIns="45719" rIns="45719" anchor="ctr">
            <a:normAutofit/>
          </a:bodyPr>
          <a:lstStyle/>
          <a:p>
            <a:pPr lvl="0">
              <a:defRPr sz="1800">
                <a:solidFill>
                  <a:srgbClr val="000000"/>
                </a:solidFill>
              </a:defRPr>
            </a:pPr>
            <a:r>
              <a:rPr sz="3200">
                <a:solidFill>
                  <a:srgbClr val="FFFFFF"/>
                </a:solidFill>
              </a:rPr>
              <a:t>Title Text</a:t>
            </a:r>
          </a:p>
        </p:txBody>
      </p:sp>
      <p:sp>
        <p:nvSpPr>
          <p:cNvPr id="3" name="Shape 3"/>
          <p:cNvSpPr>
            <a:spLocks noGrp="1"/>
          </p:cNvSpPr>
          <p:nvPr>
            <p:ph type="body" idx="1"/>
          </p:nvPr>
        </p:nvSpPr>
        <p:spPr>
          <a:xfrm>
            <a:off x="1007179" y="1412384"/>
            <a:ext cx="8013660" cy="5445617"/>
          </a:xfrm>
          <a:prstGeom prst="rect">
            <a:avLst/>
          </a:prstGeom>
          <a:ln w="12700">
            <a:miter lim="400000"/>
          </a:ln>
          <a:extLst>
            <a:ext uri="{C572A759-6A51-4108-AA02-DFA0A04FC94B}">
              <ma14:wrappingTextBoxFlag xmlns="" xmlns:ma14="http://schemas.microsoft.com/office/mac/drawingml/2011/main" val="1"/>
            </a:ext>
          </a:extLst>
        </p:spPr>
        <p:txBody>
          <a:bodyPr lIns="45719" rIns="45719">
            <a:normAutofit/>
          </a:bodyPr>
          <a:lstStyle/>
          <a:p>
            <a:pPr lvl="0">
              <a:defRPr sz="1800"/>
            </a:pPr>
            <a:r>
              <a:rPr sz="3200"/>
              <a:t>Body Level One</a:t>
            </a:r>
          </a:p>
          <a:p>
            <a:pPr lvl="1">
              <a:defRPr sz="1800"/>
            </a:pPr>
            <a:r>
              <a:rPr sz="3200"/>
              <a:t>Body Level Two</a:t>
            </a:r>
          </a:p>
          <a:p>
            <a:pPr lvl="2">
              <a:defRPr sz="1800"/>
            </a:pPr>
            <a:r>
              <a:rPr sz="3200"/>
              <a:t>Body Level Three</a:t>
            </a:r>
          </a:p>
          <a:p>
            <a:pPr lvl="3">
              <a:defRPr sz="1800"/>
            </a:pPr>
            <a:r>
              <a:rPr sz="3200"/>
              <a:t>Body Level Four</a:t>
            </a:r>
          </a:p>
          <a:p>
            <a:pPr lvl="4">
              <a:defRPr sz="1800"/>
            </a:pPr>
            <a:r>
              <a:rPr sz="3200"/>
              <a:t>Body Level Five</a:t>
            </a:r>
          </a:p>
        </p:txBody>
      </p:sp>
      <p:sp>
        <p:nvSpPr>
          <p:cNvPr id="4" name="Shape 4"/>
          <p:cNvSpPr>
            <a:spLocks noGrp="1"/>
          </p:cNvSpPr>
          <p:nvPr>
            <p:ph type="sldNum" sz="quarter" idx="2"/>
          </p:nvPr>
        </p:nvSpPr>
        <p:spPr>
          <a:xfrm>
            <a:off x="6553200" y="6356350"/>
            <a:ext cx="2133600" cy="358140"/>
          </a:xfrm>
          <a:prstGeom prst="rect">
            <a:avLst/>
          </a:prstGeom>
          <a:ln w="12700">
            <a:miter lim="400000"/>
          </a:ln>
        </p:spPr>
        <p:txBody>
          <a:bodyPr lIns="45719" rIns="45719">
            <a:spAutoFit/>
          </a:bodyPr>
          <a:lstStyle/>
          <a:p>
            <a:pPr lvl="0"/>
            <a:fld id="{86CB4B4D-7CA3-9044-876B-883B54F8677D}" type="slidenum">
              <a:rPr/>
              <a:pPr lvl="0"/>
              <a:t>‹#›</a:t>
            </a:fld>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9" r:id="rId7"/>
  </p:sldLayoutIdLst>
  <p:transition spd="med"/>
  <p:txStyles>
    <p:titleStyle>
      <a:lvl1pPr algn="ctr" defTabSz="457200">
        <a:defRPr sz="3200">
          <a:solidFill>
            <a:srgbClr val="FFFFFF"/>
          </a:solidFill>
          <a:latin typeface="Calibri"/>
          <a:ea typeface="Calibri"/>
          <a:cs typeface="Calibri"/>
          <a:sym typeface="Calibri"/>
        </a:defRPr>
      </a:lvl1pPr>
      <a:lvl2pPr algn="ctr" defTabSz="457200">
        <a:defRPr sz="3200">
          <a:solidFill>
            <a:srgbClr val="FFFFFF"/>
          </a:solidFill>
          <a:latin typeface="Calibri"/>
          <a:ea typeface="Calibri"/>
          <a:cs typeface="Calibri"/>
          <a:sym typeface="Calibri"/>
        </a:defRPr>
      </a:lvl2pPr>
      <a:lvl3pPr algn="ctr" defTabSz="457200">
        <a:defRPr sz="3200">
          <a:solidFill>
            <a:srgbClr val="FFFFFF"/>
          </a:solidFill>
          <a:latin typeface="Calibri"/>
          <a:ea typeface="Calibri"/>
          <a:cs typeface="Calibri"/>
          <a:sym typeface="Calibri"/>
        </a:defRPr>
      </a:lvl3pPr>
      <a:lvl4pPr algn="ctr" defTabSz="457200">
        <a:defRPr sz="3200">
          <a:solidFill>
            <a:srgbClr val="FFFFFF"/>
          </a:solidFill>
          <a:latin typeface="Calibri"/>
          <a:ea typeface="Calibri"/>
          <a:cs typeface="Calibri"/>
          <a:sym typeface="Calibri"/>
        </a:defRPr>
      </a:lvl4pPr>
      <a:lvl5pPr algn="ctr" defTabSz="457200">
        <a:defRPr sz="3200">
          <a:solidFill>
            <a:srgbClr val="FFFFFF"/>
          </a:solidFill>
          <a:latin typeface="Calibri"/>
          <a:ea typeface="Calibri"/>
          <a:cs typeface="Calibri"/>
          <a:sym typeface="Calibri"/>
        </a:defRPr>
      </a:lvl5pPr>
      <a:lvl6pPr algn="ctr" defTabSz="457200">
        <a:defRPr sz="3200">
          <a:solidFill>
            <a:srgbClr val="FFFFFF"/>
          </a:solidFill>
          <a:latin typeface="Calibri"/>
          <a:ea typeface="Calibri"/>
          <a:cs typeface="Calibri"/>
          <a:sym typeface="Calibri"/>
        </a:defRPr>
      </a:lvl6pPr>
      <a:lvl7pPr algn="ctr" defTabSz="457200">
        <a:defRPr sz="3200">
          <a:solidFill>
            <a:srgbClr val="FFFFFF"/>
          </a:solidFill>
          <a:latin typeface="Calibri"/>
          <a:ea typeface="Calibri"/>
          <a:cs typeface="Calibri"/>
          <a:sym typeface="Calibri"/>
        </a:defRPr>
      </a:lvl7pPr>
      <a:lvl8pPr algn="ctr" defTabSz="457200">
        <a:defRPr sz="3200">
          <a:solidFill>
            <a:srgbClr val="FFFFFF"/>
          </a:solidFill>
          <a:latin typeface="Calibri"/>
          <a:ea typeface="Calibri"/>
          <a:cs typeface="Calibri"/>
          <a:sym typeface="Calibri"/>
        </a:defRPr>
      </a:lvl8pPr>
      <a:lvl9pPr algn="ctr" defTabSz="457200">
        <a:defRPr sz="3200">
          <a:solidFill>
            <a:srgbClr val="FFFFFF"/>
          </a:solidFill>
          <a:latin typeface="Calibri"/>
          <a:ea typeface="Calibri"/>
          <a:cs typeface="Calibri"/>
          <a:sym typeface="Calibri"/>
        </a:defRPr>
      </a:lvl9pPr>
    </p:titleStyle>
    <p:bodyStyle>
      <a:lvl1pPr marL="342900" indent="-342900" defTabSz="457200">
        <a:spcBef>
          <a:spcPts val="700"/>
        </a:spcBef>
        <a:buSzPct val="100000"/>
        <a:buFont typeface="Arial"/>
        <a:buChar char="•"/>
        <a:defRPr sz="3200">
          <a:latin typeface="Calibri"/>
          <a:ea typeface="Calibri"/>
          <a:cs typeface="Calibri"/>
          <a:sym typeface="Calibri"/>
        </a:defRPr>
      </a:lvl1pPr>
      <a:lvl2pPr marL="783771" indent="-326571" defTabSz="457200">
        <a:spcBef>
          <a:spcPts val="700"/>
        </a:spcBef>
        <a:buSzPct val="100000"/>
        <a:buFont typeface="Arial"/>
        <a:buChar char="–"/>
        <a:defRPr sz="3200">
          <a:latin typeface="Calibri"/>
          <a:ea typeface="Calibri"/>
          <a:cs typeface="Calibri"/>
          <a:sym typeface="Calibri"/>
        </a:defRPr>
      </a:lvl2pPr>
      <a:lvl3pPr marL="1219200" indent="-304800" defTabSz="457200">
        <a:spcBef>
          <a:spcPts val="700"/>
        </a:spcBef>
        <a:buSzPct val="100000"/>
        <a:buFont typeface="Arial"/>
        <a:buChar char="•"/>
        <a:defRPr sz="3200">
          <a:latin typeface="Calibri"/>
          <a:ea typeface="Calibri"/>
          <a:cs typeface="Calibri"/>
          <a:sym typeface="Calibri"/>
        </a:defRPr>
      </a:lvl3pPr>
      <a:lvl4pPr marL="1737360" indent="-365760" defTabSz="457200">
        <a:spcBef>
          <a:spcPts val="700"/>
        </a:spcBef>
        <a:buSzPct val="100000"/>
        <a:buFont typeface="Arial"/>
        <a:buChar char="–"/>
        <a:defRPr sz="3200">
          <a:latin typeface="Calibri"/>
          <a:ea typeface="Calibri"/>
          <a:cs typeface="Calibri"/>
          <a:sym typeface="Calibri"/>
        </a:defRPr>
      </a:lvl4pPr>
      <a:lvl5pPr marL="2194560" indent="-365760" defTabSz="457200">
        <a:spcBef>
          <a:spcPts val="700"/>
        </a:spcBef>
        <a:buSzPct val="100000"/>
        <a:buFont typeface="Arial"/>
        <a:buChar char="»"/>
        <a:defRPr sz="3200">
          <a:latin typeface="Calibri"/>
          <a:ea typeface="Calibri"/>
          <a:cs typeface="Calibri"/>
          <a:sym typeface="Calibri"/>
        </a:defRPr>
      </a:lvl5pPr>
      <a:lvl6pPr marL="2651760" indent="-365760" defTabSz="457200">
        <a:spcBef>
          <a:spcPts val="700"/>
        </a:spcBef>
        <a:buSzPct val="100000"/>
        <a:buFont typeface="Arial"/>
        <a:buChar char="•"/>
        <a:defRPr sz="3200">
          <a:latin typeface="Calibri"/>
          <a:ea typeface="Calibri"/>
          <a:cs typeface="Calibri"/>
          <a:sym typeface="Calibri"/>
        </a:defRPr>
      </a:lvl6pPr>
      <a:lvl7pPr marL="3108960" indent="-365760" defTabSz="457200">
        <a:spcBef>
          <a:spcPts val="700"/>
        </a:spcBef>
        <a:buSzPct val="100000"/>
        <a:buFont typeface="Arial"/>
        <a:buChar char="•"/>
        <a:defRPr sz="3200">
          <a:latin typeface="Calibri"/>
          <a:ea typeface="Calibri"/>
          <a:cs typeface="Calibri"/>
          <a:sym typeface="Calibri"/>
        </a:defRPr>
      </a:lvl7pPr>
      <a:lvl8pPr marL="3566159" indent="-365759" defTabSz="457200">
        <a:spcBef>
          <a:spcPts val="700"/>
        </a:spcBef>
        <a:buSzPct val="100000"/>
        <a:buFont typeface="Arial"/>
        <a:buChar char="•"/>
        <a:defRPr sz="3200">
          <a:latin typeface="Calibri"/>
          <a:ea typeface="Calibri"/>
          <a:cs typeface="Calibri"/>
          <a:sym typeface="Calibri"/>
        </a:defRPr>
      </a:lvl8pPr>
      <a:lvl9pPr marL="4023359" indent="-365759" defTabSz="457200">
        <a:spcBef>
          <a:spcPts val="700"/>
        </a:spcBef>
        <a:buSzPct val="100000"/>
        <a:buFont typeface="Arial"/>
        <a:buChar char="•"/>
        <a:defRPr sz="3200">
          <a:latin typeface="Calibri"/>
          <a:ea typeface="Calibri"/>
          <a:cs typeface="Calibri"/>
          <a:sym typeface="Calibri"/>
        </a:defRPr>
      </a:lvl9pPr>
    </p:bodyStyle>
    <p:otherStyle>
      <a:lvl1pPr defTabSz="457200">
        <a:defRPr>
          <a:solidFill>
            <a:schemeClr val="tx1"/>
          </a:solidFill>
          <a:latin typeface="+mn-lt"/>
          <a:ea typeface="+mn-ea"/>
          <a:cs typeface="+mn-cs"/>
          <a:sym typeface="Calibri"/>
        </a:defRPr>
      </a:lvl1pPr>
      <a:lvl2pPr indent="457200" defTabSz="457200">
        <a:defRPr>
          <a:solidFill>
            <a:schemeClr val="tx1"/>
          </a:solidFill>
          <a:latin typeface="+mn-lt"/>
          <a:ea typeface="+mn-ea"/>
          <a:cs typeface="+mn-cs"/>
          <a:sym typeface="Calibri"/>
        </a:defRPr>
      </a:lvl2pPr>
      <a:lvl3pPr indent="914400" defTabSz="457200">
        <a:defRPr>
          <a:solidFill>
            <a:schemeClr val="tx1"/>
          </a:solidFill>
          <a:latin typeface="+mn-lt"/>
          <a:ea typeface="+mn-ea"/>
          <a:cs typeface="+mn-cs"/>
          <a:sym typeface="Calibri"/>
        </a:defRPr>
      </a:lvl3pPr>
      <a:lvl4pPr indent="1371600" defTabSz="457200">
        <a:defRPr>
          <a:solidFill>
            <a:schemeClr val="tx1"/>
          </a:solidFill>
          <a:latin typeface="+mn-lt"/>
          <a:ea typeface="+mn-ea"/>
          <a:cs typeface="+mn-cs"/>
          <a:sym typeface="Calibri"/>
        </a:defRPr>
      </a:lvl4pPr>
      <a:lvl5pPr indent="1828800" defTabSz="457200">
        <a:defRPr>
          <a:solidFill>
            <a:schemeClr val="tx1"/>
          </a:solidFill>
          <a:latin typeface="+mn-lt"/>
          <a:ea typeface="+mn-ea"/>
          <a:cs typeface="+mn-cs"/>
          <a:sym typeface="Calibri"/>
        </a:defRPr>
      </a:lvl5pPr>
      <a:lvl6pPr indent="2286000" defTabSz="457200">
        <a:defRPr>
          <a:solidFill>
            <a:schemeClr val="tx1"/>
          </a:solidFill>
          <a:latin typeface="+mn-lt"/>
          <a:ea typeface="+mn-ea"/>
          <a:cs typeface="+mn-cs"/>
          <a:sym typeface="Calibri"/>
        </a:defRPr>
      </a:lvl6pPr>
      <a:lvl7pPr indent="2743200" defTabSz="457200">
        <a:defRPr>
          <a:solidFill>
            <a:schemeClr val="tx1"/>
          </a:solidFill>
          <a:latin typeface="+mn-lt"/>
          <a:ea typeface="+mn-ea"/>
          <a:cs typeface="+mn-cs"/>
          <a:sym typeface="Calibri"/>
        </a:defRPr>
      </a:lvl7pPr>
      <a:lvl8pPr indent="3200400" defTabSz="457200">
        <a:defRPr>
          <a:solidFill>
            <a:schemeClr val="tx1"/>
          </a:solidFill>
          <a:latin typeface="+mn-lt"/>
          <a:ea typeface="+mn-ea"/>
          <a:cs typeface="+mn-cs"/>
          <a:sym typeface="Calibri"/>
        </a:defRPr>
      </a:lvl8pPr>
      <a:lvl9pPr indent="3657600" defTabSz="457200">
        <a:defRPr>
          <a:solidFill>
            <a:schemeClr val="tx1"/>
          </a:solidFill>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cstate="print"/>
          <a:srcRect/>
          <a:stretch>
            <a:fillRect/>
          </a:stretch>
        </a:blipFill>
        <a:effectLst/>
      </p:bgPr>
    </p:bg>
    <p:spTree>
      <p:nvGrpSpPr>
        <p:cNvPr id="1" name=""/>
        <p:cNvGrpSpPr/>
        <p:nvPr/>
      </p:nvGrpSpPr>
      <p:grpSpPr>
        <a:xfrm>
          <a:off x="0" y="0"/>
          <a:ext cx="0" cy="0"/>
          <a:chOff x="0" y="0"/>
          <a:chExt cx="0" cy="0"/>
        </a:xfrm>
      </p:grpSpPr>
      <p:sp>
        <p:nvSpPr>
          <p:cNvPr id="49" name="Shape 49"/>
          <p:cNvSpPr>
            <a:spLocks noGrp="1"/>
          </p:cNvSpPr>
          <p:nvPr>
            <p:ph type="title"/>
          </p:nvPr>
        </p:nvSpPr>
        <p:spPr>
          <a:xfrm>
            <a:off x="685800" y="1281399"/>
            <a:ext cx="7772400" cy="1336388"/>
          </a:xfrm>
          <a:prstGeom prst="rect">
            <a:avLst/>
          </a:prstGeom>
        </p:spPr>
        <p:txBody>
          <a:bodyPr>
            <a:normAutofit fontScale="90000"/>
          </a:bodyPr>
          <a:lstStyle/>
          <a:p>
            <a:pPr lvl="0">
              <a:defRPr sz="1800">
                <a:solidFill>
                  <a:srgbClr val="000000"/>
                </a:solidFill>
              </a:defRPr>
            </a:pPr>
            <a:r>
              <a:rPr sz="2800" b="1" dirty="0">
                <a:solidFill>
                  <a:srgbClr val="948A54"/>
                </a:solidFill>
                <a:latin typeface="Cambria"/>
                <a:ea typeface="Cambria"/>
                <a:cs typeface="Cambria"/>
                <a:sym typeface="Cambria"/>
              </a:rPr>
              <a:t> </a:t>
            </a:r>
            <a:br>
              <a:rPr sz="2800" b="1" dirty="0">
                <a:solidFill>
                  <a:srgbClr val="948A54"/>
                </a:solidFill>
                <a:latin typeface="Cambria"/>
                <a:ea typeface="Cambria"/>
                <a:cs typeface="Cambria"/>
                <a:sym typeface="Cambria"/>
              </a:rPr>
            </a:br>
            <a:r>
              <a:rPr sz="2800" b="1" dirty="0">
                <a:solidFill>
                  <a:srgbClr val="948A54"/>
                </a:solidFill>
                <a:latin typeface="Cambria"/>
                <a:ea typeface="Cambria"/>
                <a:cs typeface="Cambria"/>
                <a:sym typeface="Cambria"/>
              </a:rPr>
              <a:t> </a:t>
            </a:r>
            <a:br>
              <a:rPr sz="2800" b="1" dirty="0">
                <a:solidFill>
                  <a:srgbClr val="948A54"/>
                </a:solidFill>
                <a:latin typeface="Cambria"/>
                <a:ea typeface="Cambria"/>
                <a:cs typeface="Cambria"/>
                <a:sym typeface="Cambria"/>
              </a:rPr>
            </a:br>
            <a:endParaRPr sz="2800" b="1" dirty="0">
              <a:solidFill>
                <a:srgbClr val="948A54"/>
              </a:solidFill>
              <a:latin typeface="Cambria"/>
              <a:ea typeface="Cambria"/>
              <a:cs typeface="Cambria"/>
              <a:sym typeface="Cambria"/>
            </a:endParaRPr>
          </a:p>
        </p:txBody>
      </p:sp>
      <p:sp>
        <p:nvSpPr>
          <p:cNvPr id="3" name="Text Placeholder 2">
            <a:extLst>
              <a:ext uri="{FF2B5EF4-FFF2-40B4-BE49-F238E27FC236}">
                <a16:creationId xmlns:a16="http://schemas.microsoft.com/office/drawing/2014/main" id="{5B8BD2F3-6146-5FF7-0BD0-92F337C966D1}"/>
              </a:ext>
            </a:extLst>
          </p:cNvPr>
          <p:cNvSpPr>
            <a:spLocks noGrp="1"/>
          </p:cNvSpPr>
          <p:nvPr>
            <p:ph type="body" idx="1"/>
          </p:nvPr>
        </p:nvSpPr>
        <p:spPr>
          <a:xfrm>
            <a:off x="467544" y="836712"/>
            <a:ext cx="7304856" cy="6021288"/>
          </a:xfrm>
        </p:spPr>
        <p:txBody>
          <a:bodyPr lIns="45719" tIns="45720" rIns="45719" bIns="45720" anchor="t">
            <a:normAutofit/>
          </a:bodyPr>
          <a:lstStyle/>
          <a:p>
            <a:r>
              <a:rPr lang="en-US" dirty="0"/>
              <a:t>HEALTH SURVEILLANCE OF PREMISES (NPO)</a:t>
            </a:r>
          </a:p>
          <a:p>
            <a:r>
              <a:rPr lang="en-US" dirty="0"/>
              <a:t>BY </a:t>
            </a:r>
          </a:p>
          <a:p>
            <a:endParaRPr lang="en-US" dirty="0"/>
          </a:p>
          <a:p>
            <a:r>
              <a:rPr lang="en-US" dirty="0"/>
              <a:t>Ms. Kamogelo Tele</a:t>
            </a:r>
          </a:p>
          <a:p>
            <a:r>
              <a:rPr lang="en-US" dirty="0"/>
              <a:t>Environmental Health Practitioner </a:t>
            </a:r>
          </a:p>
          <a:p>
            <a:r>
              <a:rPr lang="en-US" dirty="0"/>
              <a:t>Ekurhuleni Health District Mental Health</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Definitions</a:t>
            </a:r>
            <a:endParaRPr lang="en-ZA" dirty="0"/>
          </a:p>
        </p:txBody>
      </p:sp>
      <p:sp>
        <p:nvSpPr>
          <p:cNvPr id="3" name="Text Placeholder 2"/>
          <p:cNvSpPr>
            <a:spLocks noGrp="1"/>
          </p:cNvSpPr>
          <p:nvPr>
            <p:ph type="body" idx="1"/>
          </p:nvPr>
        </p:nvSpPr>
        <p:spPr>
          <a:xfrm>
            <a:off x="1007179" y="1412385"/>
            <a:ext cx="8013660" cy="5184968"/>
          </a:xfrm>
        </p:spPr>
        <p:txBody>
          <a:bodyPr>
            <a:normAutofit/>
          </a:bodyPr>
          <a:lstStyle/>
          <a:p>
            <a:r>
              <a:rPr lang="en-US" sz="1800" b="1" u="sng" dirty="0"/>
              <a:t>Surveillance-</a:t>
            </a:r>
            <a:r>
              <a:rPr lang="en-US" sz="1800" dirty="0"/>
              <a:t> Refers to the continuous, specific measurement and observation for the purpose of water quality management and operational activities.</a:t>
            </a:r>
          </a:p>
          <a:p>
            <a:r>
              <a:rPr lang="en-US" sz="1800" b="1" u="sng" dirty="0"/>
              <a:t>Premises</a:t>
            </a:r>
            <a:r>
              <a:rPr lang="en-US" sz="1800" dirty="0"/>
              <a:t>-means any building, structure or tent together with the land on which  it is situated and the adjoining land used in connection with it and includes any land without any building, structure or tent and any vehicle, conveyance or ship.</a:t>
            </a:r>
          </a:p>
          <a:p>
            <a:r>
              <a:rPr lang="en-US" sz="1800" b="1" u="sng" dirty="0"/>
              <a:t>Mental NPO Health Care Provider- </a:t>
            </a:r>
            <a:r>
              <a:rPr lang="en-US" sz="1800" dirty="0"/>
              <a:t>Non profit organization that provides mental health services.</a:t>
            </a:r>
          </a:p>
          <a:p>
            <a:r>
              <a:rPr lang="en-US" sz="1800" b="1" u="sng" dirty="0"/>
              <a:t>Mental Health Care User (MHCU)- </a:t>
            </a:r>
            <a:r>
              <a:rPr lang="en-US" sz="1800" dirty="0"/>
              <a:t> Means a child or adult or older person with severe psychiatric disability or severe or profound intellectual disability, who is a recipient of the Service provider services.</a:t>
            </a:r>
          </a:p>
          <a:p>
            <a:r>
              <a:rPr lang="en-US" sz="1800" b="1" u="sng" dirty="0"/>
              <a:t>Mental Health Facility- </a:t>
            </a:r>
            <a:r>
              <a:rPr lang="en-US" sz="1800" dirty="0"/>
              <a:t>means a facility that provides a daycare or residential care , treatment  and rehabilitation services to five or more persons with mental illness and/or severe or profound intellectual disability.</a:t>
            </a:r>
            <a:endParaRPr lang="en-ZA" sz="1800" b="1" u="sng" dirty="0"/>
          </a:p>
        </p:txBody>
      </p:sp>
    </p:spTree>
    <p:extLst>
      <p:ext uri="{BB962C8B-B14F-4D97-AF65-F5344CB8AC3E}">
        <p14:creationId xmlns:p14="http://schemas.microsoft.com/office/powerpoint/2010/main" val="46781637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9B810-F6B8-DE1A-FA41-4E2DE76245E9}"/>
              </a:ext>
            </a:extLst>
          </p:cNvPr>
          <p:cNvSpPr>
            <a:spLocks noGrp="1"/>
          </p:cNvSpPr>
          <p:nvPr>
            <p:ph type="title"/>
          </p:nvPr>
        </p:nvSpPr>
        <p:spPr/>
        <p:txBody>
          <a:bodyPr/>
          <a:lstStyle/>
          <a:p>
            <a:r>
              <a:rPr lang="en-US" dirty="0"/>
              <a:t>Introduction </a:t>
            </a:r>
            <a:endParaRPr lang="en-ZA" dirty="0"/>
          </a:p>
        </p:txBody>
      </p:sp>
      <p:sp>
        <p:nvSpPr>
          <p:cNvPr id="3" name="Text Placeholder 2">
            <a:extLst>
              <a:ext uri="{FF2B5EF4-FFF2-40B4-BE49-F238E27FC236}">
                <a16:creationId xmlns:a16="http://schemas.microsoft.com/office/drawing/2014/main" id="{AC628D10-22B4-08B3-CE44-AE4379F86C18}"/>
              </a:ext>
            </a:extLst>
          </p:cNvPr>
          <p:cNvSpPr>
            <a:spLocks noGrp="1"/>
          </p:cNvSpPr>
          <p:nvPr>
            <p:ph type="body" idx="1"/>
          </p:nvPr>
        </p:nvSpPr>
        <p:spPr/>
        <p:txBody>
          <a:bodyPr>
            <a:normAutofit/>
          </a:bodyPr>
          <a:lstStyle/>
          <a:p>
            <a:pPr marL="0" indent="0">
              <a:buNone/>
            </a:pPr>
            <a:endParaRPr lang="en-US" sz="2000" dirty="0"/>
          </a:p>
          <a:p>
            <a:pPr marL="0" indent="0">
              <a:buNone/>
            </a:pPr>
            <a:endParaRPr lang="en-US" sz="2000" dirty="0"/>
          </a:p>
          <a:p>
            <a:pPr marL="0" indent="0">
              <a:buNone/>
            </a:pPr>
            <a:r>
              <a:rPr lang="en-US" sz="2400" dirty="0"/>
              <a:t>Health surveillance of premises is a function performed by Environmental Health Practitioners (EHPs) in South Africa to monitor and assess conditions in various types of premises, such as housing, public buildings, and businesses, to identify and mitigate health hazards. This process includes evaluating factors like air quality, lighting, structural safety, and ensures compliance with health legislation to protect public health by promoting safe and hygienic environments.</a:t>
            </a:r>
          </a:p>
          <a:p>
            <a:pPr marL="0" indent="0">
              <a:buNone/>
            </a:pPr>
            <a:endParaRPr lang="en-US" dirty="0"/>
          </a:p>
        </p:txBody>
      </p:sp>
    </p:spTree>
    <p:extLst>
      <p:ext uri="{BB962C8B-B14F-4D97-AF65-F5344CB8AC3E}">
        <p14:creationId xmlns:p14="http://schemas.microsoft.com/office/powerpoint/2010/main" val="357024262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6D31-14BF-FEF5-9DE0-CCE2C6DF1C27}"/>
              </a:ext>
            </a:extLst>
          </p:cNvPr>
          <p:cNvSpPr>
            <a:spLocks noGrp="1"/>
          </p:cNvSpPr>
          <p:nvPr>
            <p:ph type="title"/>
          </p:nvPr>
        </p:nvSpPr>
        <p:spPr/>
        <p:txBody>
          <a:bodyPr/>
          <a:lstStyle/>
          <a:p>
            <a:r>
              <a:rPr lang="en-US" dirty="0"/>
              <a:t>Background on NPOs</a:t>
            </a:r>
            <a:endParaRPr lang="en-ZA" dirty="0"/>
          </a:p>
        </p:txBody>
      </p:sp>
      <p:sp>
        <p:nvSpPr>
          <p:cNvPr id="3" name="Text Placeholder 2">
            <a:extLst>
              <a:ext uri="{FF2B5EF4-FFF2-40B4-BE49-F238E27FC236}">
                <a16:creationId xmlns:a16="http://schemas.microsoft.com/office/drawing/2014/main" id="{FDAC97F1-79EA-BD59-E36F-5D1F7E17070A}"/>
              </a:ext>
            </a:extLst>
          </p:cNvPr>
          <p:cNvSpPr>
            <a:spLocks noGrp="1"/>
          </p:cNvSpPr>
          <p:nvPr>
            <p:ph type="body" idx="1"/>
          </p:nvPr>
        </p:nvSpPr>
        <p:spPr/>
        <p:txBody>
          <a:bodyPr>
            <a:normAutofit/>
          </a:bodyPr>
          <a:lstStyle/>
          <a:p>
            <a:endParaRPr lang="en-US" sz="2400" dirty="0"/>
          </a:p>
          <a:p>
            <a:endParaRPr lang="en-US" sz="2400" dirty="0"/>
          </a:p>
          <a:p>
            <a:pPr marL="0" indent="0">
              <a:buNone/>
            </a:pPr>
            <a:r>
              <a:rPr lang="en-US" sz="2400" dirty="0"/>
              <a:t>The mental health NPOs are non profit organizations which provide day care, residential care, treatment, rehabilitation services to five or more persons with metal illness and/or severe to profound intellectual disability, the services which should be provided at these NPOs as outlined in the National standards for health establishments in South Africa focus on:</a:t>
            </a:r>
          </a:p>
          <a:p>
            <a:pPr marL="0" indent="0">
              <a:buNone/>
            </a:pPr>
            <a:endParaRPr lang="en-US" sz="2800" dirty="0"/>
          </a:p>
          <a:p>
            <a:pPr marL="0" indent="0">
              <a:buNone/>
            </a:pPr>
            <a:endParaRPr lang="en-US" dirty="0"/>
          </a:p>
          <a:p>
            <a:pPr marL="0" indent="0">
              <a:buNone/>
            </a:pPr>
            <a:endParaRPr lang="en-ZA" dirty="0"/>
          </a:p>
        </p:txBody>
      </p:sp>
    </p:spTree>
    <p:extLst>
      <p:ext uri="{BB962C8B-B14F-4D97-AF65-F5344CB8AC3E}">
        <p14:creationId xmlns:p14="http://schemas.microsoft.com/office/powerpoint/2010/main" val="149606683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72D6E-EF55-5962-35A0-5061479221E7}"/>
              </a:ext>
            </a:extLst>
          </p:cNvPr>
          <p:cNvSpPr>
            <a:spLocks noGrp="1"/>
          </p:cNvSpPr>
          <p:nvPr>
            <p:ph type="title"/>
          </p:nvPr>
        </p:nvSpPr>
        <p:spPr/>
        <p:txBody>
          <a:bodyPr/>
          <a:lstStyle/>
          <a:p>
            <a:r>
              <a:rPr lang="en-US" dirty="0"/>
              <a:t>Continued..</a:t>
            </a:r>
            <a:endParaRPr lang="en-ZA" dirty="0"/>
          </a:p>
        </p:txBody>
      </p:sp>
      <p:sp>
        <p:nvSpPr>
          <p:cNvPr id="3" name="Text Placeholder 2">
            <a:extLst>
              <a:ext uri="{FF2B5EF4-FFF2-40B4-BE49-F238E27FC236}">
                <a16:creationId xmlns:a16="http://schemas.microsoft.com/office/drawing/2014/main" id="{9DD9FDFF-9CFA-85A0-871E-FA6BAE3075AF}"/>
              </a:ext>
            </a:extLst>
          </p:cNvPr>
          <p:cNvSpPr>
            <a:spLocks noGrp="1"/>
          </p:cNvSpPr>
          <p:nvPr>
            <p:ph type="body" idx="1"/>
          </p:nvPr>
        </p:nvSpPr>
        <p:spPr/>
        <p:txBody>
          <a:bodyPr>
            <a:normAutofit/>
          </a:bodyPr>
          <a:lstStyle/>
          <a:p>
            <a:pPr marL="514350" indent="-514350">
              <a:buAutoNum type="arabicPeriod"/>
            </a:pPr>
            <a:r>
              <a:rPr lang="en-US" sz="2400" dirty="0"/>
              <a:t>Mental Health Care Users.</a:t>
            </a:r>
          </a:p>
          <a:p>
            <a:pPr marL="0" indent="0">
              <a:buNone/>
            </a:pPr>
            <a:endParaRPr lang="en-US" sz="2400" dirty="0"/>
          </a:p>
          <a:p>
            <a:pPr marL="0" indent="0">
              <a:buNone/>
            </a:pPr>
            <a:r>
              <a:rPr lang="en-US" sz="2400" dirty="0"/>
              <a:t>2. The Facility Services.</a:t>
            </a:r>
          </a:p>
          <a:p>
            <a:pPr marL="0" indent="0">
              <a:buNone/>
            </a:pPr>
            <a:endParaRPr lang="en-US" sz="2400" dirty="0"/>
          </a:p>
          <a:p>
            <a:pPr marL="0" indent="0">
              <a:buNone/>
            </a:pPr>
            <a:r>
              <a:rPr lang="en-US" sz="2400" dirty="0"/>
              <a:t>3. The Clinical Care.</a:t>
            </a:r>
          </a:p>
          <a:p>
            <a:pPr marL="0" indent="0">
              <a:buNone/>
            </a:pPr>
            <a:endParaRPr lang="en-US" sz="2400" dirty="0"/>
          </a:p>
          <a:p>
            <a:pPr marL="0" indent="0">
              <a:buNone/>
            </a:pPr>
            <a:r>
              <a:rPr lang="en-US" sz="2400" dirty="0"/>
              <a:t>4. The Environment. </a:t>
            </a:r>
            <a:endParaRPr lang="en-ZA" sz="2400" dirty="0"/>
          </a:p>
        </p:txBody>
      </p:sp>
    </p:spTree>
    <p:extLst>
      <p:ext uri="{BB962C8B-B14F-4D97-AF65-F5344CB8AC3E}">
        <p14:creationId xmlns:p14="http://schemas.microsoft.com/office/powerpoint/2010/main" val="79023134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188B6-6D91-2710-369C-980436C0724E}"/>
              </a:ext>
            </a:extLst>
          </p:cNvPr>
          <p:cNvSpPr>
            <a:spLocks noGrp="1"/>
          </p:cNvSpPr>
          <p:nvPr>
            <p:ph type="title"/>
          </p:nvPr>
        </p:nvSpPr>
        <p:spPr/>
        <p:txBody>
          <a:bodyPr/>
          <a:lstStyle/>
          <a:p>
            <a:r>
              <a:rPr lang="en-US" dirty="0"/>
              <a:t>Standards for Health Surveillance of Premises</a:t>
            </a:r>
            <a:endParaRPr lang="en-ZA" dirty="0"/>
          </a:p>
        </p:txBody>
      </p:sp>
      <p:sp>
        <p:nvSpPr>
          <p:cNvPr id="3" name="Text Placeholder 2">
            <a:extLst>
              <a:ext uri="{FF2B5EF4-FFF2-40B4-BE49-F238E27FC236}">
                <a16:creationId xmlns:a16="http://schemas.microsoft.com/office/drawing/2014/main" id="{80EF786E-8242-50F0-8A7D-8D5246D80546}"/>
              </a:ext>
            </a:extLst>
          </p:cNvPr>
          <p:cNvSpPr>
            <a:spLocks noGrp="1"/>
          </p:cNvSpPr>
          <p:nvPr>
            <p:ph type="body" idx="1"/>
          </p:nvPr>
        </p:nvSpPr>
        <p:spPr/>
        <p:txBody>
          <a:bodyPr>
            <a:normAutofit/>
          </a:bodyPr>
          <a:lstStyle/>
          <a:p>
            <a:pPr marR="32385" lvl="0" algn="just" fontAlgn="base">
              <a:lnSpc>
                <a:spcPct val="103000"/>
              </a:lnSpc>
              <a:spcAft>
                <a:spcPts val="25"/>
              </a:spcAft>
              <a:buClr>
                <a:srgbClr val="181717"/>
              </a:buClr>
              <a:buSzPts val="950"/>
              <a:buFont typeface="Arial" panose="020B0604020202020204" pitchFamily="34" charset="0"/>
              <a:buChar char="•"/>
            </a:pPr>
            <a:r>
              <a:rPr lang="en-ZA" sz="2400" u="none" strike="noStrike" kern="100" dirty="0">
                <a:solidFill>
                  <a:srgbClr val="181717"/>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Conducting EH impact assessments of, amongst others housing projects. </a:t>
            </a:r>
          </a:p>
          <a:p>
            <a:pPr marR="32385" lvl="0" algn="just" fontAlgn="base">
              <a:lnSpc>
                <a:spcPct val="103000"/>
              </a:lnSpc>
              <a:spcAft>
                <a:spcPts val="25"/>
              </a:spcAft>
              <a:buClr>
                <a:srgbClr val="181717"/>
              </a:buClr>
              <a:buSzPts val="950"/>
              <a:buFont typeface="Arial" panose="020B0604020202020204" pitchFamily="34" charset="0"/>
              <a:buChar char="•"/>
            </a:pPr>
            <a:endParaRPr lang="en-ZA" sz="2400" u="none" strike="noStrike" kern="100" dirty="0">
              <a:solidFill>
                <a:srgbClr val="181717"/>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R="32385" lvl="0" algn="just" fontAlgn="base">
              <a:lnSpc>
                <a:spcPct val="103000"/>
              </a:lnSpc>
              <a:spcAft>
                <a:spcPts val="25"/>
              </a:spcAft>
              <a:buClr>
                <a:srgbClr val="181717"/>
              </a:buClr>
              <a:buSzPts val="950"/>
              <a:buFont typeface="Arial" panose="020B0604020202020204" pitchFamily="34" charset="0"/>
              <a:buChar char="•"/>
            </a:pPr>
            <a:r>
              <a:rPr lang="en-ZA" sz="2400" u="none" strike="noStrike" kern="100" dirty="0">
                <a:solidFill>
                  <a:srgbClr val="181717"/>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Assessing aspects such as ventilation and indoor air quality, lighting, moisture proofing, thermal quality, structural safety and floor space. </a:t>
            </a:r>
          </a:p>
          <a:p>
            <a:pPr marR="32385" lvl="0" algn="just" fontAlgn="base">
              <a:lnSpc>
                <a:spcPct val="103000"/>
              </a:lnSpc>
              <a:spcAft>
                <a:spcPts val="25"/>
              </a:spcAft>
              <a:buClr>
                <a:srgbClr val="181717"/>
              </a:buClr>
              <a:buSzPts val="950"/>
              <a:buFont typeface="Arial" panose="020B0604020202020204" pitchFamily="34" charset="0"/>
              <a:buChar char="•"/>
            </a:pPr>
            <a:endParaRPr lang="en-ZA" sz="2400" u="none" strike="noStrike" kern="100" dirty="0">
              <a:solidFill>
                <a:srgbClr val="181717"/>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R="32385" lvl="0" algn="just" fontAlgn="base">
              <a:lnSpc>
                <a:spcPct val="103000"/>
              </a:lnSpc>
              <a:spcAft>
                <a:spcPts val="25"/>
              </a:spcAft>
              <a:buClr>
                <a:srgbClr val="181717"/>
              </a:buClr>
              <a:buSzPts val="950"/>
              <a:buFont typeface="Arial" panose="020B0604020202020204" pitchFamily="34" charset="0"/>
              <a:buChar char="•"/>
            </a:pPr>
            <a:r>
              <a:rPr lang="en-ZA" sz="2400" u="none" strike="noStrike" kern="100" dirty="0">
                <a:solidFill>
                  <a:srgbClr val="181717"/>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Assessing overcrowded, dirty or other unsatisfactory health conditions on any residential, commercial, industrial or other occupied premises. </a:t>
            </a:r>
          </a:p>
          <a:p>
            <a:endParaRPr lang="en-ZA" dirty="0"/>
          </a:p>
        </p:txBody>
      </p:sp>
    </p:spTree>
    <p:extLst>
      <p:ext uri="{BB962C8B-B14F-4D97-AF65-F5344CB8AC3E}">
        <p14:creationId xmlns:p14="http://schemas.microsoft.com/office/powerpoint/2010/main" val="13405304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65416-6074-207B-9CEB-619F7920E9E3}"/>
              </a:ext>
            </a:extLst>
          </p:cNvPr>
          <p:cNvSpPr>
            <a:spLocks noGrp="1"/>
          </p:cNvSpPr>
          <p:nvPr>
            <p:ph type="title"/>
          </p:nvPr>
        </p:nvSpPr>
        <p:spPr/>
        <p:txBody>
          <a:bodyPr/>
          <a:lstStyle/>
          <a:p>
            <a:r>
              <a:rPr lang="en-US" dirty="0"/>
              <a:t>Standards for Health Surveillance of Premises</a:t>
            </a:r>
            <a:endParaRPr lang="en-ZA" dirty="0"/>
          </a:p>
        </p:txBody>
      </p:sp>
      <p:sp>
        <p:nvSpPr>
          <p:cNvPr id="3" name="Text Placeholder 2">
            <a:extLst>
              <a:ext uri="{FF2B5EF4-FFF2-40B4-BE49-F238E27FC236}">
                <a16:creationId xmlns:a16="http://schemas.microsoft.com/office/drawing/2014/main" id="{0461065B-7A04-C7CA-716A-B405CC29134C}"/>
              </a:ext>
            </a:extLst>
          </p:cNvPr>
          <p:cNvSpPr>
            <a:spLocks noGrp="1"/>
          </p:cNvSpPr>
          <p:nvPr>
            <p:ph type="body" idx="1"/>
          </p:nvPr>
        </p:nvSpPr>
        <p:spPr/>
        <p:txBody>
          <a:bodyPr>
            <a:normAutofit/>
          </a:bodyPr>
          <a:lstStyle/>
          <a:p>
            <a:pPr marR="32385" lvl="0" algn="just" defTabSz="457200" eaLnBrk="1" fontAlgn="base" latinLnBrk="0" hangingPunct="1">
              <a:lnSpc>
                <a:spcPct val="103000"/>
              </a:lnSpc>
              <a:spcBef>
                <a:spcPts val="700"/>
              </a:spcBef>
              <a:spcAft>
                <a:spcPts val="25"/>
              </a:spcAft>
              <a:buClr>
                <a:srgbClr val="181717"/>
              </a:buClr>
              <a:buSzPts val="950"/>
              <a:buFont typeface="Arial" panose="020B0604020202020204" pitchFamily="34" charset="0"/>
              <a:buChar char="•"/>
              <a:tabLst/>
              <a:defRPr/>
            </a:pPr>
            <a:r>
              <a:rPr kumimoji="0" lang="en-ZA" sz="2400" b="0" i="0" u="none" strike="noStrike" kern="100" cap="none" spc="0" normalizeH="0" baseline="0" noProof="0" dirty="0">
                <a:ln>
                  <a:noFill/>
                </a:ln>
                <a:solidFill>
                  <a:srgbClr val="181717"/>
                </a:solidFill>
                <a:effectLst/>
                <a:uLnTx/>
                <a:uFill>
                  <a:solidFill>
                    <a:srgbClr val="000000"/>
                  </a:solidFill>
                </a:uFill>
                <a:latin typeface="Calibri" panose="020F0502020204030204" pitchFamily="34" charset="0"/>
                <a:ea typeface="Calibri" panose="020F0502020204030204" pitchFamily="34" charset="0"/>
                <a:cs typeface="Calibri" panose="020F0502020204030204" pitchFamily="34" charset="0"/>
                <a:sym typeface="Calibri"/>
              </a:rPr>
              <a:t>Monitoring all buildings and all other permanent or temporary physical structures used for residential, public or institutional purposes (including health care and other care, detainment, work, recreational, travel, tourism, holidaying and camping) and the facilities in connection therewith the immediate precincts. </a:t>
            </a:r>
          </a:p>
          <a:p>
            <a:pPr marR="32385" lvl="0" algn="just" defTabSz="457200" eaLnBrk="1" fontAlgn="base" latinLnBrk="0" hangingPunct="1">
              <a:lnSpc>
                <a:spcPct val="103000"/>
              </a:lnSpc>
              <a:spcBef>
                <a:spcPts val="700"/>
              </a:spcBef>
              <a:spcAft>
                <a:spcPts val="25"/>
              </a:spcAft>
              <a:buClr>
                <a:srgbClr val="181717"/>
              </a:buClr>
              <a:buSzPts val="950"/>
              <a:buFont typeface="Arial" panose="020B0604020202020204" pitchFamily="34" charset="0"/>
              <a:buChar char="•"/>
              <a:tabLst/>
              <a:defRPr/>
            </a:pPr>
            <a:endParaRPr kumimoji="0" lang="en-ZA" sz="2400" b="0" i="0" u="none" strike="noStrike" kern="100" cap="none" spc="0" normalizeH="0" baseline="0" noProof="0" dirty="0">
              <a:ln>
                <a:noFill/>
              </a:ln>
              <a:solidFill>
                <a:srgbClr val="181717"/>
              </a:solidFill>
              <a:effectLst/>
              <a:uLnTx/>
              <a:uFill>
                <a:solidFill>
                  <a:srgbClr val="000000"/>
                </a:solidFill>
              </a:uFill>
              <a:latin typeface="Calibri" panose="020F0502020204030204" pitchFamily="34" charset="0"/>
              <a:ea typeface="Calibri" panose="020F0502020204030204" pitchFamily="34" charset="0"/>
              <a:cs typeface="Calibri" panose="020F0502020204030204" pitchFamily="34" charset="0"/>
              <a:sym typeface="Calibri"/>
            </a:endParaRPr>
          </a:p>
          <a:p>
            <a:pPr marR="32385" lvl="0" algn="just" defTabSz="457200" eaLnBrk="1" fontAlgn="base" latinLnBrk="0" hangingPunct="1">
              <a:lnSpc>
                <a:spcPct val="103000"/>
              </a:lnSpc>
              <a:spcBef>
                <a:spcPts val="700"/>
              </a:spcBef>
              <a:spcAft>
                <a:spcPts val="25"/>
              </a:spcAft>
              <a:buClr>
                <a:srgbClr val="181717"/>
              </a:buClr>
              <a:buSzPts val="950"/>
              <a:buFont typeface="Arial" panose="020B0604020202020204" pitchFamily="34" charset="0"/>
              <a:buChar char="•"/>
              <a:tabLst/>
              <a:defRPr/>
            </a:pPr>
            <a:r>
              <a:rPr kumimoji="0" lang="en-ZA" sz="2400" b="0" i="0" u="none" strike="noStrike" kern="100" cap="none" spc="0" normalizeH="0" baseline="0" noProof="0" dirty="0">
                <a:ln>
                  <a:noFill/>
                </a:ln>
                <a:solidFill>
                  <a:srgbClr val="181717"/>
                </a:solidFill>
                <a:effectLst/>
                <a:uLnTx/>
                <a:uFill>
                  <a:solidFill>
                    <a:srgbClr val="000000"/>
                  </a:solidFill>
                </a:uFill>
                <a:latin typeface="Calibri" panose="020F0502020204030204" pitchFamily="34" charset="0"/>
                <a:ea typeface="Calibri" panose="020F0502020204030204" pitchFamily="34" charset="0"/>
                <a:cs typeface="Calibri" panose="020F0502020204030204" pitchFamily="34" charset="0"/>
                <a:sym typeface="Calibri"/>
              </a:rPr>
              <a:t>Ensuring urban and rural land use planning and practices that is conducive to sustainable development conducting sound EH impact and other assessments. </a:t>
            </a:r>
          </a:p>
          <a:p>
            <a:pPr marR="32385" lvl="0" algn="just" defTabSz="457200" eaLnBrk="1" fontAlgn="base" latinLnBrk="0" hangingPunct="1">
              <a:lnSpc>
                <a:spcPct val="103000"/>
              </a:lnSpc>
              <a:spcBef>
                <a:spcPts val="700"/>
              </a:spcBef>
              <a:spcAft>
                <a:spcPts val="25"/>
              </a:spcAft>
              <a:buClr>
                <a:srgbClr val="181717"/>
              </a:buClr>
              <a:buSzPts val="950"/>
              <a:buFont typeface="Arial" panose="020B0604020202020204" pitchFamily="34" charset="0"/>
              <a:buChar char="•"/>
              <a:tabLst/>
              <a:defRPr/>
            </a:pPr>
            <a:endParaRPr kumimoji="0" lang="en-ZA" sz="2400" b="0" i="0" u="none" strike="noStrike" kern="100" cap="none" spc="0" normalizeH="0" baseline="0" noProof="0" dirty="0">
              <a:ln>
                <a:noFill/>
              </a:ln>
              <a:solidFill>
                <a:srgbClr val="181717"/>
              </a:solidFill>
              <a:effectLst/>
              <a:uLnTx/>
              <a:uFill>
                <a:solidFill>
                  <a:srgbClr val="000000"/>
                </a:solidFill>
              </a:uFill>
              <a:latin typeface="Calibri" panose="020F0502020204030204" pitchFamily="34" charset="0"/>
              <a:ea typeface="Calibri" panose="020F0502020204030204" pitchFamily="34" charset="0"/>
              <a:cs typeface="Calibri" panose="020F0502020204030204" pitchFamily="34" charset="0"/>
              <a:sym typeface="Calibri"/>
            </a:endParaRPr>
          </a:p>
          <a:p>
            <a:pPr marR="32385" lvl="0" algn="just" defTabSz="457200" eaLnBrk="1" fontAlgn="base" latinLnBrk="0" hangingPunct="1">
              <a:lnSpc>
                <a:spcPct val="103000"/>
              </a:lnSpc>
              <a:spcBef>
                <a:spcPts val="700"/>
              </a:spcBef>
              <a:spcAft>
                <a:spcPts val="25"/>
              </a:spcAft>
              <a:buClr>
                <a:srgbClr val="181717"/>
              </a:buClr>
              <a:buSzPts val="950"/>
              <a:buFont typeface="Arial" panose="020B0604020202020204" pitchFamily="34" charset="0"/>
              <a:buChar char="•"/>
              <a:tabLst/>
              <a:defRPr/>
            </a:pPr>
            <a:r>
              <a:rPr kumimoji="0" lang="en-ZA" sz="2400" b="0" i="0" u="none" strike="noStrike" kern="100" cap="none" spc="0" normalizeH="0" baseline="0" noProof="0" dirty="0">
                <a:ln>
                  <a:noFill/>
                </a:ln>
                <a:solidFill>
                  <a:srgbClr val="181717"/>
                </a:solidFill>
                <a:effectLst/>
                <a:uLnTx/>
                <a:uFill>
                  <a:solidFill>
                    <a:srgbClr val="000000"/>
                  </a:solidFill>
                </a:uFill>
                <a:latin typeface="Calibri" panose="020F0502020204030204" pitchFamily="34" charset="0"/>
                <a:ea typeface="Calibri" panose="020F0502020204030204" pitchFamily="34" charset="0"/>
                <a:cs typeface="Calibri" panose="020F0502020204030204" pitchFamily="34" charset="0"/>
                <a:sym typeface="Calibri"/>
              </a:rPr>
              <a:t>Ensuring the prevention and abatement of any condition on any premises, which is likely to constitute and health hazard. </a:t>
            </a:r>
          </a:p>
          <a:p>
            <a:pPr marL="0" indent="0">
              <a:buNone/>
            </a:pPr>
            <a:endParaRPr lang="en-ZA" dirty="0"/>
          </a:p>
        </p:txBody>
      </p:sp>
    </p:spTree>
    <p:extLst>
      <p:ext uri="{BB962C8B-B14F-4D97-AF65-F5344CB8AC3E}">
        <p14:creationId xmlns:p14="http://schemas.microsoft.com/office/powerpoint/2010/main" val="147844914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4B244-A2BD-7FDD-3D1B-8F78E4503B7F}"/>
              </a:ext>
            </a:extLst>
          </p:cNvPr>
          <p:cNvSpPr>
            <a:spLocks noGrp="1"/>
          </p:cNvSpPr>
          <p:nvPr>
            <p:ph type="title"/>
          </p:nvPr>
        </p:nvSpPr>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9DA76A91-7BCB-B88A-9589-18C846B31C36}"/>
              </a:ext>
            </a:extLst>
          </p:cNvPr>
          <p:cNvSpPr>
            <a:spLocks noGrp="1"/>
          </p:cNvSpPr>
          <p:nvPr>
            <p:ph type="body" idx="1"/>
          </p:nvPr>
        </p:nvSpPr>
        <p:spPr/>
        <p:txBody>
          <a:bodyPr/>
          <a:lstStyle/>
          <a:p>
            <a:pPr marL="0" indent="0">
              <a:buNone/>
            </a:pPr>
            <a:r>
              <a:rPr lang="en-US" sz="2400" b="1" u="sng" dirty="0"/>
              <a:t>Walls</a:t>
            </a:r>
          </a:p>
          <a:p>
            <a:pPr marL="0" indent="0">
              <a:buNone/>
            </a:pPr>
            <a:r>
              <a:rPr lang="en-ZA" sz="2400" dirty="0"/>
              <a:t>The walls should be constructed of brick, stone ,concrete or other impervious material. The walls should be painted  and without cracks.</a:t>
            </a:r>
          </a:p>
          <a:p>
            <a:pPr marL="0" indent="0">
              <a:buNone/>
            </a:pPr>
            <a:endParaRPr lang="en-ZA" sz="2400" dirty="0"/>
          </a:p>
          <a:p>
            <a:pPr marL="0" indent="0">
              <a:buNone/>
            </a:pPr>
            <a:endParaRPr lang="en-ZA" sz="2400" dirty="0"/>
          </a:p>
          <a:p>
            <a:pPr marL="0" indent="0">
              <a:buNone/>
            </a:pPr>
            <a:endParaRPr lang="en-ZA" sz="2400" dirty="0"/>
          </a:p>
          <a:p>
            <a:pPr>
              <a:buFont typeface="Arial" panose="020B0604020202020204" pitchFamily="34" charset="0"/>
              <a:buChar char="•"/>
            </a:pPr>
            <a:endParaRPr lang="en-ZA" dirty="0"/>
          </a:p>
        </p:txBody>
      </p:sp>
      <p:pic>
        <p:nvPicPr>
          <p:cNvPr id="5" name="Picture 4">
            <a:extLst>
              <a:ext uri="{FF2B5EF4-FFF2-40B4-BE49-F238E27FC236}">
                <a16:creationId xmlns:a16="http://schemas.microsoft.com/office/drawing/2014/main" id="{31EE4128-4ABC-B71C-CC3A-718065333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92" y="3335311"/>
            <a:ext cx="3744416" cy="2520280"/>
          </a:xfrm>
          <a:prstGeom prst="rect">
            <a:avLst/>
          </a:prstGeom>
        </p:spPr>
      </p:pic>
    </p:spTree>
    <p:extLst>
      <p:ext uri="{BB962C8B-B14F-4D97-AF65-F5344CB8AC3E}">
        <p14:creationId xmlns:p14="http://schemas.microsoft.com/office/powerpoint/2010/main" val="295564467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34D62-A3F1-062A-99A0-15CEC6532922}"/>
              </a:ext>
            </a:extLst>
          </p:cNvPr>
          <p:cNvSpPr>
            <a:spLocks noGrp="1"/>
          </p:cNvSpPr>
          <p:nvPr>
            <p:ph type="title"/>
          </p:nvPr>
        </p:nvSpPr>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1FC9D422-1C6D-346B-AD67-127127292C9D}"/>
              </a:ext>
            </a:extLst>
          </p:cNvPr>
          <p:cNvSpPr>
            <a:spLocks noGrp="1"/>
          </p:cNvSpPr>
          <p:nvPr>
            <p:ph type="body" idx="1"/>
          </p:nvPr>
        </p:nvSpPr>
        <p:spPr/>
        <p:txBody>
          <a:bodyPr/>
          <a:lstStyle/>
          <a:p>
            <a:pPr marL="0" indent="0">
              <a:buNone/>
            </a:pPr>
            <a:r>
              <a:rPr lang="en-ZA" sz="2400" b="1" u="sng" dirty="0"/>
              <a:t>Floors</a:t>
            </a:r>
          </a:p>
          <a:p>
            <a:pPr marL="0" indent="0">
              <a:buNone/>
            </a:pPr>
            <a:r>
              <a:rPr lang="en-ZA" sz="2400" dirty="0"/>
              <a:t>Are constructed of concrete, hardwood or other durable material and brought to a smooth finish. The floors in the recreation areas  should be free from dust.</a:t>
            </a:r>
          </a:p>
          <a:p>
            <a:endParaRPr lang="en-ZA" dirty="0"/>
          </a:p>
        </p:txBody>
      </p:sp>
      <p:pic>
        <p:nvPicPr>
          <p:cNvPr id="5" name="Picture 4">
            <a:extLst>
              <a:ext uri="{FF2B5EF4-FFF2-40B4-BE49-F238E27FC236}">
                <a16:creationId xmlns:a16="http://schemas.microsoft.com/office/drawing/2014/main" id="{7B7629F5-4AF3-8712-2E32-8A60AEEEE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3284984"/>
            <a:ext cx="6858000" cy="3573016"/>
          </a:xfrm>
          <a:prstGeom prst="rect">
            <a:avLst/>
          </a:prstGeom>
        </p:spPr>
      </p:pic>
    </p:spTree>
    <p:extLst>
      <p:ext uri="{BB962C8B-B14F-4D97-AF65-F5344CB8AC3E}">
        <p14:creationId xmlns:p14="http://schemas.microsoft.com/office/powerpoint/2010/main" val="101734382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1CE22-76F9-174D-BC8F-DFE8A083BB00}"/>
              </a:ext>
            </a:extLst>
          </p:cNvPr>
          <p:cNvSpPr>
            <a:spLocks noGrp="1"/>
          </p:cNvSpPr>
          <p:nvPr>
            <p:ph type="title"/>
          </p:nvPr>
        </p:nvSpPr>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D5BF9442-269E-4FCB-AFCB-45D0AFA04BD9}"/>
              </a:ext>
            </a:extLst>
          </p:cNvPr>
          <p:cNvSpPr>
            <a:spLocks noGrp="1"/>
          </p:cNvSpPr>
          <p:nvPr>
            <p:ph type="body" idx="1"/>
          </p:nvPr>
        </p:nvSpPr>
        <p:spPr/>
        <p:txBody>
          <a:bodyPr>
            <a:normAutofit/>
          </a:bodyPr>
          <a:lstStyle/>
          <a:p>
            <a:pPr marL="0" indent="0">
              <a:buNone/>
            </a:pPr>
            <a:r>
              <a:rPr lang="en-US" sz="2800" b="1" u="sng" dirty="0"/>
              <a:t>Ceiling</a:t>
            </a:r>
          </a:p>
          <a:p>
            <a:pPr marL="0" indent="0">
              <a:buNone/>
            </a:pPr>
            <a:r>
              <a:rPr lang="en-US" sz="2800" dirty="0"/>
              <a:t>Ceilings must be constructed so as not to attract dust and should be painted with light colored paint.</a:t>
            </a:r>
          </a:p>
          <a:p>
            <a:pPr marL="0" indent="0">
              <a:buNone/>
            </a:pPr>
            <a:endParaRPr lang="en-US" dirty="0"/>
          </a:p>
          <a:p>
            <a:pPr marL="0" indent="0">
              <a:buNone/>
            </a:pPr>
            <a:endParaRPr lang="en-US" u="sng" dirty="0"/>
          </a:p>
          <a:p>
            <a:pPr marL="0" indent="0">
              <a:buNone/>
            </a:pPr>
            <a:endParaRPr lang="en-ZA" u="sng" dirty="0"/>
          </a:p>
        </p:txBody>
      </p:sp>
      <p:pic>
        <p:nvPicPr>
          <p:cNvPr id="5" name="Picture 4">
            <a:extLst>
              <a:ext uri="{FF2B5EF4-FFF2-40B4-BE49-F238E27FC236}">
                <a16:creationId xmlns:a16="http://schemas.microsoft.com/office/drawing/2014/main" id="{FF11C67B-684A-9EBB-7C56-B730A64BBB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3212976"/>
            <a:ext cx="4176464" cy="2592288"/>
          </a:xfrm>
          <a:prstGeom prst="rect">
            <a:avLst/>
          </a:prstGeom>
        </p:spPr>
      </p:pic>
    </p:spTree>
    <p:extLst>
      <p:ext uri="{BB962C8B-B14F-4D97-AF65-F5344CB8AC3E}">
        <p14:creationId xmlns:p14="http://schemas.microsoft.com/office/powerpoint/2010/main" val="98093351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E839B-8074-CADF-4BDD-253F77641CDD}"/>
              </a:ext>
            </a:extLst>
          </p:cNvPr>
          <p:cNvSpPr>
            <a:spLocks noGrp="1"/>
          </p:cNvSpPr>
          <p:nvPr>
            <p:ph type="title"/>
          </p:nvPr>
        </p:nvSpPr>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EAA061A9-8C7C-C0B9-C2B5-571956812978}"/>
              </a:ext>
            </a:extLst>
          </p:cNvPr>
          <p:cNvSpPr>
            <a:spLocks noGrp="1"/>
          </p:cNvSpPr>
          <p:nvPr>
            <p:ph type="body" idx="1"/>
          </p:nvPr>
        </p:nvSpPr>
        <p:spPr/>
        <p:txBody>
          <a:bodyPr>
            <a:normAutofit/>
          </a:bodyPr>
          <a:lstStyle/>
          <a:p>
            <a:pPr marL="0" indent="0">
              <a:buNone/>
            </a:pPr>
            <a:endParaRPr lang="en-US" sz="2400" b="1" u="sng" dirty="0"/>
          </a:p>
          <a:p>
            <a:pPr marL="0" indent="0">
              <a:buNone/>
            </a:pPr>
            <a:endParaRPr lang="en-ZA" sz="2400" b="1" u="sng" dirty="0"/>
          </a:p>
        </p:txBody>
      </p:sp>
      <p:sp>
        <p:nvSpPr>
          <p:cNvPr id="5" name="TextBox 4">
            <a:extLst>
              <a:ext uri="{FF2B5EF4-FFF2-40B4-BE49-F238E27FC236}">
                <a16:creationId xmlns:a16="http://schemas.microsoft.com/office/drawing/2014/main" id="{623B1A7B-C74B-CDF4-9F75-03BF95532EEA}"/>
              </a:ext>
            </a:extLst>
          </p:cNvPr>
          <p:cNvSpPr txBox="1"/>
          <p:nvPr/>
        </p:nvSpPr>
        <p:spPr>
          <a:xfrm>
            <a:off x="1007179" y="1769701"/>
            <a:ext cx="7597269" cy="397031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marL="0" indent="0">
              <a:buNone/>
            </a:pPr>
            <a:r>
              <a:rPr lang="en-US" sz="2400" b="1" u="sng" dirty="0"/>
              <a:t>Windows</a:t>
            </a:r>
          </a:p>
          <a:p>
            <a:pPr marL="0" indent="0">
              <a:buNone/>
            </a:pPr>
            <a:r>
              <a:rPr lang="en-US" sz="2400" dirty="0"/>
              <a:t>Windows in the rooms should be adequately protected or guarded to ensure the safety of MHCUs. The window design should allow for light and natural ventilation without breaching security.  The Mental Health Care Users should not be able to break the glass and injure him/herself. Windows must be constructed so as to minimize windowpane breakage.  Window frames must be able to withstand repeated attempts at dismantling.</a:t>
            </a:r>
          </a:p>
          <a:p>
            <a:pPr marL="0" indent="0">
              <a:buNone/>
            </a:pPr>
            <a:endParaRPr lang="en-US" dirty="0"/>
          </a:p>
          <a:p>
            <a:pPr marL="0" indent="0">
              <a:buNone/>
            </a:pPr>
            <a:endParaRPr lang="en-US" u="sng" dirty="0"/>
          </a:p>
        </p:txBody>
      </p:sp>
      <p:pic>
        <p:nvPicPr>
          <p:cNvPr id="7" name="Picture 6">
            <a:extLst>
              <a:ext uri="{FF2B5EF4-FFF2-40B4-BE49-F238E27FC236}">
                <a16:creationId xmlns:a16="http://schemas.microsoft.com/office/drawing/2014/main" id="{A52B014B-7591-6F9E-24A2-302718FF8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437" y="5157192"/>
            <a:ext cx="2143125" cy="1512168"/>
          </a:xfrm>
          <a:prstGeom prst="rect">
            <a:avLst/>
          </a:prstGeom>
        </p:spPr>
      </p:pic>
    </p:spTree>
    <p:extLst>
      <p:ext uri="{BB962C8B-B14F-4D97-AF65-F5344CB8AC3E}">
        <p14:creationId xmlns:p14="http://schemas.microsoft.com/office/powerpoint/2010/main" val="4614658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0F9D9-95DB-508A-6424-7E1F3D5471FE}"/>
              </a:ext>
            </a:extLst>
          </p:cNvPr>
          <p:cNvSpPr>
            <a:spLocks noGrp="1"/>
          </p:cNvSpPr>
          <p:nvPr>
            <p:ph type="title"/>
          </p:nvPr>
        </p:nvSpPr>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06E6585B-FC48-1930-F615-107DA403FD58}"/>
              </a:ext>
            </a:extLst>
          </p:cNvPr>
          <p:cNvSpPr>
            <a:spLocks noGrp="1"/>
          </p:cNvSpPr>
          <p:nvPr>
            <p:ph type="body" idx="1"/>
          </p:nvPr>
        </p:nvSpPr>
        <p:spPr/>
        <p:txBody>
          <a:bodyPr>
            <a:normAutofit/>
          </a:bodyPr>
          <a:lstStyle/>
          <a:p>
            <a:pPr marL="0" indent="0">
              <a:buNone/>
            </a:pPr>
            <a:r>
              <a:rPr lang="en-US" sz="2400" b="1" u="sng" dirty="0"/>
              <a:t>Illumination</a:t>
            </a:r>
          </a:p>
          <a:p>
            <a:pPr marR="158115" lvl="0" algn="just" fontAlgn="base">
              <a:lnSpc>
                <a:spcPct val="112000"/>
              </a:lnSpc>
              <a:spcAft>
                <a:spcPts val="165"/>
              </a:spcAft>
              <a:buClr>
                <a:srgbClr val="000000"/>
              </a:buClr>
              <a:buSzPts val="1000"/>
              <a:buFont typeface="Arial" panose="020B0604020202020204" pitchFamily="34" charset="0"/>
              <a:buChar char="•"/>
            </a:pPr>
            <a:r>
              <a:rPr lang="en-ZA" sz="24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As much natural lighting as possible should be provided. It should be noted that confused mental healthcare users have disturbed day and night rhythms and daylight assists in patient orientation to time and space. </a:t>
            </a:r>
          </a:p>
          <a:p>
            <a:pPr marL="342900" marR="158115" lvl="0" indent="-342900" algn="just" fontAlgn="base">
              <a:lnSpc>
                <a:spcPct val="112000"/>
              </a:lnSpc>
              <a:spcAft>
                <a:spcPts val="615"/>
              </a:spcAft>
              <a:buClr>
                <a:srgbClr val="000000"/>
              </a:buClr>
              <a:buSzPts val="1000"/>
              <a:buFont typeface="Arial" panose="020B0604020202020204" pitchFamily="34" charset="0"/>
              <a:buChar char="•"/>
            </a:pPr>
            <a:r>
              <a:rPr lang="en-ZA" sz="2400" u="none" strike="noStrike" kern="100"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Recessed illumination should be used and the patient should not be able to reach or break the light. </a:t>
            </a:r>
          </a:p>
          <a:p>
            <a:pPr marL="0" indent="0">
              <a:buNone/>
            </a:pPr>
            <a:endParaRPr lang="en-ZA" sz="2400" b="1" u="sng" dirty="0"/>
          </a:p>
        </p:txBody>
      </p:sp>
      <p:pic>
        <p:nvPicPr>
          <p:cNvPr id="5" name="Picture 4">
            <a:extLst>
              <a:ext uri="{FF2B5EF4-FFF2-40B4-BE49-F238E27FC236}">
                <a16:creationId xmlns:a16="http://schemas.microsoft.com/office/drawing/2014/main" id="{755E9B88-9F1E-B178-4252-44DA8C6389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92" y="4941168"/>
            <a:ext cx="3528392" cy="1728192"/>
          </a:xfrm>
          <a:prstGeom prst="rect">
            <a:avLst/>
          </a:prstGeom>
        </p:spPr>
      </p:pic>
    </p:spTree>
    <p:extLst>
      <p:ext uri="{BB962C8B-B14F-4D97-AF65-F5344CB8AC3E}">
        <p14:creationId xmlns:p14="http://schemas.microsoft.com/office/powerpoint/2010/main" val="33573183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71F2A-6D21-2B85-E12E-FF7D5C1C9E4D}"/>
              </a:ext>
            </a:extLst>
          </p:cNvPr>
          <p:cNvSpPr>
            <a:spLocks noGrp="1"/>
          </p:cNvSpPr>
          <p:nvPr>
            <p:ph type="title"/>
          </p:nvPr>
        </p:nvSpPr>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BD4DA6FA-1957-23B7-269D-F4546AF93682}"/>
              </a:ext>
            </a:extLst>
          </p:cNvPr>
          <p:cNvSpPr>
            <a:spLocks noGrp="1"/>
          </p:cNvSpPr>
          <p:nvPr>
            <p:ph type="body" idx="1"/>
          </p:nvPr>
        </p:nvSpPr>
        <p:spPr/>
        <p:txBody>
          <a:bodyPr>
            <a:normAutofit/>
          </a:bodyPr>
          <a:lstStyle/>
          <a:p>
            <a:pPr marL="0" indent="0">
              <a:buNone/>
            </a:pPr>
            <a:r>
              <a:rPr lang="en-US" sz="2400" b="1" u="sng" dirty="0"/>
              <a:t>Ventilation</a:t>
            </a:r>
          </a:p>
          <a:p>
            <a:pPr>
              <a:buFont typeface="Arial" panose="020B0604020202020204" pitchFamily="34" charset="0"/>
              <a:buChar char="•"/>
            </a:pPr>
            <a:r>
              <a:rPr lang="en-US" sz="2400" dirty="0"/>
              <a:t>There should be sufficient natural ventilation within the Centre, ventilation can also be achieved by artificial means ( air conditioners and fans).</a:t>
            </a:r>
          </a:p>
          <a:p>
            <a:pPr marL="0" indent="0">
              <a:buNone/>
            </a:pPr>
            <a:endParaRPr lang="en-ZA" sz="2400" dirty="0"/>
          </a:p>
        </p:txBody>
      </p:sp>
      <p:grpSp>
        <p:nvGrpSpPr>
          <p:cNvPr id="4" name="Group 3">
            <a:extLst>
              <a:ext uri="{FF2B5EF4-FFF2-40B4-BE49-F238E27FC236}">
                <a16:creationId xmlns:a16="http://schemas.microsoft.com/office/drawing/2014/main" id="{D636782D-2F92-4C07-724E-A2E8D62D438D}"/>
              </a:ext>
            </a:extLst>
          </p:cNvPr>
          <p:cNvGrpSpPr/>
          <p:nvPr/>
        </p:nvGrpSpPr>
        <p:grpSpPr>
          <a:xfrm>
            <a:off x="611561" y="3520092"/>
            <a:ext cx="3816424" cy="1922605"/>
            <a:chOff x="0" y="0"/>
            <a:chExt cx="4723511" cy="1922902"/>
          </a:xfrm>
        </p:grpSpPr>
        <p:sp>
          <p:nvSpPr>
            <p:cNvPr id="5" name="Rectangle 4">
              <a:extLst>
                <a:ext uri="{FF2B5EF4-FFF2-40B4-BE49-F238E27FC236}">
                  <a16:creationId xmlns:a16="http://schemas.microsoft.com/office/drawing/2014/main" id="{5E9E76F1-CCC2-8EFB-78CA-13E3C855F2FD}"/>
                </a:ext>
              </a:extLst>
            </p:cNvPr>
            <p:cNvSpPr/>
            <p:nvPr/>
          </p:nvSpPr>
          <p:spPr>
            <a:xfrm>
              <a:off x="2229104" y="1754668"/>
              <a:ext cx="37011" cy="168234"/>
            </a:xfrm>
            <a:prstGeom prst="rect">
              <a:avLst/>
            </a:prstGeom>
            <a:ln>
              <a:noFill/>
            </a:ln>
          </p:spPr>
          <p:txBody>
            <a:bodyPr vert="horz" lIns="0" tIns="0" rIns="0" bIns="0" rtlCol="0">
              <a:noAutofit/>
            </a:bodyPr>
            <a:lstStyle/>
            <a:p>
              <a:pPr marL="209550" indent="-6350" algn="l">
                <a:lnSpc>
                  <a:spcPct val="107000"/>
                </a:lnSpc>
                <a:spcAft>
                  <a:spcPts val="800"/>
                </a:spcAft>
                <a:buNone/>
              </a:pPr>
              <a:r>
                <a:rPr lang="en-ZA" sz="1000" kern="100" dirty="0">
                  <a:solidFill>
                    <a:srgbClr val="000000"/>
                  </a:solidFill>
                  <a:effectLst/>
                  <a:latin typeface="Cambria" panose="02040503050406030204" pitchFamily="18" charset="0"/>
                  <a:ea typeface="Cambria" panose="02040503050406030204" pitchFamily="18" charset="0"/>
                  <a:cs typeface="Cambria" panose="02040503050406030204" pitchFamily="18" charset="0"/>
                </a:rPr>
                <a:t> </a:t>
              </a:r>
            </a:p>
          </p:txBody>
        </p:sp>
        <p:pic>
          <p:nvPicPr>
            <p:cNvPr id="6" name="Picture 5">
              <a:extLst>
                <a:ext uri="{FF2B5EF4-FFF2-40B4-BE49-F238E27FC236}">
                  <a16:creationId xmlns:a16="http://schemas.microsoft.com/office/drawing/2014/main" id="{0FC2C281-5CC4-6BDE-02B9-FE3AA91C350B}"/>
                </a:ext>
              </a:extLst>
            </p:cNvPr>
            <p:cNvPicPr/>
            <p:nvPr/>
          </p:nvPicPr>
          <p:blipFill>
            <a:blip r:embed="rId2"/>
            <a:stretch>
              <a:fillRect/>
            </a:stretch>
          </p:blipFill>
          <p:spPr>
            <a:xfrm>
              <a:off x="0" y="15240"/>
              <a:ext cx="2228088" cy="1837055"/>
            </a:xfrm>
            <a:prstGeom prst="rect">
              <a:avLst/>
            </a:prstGeom>
          </p:spPr>
        </p:pic>
        <p:pic>
          <p:nvPicPr>
            <p:cNvPr id="7" name="Picture 6">
              <a:extLst>
                <a:ext uri="{FF2B5EF4-FFF2-40B4-BE49-F238E27FC236}">
                  <a16:creationId xmlns:a16="http://schemas.microsoft.com/office/drawing/2014/main" id="{58365A51-6B7B-7FF7-5C93-FB736B697C82}"/>
                </a:ext>
              </a:extLst>
            </p:cNvPr>
            <p:cNvPicPr/>
            <p:nvPr/>
          </p:nvPicPr>
          <p:blipFill>
            <a:blip r:embed="rId3"/>
            <a:stretch>
              <a:fillRect/>
            </a:stretch>
          </p:blipFill>
          <p:spPr>
            <a:xfrm>
              <a:off x="2256790" y="0"/>
              <a:ext cx="2466721" cy="1852295"/>
            </a:xfrm>
            <a:prstGeom prst="rect">
              <a:avLst/>
            </a:prstGeom>
          </p:spPr>
        </p:pic>
      </p:grpSp>
      <p:sp>
        <p:nvSpPr>
          <p:cNvPr id="8" name="AutoShape 2">
            <a:extLst>
              <a:ext uri="{FF2B5EF4-FFF2-40B4-BE49-F238E27FC236}">
                <a16:creationId xmlns:a16="http://schemas.microsoft.com/office/drawing/2014/main" id="{CF6DD84D-25F8-0989-87DE-093B292EC53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dirty="0"/>
          </a:p>
        </p:txBody>
      </p:sp>
      <p:sp>
        <p:nvSpPr>
          <p:cNvPr id="9" name="AutoShape 4">
            <a:extLst>
              <a:ext uri="{FF2B5EF4-FFF2-40B4-BE49-F238E27FC236}">
                <a16:creationId xmlns:a16="http://schemas.microsoft.com/office/drawing/2014/main" id="{A6F1E201-6C9C-6C15-73DF-95E0EC7DAFC3}"/>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dirty="0"/>
          </a:p>
        </p:txBody>
      </p:sp>
      <p:pic>
        <p:nvPicPr>
          <p:cNvPr id="12" name="Picture 11">
            <a:extLst>
              <a:ext uri="{FF2B5EF4-FFF2-40B4-BE49-F238E27FC236}">
                <a16:creationId xmlns:a16="http://schemas.microsoft.com/office/drawing/2014/main" id="{298A0C21-078D-D0B6-AA6C-057D70FFC2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1275" y="3144049"/>
            <a:ext cx="2604093" cy="2604093"/>
          </a:xfrm>
          <a:prstGeom prst="rect">
            <a:avLst/>
          </a:prstGeom>
        </p:spPr>
      </p:pic>
    </p:spTree>
    <p:extLst>
      <p:ext uri="{BB962C8B-B14F-4D97-AF65-F5344CB8AC3E}">
        <p14:creationId xmlns:p14="http://schemas.microsoft.com/office/powerpoint/2010/main" val="36886422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C274B-5AD9-2ABE-6B2E-855D3C0F8DF1}"/>
              </a:ext>
            </a:extLst>
          </p:cNvPr>
          <p:cNvSpPr>
            <a:spLocks noGrp="1"/>
          </p:cNvSpPr>
          <p:nvPr>
            <p:ph type="title"/>
          </p:nvPr>
        </p:nvSpPr>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74618028-07F8-21B5-07EF-DC560766E7D8}"/>
              </a:ext>
            </a:extLst>
          </p:cNvPr>
          <p:cNvSpPr>
            <a:spLocks noGrp="1"/>
          </p:cNvSpPr>
          <p:nvPr>
            <p:ph type="body" idx="1"/>
          </p:nvPr>
        </p:nvSpPr>
        <p:spPr/>
        <p:txBody>
          <a:bodyPr>
            <a:normAutofit/>
          </a:bodyPr>
          <a:lstStyle/>
          <a:p>
            <a:pPr marL="0" lvl="0" indent="0" fontAlgn="base">
              <a:buNone/>
            </a:pPr>
            <a:r>
              <a:rPr lang="en-ZA" sz="2400" b="1" u="sng" dirty="0"/>
              <a:t>Ablution facilities</a:t>
            </a:r>
          </a:p>
          <a:p>
            <a:pPr lvl="0" fontAlgn="base"/>
            <a:r>
              <a:rPr lang="en-ZA" sz="2400" dirty="0"/>
              <a:t>Mental healthcare users should have access to appropriate ablution facilities.</a:t>
            </a:r>
          </a:p>
          <a:p>
            <a:pPr lvl="0" fontAlgn="base"/>
            <a:r>
              <a:rPr lang="en-ZA" sz="2400" dirty="0"/>
              <a:t>The design of ablution facilities should take into consideration people living with disabilities.</a:t>
            </a:r>
          </a:p>
          <a:p>
            <a:pPr lvl="0" fontAlgn="base"/>
            <a:r>
              <a:rPr lang="en-ZA" sz="2400" dirty="0"/>
              <a:t>Ablution facilities should include hand wash basin and all the amenities for proper hand washing techniques.</a:t>
            </a:r>
          </a:p>
          <a:p>
            <a:pPr lvl="0" fontAlgn="base"/>
            <a:r>
              <a:rPr lang="en-ZA" sz="2400" dirty="0"/>
              <a:t>All plumbing is to be chased into walls and plastered over. </a:t>
            </a:r>
          </a:p>
          <a:p>
            <a:pPr marL="0" lvl="0" indent="0" fontAlgn="base">
              <a:buNone/>
            </a:pPr>
            <a:endParaRPr lang="en-ZA" sz="3100" dirty="0"/>
          </a:p>
          <a:p>
            <a:pPr marL="0" lvl="0" indent="0" fontAlgn="base">
              <a:buNone/>
            </a:pPr>
            <a:endParaRPr lang="en-ZA" sz="3100" dirty="0"/>
          </a:p>
          <a:p>
            <a:endParaRPr lang="en-ZA" dirty="0"/>
          </a:p>
        </p:txBody>
      </p:sp>
    </p:spTree>
    <p:extLst>
      <p:ext uri="{BB962C8B-B14F-4D97-AF65-F5344CB8AC3E}">
        <p14:creationId xmlns:p14="http://schemas.microsoft.com/office/powerpoint/2010/main" val="288956348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2C0AC-5A22-6D34-3C22-CEA2BE13D8F3}"/>
              </a:ext>
            </a:extLst>
          </p:cNvPr>
          <p:cNvSpPr>
            <a:spLocks noGrp="1"/>
          </p:cNvSpPr>
          <p:nvPr>
            <p:ph type="title"/>
          </p:nvPr>
        </p:nvSpPr>
        <p:spPr>
          <a:xfrm>
            <a:off x="1007179" y="678815"/>
            <a:ext cx="8013660" cy="733569"/>
          </a:xfrm>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A63A0B4C-F9C5-F8F7-12CA-D4B615DE40FE}"/>
              </a:ext>
            </a:extLst>
          </p:cNvPr>
          <p:cNvSpPr>
            <a:spLocks noGrp="1"/>
          </p:cNvSpPr>
          <p:nvPr>
            <p:ph type="body" idx="1"/>
          </p:nvPr>
        </p:nvSpPr>
        <p:spPr/>
        <p:txBody>
          <a:bodyPr>
            <a:normAutofit/>
          </a:bodyPr>
          <a:lstStyle/>
          <a:p>
            <a:pPr marL="0" indent="0">
              <a:buNone/>
            </a:pPr>
            <a:r>
              <a:rPr lang="en-US" sz="2400" b="1" u="sng" dirty="0"/>
              <a:t>Ablution Facilities.</a:t>
            </a:r>
          </a:p>
          <a:p>
            <a:pPr>
              <a:buFont typeface="Arial" panose="020B0604020202020204" pitchFamily="34" charset="0"/>
              <a:buChar char="•"/>
            </a:pPr>
            <a:r>
              <a:rPr lang="en-US" sz="2400" dirty="0"/>
              <a:t>Where possible showers and bath tubs should also be fitted with non slip floor mats to avoids injuries</a:t>
            </a:r>
            <a:r>
              <a:rPr lang="en-US" sz="2400" b="1" u="sng" dirty="0"/>
              <a:t>.</a:t>
            </a:r>
          </a:p>
          <a:p>
            <a:pPr>
              <a:buFont typeface="Arial" panose="020B0604020202020204" pitchFamily="34" charset="0"/>
              <a:buChar char="•"/>
            </a:pPr>
            <a:r>
              <a:rPr lang="en-US" sz="2400" dirty="0"/>
              <a:t>The ablution facilities should have both hot and cold water available.</a:t>
            </a:r>
          </a:p>
          <a:p>
            <a:pPr marL="0" indent="0">
              <a:buNone/>
            </a:pPr>
            <a:endParaRPr lang="en-US" sz="2400" dirty="0"/>
          </a:p>
        </p:txBody>
      </p:sp>
      <p:pic>
        <p:nvPicPr>
          <p:cNvPr id="5" name="Picture 4">
            <a:extLst>
              <a:ext uri="{FF2B5EF4-FFF2-40B4-BE49-F238E27FC236}">
                <a16:creationId xmlns:a16="http://schemas.microsoft.com/office/drawing/2014/main" id="{8CE6546A-FAE3-882F-8F75-EB934D69F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363" y="3429000"/>
            <a:ext cx="3296509" cy="3429000"/>
          </a:xfrm>
          <a:prstGeom prst="rect">
            <a:avLst/>
          </a:prstGeom>
        </p:spPr>
      </p:pic>
      <p:pic>
        <p:nvPicPr>
          <p:cNvPr id="7" name="Picture 6">
            <a:extLst>
              <a:ext uri="{FF2B5EF4-FFF2-40B4-BE49-F238E27FC236}">
                <a16:creationId xmlns:a16="http://schemas.microsoft.com/office/drawing/2014/main" id="{B1C7502A-109B-E46D-50C1-4480B088D9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07904" y="3645024"/>
            <a:ext cx="2133600" cy="1656184"/>
          </a:xfrm>
          <a:prstGeom prst="rect">
            <a:avLst/>
          </a:prstGeom>
        </p:spPr>
      </p:pic>
      <p:pic>
        <p:nvPicPr>
          <p:cNvPr id="9" name="Picture 8">
            <a:extLst>
              <a:ext uri="{FF2B5EF4-FFF2-40B4-BE49-F238E27FC236}">
                <a16:creationId xmlns:a16="http://schemas.microsoft.com/office/drawing/2014/main" id="{E951AA31-F258-6D9A-9908-5DD4D349CD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2616" y="3645024"/>
            <a:ext cx="2474020" cy="2534161"/>
          </a:xfrm>
          <a:prstGeom prst="rect">
            <a:avLst/>
          </a:prstGeom>
        </p:spPr>
      </p:pic>
    </p:spTree>
    <p:extLst>
      <p:ext uri="{BB962C8B-B14F-4D97-AF65-F5344CB8AC3E}">
        <p14:creationId xmlns:p14="http://schemas.microsoft.com/office/powerpoint/2010/main" val="47773962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5D20C-D280-F260-CE44-AABEC732D1F9}"/>
              </a:ext>
            </a:extLst>
          </p:cNvPr>
          <p:cNvSpPr>
            <a:spLocks noGrp="1"/>
          </p:cNvSpPr>
          <p:nvPr>
            <p:ph type="title"/>
          </p:nvPr>
        </p:nvSpPr>
        <p:spPr/>
        <p:txBody>
          <a:bodyPr/>
          <a:lstStyle/>
          <a:p>
            <a:r>
              <a:rPr kumimoji="0" lang="en-US" sz="2900" b="0" i="0" u="none" strike="noStrike" kern="0" cap="none" spc="0" normalizeH="0" baseline="0" noProof="0" dirty="0">
                <a:ln>
                  <a:noFill/>
                </a:ln>
                <a:solidFill>
                  <a:srgbClr val="FFFFFF"/>
                </a:solidFill>
                <a:effectLst/>
                <a:uLnTx/>
                <a:uFillTx/>
                <a:latin typeface="Calibri"/>
                <a:ea typeface="Calibri"/>
                <a:cs typeface="Calibri"/>
                <a:sym typeface="Calibri"/>
              </a:rPr>
              <a:t>Elements of Health Surveillance of Premises(NPO</a:t>
            </a:r>
            <a:endParaRPr lang="en-ZA" dirty="0"/>
          </a:p>
        </p:txBody>
      </p:sp>
      <p:sp>
        <p:nvSpPr>
          <p:cNvPr id="3" name="Text Placeholder 2">
            <a:extLst>
              <a:ext uri="{FF2B5EF4-FFF2-40B4-BE49-F238E27FC236}">
                <a16:creationId xmlns:a16="http://schemas.microsoft.com/office/drawing/2014/main" id="{DCE7DAC7-DD08-A359-DC20-DC813603A369}"/>
              </a:ext>
            </a:extLst>
          </p:cNvPr>
          <p:cNvSpPr>
            <a:spLocks noGrp="1"/>
          </p:cNvSpPr>
          <p:nvPr>
            <p:ph type="body" idx="1"/>
          </p:nvPr>
        </p:nvSpPr>
        <p:spPr/>
        <p:txBody>
          <a:bodyPr>
            <a:normAutofit lnSpcReduction="10000"/>
          </a:bodyPr>
          <a:lstStyle/>
          <a:p>
            <a:pPr marL="0" indent="0">
              <a:buNone/>
            </a:pPr>
            <a:r>
              <a:rPr lang="en-US" sz="2400" b="1" u="sng" dirty="0"/>
              <a:t>Kitchen</a:t>
            </a:r>
          </a:p>
          <a:p>
            <a:pPr>
              <a:buFont typeface="Arial" panose="020B0604020202020204" pitchFamily="34" charset="0"/>
              <a:buChar char="•"/>
            </a:pPr>
            <a:r>
              <a:rPr lang="en-ZA" sz="2400" dirty="0"/>
              <a:t>The food preparation area is audited once a quarter and or when close monitoring is required.</a:t>
            </a:r>
          </a:p>
          <a:p>
            <a:pPr>
              <a:buFont typeface="Arial" panose="020B0604020202020204" pitchFamily="34" charset="0"/>
              <a:buChar char="•"/>
            </a:pPr>
            <a:r>
              <a:rPr lang="en-ZA" sz="2400" dirty="0"/>
              <a:t>The food preparation area must be compliant in terms of the relevant Municipal Bi-laws.</a:t>
            </a:r>
          </a:p>
          <a:p>
            <a:pPr>
              <a:buFont typeface="Arial" panose="020B0604020202020204" pitchFamily="34" charset="0"/>
              <a:buChar char="•"/>
            </a:pPr>
            <a:r>
              <a:rPr lang="en-ZA" sz="2400" dirty="0"/>
              <a:t>The food preparation area should also have all the required amenities e.g. stove,refridgerator.</a:t>
            </a:r>
          </a:p>
          <a:p>
            <a:pPr>
              <a:buFont typeface="Arial" panose="020B0604020202020204" pitchFamily="34" charset="0"/>
              <a:buChar char="•"/>
            </a:pPr>
            <a:r>
              <a:rPr lang="en-ZA" sz="2400" dirty="0"/>
              <a:t>The inspections are conducted to ensure that the food preparation area: </a:t>
            </a:r>
          </a:p>
          <a:p>
            <a:pPr marL="0" indent="0">
              <a:buNone/>
            </a:pPr>
            <a:r>
              <a:rPr lang="en-ZA" sz="2400" dirty="0"/>
              <a:t>  -has availability of Water.</a:t>
            </a:r>
          </a:p>
          <a:p>
            <a:pPr marL="0" indent="0">
              <a:buNone/>
            </a:pPr>
            <a:r>
              <a:rPr lang="en-ZA" sz="2400" dirty="0"/>
              <a:t> - waste is properly managed.</a:t>
            </a:r>
          </a:p>
          <a:p>
            <a:pPr marL="0" indent="0">
              <a:buNone/>
            </a:pPr>
            <a:r>
              <a:rPr lang="en-ZA" sz="2400" dirty="0"/>
              <a:t> -  hygiene practices are followed.</a:t>
            </a:r>
          </a:p>
          <a:p>
            <a:pPr marL="0" indent="0">
              <a:buNone/>
            </a:pPr>
            <a:r>
              <a:rPr lang="en-ZA" sz="2400" dirty="0"/>
              <a:t> -Pest control methods are adhered to.</a:t>
            </a:r>
          </a:p>
          <a:p>
            <a:pPr marL="0" indent="0">
              <a:buNone/>
            </a:pPr>
            <a:endParaRPr lang="en-ZA" sz="2400" dirty="0"/>
          </a:p>
          <a:p>
            <a:pPr>
              <a:buFont typeface="Arial" panose="020B0604020202020204" pitchFamily="34" charset="0"/>
              <a:buChar char="•"/>
            </a:pPr>
            <a:endParaRPr lang="en-ZA" sz="2400" dirty="0"/>
          </a:p>
        </p:txBody>
      </p:sp>
    </p:spTree>
    <p:extLst>
      <p:ext uri="{BB962C8B-B14F-4D97-AF65-F5344CB8AC3E}">
        <p14:creationId xmlns:p14="http://schemas.microsoft.com/office/powerpoint/2010/main" val="151341144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2C2A8-E11D-2EBF-FA84-6D6807A160FE}"/>
              </a:ext>
            </a:extLst>
          </p:cNvPr>
          <p:cNvSpPr>
            <a:spLocks noGrp="1"/>
          </p:cNvSpPr>
          <p:nvPr>
            <p:ph type="title"/>
          </p:nvPr>
        </p:nvSpPr>
        <p:spPr/>
        <p:txBody>
          <a:bodyPr>
            <a:normAutofit fontScale="90000"/>
          </a:bodyPr>
          <a:lstStyle/>
          <a:p>
            <a:r>
              <a:rPr lang="en-US" dirty="0"/>
              <a:t>Elements of Health Surveillance of Premises(NPO</a:t>
            </a:r>
            <a:endParaRPr lang="en-ZA" dirty="0"/>
          </a:p>
        </p:txBody>
      </p:sp>
      <p:sp>
        <p:nvSpPr>
          <p:cNvPr id="3" name="Text Placeholder 2">
            <a:extLst>
              <a:ext uri="{FF2B5EF4-FFF2-40B4-BE49-F238E27FC236}">
                <a16:creationId xmlns:a16="http://schemas.microsoft.com/office/drawing/2014/main" id="{9DE353A6-27FC-1020-40BE-52E91557AC92}"/>
              </a:ext>
            </a:extLst>
          </p:cNvPr>
          <p:cNvSpPr>
            <a:spLocks noGrp="1"/>
          </p:cNvSpPr>
          <p:nvPr>
            <p:ph type="body" idx="1"/>
          </p:nvPr>
        </p:nvSpPr>
        <p:spPr/>
        <p:txBody>
          <a:bodyPr>
            <a:normAutofit/>
          </a:bodyPr>
          <a:lstStyle/>
          <a:p>
            <a:pPr marL="0" indent="0">
              <a:buNone/>
            </a:pPr>
            <a:r>
              <a:rPr lang="en-US" sz="2400" b="1" u="sng" dirty="0"/>
              <a:t>Kitchen</a:t>
            </a:r>
          </a:p>
          <a:p>
            <a:pPr>
              <a:buFont typeface="Arial" panose="020B0604020202020204" pitchFamily="34" charset="0"/>
              <a:buChar char="•"/>
            </a:pPr>
            <a:r>
              <a:rPr lang="en-ZA" sz="2400" dirty="0"/>
              <a:t>food safety is also ensured through:</a:t>
            </a:r>
          </a:p>
          <a:p>
            <a:pPr marL="0" indent="0">
              <a:buNone/>
            </a:pPr>
            <a:r>
              <a:rPr lang="en-ZA" sz="2400" dirty="0"/>
              <a:t>  - Regular food safety trainings.</a:t>
            </a:r>
          </a:p>
          <a:p>
            <a:pPr marL="0" indent="0">
              <a:buNone/>
            </a:pPr>
            <a:r>
              <a:rPr lang="en-ZA" sz="2400" dirty="0"/>
              <a:t>  - Food sampling.</a:t>
            </a:r>
          </a:p>
          <a:p>
            <a:pPr marL="0" indent="0">
              <a:buNone/>
            </a:pPr>
            <a:r>
              <a:rPr lang="en-ZA" sz="2400" dirty="0"/>
              <a:t>  - Ensuring food is kept in compliant storage areas, with the use of the FIFO method.   </a:t>
            </a:r>
          </a:p>
          <a:p>
            <a:pPr marL="0" indent="0">
              <a:buNone/>
            </a:pPr>
            <a:endParaRPr lang="en-ZA" sz="2400" dirty="0"/>
          </a:p>
        </p:txBody>
      </p:sp>
      <p:pic>
        <p:nvPicPr>
          <p:cNvPr id="5" name="Picture 4">
            <a:extLst>
              <a:ext uri="{FF2B5EF4-FFF2-40B4-BE49-F238E27FC236}">
                <a16:creationId xmlns:a16="http://schemas.microsoft.com/office/drawing/2014/main" id="{174F2F35-7B9A-7EF9-E28E-0F39BE9D0D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75" y="4149079"/>
            <a:ext cx="7791450" cy="2376265"/>
          </a:xfrm>
          <a:prstGeom prst="rect">
            <a:avLst/>
          </a:prstGeom>
        </p:spPr>
      </p:pic>
    </p:spTree>
    <p:extLst>
      <p:ext uri="{BB962C8B-B14F-4D97-AF65-F5344CB8AC3E}">
        <p14:creationId xmlns:p14="http://schemas.microsoft.com/office/powerpoint/2010/main" val="3745523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59AE4-EDD3-5768-9017-B84388D3B809}"/>
              </a:ext>
            </a:extLst>
          </p:cNvPr>
          <p:cNvSpPr>
            <a:spLocks noGrp="1"/>
          </p:cNvSpPr>
          <p:nvPr>
            <p:ph type="title"/>
          </p:nvPr>
        </p:nvSpPr>
        <p:spPr/>
        <p:txBody>
          <a:bodyPr/>
          <a:lstStyle/>
          <a:p>
            <a:r>
              <a:rPr lang="en-US" dirty="0"/>
              <a:t>COMPLIANCE </a:t>
            </a:r>
            <a:endParaRPr lang="en-ZA" dirty="0"/>
          </a:p>
        </p:txBody>
      </p:sp>
      <p:sp>
        <p:nvSpPr>
          <p:cNvPr id="3" name="Text Placeholder 2">
            <a:extLst>
              <a:ext uri="{FF2B5EF4-FFF2-40B4-BE49-F238E27FC236}">
                <a16:creationId xmlns:a16="http://schemas.microsoft.com/office/drawing/2014/main" id="{634DFD7D-5E6B-D3A6-4226-DA7FC9B6173E}"/>
              </a:ext>
            </a:extLst>
          </p:cNvPr>
          <p:cNvSpPr>
            <a:spLocks noGrp="1"/>
          </p:cNvSpPr>
          <p:nvPr>
            <p:ph type="body" idx="1"/>
          </p:nvPr>
        </p:nvSpPr>
        <p:spPr/>
        <p:txBody>
          <a:bodyPr>
            <a:normAutofit/>
          </a:bodyPr>
          <a:lstStyle/>
          <a:p>
            <a:pPr marL="0" indent="0">
              <a:buNone/>
            </a:pPr>
            <a:r>
              <a:rPr lang="en-US" sz="2400" dirty="0"/>
              <a:t>The afore mentioned elements are minimum requirements that NPOs should adhere to in order to be deemed environmentally compliant. </a:t>
            </a:r>
          </a:p>
          <a:p>
            <a:pPr marL="0" indent="0">
              <a:buNone/>
            </a:pPr>
            <a:endParaRPr lang="en-US" sz="2400" dirty="0"/>
          </a:p>
          <a:p>
            <a:pPr marL="0" indent="0">
              <a:buNone/>
            </a:pPr>
            <a:r>
              <a:rPr lang="en-US" sz="2400" dirty="0"/>
              <a:t>The Environmental Health discipline was a lacking aspect pre-life </a:t>
            </a:r>
            <a:r>
              <a:rPr lang="en-US" sz="2400" dirty="0" err="1"/>
              <a:t>Esidimeni</a:t>
            </a:r>
            <a:r>
              <a:rPr lang="en-US" sz="2400" dirty="0"/>
              <a:t> and it was fitting as a mitigation </a:t>
            </a:r>
            <a:r>
              <a:rPr lang="en-US" sz="2400" dirty="0" err="1"/>
              <a:t>stratergy</a:t>
            </a:r>
            <a:r>
              <a:rPr lang="en-US" sz="2400" dirty="0"/>
              <a:t> to </a:t>
            </a:r>
            <a:r>
              <a:rPr lang="en-US" sz="2400" dirty="0" err="1"/>
              <a:t>involove</a:t>
            </a:r>
            <a:r>
              <a:rPr lang="en-US" sz="2400" dirty="0"/>
              <a:t> Environmental Health Practitioner to prevent an incident of that magnitude to occur in future.</a:t>
            </a:r>
            <a:endParaRPr lang="en-ZA" sz="2400" dirty="0"/>
          </a:p>
        </p:txBody>
      </p:sp>
    </p:spTree>
    <p:extLst>
      <p:ext uri="{BB962C8B-B14F-4D97-AF65-F5344CB8AC3E}">
        <p14:creationId xmlns:p14="http://schemas.microsoft.com/office/powerpoint/2010/main" val="2164288194"/>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3D76F-D1BC-62ED-F131-5C097029254F}"/>
              </a:ext>
            </a:extLst>
          </p:cNvPr>
          <p:cNvSpPr>
            <a:spLocks noGrp="1"/>
          </p:cNvSpPr>
          <p:nvPr>
            <p:ph type="title"/>
          </p:nvPr>
        </p:nvSpPr>
        <p:spPr/>
        <p:txBody>
          <a:bodyPr/>
          <a:lstStyle/>
          <a:p>
            <a:r>
              <a:rPr lang="en-US" dirty="0"/>
              <a:t>Compliance</a:t>
            </a:r>
            <a:endParaRPr lang="en-ZA" dirty="0"/>
          </a:p>
        </p:txBody>
      </p:sp>
      <p:sp>
        <p:nvSpPr>
          <p:cNvPr id="3" name="Text Placeholder 2">
            <a:extLst>
              <a:ext uri="{FF2B5EF4-FFF2-40B4-BE49-F238E27FC236}">
                <a16:creationId xmlns:a16="http://schemas.microsoft.com/office/drawing/2014/main" id="{204449EB-9753-7F7C-BF64-072E9160F5A9}"/>
              </a:ext>
            </a:extLst>
          </p:cNvPr>
          <p:cNvSpPr>
            <a:spLocks noGrp="1"/>
          </p:cNvSpPr>
          <p:nvPr>
            <p:ph type="body" idx="1"/>
          </p:nvPr>
        </p:nvSpPr>
        <p:spPr/>
        <p:txBody>
          <a:bodyPr>
            <a:normAutofit/>
          </a:bodyPr>
          <a:lstStyle/>
          <a:p>
            <a:pPr marL="0" indent="0">
              <a:buNone/>
            </a:pPr>
            <a:endParaRPr lang="en-US" sz="2400" dirty="0"/>
          </a:p>
          <a:p>
            <a:pPr marL="0" indent="0">
              <a:buNone/>
            </a:pPr>
            <a:endParaRPr lang="en-US" sz="2400" dirty="0"/>
          </a:p>
          <a:p>
            <a:pPr marL="0" indent="0">
              <a:buNone/>
            </a:pPr>
            <a:r>
              <a:rPr lang="en-US" sz="2400" dirty="0"/>
              <a:t>The Health surveillance of premises (NPOs) is important in ensuring that the Mental Health </a:t>
            </a:r>
            <a:r>
              <a:rPr lang="en-US" sz="2400" dirty="0" err="1"/>
              <a:t>Stratergy</a:t>
            </a:r>
            <a:r>
              <a:rPr lang="en-US" sz="2400" dirty="0"/>
              <a:t> and aspects of the Mental Health act( act 17 of 2002) are achieved in all Mental Health NPOs.</a:t>
            </a:r>
            <a:endParaRPr lang="en-ZA" sz="2400" dirty="0"/>
          </a:p>
        </p:txBody>
      </p:sp>
    </p:spTree>
    <p:extLst>
      <p:ext uri="{BB962C8B-B14F-4D97-AF65-F5344CB8AC3E}">
        <p14:creationId xmlns:p14="http://schemas.microsoft.com/office/powerpoint/2010/main" val="331430450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C2AEA-E292-9CF7-48D6-84761CF77E7D}"/>
              </a:ext>
            </a:extLst>
          </p:cNvPr>
          <p:cNvSpPr>
            <a:spLocks noGrp="1"/>
          </p:cNvSpPr>
          <p:nvPr>
            <p:ph type="title"/>
          </p:nvPr>
        </p:nvSpPr>
        <p:spPr/>
        <p:txBody>
          <a:bodyPr/>
          <a:lstStyle/>
          <a:p>
            <a:r>
              <a:rPr lang="en-US" dirty="0"/>
              <a:t>Conclusion</a:t>
            </a:r>
            <a:endParaRPr lang="en-ZA" dirty="0"/>
          </a:p>
        </p:txBody>
      </p:sp>
      <p:sp>
        <p:nvSpPr>
          <p:cNvPr id="3" name="Text Placeholder 2">
            <a:extLst>
              <a:ext uri="{FF2B5EF4-FFF2-40B4-BE49-F238E27FC236}">
                <a16:creationId xmlns:a16="http://schemas.microsoft.com/office/drawing/2014/main" id="{673B9DC2-2B86-A8D3-1F93-9A5455A4035C}"/>
              </a:ext>
            </a:extLst>
          </p:cNvPr>
          <p:cNvSpPr>
            <a:spLocks noGrp="1"/>
          </p:cNvSpPr>
          <p:nvPr>
            <p:ph type="body" idx="1"/>
          </p:nvPr>
        </p:nvSpPr>
        <p:spPr/>
        <p:txBody>
          <a:bodyPr>
            <a:normAutofit/>
          </a:bodyPr>
          <a:lstStyle/>
          <a:p>
            <a:pPr marL="0" indent="0">
              <a:buNone/>
            </a:pPr>
            <a:r>
              <a:rPr lang="en-US" sz="2400" dirty="0"/>
              <a:t>The Health surveillance of premises is necessary in the mental health program to ensure that the </a:t>
            </a:r>
            <a:r>
              <a:rPr lang="en-US" sz="2400" dirty="0" err="1"/>
              <a:t>care,treatment</a:t>
            </a:r>
            <a:r>
              <a:rPr lang="en-US" sz="2400" dirty="0"/>
              <a:t> and rehabilitation of mental health care users is conducted in a conducive environment that poses no harm to the mental health care user.</a:t>
            </a:r>
          </a:p>
          <a:p>
            <a:pPr marL="0" indent="0">
              <a:buNone/>
            </a:pPr>
            <a:r>
              <a:rPr lang="en-US" sz="2400" dirty="0"/>
              <a:t>Life </a:t>
            </a:r>
            <a:r>
              <a:rPr lang="en-US" sz="2400" dirty="0" err="1"/>
              <a:t>Esidimeni</a:t>
            </a:r>
            <a:r>
              <a:rPr lang="en-US" sz="2400" dirty="0"/>
              <a:t> was an unfortunate </a:t>
            </a:r>
            <a:r>
              <a:rPr lang="en-US" sz="2400" dirty="0" err="1"/>
              <a:t>occurance</a:t>
            </a:r>
            <a:r>
              <a:rPr lang="en-US" sz="2400" dirty="0"/>
              <a:t> in the Gauteng </a:t>
            </a:r>
            <a:r>
              <a:rPr lang="en-US" sz="2400" dirty="0" err="1"/>
              <a:t>Dapertment</a:t>
            </a:r>
            <a:r>
              <a:rPr lang="en-US" sz="2400" dirty="0"/>
              <a:t> of Health system and such an incident can be prevented through implementation of Environmental Health standards by all mental health care providers</a:t>
            </a:r>
            <a:r>
              <a:rPr lang="en-US" dirty="0"/>
              <a:t>.</a:t>
            </a:r>
            <a:endParaRPr lang="en-ZA" dirty="0"/>
          </a:p>
        </p:txBody>
      </p:sp>
      <p:pic>
        <p:nvPicPr>
          <p:cNvPr id="5" name="Picture 4">
            <a:extLst>
              <a:ext uri="{FF2B5EF4-FFF2-40B4-BE49-F238E27FC236}">
                <a16:creationId xmlns:a16="http://schemas.microsoft.com/office/drawing/2014/main" id="{70B2DA32-5697-A996-5C65-C0F920B799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9792" y="5085184"/>
            <a:ext cx="2796133" cy="1368152"/>
          </a:xfrm>
          <a:prstGeom prst="rect">
            <a:avLst/>
          </a:prstGeom>
        </p:spPr>
      </p:pic>
    </p:spTree>
    <p:extLst>
      <p:ext uri="{BB962C8B-B14F-4D97-AF65-F5344CB8AC3E}">
        <p14:creationId xmlns:p14="http://schemas.microsoft.com/office/powerpoint/2010/main" val="92511926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FC3F3-58EC-B9A0-9301-F411197E55C8}"/>
              </a:ext>
            </a:extLst>
          </p:cNvPr>
          <p:cNvSpPr>
            <a:spLocks noGrp="1"/>
          </p:cNvSpPr>
          <p:nvPr>
            <p:ph type="title"/>
          </p:nvPr>
        </p:nvSpPr>
        <p:spPr/>
        <p:txBody>
          <a:bodyPr/>
          <a:lstStyle/>
          <a:p>
            <a:r>
              <a:rPr lang="en-US" dirty="0"/>
              <a:t>REFERENCES</a:t>
            </a:r>
            <a:endParaRPr lang="en-ZA" dirty="0"/>
          </a:p>
        </p:txBody>
      </p:sp>
      <p:sp>
        <p:nvSpPr>
          <p:cNvPr id="3" name="Text Placeholder 2">
            <a:extLst>
              <a:ext uri="{FF2B5EF4-FFF2-40B4-BE49-F238E27FC236}">
                <a16:creationId xmlns:a16="http://schemas.microsoft.com/office/drawing/2014/main" id="{791ECDE5-780D-CA4F-6CD5-095FA1B2110D}"/>
              </a:ext>
            </a:extLst>
          </p:cNvPr>
          <p:cNvSpPr>
            <a:spLocks noGrp="1"/>
          </p:cNvSpPr>
          <p:nvPr>
            <p:ph type="body" idx="1"/>
          </p:nvPr>
        </p:nvSpPr>
        <p:spPr/>
        <p:txBody>
          <a:bodyPr>
            <a:normAutofit/>
          </a:bodyPr>
          <a:lstStyle/>
          <a:p>
            <a:r>
              <a:rPr lang="en-US" sz="2400" dirty="0"/>
              <a:t>National health act, act 61 OF 2003.</a:t>
            </a:r>
          </a:p>
          <a:p>
            <a:r>
              <a:rPr lang="en-US" sz="2400" dirty="0"/>
              <a:t>Mental Health act, act 17 0f 2002.</a:t>
            </a:r>
          </a:p>
          <a:p>
            <a:r>
              <a:rPr lang="en-US" sz="2400" dirty="0"/>
              <a:t>Foodstuffs, cosmetics and disinfectants act, act 54 of 1972.</a:t>
            </a:r>
          </a:p>
          <a:p>
            <a:r>
              <a:rPr lang="en-US" sz="2400" dirty="0"/>
              <a:t>National environmental health norms &amp; standards for premises and acceptable standards for environmental Health Practitioners.</a:t>
            </a:r>
          </a:p>
          <a:p>
            <a:r>
              <a:rPr lang="en-US" sz="2400" dirty="0"/>
              <a:t>IUSS Health Facility guidelines.</a:t>
            </a:r>
          </a:p>
          <a:p>
            <a:r>
              <a:rPr lang="en-US" sz="2400" dirty="0"/>
              <a:t>National building regulations and building standards act, act 103 of 1977.</a:t>
            </a:r>
          </a:p>
          <a:p>
            <a:pPr marL="0" indent="0">
              <a:buNone/>
            </a:pPr>
            <a:endParaRPr lang="en-ZA" dirty="0"/>
          </a:p>
        </p:txBody>
      </p:sp>
    </p:spTree>
    <p:extLst>
      <p:ext uri="{BB962C8B-B14F-4D97-AF65-F5344CB8AC3E}">
        <p14:creationId xmlns:p14="http://schemas.microsoft.com/office/powerpoint/2010/main" val="7991149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DB48-0711-6D2A-2369-F36D78B780CF}"/>
              </a:ext>
            </a:extLst>
          </p:cNvPr>
          <p:cNvSpPr>
            <a:spLocks noGrp="1"/>
          </p:cNvSpPr>
          <p:nvPr>
            <p:ph type="title"/>
          </p:nvPr>
        </p:nvSpPr>
        <p:spPr/>
        <p:txBody>
          <a:bodyPr/>
          <a:lstStyle/>
          <a:p>
            <a:r>
              <a:rPr lang="en-US" dirty="0"/>
              <a:t>.</a:t>
            </a:r>
            <a:endParaRPr lang="en-ZA" dirty="0"/>
          </a:p>
        </p:txBody>
      </p:sp>
      <p:sp>
        <p:nvSpPr>
          <p:cNvPr id="3" name="Text Placeholder 2">
            <a:extLst>
              <a:ext uri="{FF2B5EF4-FFF2-40B4-BE49-F238E27FC236}">
                <a16:creationId xmlns:a16="http://schemas.microsoft.com/office/drawing/2014/main" id="{F3408905-9A36-F132-361A-94B90D815811}"/>
              </a:ext>
            </a:extLst>
          </p:cNvPr>
          <p:cNvSpPr>
            <a:spLocks noGrp="1"/>
          </p:cNvSpPr>
          <p:nvPr>
            <p:ph type="body" idx="1"/>
          </p:nvPr>
        </p:nvSpPr>
        <p:spPr/>
        <p:txBody>
          <a:bodyPr/>
          <a:lstStyle/>
          <a:p>
            <a:pPr marL="0" indent="0">
              <a:buNone/>
            </a:pPr>
            <a:r>
              <a:rPr lang="en-US" dirty="0"/>
              <a:t>      </a:t>
            </a:r>
          </a:p>
          <a:p>
            <a:pPr marL="0" indent="0">
              <a:buNone/>
            </a:pPr>
            <a:endParaRPr lang="en-US" dirty="0"/>
          </a:p>
          <a:p>
            <a:pPr marL="0" indent="0">
              <a:buNone/>
            </a:pPr>
            <a:endParaRPr lang="en-US" dirty="0"/>
          </a:p>
          <a:p>
            <a:pPr marL="0" indent="0">
              <a:buNone/>
            </a:pPr>
            <a:r>
              <a:rPr lang="en-US" dirty="0"/>
              <a:t>                   THANK YOU..</a:t>
            </a:r>
            <a:endParaRPr lang="en-ZA" dirty="0"/>
          </a:p>
        </p:txBody>
      </p:sp>
    </p:spTree>
    <p:extLst>
      <p:ext uri="{BB962C8B-B14F-4D97-AF65-F5344CB8AC3E}">
        <p14:creationId xmlns:p14="http://schemas.microsoft.com/office/powerpoint/2010/main" val="3578770837"/>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a:ea typeface="Helvetica"/>
        <a:cs typeface="Helvetica"/>
      </a:majorFont>
      <a:minorFont>
        <a:latin typeface="Helvetica Neue"/>
        <a:ea typeface="Helvetica Neue"/>
        <a:cs typeface="Helvetica Neu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F81BD"/>
          </a:solidFill>
          <a:prstDash val="solid"/>
          <a:bevel/>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F81BD"/>
          </a:solidFill>
          <a:prstDash val="solid"/>
          <a:bevel/>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7132</TotalTime>
  <Words>1289</Words>
  <Application>Microsoft Office PowerPoint</Application>
  <PresentationFormat>On-screen Show (4:3)</PresentationFormat>
  <Paragraphs>115</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Helvetica Neue</vt:lpstr>
      <vt:lpstr>Default</vt:lpstr>
      <vt:lpstr>    </vt:lpstr>
      <vt:lpstr>Definitions</vt:lpstr>
      <vt:lpstr>Introduction </vt:lpstr>
      <vt:lpstr>Background on NPOs</vt:lpstr>
      <vt:lpstr>Continued..</vt:lpstr>
      <vt:lpstr>Standards for Health Surveillance of Premises</vt:lpstr>
      <vt:lpstr>Standards for Health Surveillance of Premises</vt:lpstr>
      <vt:lpstr>Elements of Health Surveillance of Premises(NPO)</vt:lpstr>
      <vt:lpstr>Elements of Health Surveillance of Premises(NPO)</vt:lpstr>
      <vt:lpstr>Elements of Health Surveillance of Premises(NPO)</vt:lpstr>
      <vt:lpstr>Elements of Health Surveillance of Premises(NPO)</vt:lpstr>
      <vt:lpstr>Elements of Health Surveillance of Premises(NPO)</vt:lpstr>
      <vt:lpstr>Elements of Health Surveillance of Premises(NPO)</vt:lpstr>
      <vt:lpstr>Elements of Health Surveillance of Premises(NPO)</vt:lpstr>
      <vt:lpstr>Elements of Health Surveillance of Premises(NPO</vt:lpstr>
      <vt:lpstr>Elements of Health Surveillance of Premises(NPO</vt:lpstr>
      <vt:lpstr>Elements of Health Surveillance of Premises(NPO</vt:lpstr>
      <vt:lpstr>COMPLIANCE </vt:lpstr>
      <vt:lpstr>Compliance</vt:lpstr>
      <vt:lpstr>Conclusion</vt:lpstr>
      <vt:lpstr>REFERENCES</vt:lpstr>
      <vt:lp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Mokoena, Puleng L. (gphealth)</dc:creator>
  <cp:lastModifiedBy>Kamogelo Tele (GPHealth)</cp:lastModifiedBy>
  <cp:revision>1054</cp:revision>
  <dcterms:created xsi:type="dcterms:W3CDTF">2015-08-14T16:15:18Z</dcterms:created>
  <dcterms:modified xsi:type="dcterms:W3CDTF">2025-12-19T16:00:55Z</dcterms:modified>
</cp:coreProperties>
</file>