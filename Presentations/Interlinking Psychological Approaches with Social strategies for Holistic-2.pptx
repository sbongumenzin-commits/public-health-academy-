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1" r:id="rId5"/>
    <p:sldId id="262" r:id="rId6"/>
    <p:sldId id="263" r:id="rId7"/>
    <p:sldId id="264" r:id="rId8"/>
    <p:sldId id="266" r:id="rId9"/>
    <p:sldId id="267" r:id="rId10"/>
    <p:sldId id="271" r:id="rId11"/>
    <p:sldId id="270" r:id="rId12"/>
    <p:sldId id="26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E03CC05-2A3E-465E-9B83-87FCA4E080FC}" type="datetimeFigureOut">
              <a:rPr lang="en-ZA" smtClean="0"/>
              <a:t>2026/04/20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1F8DC7-65B1-411F-B525-1107FD008A9B}" type="slidenum">
              <a:rPr lang="en-ZA" smtClean="0"/>
              <a:t>‹#›</a:t>
            </a:fld>
            <a:endParaRPr lang="en-ZA"/>
          </a:p>
        </p:txBody>
      </p:sp>
    </p:spTree>
    <p:extLst>
      <p:ext uri="{BB962C8B-B14F-4D97-AF65-F5344CB8AC3E}">
        <p14:creationId xmlns:p14="http://schemas.microsoft.com/office/powerpoint/2010/main" val="1681047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03CC05-2A3E-465E-9B83-87FCA4E080FC}" type="datetimeFigureOut">
              <a:rPr lang="en-ZA" smtClean="0"/>
              <a:t>2026/04/20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1F8DC7-65B1-411F-B525-1107FD008A9B}" type="slidenum">
              <a:rPr lang="en-ZA" smtClean="0"/>
              <a:t>‹#›</a:t>
            </a:fld>
            <a:endParaRPr lang="en-ZA"/>
          </a:p>
        </p:txBody>
      </p:sp>
    </p:spTree>
    <p:extLst>
      <p:ext uri="{BB962C8B-B14F-4D97-AF65-F5344CB8AC3E}">
        <p14:creationId xmlns:p14="http://schemas.microsoft.com/office/powerpoint/2010/main" val="1550774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03CC05-2A3E-465E-9B83-87FCA4E080FC}" type="datetimeFigureOut">
              <a:rPr lang="en-ZA" smtClean="0"/>
              <a:t>2026/04/20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1F8DC7-65B1-411F-B525-1107FD008A9B}" type="slidenum">
              <a:rPr lang="en-ZA" smtClean="0"/>
              <a:t>‹#›</a:t>
            </a:fld>
            <a:endParaRPr lang="en-ZA"/>
          </a:p>
        </p:txBody>
      </p:sp>
    </p:spTree>
    <p:extLst>
      <p:ext uri="{BB962C8B-B14F-4D97-AF65-F5344CB8AC3E}">
        <p14:creationId xmlns:p14="http://schemas.microsoft.com/office/powerpoint/2010/main" val="3337637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03CC05-2A3E-465E-9B83-87FCA4E080FC}" type="datetimeFigureOut">
              <a:rPr lang="en-ZA" smtClean="0"/>
              <a:t>2026/04/20</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11F8DC7-65B1-411F-B525-1107FD008A9B}" type="slidenum">
              <a:rPr lang="en-ZA" smtClean="0"/>
              <a:t>‹#›</a:t>
            </a:fld>
            <a:endParaRPr lang="en-ZA"/>
          </a:p>
        </p:txBody>
      </p:sp>
    </p:spTree>
    <p:extLst>
      <p:ext uri="{BB962C8B-B14F-4D97-AF65-F5344CB8AC3E}">
        <p14:creationId xmlns:p14="http://schemas.microsoft.com/office/powerpoint/2010/main" val="3505150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03CC05-2A3E-465E-9B83-87FCA4E080FC}" type="datetimeFigureOut">
              <a:rPr lang="en-ZA" smtClean="0"/>
              <a:t>2026/04/20</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A11F8DC7-65B1-411F-B525-1107FD008A9B}" type="slidenum">
              <a:rPr lang="en-ZA" smtClean="0"/>
              <a:t>‹#›</a:t>
            </a:fld>
            <a:endParaRPr lang="en-ZA"/>
          </a:p>
        </p:txBody>
      </p:sp>
    </p:spTree>
    <p:extLst>
      <p:ext uri="{BB962C8B-B14F-4D97-AF65-F5344CB8AC3E}">
        <p14:creationId xmlns:p14="http://schemas.microsoft.com/office/powerpoint/2010/main" val="153382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03CC05-2A3E-465E-9B83-87FCA4E080FC}" type="datetimeFigureOut">
              <a:rPr lang="en-ZA" smtClean="0"/>
              <a:t>2026/04/20</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A11F8DC7-65B1-411F-B525-1107FD008A9B}" type="slidenum">
              <a:rPr lang="en-ZA" smtClean="0"/>
              <a:t>‹#›</a:t>
            </a:fld>
            <a:endParaRPr lang="en-ZA"/>
          </a:p>
        </p:txBody>
      </p:sp>
    </p:spTree>
    <p:extLst>
      <p:ext uri="{BB962C8B-B14F-4D97-AF65-F5344CB8AC3E}">
        <p14:creationId xmlns:p14="http://schemas.microsoft.com/office/powerpoint/2010/main" val="4161368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03CC05-2A3E-465E-9B83-87FCA4E080FC}" type="datetimeFigureOut">
              <a:rPr lang="en-ZA" smtClean="0"/>
              <a:t>2026/04/20</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A11F8DC7-65B1-411F-B525-1107FD008A9B}" type="slidenum">
              <a:rPr lang="en-ZA" smtClean="0"/>
              <a:t>‹#›</a:t>
            </a:fld>
            <a:endParaRPr lang="en-ZA"/>
          </a:p>
        </p:txBody>
      </p:sp>
    </p:spTree>
    <p:extLst>
      <p:ext uri="{BB962C8B-B14F-4D97-AF65-F5344CB8AC3E}">
        <p14:creationId xmlns:p14="http://schemas.microsoft.com/office/powerpoint/2010/main" val="439446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03CC05-2A3E-465E-9B83-87FCA4E080FC}" type="datetimeFigureOut">
              <a:rPr lang="en-ZA" smtClean="0"/>
              <a:t>2026/04/20</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11F8DC7-65B1-411F-B525-1107FD008A9B}" type="slidenum">
              <a:rPr lang="en-ZA" smtClean="0"/>
              <a:t>‹#›</a:t>
            </a:fld>
            <a:endParaRPr lang="en-ZA"/>
          </a:p>
        </p:txBody>
      </p:sp>
    </p:spTree>
    <p:extLst>
      <p:ext uri="{BB962C8B-B14F-4D97-AF65-F5344CB8AC3E}">
        <p14:creationId xmlns:p14="http://schemas.microsoft.com/office/powerpoint/2010/main" val="495951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03CC05-2A3E-465E-9B83-87FCA4E080FC}" type="datetimeFigureOut">
              <a:rPr lang="en-ZA" smtClean="0"/>
              <a:t>2026/04/20</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11F8DC7-65B1-411F-B525-1107FD008A9B}" type="slidenum">
              <a:rPr lang="en-ZA" smtClean="0"/>
              <a:t>‹#›</a:t>
            </a:fld>
            <a:endParaRPr lang="en-ZA"/>
          </a:p>
        </p:txBody>
      </p:sp>
    </p:spTree>
    <p:extLst>
      <p:ext uri="{BB962C8B-B14F-4D97-AF65-F5344CB8AC3E}">
        <p14:creationId xmlns:p14="http://schemas.microsoft.com/office/powerpoint/2010/main" val="260463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03CC05-2A3E-465E-9B83-87FCA4E080FC}" type="datetimeFigureOut">
              <a:rPr lang="en-ZA" smtClean="0"/>
              <a:t>2026/04/20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1F8DC7-65B1-411F-B525-1107FD008A9B}" type="slidenum">
              <a:rPr lang="en-ZA" smtClean="0"/>
              <a:t>‹#›</a:t>
            </a:fld>
            <a:endParaRPr lang="en-ZA"/>
          </a:p>
        </p:txBody>
      </p:sp>
    </p:spTree>
    <p:extLst>
      <p:ext uri="{BB962C8B-B14F-4D97-AF65-F5344CB8AC3E}">
        <p14:creationId xmlns:p14="http://schemas.microsoft.com/office/powerpoint/2010/main" val="2118718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03CC05-2A3E-465E-9B83-87FCA4E080FC}" type="datetimeFigureOut">
              <a:rPr lang="en-ZA" smtClean="0"/>
              <a:t>2026/04/20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1F8DC7-65B1-411F-B525-1107FD008A9B}" type="slidenum">
              <a:rPr lang="en-ZA" smtClean="0"/>
              <a:t>‹#›</a:t>
            </a:fld>
            <a:endParaRPr lang="en-ZA"/>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3780107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03CC05-2A3E-465E-9B83-87FCA4E080FC}" type="datetimeFigureOut">
              <a:rPr lang="en-ZA" smtClean="0"/>
              <a:t>2026/04/20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1F8DC7-65B1-411F-B525-1107FD008A9B}" type="slidenum">
              <a:rPr lang="en-ZA" smtClean="0"/>
              <a:t>‹#›</a:t>
            </a:fld>
            <a:endParaRPr lang="en-ZA"/>
          </a:p>
        </p:txBody>
      </p:sp>
    </p:spTree>
    <p:extLst>
      <p:ext uri="{BB962C8B-B14F-4D97-AF65-F5344CB8AC3E}">
        <p14:creationId xmlns:p14="http://schemas.microsoft.com/office/powerpoint/2010/main" val="21250658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03CC05-2A3E-465E-9B83-87FCA4E080FC}" type="datetimeFigureOut">
              <a:rPr lang="en-ZA" smtClean="0"/>
              <a:t>2026/04/20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1F8DC7-65B1-411F-B525-1107FD008A9B}" type="slidenum">
              <a:rPr lang="en-ZA" smtClean="0"/>
              <a:t>‹#›</a:t>
            </a:fld>
            <a:endParaRPr lang="en-ZA"/>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094072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03CC05-2A3E-465E-9B83-87FCA4E080FC}" type="datetimeFigureOut">
              <a:rPr lang="en-ZA" smtClean="0"/>
              <a:t>2026/04/20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1F8DC7-65B1-411F-B525-1107FD008A9B}" type="slidenum">
              <a:rPr lang="en-ZA" smtClean="0"/>
              <a:t>‹#›</a:t>
            </a:fld>
            <a:endParaRPr lang="en-ZA"/>
          </a:p>
        </p:txBody>
      </p:sp>
    </p:spTree>
    <p:extLst>
      <p:ext uri="{BB962C8B-B14F-4D97-AF65-F5344CB8AC3E}">
        <p14:creationId xmlns:p14="http://schemas.microsoft.com/office/powerpoint/2010/main" val="725909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03CC05-2A3E-465E-9B83-87FCA4E080FC}" type="datetimeFigureOut">
              <a:rPr lang="en-ZA" smtClean="0"/>
              <a:t>2026/04/20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1F8DC7-65B1-411F-B525-1107FD008A9B}" type="slidenum">
              <a:rPr lang="en-ZA" smtClean="0"/>
              <a:t>‹#›</a:t>
            </a:fld>
            <a:endParaRPr lang="en-ZA"/>
          </a:p>
        </p:txBody>
      </p:sp>
    </p:spTree>
    <p:extLst>
      <p:ext uri="{BB962C8B-B14F-4D97-AF65-F5344CB8AC3E}">
        <p14:creationId xmlns:p14="http://schemas.microsoft.com/office/powerpoint/2010/main" val="34444270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03CC05-2A3E-465E-9B83-87FCA4E080FC}" type="datetimeFigureOut">
              <a:rPr lang="en-ZA" smtClean="0"/>
              <a:t>2026/04/20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1F8DC7-65B1-411F-B525-1107FD008A9B}" type="slidenum">
              <a:rPr lang="en-ZA" smtClean="0"/>
              <a:t>‹#›</a:t>
            </a:fld>
            <a:endParaRPr lang="en-ZA"/>
          </a:p>
        </p:txBody>
      </p:sp>
    </p:spTree>
    <p:extLst>
      <p:ext uri="{BB962C8B-B14F-4D97-AF65-F5344CB8AC3E}">
        <p14:creationId xmlns:p14="http://schemas.microsoft.com/office/powerpoint/2010/main" val="3796689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E03CC05-2A3E-465E-9B83-87FCA4E080FC}" type="datetimeFigureOut">
              <a:rPr lang="en-ZA" smtClean="0"/>
              <a:t>2026/04/20</a:t>
            </a:fld>
            <a:endParaRPr lang="en-ZA"/>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11F8DC7-65B1-411F-B525-1107FD008A9B}" type="slidenum">
              <a:rPr lang="en-ZA" smtClean="0"/>
              <a:t>‹#›</a:t>
            </a:fld>
            <a:endParaRPr lang="en-ZA"/>
          </a:p>
        </p:txBody>
      </p:sp>
    </p:spTree>
    <p:extLst>
      <p:ext uri="{BB962C8B-B14F-4D97-AF65-F5344CB8AC3E}">
        <p14:creationId xmlns:p14="http://schemas.microsoft.com/office/powerpoint/2010/main" val="7872525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AF775-8BDE-A4CA-030E-2477ED9A0672}"/>
              </a:ext>
            </a:extLst>
          </p:cNvPr>
          <p:cNvSpPr>
            <a:spLocks noGrp="1"/>
          </p:cNvSpPr>
          <p:nvPr>
            <p:ph type="ctrTitle"/>
          </p:nvPr>
        </p:nvSpPr>
        <p:spPr>
          <a:xfrm>
            <a:off x="149288" y="2105954"/>
            <a:ext cx="9797143" cy="1646302"/>
          </a:xfrm>
        </p:spPr>
        <p:txBody>
          <a:bodyPr/>
          <a:lstStyle/>
          <a:p>
            <a:r>
              <a:rPr lang="en-GB" sz="1800" dirty="0"/>
              <a:t>INTERLINKING PSYCHOLOGICAL APPROACHES WITH SOCIAL STRATEGIES FOR HOLISTIC HEALTH</a:t>
            </a:r>
            <a:endParaRPr lang="en-ZA" sz="1800" dirty="0"/>
          </a:p>
        </p:txBody>
      </p:sp>
      <p:sp>
        <p:nvSpPr>
          <p:cNvPr id="3" name="Subtitle 2">
            <a:extLst>
              <a:ext uri="{FF2B5EF4-FFF2-40B4-BE49-F238E27FC236}">
                <a16:creationId xmlns:a16="http://schemas.microsoft.com/office/drawing/2014/main" id="{6A49BDD3-F501-5CC3-EFC1-7798C3F932E9}"/>
              </a:ext>
            </a:extLst>
          </p:cNvPr>
          <p:cNvSpPr>
            <a:spLocks noGrp="1"/>
          </p:cNvSpPr>
          <p:nvPr>
            <p:ph type="subTitle" idx="1"/>
          </p:nvPr>
        </p:nvSpPr>
        <p:spPr/>
        <p:txBody>
          <a:bodyPr>
            <a:normAutofit fontScale="62500" lnSpcReduction="20000"/>
          </a:bodyPr>
          <a:lstStyle/>
          <a:p>
            <a:r>
              <a:rPr lang="en-GB" dirty="0"/>
              <a:t>ZESULIWE MTHEMBU-MABASO</a:t>
            </a:r>
          </a:p>
          <a:p>
            <a:r>
              <a:rPr lang="en-GB" dirty="0"/>
              <a:t>DISTRICT MENTAL HEALTH SPECIALIST-SOCIAL WORK MANAGER</a:t>
            </a:r>
          </a:p>
          <a:p>
            <a:r>
              <a:rPr lang="en-GB" dirty="0"/>
              <a:t> MMDSC-Public Health, PhD candidate  </a:t>
            </a:r>
          </a:p>
          <a:p>
            <a:r>
              <a:rPr lang="en-GB" dirty="0"/>
              <a:t>21 APRIL 2026</a:t>
            </a:r>
          </a:p>
          <a:p>
            <a:endParaRPr lang="en-ZA" dirty="0"/>
          </a:p>
        </p:txBody>
      </p:sp>
    </p:spTree>
    <p:extLst>
      <p:ext uri="{BB962C8B-B14F-4D97-AF65-F5344CB8AC3E}">
        <p14:creationId xmlns:p14="http://schemas.microsoft.com/office/powerpoint/2010/main" val="3661741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AF775-8BDE-A4CA-030E-2477ED9A0672}"/>
              </a:ext>
            </a:extLst>
          </p:cNvPr>
          <p:cNvSpPr>
            <a:spLocks noGrp="1"/>
          </p:cNvSpPr>
          <p:nvPr>
            <p:ph type="title"/>
          </p:nvPr>
        </p:nvSpPr>
        <p:spPr/>
        <p:txBody>
          <a:bodyPr>
            <a:normAutofit/>
          </a:bodyPr>
          <a:lstStyle/>
          <a:p>
            <a:pPr algn="ctr"/>
            <a:r>
              <a:rPr lang="en-GB" sz="4000" dirty="0"/>
              <a:t>INTRODUCTION</a:t>
            </a:r>
            <a:endParaRPr lang="en-ZA" sz="4000" dirty="0"/>
          </a:p>
        </p:txBody>
      </p:sp>
      <p:sp>
        <p:nvSpPr>
          <p:cNvPr id="3" name="Subtitle 2">
            <a:extLst>
              <a:ext uri="{FF2B5EF4-FFF2-40B4-BE49-F238E27FC236}">
                <a16:creationId xmlns:a16="http://schemas.microsoft.com/office/drawing/2014/main" id="{6A49BDD3-F501-5CC3-EFC1-7798C3F932E9}"/>
              </a:ext>
            </a:extLst>
          </p:cNvPr>
          <p:cNvSpPr>
            <a:spLocks noGrp="1"/>
          </p:cNvSpPr>
          <p:nvPr>
            <p:ph idx="1"/>
          </p:nvPr>
        </p:nvSpPr>
        <p:spPr/>
        <p:txBody>
          <a:bodyPr>
            <a:normAutofit/>
          </a:bodyPr>
          <a:lstStyle/>
          <a:p>
            <a:r>
              <a:rPr lang="en-GB" dirty="0"/>
              <a:t>This session focuses specifically on how interlinking psychological approaches and social strategies enables holistic health outcomes, rather than viewing them as separate or parallel interventions.</a:t>
            </a:r>
          </a:p>
          <a:p>
            <a:r>
              <a:rPr lang="en-GB" dirty="0"/>
              <a:t>In real-world health settings, psychological symptoms often emerge from social distress, while social challenges are intensified by psychological vulnerability. When these are addressed in isolation, care becomes fragmented and less effective.</a:t>
            </a:r>
          </a:p>
          <a:p>
            <a:r>
              <a:rPr lang="en-GB" dirty="0"/>
              <a:t>The integration of preventative and curative care is only possible when psychological and social interventions are intentionally connected within multidisciplinary health practice.</a:t>
            </a:r>
          </a:p>
        </p:txBody>
      </p:sp>
    </p:spTree>
    <p:extLst>
      <p:ext uri="{BB962C8B-B14F-4D97-AF65-F5344CB8AC3E}">
        <p14:creationId xmlns:p14="http://schemas.microsoft.com/office/powerpoint/2010/main" val="337089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AF775-8BDE-A4CA-030E-2477ED9A0672}"/>
              </a:ext>
            </a:extLst>
          </p:cNvPr>
          <p:cNvSpPr>
            <a:spLocks noGrp="1"/>
          </p:cNvSpPr>
          <p:nvPr>
            <p:ph type="title"/>
          </p:nvPr>
        </p:nvSpPr>
        <p:spPr/>
        <p:txBody>
          <a:bodyPr>
            <a:normAutofit/>
          </a:bodyPr>
          <a:lstStyle/>
          <a:p>
            <a:pPr algn="ctr"/>
            <a:r>
              <a:rPr lang="en-GB" sz="4000" dirty="0"/>
              <a:t>INTRODUCTION</a:t>
            </a:r>
            <a:endParaRPr lang="en-ZA" sz="4000" dirty="0"/>
          </a:p>
        </p:txBody>
      </p:sp>
      <p:sp>
        <p:nvSpPr>
          <p:cNvPr id="3" name="Subtitle 2">
            <a:extLst>
              <a:ext uri="{FF2B5EF4-FFF2-40B4-BE49-F238E27FC236}">
                <a16:creationId xmlns:a16="http://schemas.microsoft.com/office/drawing/2014/main" id="{6A49BDD3-F501-5CC3-EFC1-7798C3F932E9}"/>
              </a:ext>
            </a:extLst>
          </p:cNvPr>
          <p:cNvSpPr>
            <a:spLocks noGrp="1"/>
          </p:cNvSpPr>
          <p:nvPr>
            <p:ph idx="1"/>
          </p:nvPr>
        </p:nvSpPr>
        <p:spPr/>
        <p:txBody>
          <a:bodyPr>
            <a:normAutofit lnSpcReduction="10000"/>
          </a:bodyPr>
          <a:lstStyle/>
          <a:p>
            <a:r>
              <a:rPr lang="en-GB" b="1" dirty="0"/>
              <a:t>Purpose of the session</a:t>
            </a:r>
          </a:p>
          <a:p>
            <a:pPr>
              <a:buFont typeface="Arial" panose="020B0604020202020204" pitchFamily="34" charset="0"/>
              <a:buChar char="•"/>
            </a:pPr>
            <a:r>
              <a:rPr lang="en-GB" dirty="0"/>
              <a:t>To demonstrate how psychological approaches and social strategies complement and strengthen one another.</a:t>
            </a:r>
          </a:p>
          <a:p>
            <a:pPr>
              <a:buFont typeface="Arial" panose="020B0604020202020204" pitchFamily="34" charset="0"/>
              <a:buChar char="•"/>
            </a:pPr>
            <a:r>
              <a:rPr lang="en-GB" dirty="0"/>
              <a:t>To show how this integration supports both prevention and treatment across the continuum of care.</a:t>
            </a:r>
          </a:p>
          <a:p>
            <a:r>
              <a:rPr lang="en-GB" b="1" dirty="0"/>
              <a:t>Learning objectives</a:t>
            </a:r>
          </a:p>
          <a:p>
            <a:r>
              <a:rPr lang="en-GB" dirty="0"/>
              <a:t>By the end of this session, participants will be able to:</a:t>
            </a:r>
          </a:p>
          <a:p>
            <a:pPr>
              <a:buFont typeface="+mj-lt"/>
              <a:buAutoNum type="arabicPeriod"/>
            </a:pPr>
            <a:r>
              <a:rPr lang="en-GB" dirty="0"/>
              <a:t>Explain how psychological and social interventions interlink to promote holistic health.</a:t>
            </a:r>
          </a:p>
          <a:p>
            <a:pPr>
              <a:buFont typeface="+mj-lt"/>
              <a:buAutoNum type="arabicPeriod"/>
            </a:pPr>
            <a:r>
              <a:rPr lang="en-GB" dirty="0"/>
              <a:t>Identify missed opportunities when care is fragmented.</a:t>
            </a:r>
          </a:p>
          <a:p>
            <a:pPr>
              <a:buFont typeface="+mj-lt"/>
              <a:buAutoNum type="arabicPeriod"/>
            </a:pPr>
            <a:r>
              <a:rPr lang="en-GB" dirty="0"/>
              <a:t>Apply integrated approaches within preventative and curative services.</a:t>
            </a:r>
          </a:p>
          <a:p>
            <a:endParaRPr lang="en-GB" dirty="0"/>
          </a:p>
        </p:txBody>
      </p:sp>
    </p:spTree>
    <p:extLst>
      <p:ext uri="{BB962C8B-B14F-4D97-AF65-F5344CB8AC3E}">
        <p14:creationId xmlns:p14="http://schemas.microsoft.com/office/powerpoint/2010/main" val="219851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AF775-8BDE-A4CA-030E-2477ED9A0672}"/>
              </a:ext>
            </a:extLst>
          </p:cNvPr>
          <p:cNvSpPr>
            <a:spLocks noGrp="1"/>
          </p:cNvSpPr>
          <p:nvPr>
            <p:ph type="title"/>
          </p:nvPr>
        </p:nvSpPr>
        <p:spPr>
          <a:xfrm>
            <a:off x="677334" y="0"/>
            <a:ext cx="8596668" cy="1320800"/>
          </a:xfrm>
        </p:spPr>
        <p:txBody>
          <a:bodyPr>
            <a:normAutofit/>
          </a:bodyPr>
          <a:lstStyle/>
          <a:p>
            <a:pPr algn="ctr"/>
            <a:r>
              <a:rPr lang="en-GB" sz="4000" dirty="0"/>
              <a:t>UNDERSTANDING HOLISTIC HEALTH THROUGH INTEGRATION </a:t>
            </a:r>
            <a:endParaRPr lang="en-ZA" sz="6600" dirty="0"/>
          </a:p>
        </p:txBody>
      </p:sp>
      <p:sp>
        <p:nvSpPr>
          <p:cNvPr id="3" name="Subtitle 2">
            <a:extLst>
              <a:ext uri="{FF2B5EF4-FFF2-40B4-BE49-F238E27FC236}">
                <a16:creationId xmlns:a16="http://schemas.microsoft.com/office/drawing/2014/main" id="{6A49BDD3-F501-5CC3-EFC1-7798C3F932E9}"/>
              </a:ext>
            </a:extLst>
          </p:cNvPr>
          <p:cNvSpPr>
            <a:spLocks noGrp="1"/>
          </p:cNvSpPr>
          <p:nvPr>
            <p:ph idx="1"/>
          </p:nvPr>
        </p:nvSpPr>
        <p:spPr>
          <a:xfrm>
            <a:off x="388085" y="1395307"/>
            <a:ext cx="9231776" cy="4977501"/>
          </a:xfrm>
        </p:spPr>
        <p:txBody>
          <a:bodyPr>
            <a:normAutofit fontScale="85000" lnSpcReduction="20000"/>
          </a:bodyPr>
          <a:lstStyle/>
          <a:p>
            <a:r>
              <a:rPr lang="en-GB" b="1" dirty="0"/>
              <a:t>Holistic health </a:t>
            </a:r>
          </a:p>
          <a:p>
            <a:r>
              <a:rPr lang="en-GB" dirty="0"/>
              <a:t>A state of well-being in which an individual’s physical, mental, and social functioning are addressed in an integrated and coordinated manner, recognising that these dimensions are interdependent and influenced by broader social, cultural, and environmental factors.</a:t>
            </a:r>
          </a:p>
          <a:p>
            <a:r>
              <a:rPr lang="en-GB" b="1" dirty="0"/>
              <a:t>Psychological approaches contribute</a:t>
            </a:r>
            <a:r>
              <a:rPr lang="en-GB" dirty="0"/>
              <a:t>:</a:t>
            </a:r>
          </a:p>
          <a:p>
            <a:pPr>
              <a:buFont typeface="Arial" panose="020B0604020202020204" pitchFamily="34" charset="0"/>
              <a:buChar char="•"/>
            </a:pPr>
            <a:r>
              <a:rPr lang="en-GB" dirty="0"/>
              <a:t>Insight into thoughts, emotions, behaviours, and trauma responses.</a:t>
            </a:r>
          </a:p>
          <a:p>
            <a:pPr>
              <a:buFont typeface="Arial" panose="020B0604020202020204" pitchFamily="34" charset="0"/>
              <a:buChar char="•"/>
            </a:pPr>
            <a:r>
              <a:rPr lang="en-GB" dirty="0"/>
              <a:t>Skills for emotional regulation, coping, meaning-making, and behaviour change.</a:t>
            </a:r>
          </a:p>
          <a:p>
            <a:r>
              <a:rPr lang="en-GB" b="1" dirty="0"/>
              <a:t>Social strategies contribute:</a:t>
            </a:r>
          </a:p>
          <a:p>
            <a:pPr>
              <a:buFont typeface="Arial" panose="020B0604020202020204" pitchFamily="34" charset="0"/>
              <a:buChar char="•"/>
            </a:pPr>
            <a:r>
              <a:rPr lang="en-GB" dirty="0"/>
              <a:t>Addressing lived conditions such as poverty, violence, isolation, and family dynamics.</a:t>
            </a:r>
          </a:p>
          <a:p>
            <a:pPr>
              <a:buFont typeface="Arial" panose="020B0604020202020204" pitchFamily="34" charset="0"/>
              <a:buChar char="•"/>
            </a:pPr>
            <a:r>
              <a:rPr lang="en-GB" dirty="0"/>
              <a:t>Mobilising resources, social protection, and community support systems. (Improve social functioning)</a:t>
            </a:r>
          </a:p>
          <a:p>
            <a:r>
              <a:rPr lang="en-GB" b="1" dirty="0"/>
              <a:t>The interlinking point</a:t>
            </a:r>
          </a:p>
          <a:p>
            <a:pPr>
              <a:buFont typeface="Arial" panose="020B0604020202020204" pitchFamily="34" charset="0"/>
              <a:buChar char="•"/>
            </a:pPr>
            <a:r>
              <a:rPr lang="en-GB" dirty="0"/>
              <a:t>Psychological healing cannot be sustained without social stability, and social interventions are ineffective without psychological readiness and support.</a:t>
            </a:r>
          </a:p>
          <a:p>
            <a:r>
              <a:rPr lang="en-GB" b="1" dirty="0"/>
              <a:t>Practical implication</a:t>
            </a:r>
          </a:p>
          <a:p>
            <a:pPr>
              <a:buFont typeface="Arial" panose="020B0604020202020204" pitchFamily="34" charset="0"/>
              <a:buChar char="•"/>
            </a:pPr>
            <a:r>
              <a:rPr lang="en-GB" dirty="0"/>
              <a:t>Treating anxiety without addressing unemployment leads to relapse.</a:t>
            </a:r>
          </a:p>
          <a:p>
            <a:pPr>
              <a:buFont typeface="Arial" panose="020B0604020202020204" pitchFamily="34" charset="0"/>
              <a:buChar char="•"/>
            </a:pPr>
            <a:r>
              <a:rPr lang="en-GB" dirty="0"/>
              <a:t>Providing any form of social relief of distress without emotional support sustains dependency, not wellness.</a:t>
            </a:r>
          </a:p>
          <a:p>
            <a:pPr>
              <a:buFont typeface="Wingdings" panose="05000000000000000000" pitchFamily="2" charset="2"/>
              <a:buChar char="Ø"/>
            </a:pPr>
            <a:endParaRPr lang="en-GB" dirty="0"/>
          </a:p>
        </p:txBody>
      </p:sp>
    </p:spTree>
    <p:extLst>
      <p:ext uri="{BB962C8B-B14F-4D97-AF65-F5344CB8AC3E}">
        <p14:creationId xmlns:p14="http://schemas.microsoft.com/office/powerpoint/2010/main" val="1384249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AF775-8BDE-A4CA-030E-2477ED9A0672}"/>
              </a:ext>
            </a:extLst>
          </p:cNvPr>
          <p:cNvSpPr>
            <a:spLocks noGrp="1"/>
          </p:cNvSpPr>
          <p:nvPr>
            <p:ph type="title"/>
          </p:nvPr>
        </p:nvSpPr>
        <p:spPr>
          <a:xfrm>
            <a:off x="65314" y="0"/>
            <a:ext cx="9208688" cy="1320800"/>
          </a:xfrm>
        </p:spPr>
        <p:txBody>
          <a:bodyPr>
            <a:normAutofit fontScale="90000"/>
          </a:bodyPr>
          <a:lstStyle/>
          <a:p>
            <a:pPr algn="ctr"/>
            <a:r>
              <a:rPr lang="en-GB" sz="4000" dirty="0"/>
              <a:t>Interlinking Prevention and Cure Through Psychology and Social Strategies</a:t>
            </a:r>
            <a:endParaRPr lang="en-ZA" sz="6600" dirty="0"/>
          </a:p>
        </p:txBody>
      </p:sp>
      <p:sp>
        <p:nvSpPr>
          <p:cNvPr id="3" name="Subtitle 2">
            <a:extLst>
              <a:ext uri="{FF2B5EF4-FFF2-40B4-BE49-F238E27FC236}">
                <a16:creationId xmlns:a16="http://schemas.microsoft.com/office/drawing/2014/main" id="{6A49BDD3-F501-5CC3-EFC1-7798C3F932E9}"/>
              </a:ext>
            </a:extLst>
          </p:cNvPr>
          <p:cNvSpPr>
            <a:spLocks noGrp="1"/>
          </p:cNvSpPr>
          <p:nvPr>
            <p:ph idx="1"/>
          </p:nvPr>
        </p:nvSpPr>
        <p:spPr>
          <a:xfrm>
            <a:off x="222033" y="1236686"/>
            <a:ext cx="9208689" cy="4977501"/>
          </a:xfrm>
        </p:spPr>
        <p:txBody>
          <a:bodyPr>
            <a:normAutofit fontScale="85000" lnSpcReduction="20000"/>
          </a:bodyPr>
          <a:lstStyle/>
          <a:p>
            <a:r>
              <a:rPr lang="en-GB" sz="1600" b="1" dirty="0"/>
              <a:t>Prevention through integration</a:t>
            </a:r>
          </a:p>
          <a:p>
            <a:r>
              <a:rPr lang="en-GB" sz="1600" dirty="0"/>
              <a:t>When psychological and social approaches are linked early:</a:t>
            </a:r>
          </a:p>
          <a:p>
            <a:pPr>
              <a:buFont typeface="Arial" panose="020B0604020202020204" pitchFamily="34" charset="0"/>
              <a:buChar char="•"/>
            </a:pPr>
            <a:r>
              <a:rPr lang="en-GB" sz="1600" dirty="0"/>
              <a:t>Emotional distress is identified before it becomes pathology.</a:t>
            </a:r>
          </a:p>
          <a:p>
            <a:pPr>
              <a:buFont typeface="Arial" panose="020B0604020202020204" pitchFamily="34" charset="0"/>
              <a:buChar char="•"/>
            </a:pPr>
            <a:r>
              <a:rPr lang="en-GB" sz="1600" dirty="0"/>
              <a:t>Social risks are addressed before crisis intervention is required.</a:t>
            </a:r>
          </a:p>
          <a:p>
            <a:r>
              <a:rPr lang="en-GB" sz="1600" b="1" dirty="0"/>
              <a:t>Examples:</a:t>
            </a:r>
            <a:endParaRPr lang="en-GB" sz="1600" dirty="0"/>
          </a:p>
          <a:p>
            <a:pPr>
              <a:buFont typeface="Arial" panose="020B0604020202020204" pitchFamily="34" charset="0"/>
              <a:buChar char="•"/>
            </a:pPr>
            <a:r>
              <a:rPr lang="en-GB" sz="1600" dirty="0"/>
              <a:t>Psychoeducation + parenting support</a:t>
            </a:r>
          </a:p>
          <a:p>
            <a:pPr>
              <a:buFont typeface="Arial" panose="020B0604020202020204" pitchFamily="34" charset="0"/>
              <a:buChar char="•"/>
            </a:pPr>
            <a:r>
              <a:rPr lang="en-GB" sz="1600" dirty="0"/>
              <a:t>School-based mental health screening + social services referral</a:t>
            </a:r>
          </a:p>
          <a:p>
            <a:r>
              <a:rPr lang="en-GB" sz="1600" b="1" dirty="0"/>
              <a:t>Curative care strengthened by integration</a:t>
            </a:r>
          </a:p>
          <a:p>
            <a:r>
              <a:rPr lang="en-GB" sz="1600" dirty="0"/>
              <a:t>In treatment settings:</a:t>
            </a:r>
          </a:p>
          <a:p>
            <a:pPr>
              <a:buFont typeface="Arial" panose="020B0604020202020204" pitchFamily="34" charset="0"/>
              <a:buChar char="•"/>
            </a:pPr>
            <a:r>
              <a:rPr lang="en-GB" sz="1600" dirty="0"/>
              <a:t>Psychological therapy addresses internal processes.</a:t>
            </a:r>
          </a:p>
          <a:p>
            <a:pPr>
              <a:buFont typeface="Arial" panose="020B0604020202020204" pitchFamily="34" charset="0"/>
              <a:buChar char="•"/>
            </a:pPr>
            <a:r>
              <a:rPr lang="en-GB" sz="1600" dirty="0"/>
              <a:t>Social interventions stabilise the external environment.</a:t>
            </a:r>
          </a:p>
          <a:p>
            <a:r>
              <a:rPr lang="en-GB" sz="1600" b="1" dirty="0"/>
              <a:t>Examples:</a:t>
            </a:r>
            <a:endParaRPr lang="en-GB" sz="1600" dirty="0"/>
          </a:p>
          <a:p>
            <a:pPr>
              <a:buFont typeface="Arial" panose="020B0604020202020204" pitchFamily="34" charset="0"/>
              <a:buChar char="•"/>
            </a:pPr>
            <a:r>
              <a:rPr lang="en-GB" sz="1600" dirty="0"/>
              <a:t>Depression treatment + food security interventions</a:t>
            </a:r>
          </a:p>
          <a:p>
            <a:pPr>
              <a:buFont typeface="Arial" panose="020B0604020202020204" pitchFamily="34" charset="0"/>
              <a:buChar char="•"/>
            </a:pPr>
            <a:r>
              <a:rPr lang="en-GB" sz="1600" dirty="0"/>
              <a:t>Trauma therapy + GBV shelter and legal support</a:t>
            </a:r>
          </a:p>
          <a:p>
            <a:r>
              <a:rPr lang="en-GB" sz="1600" b="1" dirty="0"/>
              <a:t>Connection to the theme</a:t>
            </a:r>
          </a:p>
          <a:p>
            <a:pPr>
              <a:buFont typeface="Arial" panose="020B0604020202020204" pitchFamily="34" charset="0"/>
              <a:buChar char="•"/>
            </a:pPr>
            <a:r>
              <a:rPr lang="en-GB" sz="1600" dirty="0"/>
              <a:t>Integrating preventative and curative care means responding to both why a person is unwell and what maintains the illness.</a:t>
            </a:r>
          </a:p>
          <a:p>
            <a:pPr>
              <a:buFont typeface="Wingdings" panose="05000000000000000000" pitchFamily="2" charset="2"/>
              <a:buChar char="Ø"/>
            </a:pPr>
            <a:endParaRPr lang="en-GB" sz="1600" dirty="0"/>
          </a:p>
        </p:txBody>
      </p:sp>
    </p:spTree>
    <p:extLst>
      <p:ext uri="{BB962C8B-B14F-4D97-AF65-F5344CB8AC3E}">
        <p14:creationId xmlns:p14="http://schemas.microsoft.com/office/powerpoint/2010/main" val="1328708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AF775-8BDE-A4CA-030E-2477ED9A0672}"/>
              </a:ext>
            </a:extLst>
          </p:cNvPr>
          <p:cNvSpPr>
            <a:spLocks noGrp="1"/>
          </p:cNvSpPr>
          <p:nvPr>
            <p:ph type="title"/>
          </p:nvPr>
        </p:nvSpPr>
        <p:spPr>
          <a:xfrm>
            <a:off x="65314" y="0"/>
            <a:ext cx="9208688" cy="1320800"/>
          </a:xfrm>
        </p:spPr>
        <p:txBody>
          <a:bodyPr>
            <a:normAutofit/>
          </a:bodyPr>
          <a:lstStyle/>
          <a:p>
            <a:pPr algn="ctr"/>
            <a:r>
              <a:rPr lang="en-GB" sz="4000" dirty="0"/>
              <a:t>Psychological Approaches Relevant to Holistic Health</a:t>
            </a:r>
            <a:endParaRPr lang="en-ZA" sz="6600" dirty="0"/>
          </a:p>
        </p:txBody>
      </p:sp>
      <p:sp>
        <p:nvSpPr>
          <p:cNvPr id="3" name="Subtitle 2">
            <a:extLst>
              <a:ext uri="{FF2B5EF4-FFF2-40B4-BE49-F238E27FC236}">
                <a16:creationId xmlns:a16="http://schemas.microsoft.com/office/drawing/2014/main" id="{6A49BDD3-F501-5CC3-EFC1-7798C3F932E9}"/>
              </a:ext>
            </a:extLst>
          </p:cNvPr>
          <p:cNvSpPr>
            <a:spLocks noGrp="1"/>
          </p:cNvSpPr>
          <p:nvPr>
            <p:ph idx="1"/>
          </p:nvPr>
        </p:nvSpPr>
        <p:spPr>
          <a:xfrm>
            <a:off x="222033" y="1236686"/>
            <a:ext cx="9208689" cy="4977501"/>
          </a:xfrm>
        </p:spPr>
        <p:txBody>
          <a:bodyPr>
            <a:normAutofit/>
          </a:bodyPr>
          <a:lstStyle/>
          <a:p>
            <a:pPr>
              <a:buFont typeface="Wingdings" panose="05000000000000000000" pitchFamily="2" charset="2"/>
              <a:buChar char="v"/>
            </a:pPr>
            <a:r>
              <a:rPr lang="en-GB" sz="1600" b="1" dirty="0"/>
              <a:t>Key approaches</a:t>
            </a:r>
          </a:p>
          <a:p>
            <a:r>
              <a:rPr lang="en-GB" sz="1600" b="1" dirty="0"/>
              <a:t>1. Cognitive Behavioural Approaches (CBT-informed)</a:t>
            </a:r>
            <a:endParaRPr lang="en-GB" sz="1600" dirty="0"/>
          </a:p>
          <a:p>
            <a:pPr>
              <a:buFont typeface="Arial" panose="020B0604020202020204" pitchFamily="34" charset="0"/>
              <a:buChar char="•"/>
            </a:pPr>
            <a:r>
              <a:rPr lang="en-GB" sz="1600" dirty="0"/>
              <a:t>Understanding thought–emotion–behaviour links.</a:t>
            </a:r>
          </a:p>
          <a:p>
            <a:pPr>
              <a:buFont typeface="Arial" panose="020B0604020202020204" pitchFamily="34" charset="0"/>
              <a:buChar char="•"/>
            </a:pPr>
            <a:r>
              <a:rPr lang="en-GB" sz="1600" dirty="0"/>
              <a:t>Useful in depression, anxiety, adherence challenges.</a:t>
            </a:r>
          </a:p>
          <a:p>
            <a:r>
              <a:rPr lang="en-GB" sz="1600" b="1" dirty="0"/>
              <a:t>2. Trauma-Informed Care</a:t>
            </a:r>
            <a:endParaRPr lang="en-GB" sz="1600" dirty="0"/>
          </a:p>
          <a:p>
            <a:pPr>
              <a:buFont typeface="Arial" panose="020B0604020202020204" pitchFamily="34" charset="0"/>
              <a:buChar char="•"/>
            </a:pPr>
            <a:r>
              <a:rPr lang="en-GB" sz="1600" dirty="0"/>
              <a:t>Recognises impact of trauma on behaviour and health.</a:t>
            </a:r>
          </a:p>
          <a:p>
            <a:pPr>
              <a:buFont typeface="Arial" panose="020B0604020202020204" pitchFamily="34" charset="0"/>
              <a:buChar char="•"/>
            </a:pPr>
            <a:r>
              <a:rPr lang="en-GB" sz="1600" dirty="0"/>
              <a:t>Emphasises safety, choice, trust, collaboration, empowerment to avoid re-traumatization.</a:t>
            </a:r>
          </a:p>
          <a:p>
            <a:r>
              <a:rPr lang="en-GB" sz="1600" b="1" dirty="0"/>
              <a:t>3. Person-Centred Approach</a:t>
            </a:r>
            <a:endParaRPr lang="en-GB" sz="1600" dirty="0"/>
          </a:p>
          <a:p>
            <a:pPr>
              <a:buFont typeface="Arial" panose="020B0604020202020204" pitchFamily="34" charset="0"/>
              <a:buChar char="•"/>
            </a:pPr>
            <a:r>
              <a:rPr lang="en-GB" sz="1600" dirty="0"/>
              <a:t>Respect for autonomy, dignity, lived experience.</a:t>
            </a:r>
          </a:p>
          <a:p>
            <a:pPr>
              <a:buFont typeface="Arial" panose="020B0604020202020204" pitchFamily="34" charset="0"/>
              <a:buChar char="•"/>
            </a:pPr>
            <a:r>
              <a:rPr lang="en-GB" sz="1600" dirty="0"/>
              <a:t>Builds therapeutic alliance across disciplines.</a:t>
            </a:r>
          </a:p>
          <a:p>
            <a:r>
              <a:rPr lang="en-GB" sz="1600" b="1" dirty="0"/>
              <a:t>4. Strengths-Based Perspective</a:t>
            </a:r>
            <a:endParaRPr lang="en-GB" sz="1600" dirty="0"/>
          </a:p>
          <a:p>
            <a:pPr>
              <a:buFont typeface="Arial" panose="020B0604020202020204" pitchFamily="34" charset="0"/>
              <a:buChar char="•"/>
            </a:pPr>
            <a:r>
              <a:rPr lang="en-GB" sz="1600" dirty="0"/>
              <a:t>Focuses on resilience and existing capacities.</a:t>
            </a:r>
          </a:p>
          <a:p>
            <a:pPr>
              <a:buFont typeface="Arial" panose="020B0604020202020204" pitchFamily="34" charset="0"/>
              <a:buChar char="•"/>
            </a:pPr>
            <a:r>
              <a:rPr lang="en-GB" sz="1600" dirty="0"/>
              <a:t>Aligns well with community and social development work.</a:t>
            </a:r>
          </a:p>
          <a:p>
            <a:pPr>
              <a:buFont typeface="Wingdings" panose="05000000000000000000" pitchFamily="2" charset="2"/>
              <a:buChar char="Ø"/>
            </a:pPr>
            <a:endParaRPr lang="en-GB" sz="1600" dirty="0"/>
          </a:p>
        </p:txBody>
      </p:sp>
    </p:spTree>
    <p:extLst>
      <p:ext uri="{BB962C8B-B14F-4D97-AF65-F5344CB8AC3E}">
        <p14:creationId xmlns:p14="http://schemas.microsoft.com/office/powerpoint/2010/main" val="2924069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AF775-8BDE-A4CA-030E-2477ED9A0672}"/>
              </a:ext>
            </a:extLst>
          </p:cNvPr>
          <p:cNvSpPr>
            <a:spLocks noGrp="1"/>
          </p:cNvSpPr>
          <p:nvPr>
            <p:ph type="title"/>
          </p:nvPr>
        </p:nvSpPr>
        <p:spPr>
          <a:xfrm>
            <a:off x="65314" y="0"/>
            <a:ext cx="9208688" cy="1320800"/>
          </a:xfrm>
        </p:spPr>
        <p:txBody>
          <a:bodyPr>
            <a:normAutofit/>
          </a:bodyPr>
          <a:lstStyle/>
          <a:p>
            <a:pPr algn="ctr"/>
            <a:r>
              <a:rPr lang="en-GB" sz="4000" dirty="0"/>
              <a:t>Social Strategies for Holistic Health</a:t>
            </a:r>
            <a:endParaRPr lang="en-ZA" sz="6600" dirty="0"/>
          </a:p>
        </p:txBody>
      </p:sp>
      <p:sp>
        <p:nvSpPr>
          <p:cNvPr id="3" name="Subtitle 2">
            <a:extLst>
              <a:ext uri="{FF2B5EF4-FFF2-40B4-BE49-F238E27FC236}">
                <a16:creationId xmlns:a16="http://schemas.microsoft.com/office/drawing/2014/main" id="{6A49BDD3-F501-5CC3-EFC1-7798C3F932E9}"/>
              </a:ext>
            </a:extLst>
          </p:cNvPr>
          <p:cNvSpPr>
            <a:spLocks noGrp="1"/>
          </p:cNvSpPr>
          <p:nvPr>
            <p:ph idx="1"/>
          </p:nvPr>
        </p:nvSpPr>
        <p:spPr>
          <a:xfrm>
            <a:off x="259355" y="854132"/>
            <a:ext cx="9208689" cy="5873240"/>
          </a:xfrm>
        </p:spPr>
        <p:txBody>
          <a:bodyPr>
            <a:normAutofit lnSpcReduction="10000"/>
          </a:bodyPr>
          <a:lstStyle/>
          <a:p>
            <a:pPr>
              <a:buFont typeface="Wingdings" panose="05000000000000000000" pitchFamily="2" charset="2"/>
              <a:buChar char="v"/>
            </a:pPr>
            <a:r>
              <a:rPr lang="en-GB" sz="1600" b="1" dirty="0"/>
              <a:t>Core social strategies</a:t>
            </a:r>
          </a:p>
          <a:p>
            <a:r>
              <a:rPr lang="en-GB" sz="1600" b="1" dirty="0"/>
              <a:t>1. Addressing Social Determinants of Health</a:t>
            </a:r>
            <a:endParaRPr lang="en-GB" sz="1600" dirty="0"/>
          </a:p>
          <a:p>
            <a:pPr>
              <a:buFont typeface="Arial" panose="020B0604020202020204" pitchFamily="34" charset="0"/>
              <a:buChar char="•"/>
            </a:pPr>
            <a:r>
              <a:rPr lang="en-GB" sz="1600" dirty="0"/>
              <a:t>Food security, housing, income, safety.</a:t>
            </a:r>
          </a:p>
          <a:p>
            <a:pPr>
              <a:buFont typeface="Arial" panose="020B0604020202020204" pitchFamily="34" charset="0"/>
              <a:buChar char="•"/>
            </a:pPr>
            <a:r>
              <a:rPr lang="en-GB" sz="1600" dirty="0"/>
              <a:t>Intersectoral referrals (DSD, HOH, NGOs, education, labour, Agriculture..).</a:t>
            </a:r>
          </a:p>
          <a:p>
            <a:pPr>
              <a:buFont typeface="Arial" panose="020B0604020202020204" pitchFamily="34" charset="0"/>
              <a:buChar char="•"/>
            </a:pPr>
            <a:r>
              <a:rPr kumimoji="0" lang="en-GB" sz="16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Social determinants contribute to up to 55% of health outcomes.</a:t>
            </a:r>
            <a:endParaRPr lang="en-GB" sz="1600" dirty="0"/>
          </a:p>
          <a:p>
            <a:r>
              <a:rPr lang="en-GB" sz="1600" b="1" dirty="0"/>
              <a:t>2. Family and Community Systems Approach</a:t>
            </a:r>
            <a:endParaRPr lang="en-GB" sz="1600" dirty="0"/>
          </a:p>
          <a:p>
            <a:pPr>
              <a:buFont typeface="Arial" panose="020B0604020202020204" pitchFamily="34" charset="0"/>
              <a:buChar char="•"/>
            </a:pPr>
            <a:r>
              <a:rPr lang="en-GB" sz="1600" dirty="0"/>
              <a:t>Individual health is embedded in family and community context.</a:t>
            </a:r>
          </a:p>
          <a:p>
            <a:pPr>
              <a:buFont typeface="Arial" panose="020B0604020202020204" pitchFamily="34" charset="0"/>
              <a:buChar char="•"/>
            </a:pPr>
            <a:r>
              <a:rPr lang="en-GB" sz="1600" dirty="0"/>
              <a:t>Engaging caregivers, partners, community leaders.</a:t>
            </a:r>
          </a:p>
          <a:p>
            <a:r>
              <a:rPr lang="en-GB" sz="1600" b="1" dirty="0"/>
              <a:t>3. Social Support and Networks</a:t>
            </a:r>
            <a:endParaRPr lang="en-GB" sz="1600" dirty="0"/>
          </a:p>
          <a:p>
            <a:pPr>
              <a:buFont typeface="Arial" panose="020B0604020202020204" pitchFamily="34" charset="0"/>
              <a:buChar char="•"/>
            </a:pPr>
            <a:r>
              <a:rPr lang="en-GB" sz="1600" dirty="0"/>
              <a:t>Peer support groups.</a:t>
            </a:r>
          </a:p>
          <a:p>
            <a:pPr>
              <a:buFont typeface="Arial" panose="020B0604020202020204" pitchFamily="34" charset="0"/>
              <a:buChar char="•"/>
            </a:pPr>
            <a:r>
              <a:rPr lang="en-GB" sz="1600" dirty="0"/>
              <a:t>Community-based mental health initiatives.</a:t>
            </a:r>
          </a:p>
          <a:p>
            <a:r>
              <a:rPr lang="en-GB" sz="1600" b="1" dirty="0"/>
              <a:t>4. Advocacy and Policy Engagement</a:t>
            </a:r>
            <a:endParaRPr lang="en-GB" sz="1600" dirty="0"/>
          </a:p>
          <a:p>
            <a:pPr>
              <a:buFont typeface="Arial" panose="020B0604020202020204" pitchFamily="34" charset="0"/>
              <a:buChar char="•"/>
            </a:pPr>
            <a:r>
              <a:rPr lang="en-GB" sz="1600" dirty="0"/>
              <a:t>Identifying systemic barriers.</a:t>
            </a:r>
          </a:p>
          <a:p>
            <a:pPr>
              <a:buFont typeface="Arial" panose="020B0604020202020204" pitchFamily="34" charset="0"/>
              <a:buChar char="•"/>
            </a:pPr>
            <a:r>
              <a:rPr lang="en-GB" sz="1600" dirty="0"/>
              <a:t>Using data and cases to influence service improvement.</a:t>
            </a:r>
          </a:p>
          <a:p>
            <a:pPr marL="0" indent="0">
              <a:buNone/>
            </a:pPr>
            <a:endParaRPr lang="en-GB" sz="1600" dirty="0"/>
          </a:p>
          <a:p>
            <a:pPr marL="0" indent="0">
              <a:buNone/>
            </a:pPr>
            <a:r>
              <a:rPr lang="en-GB" sz="1600" dirty="0"/>
              <a:t> Social interventions create environments where recovery is possible.</a:t>
            </a:r>
          </a:p>
          <a:p>
            <a:pPr>
              <a:buFont typeface="Wingdings" panose="05000000000000000000" pitchFamily="2" charset="2"/>
              <a:buChar char="Ø"/>
            </a:pPr>
            <a:endParaRPr lang="en-GB" sz="1600" dirty="0"/>
          </a:p>
        </p:txBody>
      </p:sp>
    </p:spTree>
    <p:extLst>
      <p:ext uri="{BB962C8B-B14F-4D97-AF65-F5344CB8AC3E}">
        <p14:creationId xmlns:p14="http://schemas.microsoft.com/office/powerpoint/2010/main" val="3565462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AF775-8BDE-A4CA-030E-2477ED9A0672}"/>
              </a:ext>
            </a:extLst>
          </p:cNvPr>
          <p:cNvSpPr>
            <a:spLocks noGrp="1"/>
          </p:cNvSpPr>
          <p:nvPr>
            <p:ph type="title"/>
          </p:nvPr>
        </p:nvSpPr>
        <p:spPr>
          <a:xfrm>
            <a:off x="102636" y="354563"/>
            <a:ext cx="9208688" cy="1320800"/>
          </a:xfrm>
        </p:spPr>
        <p:txBody>
          <a:bodyPr>
            <a:normAutofit/>
          </a:bodyPr>
          <a:lstStyle/>
          <a:p>
            <a:pPr algn="ctr"/>
            <a:r>
              <a:rPr lang="en-ZA" sz="4000" dirty="0"/>
              <a:t>Missed Opportunities in Depression</a:t>
            </a:r>
            <a:endParaRPr lang="en-ZA" sz="6600" dirty="0"/>
          </a:p>
        </p:txBody>
      </p:sp>
      <p:sp>
        <p:nvSpPr>
          <p:cNvPr id="3" name="Subtitle 2">
            <a:extLst>
              <a:ext uri="{FF2B5EF4-FFF2-40B4-BE49-F238E27FC236}">
                <a16:creationId xmlns:a16="http://schemas.microsoft.com/office/drawing/2014/main" id="{6A49BDD3-F501-5CC3-EFC1-7798C3F932E9}"/>
              </a:ext>
            </a:extLst>
          </p:cNvPr>
          <p:cNvSpPr>
            <a:spLocks noGrp="1"/>
          </p:cNvSpPr>
          <p:nvPr>
            <p:ph idx="1"/>
          </p:nvPr>
        </p:nvSpPr>
        <p:spPr>
          <a:xfrm>
            <a:off x="102636" y="1446244"/>
            <a:ext cx="9208689" cy="4357395"/>
          </a:xfrm>
        </p:spPr>
        <p:txBody>
          <a:bodyPr>
            <a:normAutofit fontScale="92500" lnSpcReduction="10000"/>
          </a:bodyPr>
          <a:lstStyle/>
          <a:p>
            <a:r>
              <a:rPr lang="en-GB" sz="1600" dirty="0"/>
              <a:t>Many patients present with:</a:t>
            </a:r>
          </a:p>
          <a:p>
            <a:pPr>
              <a:buFont typeface="Arial" panose="020B0604020202020204" pitchFamily="34" charset="0"/>
              <a:buChar char="•"/>
            </a:pPr>
            <a:r>
              <a:rPr lang="en-GB" sz="1600" dirty="0"/>
              <a:t>Chronic headaches </a:t>
            </a:r>
          </a:p>
          <a:p>
            <a:pPr>
              <a:buFont typeface="Arial" panose="020B0604020202020204" pitchFamily="34" charset="0"/>
              <a:buChar char="•"/>
            </a:pPr>
            <a:r>
              <a:rPr lang="en-GB" sz="1600" dirty="0"/>
              <a:t>Fatigue </a:t>
            </a:r>
          </a:p>
          <a:p>
            <a:pPr>
              <a:buFont typeface="Arial" panose="020B0604020202020204" pitchFamily="34" charset="0"/>
              <a:buChar char="•"/>
            </a:pPr>
            <a:r>
              <a:rPr lang="en-GB" sz="1600" dirty="0"/>
              <a:t>Sleep disturbances </a:t>
            </a:r>
          </a:p>
          <a:p>
            <a:r>
              <a:rPr lang="en-GB" sz="1600" dirty="0"/>
              <a:t>Yet:</a:t>
            </a:r>
          </a:p>
          <a:p>
            <a:pPr>
              <a:buFont typeface="Arial" panose="020B0604020202020204" pitchFamily="34" charset="0"/>
              <a:buChar char="•"/>
            </a:pPr>
            <a:r>
              <a:rPr lang="en-GB" sz="1600" dirty="0"/>
              <a:t>Mental health is not assessed </a:t>
            </a:r>
          </a:p>
          <a:p>
            <a:r>
              <a:rPr lang="en-GB" sz="1600" b="1" dirty="0"/>
              <a:t>Key Statistics:</a:t>
            </a:r>
            <a:endParaRPr lang="en-GB" sz="1600" dirty="0"/>
          </a:p>
          <a:p>
            <a:pPr>
              <a:buFont typeface="Arial" panose="020B0604020202020204" pitchFamily="34" charset="0"/>
              <a:buChar char="•"/>
            </a:pPr>
            <a:r>
              <a:rPr lang="en-GB" sz="1600" dirty="0"/>
              <a:t>Up to </a:t>
            </a:r>
            <a:r>
              <a:rPr lang="en-GB" sz="1600" b="1" dirty="0"/>
              <a:t>50% of depression cases are missed in primary care</a:t>
            </a:r>
            <a:r>
              <a:rPr lang="en-GB" sz="1600" dirty="0"/>
              <a:t> </a:t>
            </a:r>
          </a:p>
          <a:p>
            <a:pPr>
              <a:buFont typeface="Arial" panose="020B0604020202020204" pitchFamily="34" charset="0"/>
              <a:buChar char="•"/>
            </a:pPr>
            <a:r>
              <a:rPr lang="en-GB" sz="1600" dirty="0"/>
              <a:t>Detection rates in low- and middle-income countries can fall below </a:t>
            </a:r>
            <a:r>
              <a:rPr lang="en-GB" sz="1600" b="1" dirty="0"/>
              <a:t>30%</a:t>
            </a:r>
            <a:r>
              <a:rPr lang="en-GB" sz="1600" dirty="0"/>
              <a:t> </a:t>
            </a:r>
          </a:p>
          <a:p>
            <a:r>
              <a:rPr lang="en-GB" sz="1600" b="1" dirty="0"/>
              <a:t>Implication:</a:t>
            </a:r>
            <a:br>
              <a:rPr lang="en-GB" sz="1600" dirty="0"/>
            </a:br>
            <a:r>
              <a:rPr lang="en-GB" sz="1600" dirty="0"/>
              <a:t>Patients are repeatedly treated for physical symptoms while underlying depression remains untreated.</a:t>
            </a:r>
          </a:p>
          <a:p>
            <a:r>
              <a:rPr lang="en-GB" sz="1600" b="1" dirty="0"/>
              <a:t>Critical Gap:</a:t>
            </a:r>
            <a:br>
              <a:rPr lang="en-GB" sz="1600" dirty="0"/>
            </a:br>
            <a:r>
              <a:rPr lang="en-GB" sz="1600" dirty="0"/>
              <a:t>Failure to integrate psychological screening into general healthcare.</a:t>
            </a:r>
          </a:p>
        </p:txBody>
      </p:sp>
    </p:spTree>
    <p:extLst>
      <p:ext uri="{BB962C8B-B14F-4D97-AF65-F5344CB8AC3E}">
        <p14:creationId xmlns:p14="http://schemas.microsoft.com/office/powerpoint/2010/main" val="3376117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AF775-8BDE-A4CA-030E-2477ED9A0672}"/>
              </a:ext>
            </a:extLst>
          </p:cNvPr>
          <p:cNvSpPr>
            <a:spLocks noGrp="1"/>
          </p:cNvSpPr>
          <p:nvPr>
            <p:ph type="title"/>
          </p:nvPr>
        </p:nvSpPr>
        <p:spPr>
          <a:xfrm>
            <a:off x="102636" y="354563"/>
            <a:ext cx="9208688" cy="1320800"/>
          </a:xfrm>
        </p:spPr>
        <p:txBody>
          <a:bodyPr>
            <a:normAutofit/>
          </a:bodyPr>
          <a:lstStyle/>
          <a:p>
            <a:pPr algn="ctr"/>
            <a:r>
              <a:rPr lang="en-GB" sz="4000" dirty="0"/>
              <a:t>Role of the Multidisciplinary Team (MDT)</a:t>
            </a:r>
            <a:endParaRPr lang="en-ZA" sz="6600" dirty="0"/>
          </a:p>
        </p:txBody>
      </p:sp>
      <p:sp>
        <p:nvSpPr>
          <p:cNvPr id="3" name="Subtitle 2">
            <a:extLst>
              <a:ext uri="{FF2B5EF4-FFF2-40B4-BE49-F238E27FC236}">
                <a16:creationId xmlns:a16="http://schemas.microsoft.com/office/drawing/2014/main" id="{6A49BDD3-F501-5CC3-EFC1-7798C3F932E9}"/>
              </a:ext>
            </a:extLst>
          </p:cNvPr>
          <p:cNvSpPr>
            <a:spLocks noGrp="1"/>
          </p:cNvSpPr>
          <p:nvPr>
            <p:ph idx="1"/>
          </p:nvPr>
        </p:nvSpPr>
        <p:spPr>
          <a:xfrm>
            <a:off x="222033" y="1856791"/>
            <a:ext cx="9883020" cy="4767944"/>
          </a:xfrm>
        </p:spPr>
        <p:txBody>
          <a:bodyPr>
            <a:normAutofit/>
          </a:bodyPr>
          <a:lstStyle/>
          <a:p>
            <a:r>
              <a:rPr lang="en-GB" sz="1600" b="1" dirty="0"/>
              <a:t>Why MDTs matter</a:t>
            </a:r>
          </a:p>
          <a:p>
            <a:pPr>
              <a:buFont typeface="Arial" panose="020B0604020202020204" pitchFamily="34" charset="0"/>
              <a:buChar char="•"/>
            </a:pPr>
            <a:r>
              <a:rPr lang="en-GB" sz="1600" dirty="0"/>
              <a:t>No single discipline can address holistic health alone.</a:t>
            </a:r>
          </a:p>
          <a:p>
            <a:r>
              <a:rPr lang="en-GB" sz="1600" b="1" dirty="0"/>
              <a:t>Complementary roles</a:t>
            </a:r>
          </a:p>
          <a:p>
            <a:pPr>
              <a:buFont typeface="Arial" panose="020B0604020202020204" pitchFamily="34" charset="0"/>
              <a:buChar char="•"/>
            </a:pPr>
            <a:r>
              <a:rPr lang="en-GB" sz="1600" b="1" dirty="0"/>
              <a:t>Medical:</a:t>
            </a:r>
            <a:r>
              <a:rPr lang="en-GB" sz="1600" dirty="0"/>
              <a:t> diagnosis, treatment, monitoring.</a:t>
            </a:r>
          </a:p>
          <a:p>
            <a:pPr>
              <a:buFont typeface="Arial" panose="020B0604020202020204" pitchFamily="34" charset="0"/>
              <a:buChar char="•"/>
            </a:pPr>
            <a:r>
              <a:rPr lang="en-GB" sz="1600" b="1" dirty="0"/>
              <a:t>Psychological:</a:t>
            </a:r>
            <a:r>
              <a:rPr lang="en-GB" sz="1600" dirty="0"/>
              <a:t> emotional regulation, insight, behaviour change.</a:t>
            </a:r>
          </a:p>
          <a:p>
            <a:pPr>
              <a:buFont typeface="Arial" panose="020B0604020202020204" pitchFamily="34" charset="0"/>
              <a:buChar char="•"/>
            </a:pPr>
            <a:r>
              <a:rPr lang="en-GB" sz="1600" b="1" dirty="0"/>
              <a:t>Social work:</a:t>
            </a:r>
            <a:r>
              <a:rPr lang="en-GB" sz="1600" dirty="0"/>
              <a:t> social assessment, resource mobilisation, advocacy.</a:t>
            </a:r>
          </a:p>
          <a:p>
            <a:pPr>
              <a:buFont typeface="Arial" panose="020B0604020202020204" pitchFamily="34" charset="0"/>
              <a:buChar char="•"/>
            </a:pPr>
            <a:r>
              <a:rPr lang="en-GB" sz="1600" b="1" dirty="0"/>
              <a:t>Nursing &amp; CHWs:</a:t>
            </a:r>
            <a:r>
              <a:rPr lang="en-GB" sz="1600" dirty="0"/>
              <a:t> continuity of care, education, follow-up.</a:t>
            </a:r>
          </a:p>
          <a:p>
            <a:r>
              <a:rPr lang="en-GB" sz="1600" b="1" dirty="0"/>
              <a:t>Principles of effective MDT work</a:t>
            </a:r>
          </a:p>
          <a:p>
            <a:pPr>
              <a:buFont typeface="Arial" panose="020B0604020202020204" pitchFamily="34" charset="0"/>
              <a:buChar char="•"/>
            </a:pPr>
            <a:r>
              <a:rPr lang="en-GB" sz="1600" dirty="0"/>
              <a:t>Shared care plans.</a:t>
            </a:r>
          </a:p>
          <a:p>
            <a:pPr>
              <a:buFont typeface="Arial" panose="020B0604020202020204" pitchFamily="34" charset="0"/>
              <a:buChar char="•"/>
            </a:pPr>
            <a:r>
              <a:rPr lang="en-GB" sz="1600" dirty="0"/>
              <a:t>Clear referral pathways.</a:t>
            </a:r>
          </a:p>
          <a:p>
            <a:pPr>
              <a:buFont typeface="Arial" panose="020B0604020202020204" pitchFamily="34" charset="0"/>
              <a:buChar char="•"/>
            </a:pPr>
            <a:r>
              <a:rPr lang="en-GB" sz="1600" dirty="0"/>
              <a:t>Mutual respect for professional roles.</a:t>
            </a:r>
          </a:p>
          <a:p>
            <a:pPr>
              <a:buFont typeface="Wingdings" panose="05000000000000000000" pitchFamily="2" charset="2"/>
              <a:buChar char="Ø"/>
            </a:pPr>
            <a:endParaRPr lang="en-GB" sz="1600" dirty="0"/>
          </a:p>
        </p:txBody>
      </p:sp>
    </p:spTree>
    <p:extLst>
      <p:ext uri="{BB962C8B-B14F-4D97-AF65-F5344CB8AC3E}">
        <p14:creationId xmlns:p14="http://schemas.microsoft.com/office/powerpoint/2010/main" val="1099163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AF775-8BDE-A4CA-030E-2477ED9A0672}"/>
              </a:ext>
            </a:extLst>
          </p:cNvPr>
          <p:cNvSpPr>
            <a:spLocks noGrp="1"/>
          </p:cNvSpPr>
          <p:nvPr>
            <p:ph type="title"/>
          </p:nvPr>
        </p:nvSpPr>
        <p:spPr>
          <a:xfrm>
            <a:off x="102635" y="354563"/>
            <a:ext cx="9883019" cy="1320800"/>
          </a:xfrm>
        </p:spPr>
        <p:txBody>
          <a:bodyPr>
            <a:normAutofit/>
          </a:bodyPr>
          <a:lstStyle/>
          <a:p>
            <a:pPr algn="ctr"/>
            <a:r>
              <a:rPr lang="en-GB" sz="4000" dirty="0"/>
              <a:t>Role of the Multidisciplinary Team (MDT)</a:t>
            </a:r>
            <a:endParaRPr lang="en-ZA" sz="6600" dirty="0"/>
          </a:p>
        </p:txBody>
      </p:sp>
      <p:sp>
        <p:nvSpPr>
          <p:cNvPr id="3" name="Subtitle 2">
            <a:extLst>
              <a:ext uri="{FF2B5EF4-FFF2-40B4-BE49-F238E27FC236}">
                <a16:creationId xmlns:a16="http://schemas.microsoft.com/office/drawing/2014/main" id="{6A49BDD3-F501-5CC3-EFC1-7798C3F932E9}"/>
              </a:ext>
            </a:extLst>
          </p:cNvPr>
          <p:cNvSpPr>
            <a:spLocks noGrp="1"/>
          </p:cNvSpPr>
          <p:nvPr>
            <p:ph idx="1"/>
          </p:nvPr>
        </p:nvSpPr>
        <p:spPr>
          <a:xfrm>
            <a:off x="102635" y="1110342"/>
            <a:ext cx="9883020" cy="5747658"/>
          </a:xfrm>
        </p:spPr>
        <p:txBody>
          <a:bodyPr>
            <a:normAutofit fontScale="92500" lnSpcReduction="20000"/>
          </a:bodyPr>
          <a:lstStyle/>
          <a:p>
            <a:r>
              <a:rPr lang="en-GB" sz="1600" b="1" dirty="0"/>
              <a:t>What the MDT Does</a:t>
            </a:r>
          </a:p>
          <a:p>
            <a:pPr>
              <a:buFont typeface="Arial" panose="020B0604020202020204" pitchFamily="34" charset="0"/>
              <a:buChar char="•"/>
            </a:pPr>
            <a:r>
              <a:rPr lang="en-GB" sz="1600" dirty="0"/>
              <a:t>No single discipline can address holistic health alone.</a:t>
            </a:r>
          </a:p>
          <a:p>
            <a:pPr>
              <a:buFont typeface="Wingdings" panose="05000000000000000000" pitchFamily="2" charset="2"/>
              <a:buChar char="Ø"/>
            </a:pPr>
            <a:r>
              <a:rPr lang="en-GB" sz="1600" dirty="0"/>
              <a:t>Integrates Care</a:t>
            </a:r>
          </a:p>
          <a:p>
            <a:pPr>
              <a:buFont typeface="Arial" panose="020B0604020202020204" pitchFamily="34" charset="0"/>
              <a:buChar char="•"/>
            </a:pPr>
            <a:r>
              <a:rPr lang="en-GB" sz="1600" dirty="0"/>
              <a:t>Brings together multiple perspectives to ensure coordinated, not fragmented, interventions</a:t>
            </a:r>
          </a:p>
          <a:p>
            <a:pPr>
              <a:buFont typeface="Wingdings" panose="05000000000000000000" pitchFamily="2" charset="2"/>
              <a:buChar char="Ø"/>
            </a:pPr>
            <a:r>
              <a:rPr lang="en-GB" sz="1600" dirty="0"/>
              <a:t>Enables Holistic Understanding</a:t>
            </a:r>
          </a:p>
          <a:p>
            <a:pPr>
              <a:buFont typeface="Arial" panose="020B0604020202020204" pitchFamily="34" charset="0"/>
              <a:buChar char="•"/>
            </a:pPr>
            <a:r>
              <a:rPr lang="en-GB" sz="1600" dirty="0"/>
              <a:t>Moves beyond symptoms to address the full context of the person’s life</a:t>
            </a:r>
          </a:p>
          <a:p>
            <a:pPr>
              <a:buFont typeface="Wingdings" panose="05000000000000000000" pitchFamily="2" charset="2"/>
              <a:buChar char="Ø"/>
            </a:pPr>
            <a:r>
              <a:rPr lang="en-GB" sz="1600" dirty="0"/>
              <a:t>Drives Shared Care Planning</a:t>
            </a:r>
          </a:p>
          <a:p>
            <a:pPr>
              <a:buFont typeface="Arial" panose="020B0604020202020204" pitchFamily="34" charset="0"/>
              <a:buChar char="•"/>
            </a:pPr>
            <a:r>
              <a:rPr lang="en-GB" sz="1600" dirty="0"/>
              <a:t>Aligns all interventions into a single, coherent treatment pathway</a:t>
            </a:r>
          </a:p>
          <a:p>
            <a:pPr>
              <a:buFont typeface="Wingdings" panose="05000000000000000000" pitchFamily="2" charset="2"/>
              <a:buChar char="Ø"/>
            </a:pPr>
            <a:r>
              <a:rPr lang="en-GB" sz="1600" dirty="0"/>
              <a:t>Ensures Continuity of Care</a:t>
            </a:r>
          </a:p>
          <a:p>
            <a:pPr>
              <a:buFont typeface="Arial" panose="020B0604020202020204" pitchFamily="34" charset="0"/>
              <a:buChar char="•"/>
            </a:pPr>
            <a:r>
              <a:rPr lang="en-GB" sz="1600" dirty="0"/>
              <a:t>Maintains connection across services, time, and levels of care</a:t>
            </a:r>
          </a:p>
          <a:p>
            <a:pPr>
              <a:buFont typeface="Wingdings" panose="05000000000000000000" pitchFamily="2" charset="2"/>
              <a:buChar char="Ø"/>
            </a:pPr>
            <a:r>
              <a:rPr lang="en-GB" sz="1600" dirty="0"/>
              <a:t>Improves Adherence &amp; Outcomes</a:t>
            </a:r>
          </a:p>
          <a:p>
            <a:pPr>
              <a:buFont typeface="Arial" panose="020B0604020202020204" pitchFamily="34" charset="0"/>
              <a:buChar char="•"/>
            </a:pPr>
            <a:r>
              <a:rPr lang="en-GB" sz="1600" dirty="0"/>
              <a:t>Addresses real-life barriers, strengthening engagement and recovery</a:t>
            </a:r>
          </a:p>
          <a:p>
            <a:pPr>
              <a:buFont typeface="Wingdings" panose="05000000000000000000" pitchFamily="2" charset="2"/>
              <a:buChar char="Ø"/>
            </a:pPr>
            <a:r>
              <a:rPr lang="en-GB" sz="1600" dirty="0"/>
              <a:t>Strengthens Prevention</a:t>
            </a:r>
          </a:p>
          <a:p>
            <a:pPr>
              <a:buFont typeface="Arial" panose="020B0604020202020204" pitchFamily="34" charset="0"/>
              <a:buChar char="•"/>
            </a:pPr>
            <a:r>
              <a:rPr lang="en-GB" sz="1600" dirty="0"/>
              <a:t>Identifies risks early and enables timely intervention</a:t>
            </a:r>
          </a:p>
          <a:p>
            <a:pPr>
              <a:buFont typeface="Wingdings" panose="05000000000000000000" pitchFamily="2" charset="2"/>
              <a:buChar char="Ø"/>
            </a:pPr>
            <a:r>
              <a:rPr lang="en-GB" sz="1600" dirty="0"/>
              <a:t>Promotes Contextual Relevance</a:t>
            </a:r>
          </a:p>
          <a:p>
            <a:pPr>
              <a:buFont typeface="Arial" panose="020B0604020202020204" pitchFamily="34" charset="0"/>
              <a:buChar char="•"/>
            </a:pPr>
            <a:r>
              <a:rPr lang="en-GB" sz="1600" dirty="0"/>
              <a:t>Ensures care is culturally and socially responsive</a:t>
            </a:r>
          </a:p>
          <a:p>
            <a:pPr>
              <a:buFont typeface="Wingdings" panose="05000000000000000000" pitchFamily="2" charset="2"/>
              <a:buChar char="Ø"/>
            </a:pPr>
            <a:r>
              <a:rPr lang="en-GB" sz="1600" dirty="0"/>
              <a:t>Enhances System Efficiency</a:t>
            </a:r>
          </a:p>
          <a:p>
            <a:pPr>
              <a:buFont typeface="Arial" panose="020B0604020202020204" pitchFamily="34" charset="0"/>
              <a:buChar char="•"/>
            </a:pPr>
            <a:r>
              <a:rPr lang="en-GB" sz="1600" dirty="0"/>
              <a:t>Reduces duplication and improves resource utilisation</a:t>
            </a:r>
          </a:p>
        </p:txBody>
      </p:sp>
    </p:spTree>
    <p:extLst>
      <p:ext uri="{BB962C8B-B14F-4D97-AF65-F5344CB8AC3E}">
        <p14:creationId xmlns:p14="http://schemas.microsoft.com/office/powerpoint/2010/main" val="3627573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AF775-8BDE-A4CA-030E-2477ED9A0672}"/>
              </a:ext>
            </a:extLst>
          </p:cNvPr>
          <p:cNvSpPr>
            <a:spLocks noGrp="1"/>
          </p:cNvSpPr>
          <p:nvPr>
            <p:ph type="title"/>
          </p:nvPr>
        </p:nvSpPr>
        <p:spPr>
          <a:xfrm>
            <a:off x="102636" y="354563"/>
            <a:ext cx="9208688" cy="1320800"/>
          </a:xfrm>
        </p:spPr>
        <p:txBody>
          <a:bodyPr>
            <a:normAutofit/>
          </a:bodyPr>
          <a:lstStyle/>
          <a:p>
            <a:pPr algn="ctr"/>
            <a:r>
              <a:rPr lang="en-GB" sz="4000" dirty="0"/>
              <a:t>Practical Strategies for Integration in Multidisciplinary Health Practice</a:t>
            </a:r>
            <a:endParaRPr lang="en-ZA" sz="6600" dirty="0"/>
          </a:p>
        </p:txBody>
      </p:sp>
      <p:sp>
        <p:nvSpPr>
          <p:cNvPr id="3" name="Subtitle 2">
            <a:extLst>
              <a:ext uri="{FF2B5EF4-FFF2-40B4-BE49-F238E27FC236}">
                <a16:creationId xmlns:a16="http://schemas.microsoft.com/office/drawing/2014/main" id="{6A49BDD3-F501-5CC3-EFC1-7798C3F932E9}"/>
              </a:ext>
            </a:extLst>
          </p:cNvPr>
          <p:cNvSpPr>
            <a:spLocks noGrp="1"/>
          </p:cNvSpPr>
          <p:nvPr>
            <p:ph idx="1"/>
          </p:nvPr>
        </p:nvSpPr>
        <p:spPr>
          <a:xfrm>
            <a:off x="222033" y="1856790"/>
            <a:ext cx="9444481" cy="4730621"/>
          </a:xfrm>
        </p:spPr>
        <p:txBody>
          <a:bodyPr>
            <a:normAutofit fontScale="92500" lnSpcReduction="20000"/>
          </a:bodyPr>
          <a:lstStyle/>
          <a:p>
            <a:pPr>
              <a:buFont typeface="Wingdings" panose="05000000000000000000" pitchFamily="2" charset="2"/>
              <a:buChar char="Ø"/>
            </a:pPr>
            <a:r>
              <a:rPr lang="en-GB" sz="1600" dirty="0"/>
              <a:t>This section translates integration from theory into </a:t>
            </a:r>
            <a:r>
              <a:rPr lang="en-GB" sz="1600" b="1" dirty="0"/>
              <a:t>day-to-day practice</a:t>
            </a:r>
            <a:r>
              <a:rPr lang="en-GB" sz="1600" dirty="0"/>
              <a:t>, demonstrating how psychological approaches and social strategies can be operationalised across preventative and curative care.</a:t>
            </a:r>
          </a:p>
          <a:p>
            <a:r>
              <a:rPr lang="en-GB" sz="1600" b="1" dirty="0"/>
              <a:t>Integration at Service Level</a:t>
            </a:r>
          </a:p>
          <a:p>
            <a:r>
              <a:rPr lang="en-GB" sz="1600" b="1" dirty="0"/>
              <a:t>a) Holistic entry-point assessments</a:t>
            </a:r>
            <a:endParaRPr lang="en-GB" sz="1600" dirty="0"/>
          </a:p>
          <a:p>
            <a:pPr>
              <a:buFont typeface="Arial" panose="020B0604020202020204" pitchFamily="34" charset="0"/>
              <a:buChar char="•"/>
            </a:pPr>
            <a:r>
              <a:rPr lang="en-GB" sz="1600" dirty="0"/>
              <a:t>Incorporate routine psychosocial screening in all clinical services.</a:t>
            </a:r>
          </a:p>
          <a:p>
            <a:pPr>
              <a:buFont typeface="Arial" panose="020B0604020202020204" pitchFamily="34" charset="0"/>
              <a:buChar char="•"/>
            </a:pPr>
            <a:r>
              <a:rPr lang="en-GB" sz="1600" dirty="0"/>
              <a:t>Assess emotional well-being </a:t>
            </a:r>
            <a:r>
              <a:rPr lang="en-GB" sz="1600" i="1" dirty="0"/>
              <a:t>and</a:t>
            </a:r>
            <a:r>
              <a:rPr lang="en-GB" sz="1600" dirty="0"/>
              <a:t> social determinants at first contact.</a:t>
            </a:r>
          </a:p>
          <a:p>
            <a:pPr>
              <a:buFont typeface="Arial" panose="020B0604020202020204" pitchFamily="34" charset="0"/>
              <a:buChar char="•"/>
            </a:pPr>
            <a:r>
              <a:rPr lang="en-GB" sz="1600" dirty="0"/>
              <a:t>Use standardised tools combined with narrative assessment.</a:t>
            </a:r>
          </a:p>
          <a:p>
            <a:r>
              <a:rPr lang="en-GB" sz="1600" b="1" dirty="0"/>
              <a:t>b) Integrated care planning</a:t>
            </a:r>
            <a:endParaRPr lang="en-GB" sz="1600" dirty="0"/>
          </a:p>
          <a:p>
            <a:pPr>
              <a:buFont typeface="Arial" panose="020B0604020202020204" pitchFamily="34" charset="0"/>
              <a:buChar char="•"/>
            </a:pPr>
            <a:r>
              <a:rPr lang="en-GB" sz="1600" dirty="0"/>
              <a:t>Develop care plans that include psychological goals and social interventions.</a:t>
            </a:r>
          </a:p>
          <a:p>
            <a:pPr>
              <a:buFont typeface="Arial" panose="020B0604020202020204" pitchFamily="34" charset="0"/>
              <a:buChar char="•"/>
            </a:pPr>
            <a:r>
              <a:rPr lang="en-GB" sz="1600" dirty="0"/>
              <a:t>Align medical, psychological, and social objectives.</a:t>
            </a:r>
          </a:p>
          <a:p>
            <a:pPr>
              <a:buFont typeface="Arial" panose="020B0604020202020204" pitchFamily="34" charset="0"/>
              <a:buChar char="•"/>
            </a:pPr>
            <a:r>
              <a:rPr lang="en-GB" sz="1600" dirty="0"/>
              <a:t>Review plans jointly in MDT meetings.</a:t>
            </a:r>
          </a:p>
          <a:p>
            <a:r>
              <a:rPr lang="en-GB" sz="1600" b="1" dirty="0"/>
              <a:t>c) Joint case discussions and referrals</a:t>
            </a:r>
            <a:endParaRPr lang="en-GB" sz="1600" dirty="0"/>
          </a:p>
          <a:p>
            <a:pPr>
              <a:buFont typeface="Arial" panose="020B0604020202020204" pitchFamily="34" charset="0"/>
              <a:buChar char="•"/>
            </a:pPr>
            <a:r>
              <a:rPr lang="en-GB" sz="1600" dirty="0"/>
              <a:t>Regular MDT case reviews to prevent fragmented interventions.</a:t>
            </a:r>
          </a:p>
          <a:p>
            <a:pPr>
              <a:buFont typeface="Arial" panose="020B0604020202020204" pitchFamily="34" charset="0"/>
              <a:buChar char="•"/>
            </a:pPr>
            <a:r>
              <a:rPr lang="en-GB" sz="1600" dirty="0"/>
              <a:t>Warm referrals rather than paper-based handovers.</a:t>
            </a:r>
          </a:p>
          <a:p>
            <a:pPr>
              <a:buFont typeface="Arial" panose="020B0604020202020204" pitchFamily="34" charset="0"/>
              <a:buChar char="•"/>
            </a:pPr>
            <a:r>
              <a:rPr lang="en-GB" sz="1600" dirty="0"/>
              <a:t>Clear feedback loops between disciplines.</a:t>
            </a:r>
          </a:p>
          <a:p>
            <a:pPr>
              <a:buFont typeface="Arial" panose="020B0604020202020204" pitchFamily="34" charset="0"/>
              <a:buChar char="•"/>
            </a:pPr>
            <a:endParaRPr lang="en-GB" sz="1600" dirty="0"/>
          </a:p>
          <a:p>
            <a:pPr>
              <a:buFont typeface="Arial" panose="020B0604020202020204" pitchFamily="34" charset="0"/>
              <a:buChar char="•"/>
            </a:pPr>
            <a:endParaRPr lang="en-GB" sz="1600" dirty="0"/>
          </a:p>
          <a:p>
            <a:pPr>
              <a:buFont typeface="Wingdings" panose="05000000000000000000" pitchFamily="2" charset="2"/>
              <a:buChar char="Ø"/>
            </a:pPr>
            <a:endParaRPr lang="en-GB" sz="1600" dirty="0"/>
          </a:p>
          <a:p>
            <a:pPr>
              <a:buFont typeface="Wingdings" panose="05000000000000000000" pitchFamily="2" charset="2"/>
              <a:buChar char="Ø"/>
            </a:pPr>
            <a:endParaRPr lang="en-GB" sz="1600" dirty="0"/>
          </a:p>
        </p:txBody>
      </p:sp>
    </p:spTree>
    <p:extLst>
      <p:ext uri="{BB962C8B-B14F-4D97-AF65-F5344CB8AC3E}">
        <p14:creationId xmlns:p14="http://schemas.microsoft.com/office/powerpoint/2010/main" val="1547336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AF775-8BDE-A4CA-030E-2477ED9A0672}"/>
              </a:ext>
            </a:extLst>
          </p:cNvPr>
          <p:cNvSpPr>
            <a:spLocks noGrp="1"/>
          </p:cNvSpPr>
          <p:nvPr>
            <p:ph type="title"/>
          </p:nvPr>
        </p:nvSpPr>
        <p:spPr>
          <a:xfrm>
            <a:off x="102636" y="354563"/>
            <a:ext cx="9208688" cy="1320800"/>
          </a:xfrm>
        </p:spPr>
        <p:txBody>
          <a:bodyPr>
            <a:normAutofit/>
          </a:bodyPr>
          <a:lstStyle/>
          <a:p>
            <a:pPr algn="ctr"/>
            <a:r>
              <a:rPr lang="en-GB" sz="4000" dirty="0"/>
              <a:t>Conclusion: Linking Integration to the Theme</a:t>
            </a:r>
            <a:endParaRPr lang="en-ZA" sz="6600" dirty="0"/>
          </a:p>
        </p:txBody>
      </p:sp>
      <p:sp>
        <p:nvSpPr>
          <p:cNvPr id="3" name="Subtitle 2">
            <a:extLst>
              <a:ext uri="{FF2B5EF4-FFF2-40B4-BE49-F238E27FC236}">
                <a16:creationId xmlns:a16="http://schemas.microsoft.com/office/drawing/2014/main" id="{6A49BDD3-F501-5CC3-EFC1-7798C3F932E9}"/>
              </a:ext>
            </a:extLst>
          </p:cNvPr>
          <p:cNvSpPr>
            <a:spLocks noGrp="1"/>
          </p:cNvSpPr>
          <p:nvPr>
            <p:ph idx="1"/>
          </p:nvPr>
        </p:nvSpPr>
        <p:spPr>
          <a:xfrm>
            <a:off x="222033" y="1856791"/>
            <a:ext cx="9208689" cy="4357395"/>
          </a:xfrm>
        </p:spPr>
        <p:txBody>
          <a:bodyPr>
            <a:normAutofit/>
          </a:bodyPr>
          <a:lstStyle/>
          <a:p>
            <a:pPr>
              <a:buFont typeface="Wingdings" panose="05000000000000000000" pitchFamily="2" charset="2"/>
              <a:buChar char="Ø"/>
            </a:pPr>
            <a:r>
              <a:rPr lang="en-GB" sz="1600" b="1" dirty="0"/>
              <a:t>Reconnecting to the theme</a:t>
            </a:r>
          </a:p>
          <a:p>
            <a:pPr>
              <a:buFont typeface="Wingdings" panose="05000000000000000000" pitchFamily="2" charset="2"/>
              <a:buChar char="Ø"/>
            </a:pPr>
            <a:r>
              <a:rPr lang="en-GB" sz="1600" dirty="0"/>
              <a:t>Integrating preventative and curative care in multidisciplinary practice requires:</a:t>
            </a:r>
          </a:p>
          <a:p>
            <a:pPr>
              <a:buFont typeface="Arial" panose="020B0604020202020204" pitchFamily="34" charset="0"/>
              <a:buChar char="•"/>
            </a:pPr>
            <a:r>
              <a:rPr lang="en-GB" sz="1600" dirty="0"/>
              <a:t>Seeing psychological and social care as interdependent, not optional add-ons.</a:t>
            </a:r>
          </a:p>
          <a:p>
            <a:pPr>
              <a:buFont typeface="Arial" panose="020B0604020202020204" pitchFamily="34" charset="0"/>
              <a:buChar char="•"/>
            </a:pPr>
            <a:r>
              <a:rPr lang="en-GB" sz="1600" dirty="0"/>
              <a:t>Designing services that respond across the life course and care continuum.</a:t>
            </a:r>
          </a:p>
          <a:p>
            <a:pPr>
              <a:buFont typeface="Wingdings" panose="05000000000000000000" pitchFamily="2" charset="2"/>
              <a:buChar char="v"/>
            </a:pPr>
            <a:r>
              <a:rPr lang="en-GB" sz="1600" b="1" dirty="0"/>
              <a:t>Final key takeaways</a:t>
            </a:r>
          </a:p>
          <a:p>
            <a:pPr>
              <a:buFont typeface="Arial" panose="020B0604020202020204" pitchFamily="34" charset="0"/>
              <a:buChar char="•"/>
            </a:pPr>
            <a:r>
              <a:rPr lang="en-GB" sz="1600" dirty="0"/>
              <a:t>Psychological approaches prepare individuals for healing and change.</a:t>
            </a:r>
          </a:p>
          <a:p>
            <a:pPr>
              <a:buFont typeface="Arial" panose="020B0604020202020204" pitchFamily="34" charset="0"/>
              <a:buChar char="•"/>
            </a:pPr>
            <a:r>
              <a:rPr lang="en-GB" sz="1600" dirty="0"/>
              <a:t>Social strategies create environments where healing can be sustained.</a:t>
            </a:r>
          </a:p>
          <a:p>
            <a:pPr>
              <a:buFont typeface="Arial" panose="020B0604020202020204" pitchFamily="34" charset="0"/>
              <a:buChar char="•"/>
            </a:pPr>
            <a:r>
              <a:rPr lang="en-GB" sz="1600" dirty="0"/>
              <a:t>Multidisciplinary teams are the bridge that connects prevention and cure.</a:t>
            </a:r>
          </a:p>
          <a:p>
            <a:pPr>
              <a:buFont typeface="Wingdings" panose="05000000000000000000" pitchFamily="2" charset="2"/>
              <a:buChar char="Ø"/>
            </a:pPr>
            <a:r>
              <a:rPr lang="en-GB" sz="1600" b="1" dirty="0"/>
              <a:t>Closing reflection</a:t>
            </a:r>
          </a:p>
          <a:p>
            <a:pPr>
              <a:buFont typeface="Arial" panose="020B0604020202020204" pitchFamily="34" charset="0"/>
              <a:buChar char="•"/>
            </a:pPr>
            <a:r>
              <a:rPr lang="en-GB" sz="1600" dirty="0"/>
              <a:t>When psychology and social strategies work together, health systems move from managing illness to cultivating wholeness.</a:t>
            </a:r>
          </a:p>
        </p:txBody>
      </p:sp>
    </p:spTree>
    <p:extLst>
      <p:ext uri="{BB962C8B-B14F-4D97-AF65-F5344CB8AC3E}">
        <p14:creationId xmlns:p14="http://schemas.microsoft.com/office/powerpoint/2010/main" val="340807371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578</TotalTime>
  <Words>1198</Words>
  <Application>Microsoft Office PowerPoint</Application>
  <PresentationFormat>Widescreen</PresentationFormat>
  <Paragraphs>151</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Trebuchet MS</vt:lpstr>
      <vt:lpstr>Wingdings</vt:lpstr>
      <vt:lpstr>Wingdings 3</vt:lpstr>
      <vt:lpstr>Facet</vt:lpstr>
      <vt:lpstr>INTERLINKING PSYCHOLOGICAL APPROACHES WITH SOCIAL STRATEGIES FOR HOLISTIC HEALTH</vt:lpstr>
      <vt:lpstr>INTRODUCTION</vt:lpstr>
      <vt:lpstr>INTRODUCTION</vt:lpstr>
      <vt:lpstr>UNDERSTANDING HOLISTIC HEALTH THROUGH INTEGRATION </vt:lpstr>
      <vt:lpstr>Interlinking Prevention and Cure Through Psychology and Social Strategies</vt:lpstr>
      <vt:lpstr>Psychological Approaches Relevant to Holistic Health</vt:lpstr>
      <vt:lpstr>Social Strategies for Holistic Health</vt:lpstr>
      <vt:lpstr>Missed Opportunities in Depression</vt:lpstr>
      <vt:lpstr>Role of the Multidisciplinary Team (MDT)</vt:lpstr>
      <vt:lpstr>Role of the Multidisciplinary Team (MDT)</vt:lpstr>
      <vt:lpstr>Practical Strategies for Integration in Multidisciplinary Health Practice</vt:lpstr>
      <vt:lpstr>Conclusion: Linking Integration to the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Interlinking Psychological Approaches with Social strategies for Holistic Health</dc:title>
  <dc:creator>mthembumabasozesuliwe@gmail.com</dc:creator>
  <cp:lastModifiedBy>Zesuliwe Mabaso (207500153)</cp:lastModifiedBy>
  <cp:revision>8</cp:revision>
  <dcterms:created xsi:type="dcterms:W3CDTF">2025-12-15T09:51:33Z</dcterms:created>
  <dcterms:modified xsi:type="dcterms:W3CDTF">2026-04-20T20:41:30Z</dcterms:modified>
</cp:coreProperties>
</file>