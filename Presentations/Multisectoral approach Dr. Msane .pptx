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81" r:id="rId6"/>
    <p:sldId id="261" r:id="rId7"/>
    <p:sldId id="280" r:id="rId8"/>
    <p:sldId id="264" r:id="rId9"/>
    <p:sldId id="263"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82" r:id="rId25"/>
    <p:sldId id="284" r:id="rId26"/>
    <p:sldId id="285" r:id="rId27"/>
    <p:sldId id="286" r:id="rId28"/>
    <p:sldId id="287" r:id="rId29"/>
    <p:sldId id="279" r:id="rId3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9"/>
  </p:normalViewPr>
  <p:slideViewPr>
    <p:cSldViewPr snapToGrid="0">
      <p:cViewPr varScale="1">
        <p:scale>
          <a:sx n="103" d="100"/>
          <a:sy n="103" d="100"/>
        </p:scale>
        <p:origin x="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B591DD-64FF-4309-ABC6-10C9565B7653}" type="doc">
      <dgm:prSet loTypeId="urn:microsoft.com/office/officeart/2016/7/layout/HorizontalActionList" loCatId="List" qsTypeId="urn:microsoft.com/office/officeart/2005/8/quickstyle/simple4" qsCatId="simple" csTypeId="urn:microsoft.com/office/officeart/2005/8/colors/colorful5" csCatId="colorful"/>
      <dgm:spPr/>
      <dgm:t>
        <a:bodyPr/>
        <a:lstStyle/>
        <a:p>
          <a:endParaRPr lang="en-US"/>
        </a:p>
      </dgm:t>
    </dgm:pt>
    <dgm:pt modelId="{B05228D6-ABDC-413E-AF5B-E3653F8C4CF5}">
      <dgm:prSet/>
      <dgm:spPr/>
      <dgm:t>
        <a:bodyPr/>
        <a:lstStyle/>
        <a:p>
          <a:r>
            <a:rPr lang="en-US"/>
            <a:t>Include</a:t>
          </a:r>
        </a:p>
      </dgm:t>
    </dgm:pt>
    <dgm:pt modelId="{19F895B0-52BF-48B6-AD5D-33D6F32894A6}" type="parTrans" cxnId="{662D52AE-CFBB-4A9E-B685-5709D285FD9F}">
      <dgm:prSet/>
      <dgm:spPr/>
      <dgm:t>
        <a:bodyPr/>
        <a:lstStyle/>
        <a:p>
          <a:endParaRPr lang="en-US"/>
        </a:p>
      </dgm:t>
    </dgm:pt>
    <dgm:pt modelId="{FD2B5D95-A59D-4764-BAE0-5C67E1C7E296}" type="sibTrans" cxnId="{662D52AE-CFBB-4A9E-B685-5709D285FD9F}">
      <dgm:prSet/>
      <dgm:spPr/>
      <dgm:t>
        <a:bodyPr/>
        <a:lstStyle/>
        <a:p>
          <a:endParaRPr lang="en-US"/>
        </a:p>
      </dgm:t>
    </dgm:pt>
    <dgm:pt modelId="{B7C269FF-132A-4290-9474-DFB5501AC6E9}">
      <dgm:prSet/>
      <dgm:spPr/>
      <dgm:t>
        <a:bodyPr/>
        <a:lstStyle/>
        <a:p>
          <a:r>
            <a:rPr lang="en-US"/>
            <a:t>Include mental health screening in forearm competency test.</a:t>
          </a:r>
        </a:p>
      </dgm:t>
    </dgm:pt>
    <dgm:pt modelId="{216F13D0-7CC5-4FEC-82F8-FB777C21AAB3}" type="parTrans" cxnId="{E0112E7C-BCDD-4960-842D-A0B6A6210E93}">
      <dgm:prSet/>
      <dgm:spPr/>
      <dgm:t>
        <a:bodyPr/>
        <a:lstStyle/>
        <a:p>
          <a:endParaRPr lang="en-US"/>
        </a:p>
      </dgm:t>
    </dgm:pt>
    <dgm:pt modelId="{E3D5EEFC-D323-4067-9CBF-5DC0B039828D}" type="sibTrans" cxnId="{E0112E7C-BCDD-4960-842D-A0B6A6210E93}">
      <dgm:prSet/>
      <dgm:spPr/>
      <dgm:t>
        <a:bodyPr/>
        <a:lstStyle/>
        <a:p>
          <a:endParaRPr lang="en-US"/>
        </a:p>
      </dgm:t>
    </dgm:pt>
    <dgm:pt modelId="{A28E0760-DA6C-4949-B343-2FFDDCF9FFF2}">
      <dgm:prSet/>
      <dgm:spPr/>
      <dgm:t>
        <a:bodyPr/>
        <a:lstStyle/>
        <a:p>
          <a:r>
            <a:rPr lang="en-US"/>
            <a:t>Require</a:t>
          </a:r>
        </a:p>
      </dgm:t>
    </dgm:pt>
    <dgm:pt modelId="{FCE1B78B-7FC8-4AB0-92C1-ADCB01054E00}" type="parTrans" cxnId="{75CBF956-CC91-404E-B5C6-8FD1AF0D377C}">
      <dgm:prSet/>
      <dgm:spPr/>
      <dgm:t>
        <a:bodyPr/>
        <a:lstStyle/>
        <a:p>
          <a:endParaRPr lang="en-US"/>
        </a:p>
      </dgm:t>
    </dgm:pt>
    <dgm:pt modelId="{B50B2DA5-98D7-4E13-AE78-80966E3CCC08}" type="sibTrans" cxnId="{75CBF956-CC91-404E-B5C6-8FD1AF0D377C}">
      <dgm:prSet/>
      <dgm:spPr/>
      <dgm:t>
        <a:bodyPr/>
        <a:lstStyle/>
        <a:p>
          <a:endParaRPr lang="en-US"/>
        </a:p>
      </dgm:t>
    </dgm:pt>
    <dgm:pt modelId="{D6D353E3-401E-49A6-A60E-98D0872AE471}">
      <dgm:prSet/>
      <dgm:spPr/>
      <dgm:t>
        <a:bodyPr/>
        <a:lstStyle/>
        <a:p>
          <a:r>
            <a:rPr lang="en-US"/>
            <a:t>Require periodic mental health re-evaluation when licences are renewed.</a:t>
          </a:r>
        </a:p>
      </dgm:t>
    </dgm:pt>
    <dgm:pt modelId="{375F4B67-2556-4416-B1F7-CB3F975B25CE}" type="parTrans" cxnId="{60DDF74E-AC51-42E8-B239-694C2C24D773}">
      <dgm:prSet/>
      <dgm:spPr/>
      <dgm:t>
        <a:bodyPr/>
        <a:lstStyle/>
        <a:p>
          <a:endParaRPr lang="en-US"/>
        </a:p>
      </dgm:t>
    </dgm:pt>
    <dgm:pt modelId="{455E1AEA-9A56-4E05-A7AA-2D446B054508}" type="sibTrans" cxnId="{60DDF74E-AC51-42E8-B239-694C2C24D773}">
      <dgm:prSet/>
      <dgm:spPr/>
      <dgm:t>
        <a:bodyPr/>
        <a:lstStyle/>
        <a:p>
          <a:endParaRPr lang="en-US"/>
        </a:p>
      </dgm:t>
    </dgm:pt>
    <dgm:pt modelId="{917F42E4-B5E9-43ED-88F6-F268C3BB6B26}">
      <dgm:prSet/>
      <dgm:spPr/>
      <dgm:t>
        <a:bodyPr/>
        <a:lstStyle/>
        <a:p>
          <a:r>
            <a:rPr lang="en-US"/>
            <a:t>Restrict</a:t>
          </a:r>
        </a:p>
      </dgm:t>
    </dgm:pt>
    <dgm:pt modelId="{330CBBA9-2631-4324-A3E3-64A8E394B391}" type="parTrans" cxnId="{DAAF4D66-DF2A-4AD9-A82A-65D2AAA9BABB}">
      <dgm:prSet/>
      <dgm:spPr/>
      <dgm:t>
        <a:bodyPr/>
        <a:lstStyle/>
        <a:p>
          <a:endParaRPr lang="en-US"/>
        </a:p>
      </dgm:t>
    </dgm:pt>
    <dgm:pt modelId="{66B7F2E4-505A-484A-9FF9-06C506380C0D}" type="sibTrans" cxnId="{DAAF4D66-DF2A-4AD9-A82A-65D2AAA9BABB}">
      <dgm:prSet/>
      <dgm:spPr/>
      <dgm:t>
        <a:bodyPr/>
        <a:lstStyle/>
        <a:p>
          <a:endParaRPr lang="en-US"/>
        </a:p>
      </dgm:t>
    </dgm:pt>
    <dgm:pt modelId="{DA587528-8579-44E1-95D1-6B2080B9658A}">
      <dgm:prSet/>
      <dgm:spPr/>
      <dgm:t>
        <a:bodyPr/>
        <a:lstStyle/>
        <a:p>
          <a:r>
            <a:rPr lang="en-US"/>
            <a:t>Restrict access to firearms during:</a:t>
          </a:r>
        </a:p>
      </dgm:t>
    </dgm:pt>
    <dgm:pt modelId="{4B5E5B26-283D-4E96-906D-54879522AB31}" type="parTrans" cxnId="{34776CFE-63FA-4A7B-9F22-C3E9AD0B814D}">
      <dgm:prSet/>
      <dgm:spPr/>
      <dgm:t>
        <a:bodyPr/>
        <a:lstStyle/>
        <a:p>
          <a:endParaRPr lang="en-US"/>
        </a:p>
      </dgm:t>
    </dgm:pt>
    <dgm:pt modelId="{34B73DAC-FF39-492B-9F4B-45FC17D0E659}" type="sibTrans" cxnId="{34776CFE-63FA-4A7B-9F22-C3E9AD0B814D}">
      <dgm:prSet/>
      <dgm:spPr/>
      <dgm:t>
        <a:bodyPr/>
        <a:lstStyle/>
        <a:p>
          <a:endParaRPr lang="en-US"/>
        </a:p>
      </dgm:t>
    </dgm:pt>
    <dgm:pt modelId="{759E8B5F-5587-4F94-82DD-1536C52ACE26}">
      <dgm:prSet/>
      <dgm:spPr/>
      <dgm:t>
        <a:bodyPr/>
        <a:lstStyle/>
        <a:p>
          <a:r>
            <a:rPr lang="en-US"/>
            <a:t>acute mental illness, </a:t>
          </a:r>
        </a:p>
      </dgm:t>
    </dgm:pt>
    <dgm:pt modelId="{A925053D-9FB2-4EED-BE71-BD4D9D17267D}" type="parTrans" cxnId="{801CE51B-AA6B-4B82-8521-073FC4936F16}">
      <dgm:prSet/>
      <dgm:spPr/>
      <dgm:t>
        <a:bodyPr/>
        <a:lstStyle/>
        <a:p>
          <a:endParaRPr lang="en-US"/>
        </a:p>
      </dgm:t>
    </dgm:pt>
    <dgm:pt modelId="{707CD70D-BD87-4F85-980F-463FF75E7B66}" type="sibTrans" cxnId="{801CE51B-AA6B-4B82-8521-073FC4936F16}">
      <dgm:prSet/>
      <dgm:spPr/>
      <dgm:t>
        <a:bodyPr/>
        <a:lstStyle/>
        <a:p>
          <a:endParaRPr lang="en-US"/>
        </a:p>
      </dgm:t>
    </dgm:pt>
    <dgm:pt modelId="{24D9C3F6-3544-4262-B984-18D6BC4CB19E}">
      <dgm:prSet/>
      <dgm:spPr/>
      <dgm:t>
        <a:bodyPr/>
        <a:lstStyle/>
        <a:p>
          <a:r>
            <a:rPr lang="en-US"/>
            <a:t>domestic violence incidents and high suicide risk individuals.</a:t>
          </a:r>
        </a:p>
      </dgm:t>
    </dgm:pt>
    <dgm:pt modelId="{02C19A4F-E066-4787-BB1C-77E0DE5939CF}" type="parTrans" cxnId="{26A54729-FB9D-42B0-AB31-694E509CCAB8}">
      <dgm:prSet/>
      <dgm:spPr/>
      <dgm:t>
        <a:bodyPr/>
        <a:lstStyle/>
        <a:p>
          <a:endParaRPr lang="en-US"/>
        </a:p>
      </dgm:t>
    </dgm:pt>
    <dgm:pt modelId="{FDEBEB88-076C-4224-B13F-943B6C3A0098}" type="sibTrans" cxnId="{26A54729-FB9D-42B0-AB31-694E509CCAB8}">
      <dgm:prSet/>
      <dgm:spPr/>
      <dgm:t>
        <a:bodyPr/>
        <a:lstStyle/>
        <a:p>
          <a:endParaRPr lang="en-US"/>
        </a:p>
      </dgm:t>
    </dgm:pt>
    <dgm:pt modelId="{652F6339-701B-41FB-A0E2-F929B9719278}">
      <dgm:prSet/>
      <dgm:spPr/>
      <dgm:t>
        <a:bodyPr/>
        <a:lstStyle/>
        <a:p>
          <a:r>
            <a:rPr lang="en-US"/>
            <a:t>Allow</a:t>
          </a:r>
        </a:p>
      </dgm:t>
    </dgm:pt>
    <dgm:pt modelId="{50DDB7CD-F7DF-45EF-84F6-E26367765AF2}" type="parTrans" cxnId="{40FF584D-0A05-454F-867E-DF9365238049}">
      <dgm:prSet/>
      <dgm:spPr/>
      <dgm:t>
        <a:bodyPr/>
        <a:lstStyle/>
        <a:p>
          <a:endParaRPr lang="en-US"/>
        </a:p>
      </dgm:t>
    </dgm:pt>
    <dgm:pt modelId="{8B0A78FA-2EEE-4A25-91F1-2852728B255D}" type="sibTrans" cxnId="{40FF584D-0A05-454F-867E-DF9365238049}">
      <dgm:prSet/>
      <dgm:spPr/>
      <dgm:t>
        <a:bodyPr/>
        <a:lstStyle/>
        <a:p>
          <a:endParaRPr lang="en-US"/>
        </a:p>
      </dgm:t>
    </dgm:pt>
    <dgm:pt modelId="{FD0B437D-3806-4A54-A229-725FCA141262}">
      <dgm:prSet/>
      <dgm:spPr/>
      <dgm:t>
        <a:bodyPr/>
        <a:lstStyle/>
        <a:p>
          <a:r>
            <a:rPr lang="en-US"/>
            <a:t>Allow families or clinicians to notify authorities if someone becomes acutely unstable</a:t>
          </a:r>
        </a:p>
      </dgm:t>
    </dgm:pt>
    <dgm:pt modelId="{3A24CA5A-BC56-48E2-8270-82C8F39794B1}" type="parTrans" cxnId="{109CF485-EF66-4006-AAEB-50ECB47EE8CB}">
      <dgm:prSet/>
      <dgm:spPr/>
      <dgm:t>
        <a:bodyPr/>
        <a:lstStyle/>
        <a:p>
          <a:endParaRPr lang="en-US"/>
        </a:p>
      </dgm:t>
    </dgm:pt>
    <dgm:pt modelId="{512AD3DF-9AE7-4BB2-9937-1767817DAED1}" type="sibTrans" cxnId="{109CF485-EF66-4006-AAEB-50ECB47EE8CB}">
      <dgm:prSet/>
      <dgm:spPr/>
      <dgm:t>
        <a:bodyPr/>
        <a:lstStyle/>
        <a:p>
          <a:endParaRPr lang="en-US"/>
        </a:p>
      </dgm:t>
    </dgm:pt>
    <dgm:pt modelId="{6D72551F-24B5-4B03-85E8-B4B97FF7B389}">
      <dgm:prSet/>
      <dgm:spPr/>
      <dgm:t>
        <a:bodyPr/>
        <a:lstStyle/>
        <a:p>
          <a:r>
            <a:rPr lang="en-US"/>
            <a:t>Include</a:t>
          </a:r>
        </a:p>
      </dgm:t>
    </dgm:pt>
    <dgm:pt modelId="{E2733C0A-32E9-4371-A094-02444F5BD74F}" type="parTrans" cxnId="{1147CCAC-680A-4D60-949D-42FF574C2EC8}">
      <dgm:prSet/>
      <dgm:spPr/>
      <dgm:t>
        <a:bodyPr/>
        <a:lstStyle/>
        <a:p>
          <a:endParaRPr lang="en-US"/>
        </a:p>
      </dgm:t>
    </dgm:pt>
    <dgm:pt modelId="{C8B92F45-6CEA-46AC-B9B9-74AA28EF6DBD}" type="sibTrans" cxnId="{1147CCAC-680A-4D60-949D-42FF574C2EC8}">
      <dgm:prSet/>
      <dgm:spPr/>
      <dgm:t>
        <a:bodyPr/>
        <a:lstStyle/>
        <a:p>
          <a:endParaRPr lang="en-US"/>
        </a:p>
      </dgm:t>
    </dgm:pt>
    <dgm:pt modelId="{A085C0F8-756E-4BC3-B813-5E8E2A019357}">
      <dgm:prSet/>
      <dgm:spPr/>
      <dgm:t>
        <a:bodyPr/>
        <a:lstStyle/>
        <a:p>
          <a:r>
            <a:rPr lang="en-US"/>
            <a:t>Include modules on:</a:t>
          </a:r>
        </a:p>
      </dgm:t>
    </dgm:pt>
    <dgm:pt modelId="{B7666B5F-40AB-466A-98EA-6B81F0D22EBE}" type="parTrans" cxnId="{E3E719D9-9F97-402A-8CD0-14F75CF1AF16}">
      <dgm:prSet/>
      <dgm:spPr/>
      <dgm:t>
        <a:bodyPr/>
        <a:lstStyle/>
        <a:p>
          <a:endParaRPr lang="en-US"/>
        </a:p>
      </dgm:t>
    </dgm:pt>
    <dgm:pt modelId="{F26D05F7-C948-4E27-A1B5-9A06B73FFDC0}" type="sibTrans" cxnId="{E3E719D9-9F97-402A-8CD0-14F75CF1AF16}">
      <dgm:prSet/>
      <dgm:spPr/>
      <dgm:t>
        <a:bodyPr/>
        <a:lstStyle/>
        <a:p>
          <a:endParaRPr lang="en-US"/>
        </a:p>
      </dgm:t>
    </dgm:pt>
    <dgm:pt modelId="{F4E32670-36B2-437B-92C6-994C5320A023}">
      <dgm:prSet/>
      <dgm:spPr/>
      <dgm:t>
        <a:bodyPr/>
        <a:lstStyle/>
        <a:p>
          <a:r>
            <a:rPr lang="en-US"/>
            <a:t>Anger management, substance use risk and general mental health awareness.</a:t>
          </a:r>
        </a:p>
      </dgm:t>
    </dgm:pt>
    <dgm:pt modelId="{AE424B30-879F-459E-8322-E8E22A29E5E4}" type="parTrans" cxnId="{53D06D27-EBAC-430F-80DD-47027E46B455}">
      <dgm:prSet/>
      <dgm:spPr/>
      <dgm:t>
        <a:bodyPr/>
        <a:lstStyle/>
        <a:p>
          <a:endParaRPr lang="en-US"/>
        </a:p>
      </dgm:t>
    </dgm:pt>
    <dgm:pt modelId="{2BBE66D9-C427-48F4-9B76-776D0BB2018C}" type="sibTrans" cxnId="{53D06D27-EBAC-430F-80DD-47027E46B455}">
      <dgm:prSet/>
      <dgm:spPr/>
      <dgm:t>
        <a:bodyPr/>
        <a:lstStyle/>
        <a:p>
          <a:endParaRPr lang="en-US"/>
        </a:p>
      </dgm:t>
    </dgm:pt>
    <dgm:pt modelId="{8E79AC07-4938-D94D-A1CF-22197C1CAF9A}" type="pres">
      <dgm:prSet presAssocID="{FCB591DD-64FF-4309-ABC6-10C9565B7653}" presName="Name0" presStyleCnt="0">
        <dgm:presLayoutVars>
          <dgm:dir/>
          <dgm:animLvl val="lvl"/>
          <dgm:resizeHandles val="exact"/>
        </dgm:presLayoutVars>
      </dgm:prSet>
      <dgm:spPr/>
    </dgm:pt>
    <dgm:pt modelId="{9AEC4D11-6B77-0142-8BDE-F42AD9EB9A16}" type="pres">
      <dgm:prSet presAssocID="{B05228D6-ABDC-413E-AF5B-E3653F8C4CF5}" presName="composite" presStyleCnt="0"/>
      <dgm:spPr/>
    </dgm:pt>
    <dgm:pt modelId="{C8B36B91-B5A1-5947-AA7A-49930F40EBFA}" type="pres">
      <dgm:prSet presAssocID="{B05228D6-ABDC-413E-AF5B-E3653F8C4CF5}" presName="parTx" presStyleLbl="alignNode1" presStyleIdx="0" presStyleCnt="5">
        <dgm:presLayoutVars>
          <dgm:chMax val="0"/>
          <dgm:chPref val="0"/>
        </dgm:presLayoutVars>
      </dgm:prSet>
      <dgm:spPr/>
    </dgm:pt>
    <dgm:pt modelId="{C9F04FCC-79CA-7844-8657-074286109DF1}" type="pres">
      <dgm:prSet presAssocID="{B05228D6-ABDC-413E-AF5B-E3653F8C4CF5}" presName="desTx" presStyleLbl="alignAccFollowNode1" presStyleIdx="0" presStyleCnt="5">
        <dgm:presLayoutVars/>
      </dgm:prSet>
      <dgm:spPr/>
    </dgm:pt>
    <dgm:pt modelId="{D9D1DD6E-1B42-8048-97F4-82F4BD890999}" type="pres">
      <dgm:prSet presAssocID="{FD2B5D95-A59D-4764-BAE0-5C67E1C7E296}" presName="space" presStyleCnt="0"/>
      <dgm:spPr/>
    </dgm:pt>
    <dgm:pt modelId="{64271682-D256-2E44-9451-5CDCC1451B84}" type="pres">
      <dgm:prSet presAssocID="{A28E0760-DA6C-4949-B343-2FFDDCF9FFF2}" presName="composite" presStyleCnt="0"/>
      <dgm:spPr/>
    </dgm:pt>
    <dgm:pt modelId="{59E4562A-21B9-C54D-81CE-4F401EC891BA}" type="pres">
      <dgm:prSet presAssocID="{A28E0760-DA6C-4949-B343-2FFDDCF9FFF2}" presName="parTx" presStyleLbl="alignNode1" presStyleIdx="1" presStyleCnt="5">
        <dgm:presLayoutVars>
          <dgm:chMax val="0"/>
          <dgm:chPref val="0"/>
        </dgm:presLayoutVars>
      </dgm:prSet>
      <dgm:spPr/>
    </dgm:pt>
    <dgm:pt modelId="{9D45E794-C367-E748-97AC-DC4A695EA4E4}" type="pres">
      <dgm:prSet presAssocID="{A28E0760-DA6C-4949-B343-2FFDDCF9FFF2}" presName="desTx" presStyleLbl="alignAccFollowNode1" presStyleIdx="1" presStyleCnt="5">
        <dgm:presLayoutVars/>
      </dgm:prSet>
      <dgm:spPr/>
    </dgm:pt>
    <dgm:pt modelId="{A385A31D-FDB5-CE4B-B08C-2251CE99A67A}" type="pres">
      <dgm:prSet presAssocID="{B50B2DA5-98D7-4E13-AE78-80966E3CCC08}" presName="space" presStyleCnt="0"/>
      <dgm:spPr/>
    </dgm:pt>
    <dgm:pt modelId="{F081D3E7-F37F-F243-96AA-597648C08C09}" type="pres">
      <dgm:prSet presAssocID="{917F42E4-B5E9-43ED-88F6-F268C3BB6B26}" presName="composite" presStyleCnt="0"/>
      <dgm:spPr/>
    </dgm:pt>
    <dgm:pt modelId="{2663149C-9E18-434A-9087-CB5E1215706D}" type="pres">
      <dgm:prSet presAssocID="{917F42E4-B5E9-43ED-88F6-F268C3BB6B26}" presName="parTx" presStyleLbl="alignNode1" presStyleIdx="2" presStyleCnt="5">
        <dgm:presLayoutVars>
          <dgm:chMax val="0"/>
          <dgm:chPref val="0"/>
        </dgm:presLayoutVars>
      </dgm:prSet>
      <dgm:spPr/>
    </dgm:pt>
    <dgm:pt modelId="{30DAF618-D06B-E044-90EA-D3E406841812}" type="pres">
      <dgm:prSet presAssocID="{917F42E4-B5E9-43ED-88F6-F268C3BB6B26}" presName="desTx" presStyleLbl="alignAccFollowNode1" presStyleIdx="2" presStyleCnt="5">
        <dgm:presLayoutVars/>
      </dgm:prSet>
      <dgm:spPr/>
    </dgm:pt>
    <dgm:pt modelId="{1C8199C6-F4D8-A648-8EAA-FE32319E52C5}" type="pres">
      <dgm:prSet presAssocID="{66B7F2E4-505A-484A-9FF9-06C506380C0D}" presName="space" presStyleCnt="0"/>
      <dgm:spPr/>
    </dgm:pt>
    <dgm:pt modelId="{4D927D3E-3264-CC44-8E86-6D90248D4A89}" type="pres">
      <dgm:prSet presAssocID="{652F6339-701B-41FB-A0E2-F929B9719278}" presName="composite" presStyleCnt="0"/>
      <dgm:spPr/>
    </dgm:pt>
    <dgm:pt modelId="{CD0636C3-CA26-024D-AFBF-C0D83D20FCB6}" type="pres">
      <dgm:prSet presAssocID="{652F6339-701B-41FB-A0E2-F929B9719278}" presName="parTx" presStyleLbl="alignNode1" presStyleIdx="3" presStyleCnt="5">
        <dgm:presLayoutVars>
          <dgm:chMax val="0"/>
          <dgm:chPref val="0"/>
        </dgm:presLayoutVars>
      </dgm:prSet>
      <dgm:spPr/>
    </dgm:pt>
    <dgm:pt modelId="{7BACA5CD-DF64-E549-953E-B873652BCAB4}" type="pres">
      <dgm:prSet presAssocID="{652F6339-701B-41FB-A0E2-F929B9719278}" presName="desTx" presStyleLbl="alignAccFollowNode1" presStyleIdx="3" presStyleCnt="5">
        <dgm:presLayoutVars/>
      </dgm:prSet>
      <dgm:spPr/>
    </dgm:pt>
    <dgm:pt modelId="{C0D158B4-FED2-3248-8956-33DDAB82F990}" type="pres">
      <dgm:prSet presAssocID="{8B0A78FA-2EEE-4A25-91F1-2852728B255D}" presName="space" presStyleCnt="0"/>
      <dgm:spPr/>
    </dgm:pt>
    <dgm:pt modelId="{479B7D15-AA90-E348-8E01-3D3D0632CDF7}" type="pres">
      <dgm:prSet presAssocID="{6D72551F-24B5-4B03-85E8-B4B97FF7B389}" presName="composite" presStyleCnt="0"/>
      <dgm:spPr/>
    </dgm:pt>
    <dgm:pt modelId="{9A6E1A89-E441-9043-8606-947F29747C12}" type="pres">
      <dgm:prSet presAssocID="{6D72551F-24B5-4B03-85E8-B4B97FF7B389}" presName="parTx" presStyleLbl="alignNode1" presStyleIdx="4" presStyleCnt="5">
        <dgm:presLayoutVars>
          <dgm:chMax val="0"/>
          <dgm:chPref val="0"/>
        </dgm:presLayoutVars>
      </dgm:prSet>
      <dgm:spPr/>
    </dgm:pt>
    <dgm:pt modelId="{E5A99D3C-6C53-6F42-B20D-5A9D701E6414}" type="pres">
      <dgm:prSet presAssocID="{6D72551F-24B5-4B03-85E8-B4B97FF7B389}" presName="desTx" presStyleLbl="alignAccFollowNode1" presStyleIdx="4" presStyleCnt="5">
        <dgm:presLayoutVars/>
      </dgm:prSet>
      <dgm:spPr/>
    </dgm:pt>
  </dgm:ptLst>
  <dgm:cxnLst>
    <dgm:cxn modelId="{E5785003-BB2E-184D-A380-6C571C1256DB}" type="presOf" srcId="{A28E0760-DA6C-4949-B343-2FFDDCF9FFF2}" destId="{59E4562A-21B9-C54D-81CE-4F401EC891BA}" srcOrd="0" destOrd="0" presId="urn:microsoft.com/office/officeart/2016/7/layout/HorizontalActionList"/>
    <dgm:cxn modelId="{801CE51B-AA6B-4B82-8521-073FC4936F16}" srcId="{DA587528-8579-44E1-95D1-6B2080B9658A}" destId="{759E8B5F-5587-4F94-82DD-1536C52ACE26}" srcOrd="0" destOrd="0" parTransId="{A925053D-9FB2-4EED-BE71-BD4D9D17267D}" sibTransId="{707CD70D-BD87-4F85-980F-463FF75E7B66}"/>
    <dgm:cxn modelId="{E103F21B-DA14-A74F-8F49-6C28CB9D1F3B}" type="presOf" srcId="{B05228D6-ABDC-413E-AF5B-E3653F8C4CF5}" destId="{C8B36B91-B5A1-5947-AA7A-49930F40EBFA}" srcOrd="0" destOrd="0" presId="urn:microsoft.com/office/officeart/2016/7/layout/HorizontalActionList"/>
    <dgm:cxn modelId="{53D06D27-EBAC-430F-80DD-47027E46B455}" srcId="{A085C0F8-756E-4BC3-B813-5E8E2A019357}" destId="{F4E32670-36B2-437B-92C6-994C5320A023}" srcOrd="0" destOrd="0" parTransId="{AE424B30-879F-459E-8322-E8E22A29E5E4}" sibTransId="{2BBE66D9-C427-48F4-9B76-776D0BB2018C}"/>
    <dgm:cxn modelId="{26A54729-FB9D-42B0-AB31-694E509CCAB8}" srcId="{DA587528-8579-44E1-95D1-6B2080B9658A}" destId="{24D9C3F6-3544-4262-B984-18D6BC4CB19E}" srcOrd="1" destOrd="0" parTransId="{02C19A4F-E066-4787-BB1C-77E0DE5939CF}" sibTransId="{FDEBEB88-076C-4224-B13F-943B6C3A0098}"/>
    <dgm:cxn modelId="{CC593D2C-407C-5A42-BB3B-41DB189128D9}" type="presOf" srcId="{6D72551F-24B5-4B03-85E8-B4B97FF7B389}" destId="{9A6E1A89-E441-9043-8606-947F29747C12}" srcOrd="0" destOrd="0" presId="urn:microsoft.com/office/officeart/2016/7/layout/HorizontalActionList"/>
    <dgm:cxn modelId="{887E672E-0657-034B-84DA-6AD0D2A677FE}" type="presOf" srcId="{759E8B5F-5587-4F94-82DD-1536C52ACE26}" destId="{30DAF618-D06B-E044-90EA-D3E406841812}" srcOrd="0" destOrd="1" presId="urn:microsoft.com/office/officeart/2016/7/layout/HorizontalActionList"/>
    <dgm:cxn modelId="{40FF584D-0A05-454F-867E-DF9365238049}" srcId="{FCB591DD-64FF-4309-ABC6-10C9565B7653}" destId="{652F6339-701B-41FB-A0E2-F929B9719278}" srcOrd="3" destOrd="0" parTransId="{50DDB7CD-F7DF-45EF-84F6-E26367765AF2}" sibTransId="{8B0A78FA-2EEE-4A25-91F1-2852728B255D}"/>
    <dgm:cxn modelId="{6445794E-8372-9E48-A113-FB4CB3A2869C}" type="presOf" srcId="{DA587528-8579-44E1-95D1-6B2080B9658A}" destId="{30DAF618-D06B-E044-90EA-D3E406841812}" srcOrd="0" destOrd="0" presId="urn:microsoft.com/office/officeart/2016/7/layout/HorizontalActionList"/>
    <dgm:cxn modelId="{60DDF74E-AC51-42E8-B239-694C2C24D773}" srcId="{A28E0760-DA6C-4949-B343-2FFDDCF9FFF2}" destId="{D6D353E3-401E-49A6-A60E-98D0872AE471}" srcOrd="0" destOrd="0" parTransId="{375F4B67-2556-4416-B1F7-CB3F975B25CE}" sibTransId="{455E1AEA-9A56-4E05-A7AA-2D446B054508}"/>
    <dgm:cxn modelId="{75CBF956-CC91-404E-B5C6-8FD1AF0D377C}" srcId="{FCB591DD-64FF-4309-ABC6-10C9565B7653}" destId="{A28E0760-DA6C-4949-B343-2FFDDCF9FFF2}" srcOrd="1" destOrd="0" parTransId="{FCE1B78B-7FC8-4AB0-92C1-ADCB01054E00}" sibTransId="{B50B2DA5-98D7-4E13-AE78-80966E3CCC08}"/>
    <dgm:cxn modelId="{78E42759-2406-CC48-9DEE-117F3BC135FA}" type="presOf" srcId="{917F42E4-B5E9-43ED-88F6-F268C3BB6B26}" destId="{2663149C-9E18-434A-9087-CB5E1215706D}" srcOrd="0" destOrd="0" presId="urn:microsoft.com/office/officeart/2016/7/layout/HorizontalActionList"/>
    <dgm:cxn modelId="{DAAF4D66-DF2A-4AD9-A82A-65D2AAA9BABB}" srcId="{FCB591DD-64FF-4309-ABC6-10C9565B7653}" destId="{917F42E4-B5E9-43ED-88F6-F268C3BB6B26}" srcOrd="2" destOrd="0" parTransId="{330CBBA9-2631-4324-A3E3-64A8E394B391}" sibTransId="{66B7F2E4-505A-484A-9FF9-06C506380C0D}"/>
    <dgm:cxn modelId="{E0112E7C-BCDD-4960-842D-A0B6A6210E93}" srcId="{B05228D6-ABDC-413E-AF5B-E3653F8C4CF5}" destId="{B7C269FF-132A-4290-9474-DFB5501AC6E9}" srcOrd="0" destOrd="0" parTransId="{216F13D0-7CC5-4FEC-82F8-FB777C21AAB3}" sibTransId="{E3D5EEFC-D323-4067-9CBF-5DC0B039828D}"/>
    <dgm:cxn modelId="{109CF485-EF66-4006-AAEB-50ECB47EE8CB}" srcId="{652F6339-701B-41FB-A0E2-F929B9719278}" destId="{FD0B437D-3806-4A54-A229-725FCA141262}" srcOrd="0" destOrd="0" parTransId="{3A24CA5A-BC56-48E2-8270-82C8F39794B1}" sibTransId="{512AD3DF-9AE7-4BB2-9937-1767817DAED1}"/>
    <dgm:cxn modelId="{7355C290-8EED-EB4D-BBA3-B3DC1382CF71}" type="presOf" srcId="{24D9C3F6-3544-4262-B984-18D6BC4CB19E}" destId="{30DAF618-D06B-E044-90EA-D3E406841812}" srcOrd="0" destOrd="2" presId="urn:microsoft.com/office/officeart/2016/7/layout/HorizontalActionList"/>
    <dgm:cxn modelId="{AB93DC95-E638-914C-ADFE-8D62BA3D4B59}" type="presOf" srcId="{B7C269FF-132A-4290-9474-DFB5501AC6E9}" destId="{C9F04FCC-79CA-7844-8657-074286109DF1}" srcOrd="0" destOrd="0" presId="urn:microsoft.com/office/officeart/2016/7/layout/HorizontalActionList"/>
    <dgm:cxn modelId="{1147CCAC-680A-4D60-949D-42FF574C2EC8}" srcId="{FCB591DD-64FF-4309-ABC6-10C9565B7653}" destId="{6D72551F-24B5-4B03-85E8-B4B97FF7B389}" srcOrd="4" destOrd="0" parTransId="{E2733C0A-32E9-4371-A094-02444F5BD74F}" sibTransId="{C8B92F45-6CEA-46AC-B9B9-74AA28EF6DBD}"/>
    <dgm:cxn modelId="{662D52AE-CFBB-4A9E-B685-5709D285FD9F}" srcId="{FCB591DD-64FF-4309-ABC6-10C9565B7653}" destId="{B05228D6-ABDC-413E-AF5B-E3653F8C4CF5}" srcOrd="0" destOrd="0" parTransId="{19F895B0-52BF-48B6-AD5D-33D6F32894A6}" sibTransId="{FD2B5D95-A59D-4764-BAE0-5C67E1C7E296}"/>
    <dgm:cxn modelId="{6526DBC7-4939-9A4A-BD19-DE4F01AB5AAB}" type="presOf" srcId="{FD0B437D-3806-4A54-A229-725FCA141262}" destId="{7BACA5CD-DF64-E549-953E-B873652BCAB4}" srcOrd="0" destOrd="0" presId="urn:microsoft.com/office/officeart/2016/7/layout/HorizontalActionList"/>
    <dgm:cxn modelId="{A9C66CD1-9654-A840-8E3F-9436EED07F56}" type="presOf" srcId="{F4E32670-36B2-437B-92C6-994C5320A023}" destId="{E5A99D3C-6C53-6F42-B20D-5A9D701E6414}" srcOrd="0" destOrd="1" presId="urn:microsoft.com/office/officeart/2016/7/layout/HorizontalActionList"/>
    <dgm:cxn modelId="{E3E719D9-9F97-402A-8CD0-14F75CF1AF16}" srcId="{6D72551F-24B5-4B03-85E8-B4B97FF7B389}" destId="{A085C0F8-756E-4BC3-B813-5E8E2A019357}" srcOrd="0" destOrd="0" parTransId="{B7666B5F-40AB-466A-98EA-6B81F0D22EBE}" sibTransId="{F26D05F7-C948-4E27-A1B5-9A06B73FFDC0}"/>
    <dgm:cxn modelId="{BA378CE0-688E-B045-9E3C-3BA6AD312E43}" type="presOf" srcId="{FCB591DD-64FF-4309-ABC6-10C9565B7653}" destId="{8E79AC07-4938-D94D-A1CF-22197C1CAF9A}" srcOrd="0" destOrd="0" presId="urn:microsoft.com/office/officeart/2016/7/layout/HorizontalActionList"/>
    <dgm:cxn modelId="{5E7AF9EA-3DE7-4545-A5CE-06CB74863D5F}" type="presOf" srcId="{A085C0F8-756E-4BC3-B813-5E8E2A019357}" destId="{E5A99D3C-6C53-6F42-B20D-5A9D701E6414}" srcOrd="0" destOrd="0" presId="urn:microsoft.com/office/officeart/2016/7/layout/HorizontalActionList"/>
    <dgm:cxn modelId="{6DB09BED-5AEC-4640-B36C-5890D3CE7819}" type="presOf" srcId="{D6D353E3-401E-49A6-A60E-98D0872AE471}" destId="{9D45E794-C367-E748-97AC-DC4A695EA4E4}" srcOrd="0" destOrd="0" presId="urn:microsoft.com/office/officeart/2016/7/layout/HorizontalActionList"/>
    <dgm:cxn modelId="{D65A69FA-B00C-3342-AAE9-7FC42C2A32D0}" type="presOf" srcId="{652F6339-701B-41FB-A0E2-F929B9719278}" destId="{CD0636C3-CA26-024D-AFBF-C0D83D20FCB6}" srcOrd="0" destOrd="0" presId="urn:microsoft.com/office/officeart/2016/7/layout/HorizontalActionList"/>
    <dgm:cxn modelId="{34776CFE-63FA-4A7B-9F22-C3E9AD0B814D}" srcId="{917F42E4-B5E9-43ED-88F6-F268C3BB6B26}" destId="{DA587528-8579-44E1-95D1-6B2080B9658A}" srcOrd="0" destOrd="0" parTransId="{4B5E5B26-283D-4E96-906D-54879522AB31}" sibTransId="{34B73DAC-FF39-492B-9F4B-45FC17D0E659}"/>
    <dgm:cxn modelId="{378C1798-05A4-464A-AFA6-C1C862699B03}" type="presParOf" srcId="{8E79AC07-4938-D94D-A1CF-22197C1CAF9A}" destId="{9AEC4D11-6B77-0142-8BDE-F42AD9EB9A16}" srcOrd="0" destOrd="0" presId="urn:microsoft.com/office/officeart/2016/7/layout/HorizontalActionList"/>
    <dgm:cxn modelId="{2E2475BC-C849-7847-B6BB-269AA6AABF38}" type="presParOf" srcId="{9AEC4D11-6B77-0142-8BDE-F42AD9EB9A16}" destId="{C8B36B91-B5A1-5947-AA7A-49930F40EBFA}" srcOrd="0" destOrd="0" presId="urn:microsoft.com/office/officeart/2016/7/layout/HorizontalActionList"/>
    <dgm:cxn modelId="{BD3BED2E-4D98-B747-9912-F8C2983BAACA}" type="presParOf" srcId="{9AEC4D11-6B77-0142-8BDE-F42AD9EB9A16}" destId="{C9F04FCC-79CA-7844-8657-074286109DF1}" srcOrd="1" destOrd="0" presId="urn:microsoft.com/office/officeart/2016/7/layout/HorizontalActionList"/>
    <dgm:cxn modelId="{AAD687A6-9944-9440-9B60-5F426AD2C350}" type="presParOf" srcId="{8E79AC07-4938-D94D-A1CF-22197C1CAF9A}" destId="{D9D1DD6E-1B42-8048-97F4-82F4BD890999}" srcOrd="1" destOrd="0" presId="urn:microsoft.com/office/officeart/2016/7/layout/HorizontalActionList"/>
    <dgm:cxn modelId="{A9F948F7-F78B-E441-9A35-BD6AC3482745}" type="presParOf" srcId="{8E79AC07-4938-D94D-A1CF-22197C1CAF9A}" destId="{64271682-D256-2E44-9451-5CDCC1451B84}" srcOrd="2" destOrd="0" presId="urn:microsoft.com/office/officeart/2016/7/layout/HorizontalActionList"/>
    <dgm:cxn modelId="{9C705B50-4CDD-C44A-A3FA-CCE5A193ED18}" type="presParOf" srcId="{64271682-D256-2E44-9451-5CDCC1451B84}" destId="{59E4562A-21B9-C54D-81CE-4F401EC891BA}" srcOrd="0" destOrd="0" presId="urn:microsoft.com/office/officeart/2016/7/layout/HorizontalActionList"/>
    <dgm:cxn modelId="{E9FAB8FD-2DBA-6E40-8915-F730F8548E70}" type="presParOf" srcId="{64271682-D256-2E44-9451-5CDCC1451B84}" destId="{9D45E794-C367-E748-97AC-DC4A695EA4E4}" srcOrd="1" destOrd="0" presId="urn:microsoft.com/office/officeart/2016/7/layout/HorizontalActionList"/>
    <dgm:cxn modelId="{2DFD2203-DC5E-2C43-A2E7-DEEDBC5DAA2C}" type="presParOf" srcId="{8E79AC07-4938-D94D-A1CF-22197C1CAF9A}" destId="{A385A31D-FDB5-CE4B-B08C-2251CE99A67A}" srcOrd="3" destOrd="0" presId="urn:microsoft.com/office/officeart/2016/7/layout/HorizontalActionList"/>
    <dgm:cxn modelId="{5E32DEE1-C1B6-4A42-9882-5D26F23E5BE1}" type="presParOf" srcId="{8E79AC07-4938-D94D-A1CF-22197C1CAF9A}" destId="{F081D3E7-F37F-F243-96AA-597648C08C09}" srcOrd="4" destOrd="0" presId="urn:microsoft.com/office/officeart/2016/7/layout/HorizontalActionList"/>
    <dgm:cxn modelId="{5F794E58-B25B-CD45-9ADE-F72D5F6718A4}" type="presParOf" srcId="{F081D3E7-F37F-F243-96AA-597648C08C09}" destId="{2663149C-9E18-434A-9087-CB5E1215706D}" srcOrd="0" destOrd="0" presId="urn:microsoft.com/office/officeart/2016/7/layout/HorizontalActionList"/>
    <dgm:cxn modelId="{4383641C-8AEC-C14F-AF40-C5D25995FCA4}" type="presParOf" srcId="{F081D3E7-F37F-F243-96AA-597648C08C09}" destId="{30DAF618-D06B-E044-90EA-D3E406841812}" srcOrd="1" destOrd="0" presId="urn:microsoft.com/office/officeart/2016/7/layout/HorizontalActionList"/>
    <dgm:cxn modelId="{6A0ACE9A-0CF2-2540-8BC6-D01F69B0AC60}" type="presParOf" srcId="{8E79AC07-4938-D94D-A1CF-22197C1CAF9A}" destId="{1C8199C6-F4D8-A648-8EAA-FE32319E52C5}" srcOrd="5" destOrd="0" presId="urn:microsoft.com/office/officeart/2016/7/layout/HorizontalActionList"/>
    <dgm:cxn modelId="{A23F748A-361A-8540-890F-AF206D7620FE}" type="presParOf" srcId="{8E79AC07-4938-D94D-A1CF-22197C1CAF9A}" destId="{4D927D3E-3264-CC44-8E86-6D90248D4A89}" srcOrd="6" destOrd="0" presId="urn:microsoft.com/office/officeart/2016/7/layout/HorizontalActionList"/>
    <dgm:cxn modelId="{BDE250F9-5A12-174E-AC4B-55A978A839F3}" type="presParOf" srcId="{4D927D3E-3264-CC44-8E86-6D90248D4A89}" destId="{CD0636C3-CA26-024D-AFBF-C0D83D20FCB6}" srcOrd="0" destOrd="0" presId="urn:microsoft.com/office/officeart/2016/7/layout/HorizontalActionList"/>
    <dgm:cxn modelId="{EFBBFF13-7475-564A-BAE0-76D12BBCD9CE}" type="presParOf" srcId="{4D927D3E-3264-CC44-8E86-6D90248D4A89}" destId="{7BACA5CD-DF64-E549-953E-B873652BCAB4}" srcOrd="1" destOrd="0" presId="urn:microsoft.com/office/officeart/2016/7/layout/HorizontalActionList"/>
    <dgm:cxn modelId="{5749CA74-2514-C44A-8DFA-5B635F6CD5F6}" type="presParOf" srcId="{8E79AC07-4938-D94D-A1CF-22197C1CAF9A}" destId="{C0D158B4-FED2-3248-8956-33DDAB82F990}" srcOrd="7" destOrd="0" presId="urn:microsoft.com/office/officeart/2016/7/layout/HorizontalActionList"/>
    <dgm:cxn modelId="{AB49851D-C1EA-E047-BADC-E17BFCC37A69}" type="presParOf" srcId="{8E79AC07-4938-D94D-A1CF-22197C1CAF9A}" destId="{479B7D15-AA90-E348-8E01-3D3D0632CDF7}" srcOrd="8" destOrd="0" presId="urn:microsoft.com/office/officeart/2016/7/layout/HorizontalActionList"/>
    <dgm:cxn modelId="{AE788FD9-0AB3-2C4E-9F8F-7DD2F849698B}" type="presParOf" srcId="{479B7D15-AA90-E348-8E01-3D3D0632CDF7}" destId="{9A6E1A89-E441-9043-8606-947F29747C12}" srcOrd="0" destOrd="0" presId="urn:microsoft.com/office/officeart/2016/7/layout/HorizontalActionList"/>
    <dgm:cxn modelId="{AFE8C6C5-F86F-A14B-8BD3-4B77FD5B56E6}" type="presParOf" srcId="{479B7D15-AA90-E348-8E01-3D3D0632CDF7}" destId="{E5A99D3C-6C53-6F42-B20D-5A9D701E6414}"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933F24-E7C4-4B78-90D4-8242D46E3630}"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FBCBC05C-A597-459E-9509-8A49FA741C84}">
      <dgm:prSet/>
      <dgm:spPr/>
      <dgm:t>
        <a:bodyPr/>
        <a:lstStyle/>
        <a:p>
          <a:r>
            <a:rPr lang="en-GB" dirty="0">
              <a:solidFill>
                <a:schemeClr val="bg1"/>
              </a:solidFill>
            </a:rPr>
            <a:t>Limited funding for mental health.</a:t>
          </a:r>
        </a:p>
        <a:p>
          <a:r>
            <a:rPr lang="en-GB" dirty="0">
              <a:solidFill>
                <a:schemeClr val="accent6">
                  <a:lumMod val="60000"/>
                  <a:lumOff val="40000"/>
                </a:schemeClr>
              </a:solidFill>
            </a:rPr>
            <a:t>More funding for outpatient psychiatric care.</a:t>
          </a:r>
          <a:endParaRPr lang="en-US" dirty="0">
            <a:solidFill>
              <a:schemeClr val="accent6">
                <a:lumMod val="60000"/>
                <a:lumOff val="40000"/>
              </a:schemeClr>
            </a:solidFill>
          </a:endParaRPr>
        </a:p>
      </dgm:t>
    </dgm:pt>
    <dgm:pt modelId="{3DCC3A4C-4933-4C5D-BE11-E76B50449B84}" type="parTrans" cxnId="{92C9173E-B1D8-48F6-A159-1F8A9766F19F}">
      <dgm:prSet/>
      <dgm:spPr/>
      <dgm:t>
        <a:bodyPr/>
        <a:lstStyle/>
        <a:p>
          <a:endParaRPr lang="en-US"/>
        </a:p>
      </dgm:t>
    </dgm:pt>
    <dgm:pt modelId="{E35A1FA1-EF18-4CBB-B52B-6E255846829F}" type="sibTrans" cxnId="{92C9173E-B1D8-48F6-A159-1F8A9766F19F}">
      <dgm:prSet/>
      <dgm:spPr/>
      <dgm:t>
        <a:bodyPr/>
        <a:lstStyle/>
        <a:p>
          <a:endParaRPr lang="en-US"/>
        </a:p>
      </dgm:t>
    </dgm:pt>
    <dgm:pt modelId="{22AA9CBC-D7B2-45FD-B1A7-7626D5BCC3BC}">
      <dgm:prSet/>
      <dgm:spPr/>
      <dgm:t>
        <a:bodyPr/>
        <a:lstStyle/>
        <a:p>
          <a:r>
            <a:rPr lang="en-GB" dirty="0">
              <a:solidFill>
                <a:schemeClr val="bg1"/>
              </a:solidFill>
            </a:rPr>
            <a:t>Competing priorities across different sectors</a:t>
          </a:r>
          <a:endParaRPr lang="en-US" dirty="0">
            <a:solidFill>
              <a:schemeClr val="bg1"/>
            </a:solidFill>
          </a:endParaRPr>
        </a:p>
      </dgm:t>
    </dgm:pt>
    <dgm:pt modelId="{26347799-7D27-492A-9E84-021B1607F99E}" type="parTrans" cxnId="{E3F9CF3A-1734-4412-A072-116F7FDC4752}">
      <dgm:prSet/>
      <dgm:spPr/>
      <dgm:t>
        <a:bodyPr/>
        <a:lstStyle/>
        <a:p>
          <a:endParaRPr lang="en-US"/>
        </a:p>
      </dgm:t>
    </dgm:pt>
    <dgm:pt modelId="{902C4064-EC60-43BE-9FC5-824408ECA290}" type="sibTrans" cxnId="{E3F9CF3A-1734-4412-A072-116F7FDC4752}">
      <dgm:prSet/>
      <dgm:spPr/>
      <dgm:t>
        <a:bodyPr/>
        <a:lstStyle/>
        <a:p>
          <a:endParaRPr lang="en-US"/>
        </a:p>
      </dgm:t>
    </dgm:pt>
    <dgm:pt modelId="{DF52C919-2630-4B1B-B5DF-F02A68D3C2AF}">
      <dgm:prSet/>
      <dgm:spPr/>
      <dgm:t>
        <a:bodyPr/>
        <a:lstStyle/>
        <a:p>
          <a:r>
            <a:rPr lang="en-GB" dirty="0">
              <a:solidFill>
                <a:schemeClr val="bg1"/>
              </a:solidFill>
            </a:rPr>
            <a:t>Shortage of human resources.</a:t>
          </a:r>
        </a:p>
        <a:p>
          <a:r>
            <a:rPr lang="en-GB" dirty="0">
              <a:solidFill>
                <a:schemeClr val="accent6">
                  <a:lumMod val="60000"/>
                  <a:lumOff val="40000"/>
                </a:schemeClr>
              </a:solidFill>
            </a:rPr>
            <a:t>Task sharing</a:t>
          </a:r>
        </a:p>
        <a:p>
          <a:r>
            <a:rPr lang="en-GB" dirty="0">
              <a:solidFill>
                <a:schemeClr val="accent6">
                  <a:lumMod val="60000"/>
                  <a:lumOff val="40000"/>
                </a:schemeClr>
              </a:solidFill>
            </a:rPr>
            <a:t>Partnerships with private health for training of specialists</a:t>
          </a:r>
          <a:r>
            <a:rPr lang="en-GB" dirty="0">
              <a:solidFill>
                <a:schemeClr val="bg1"/>
              </a:solidFill>
            </a:rPr>
            <a:t>.</a:t>
          </a:r>
        </a:p>
      </dgm:t>
    </dgm:pt>
    <dgm:pt modelId="{AAB4E367-7793-491C-99CB-E09E76D1CA66}" type="parTrans" cxnId="{78D580BC-ED00-4451-8266-B5C4435719A7}">
      <dgm:prSet/>
      <dgm:spPr/>
      <dgm:t>
        <a:bodyPr/>
        <a:lstStyle/>
        <a:p>
          <a:endParaRPr lang="en-US"/>
        </a:p>
      </dgm:t>
    </dgm:pt>
    <dgm:pt modelId="{A774B58E-CE2E-490E-A596-61CBF585316B}" type="sibTrans" cxnId="{78D580BC-ED00-4451-8266-B5C4435719A7}">
      <dgm:prSet/>
      <dgm:spPr/>
      <dgm:t>
        <a:bodyPr/>
        <a:lstStyle/>
        <a:p>
          <a:endParaRPr lang="en-US"/>
        </a:p>
      </dgm:t>
    </dgm:pt>
    <dgm:pt modelId="{0FADBCC7-106B-45CE-AF74-69BCC32FB588}" type="pres">
      <dgm:prSet presAssocID="{93933F24-E7C4-4B78-90D4-8242D46E3630}" presName="root" presStyleCnt="0">
        <dgm:presLayoutVars>
          <dgm:dir/>
          <dgm:resizeHandles val="exact"/>
        </dgm:presLayoutVars>
      </dgm:prSet>
      <dgm:spPr/>
    </dgm:pt>
    <dgm:pt modelId="{BACAAEDB-15AD-4D64-9E5A-1B08BE2C5100}" type="pres">
      <dgm:prSet presAssocID="{FBCBC05C-A597-459E-9509-8A49FA741C84}" presName="compNode" presStyleCnt="0"/>
      <dgm:spPr/>
    </dgm:pt>
    <dgm:pt modelId="{8DAA68FB-3FBA-4A4C-8F97-8ED4C3792B94}" type="pres">
      <dgm:prSet presAssocID="{FBCBC05C-A597-459E-9509-8A49FA741C8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3B9420CD-4C7F-49A0-ABC5-150DD0365EB7}" type="pres">
      <dgm:prSet presAssocID="{FBCBC05C-A597-459E-9509-8A49FA741C84}" presName="spaceRect" presStyleCnt="0"/>
      <dgm:spPr/>
    </dgm:pt>
    <dgm:pt modelId="{078E7EEE-31C6-4435-9BC7-9CDC164A2092}" type="pres">
      <dgm:prSet presAssocID="{FBCBC05C-A597-459E-9509-8A49FA741C84}" presName="textRect" presStyleLbl="revTx" presStyleIdx="0" presStyleCnt="3">
        <dgm:presLayoutVars>
          <dgm:chMax val="1"/>
          <dgm:chPref val="1"/>
        </dgm:presLayoutVars>
      </dgm:prSet>
      <dgm:spPr/>
    </dgm:pt>
    <dgm:pt modelId="{8E802D97-241E-4169-A7EF-4A57EDA629EE}" type="pres">
      <dgm:prSet presAssocID="{E35A1FA1-EF18-4CBB-B52B-6E255846829F}" presName="sibTrans" presStyleCnt="0"/>
      <dgm:spPr/>
    </dgm:pt>
    <dgm:pt modelId="{E319E441-21DE-4C15-B3BF-4559A15C2A51}" type="pres">
      <dgm:prSet presAssocID="{22AA9CBC-D7B2-45FD-B1A7-7626D5BCC3BC}" presName="compNode" presStyleCnt="0"/>
      <dgm:spPr/>
    </dgm:pt>
    <dgm:pt modelId="{5E158057-BC4C-469F-B8C3-7B04A60DF361}" type="pres">
      <dgm:prSet presAssocID="{22AA9CBC-D7B2-45FD-B1A7-7626D5BCC3B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5CCA41C3-81A3-4E7E-B34C-860A84D66DCB}" type="pres">
      <dgm:prSet presAssocID="{22AA9CBC-D7B2-45FD-B1A7-7626D5BCC3BC}" presName="spaceRect" presStyleCnt="0"/>
      <dgm:spPr/>
    </dgm:pt>
    <dgm:pt modelId="{D9ACACB5-A2F1-4EFC-9101-89B16EFC757F}" type="pres">
      <dgm:prSet presAssocID="{22AA9CBC-D7B2-45FD-B1A7-7626D5BCC3BC}" presName="textRect" presStyleLbl="revTx" presStyleIdx="1" presStyleCnt="3">
        <dgm:presLayoutVars>
          <dgm:chMax val="1"/>
          <dgm:chPref val="1"/>
        </dgm:presLayoutVars>
      </dgm:prSet>
      <dgm:spPr/>
    </dgm:pt>
    <dgm:pt modelId="{FEA1CE04-7996-4F9C-A604-06A10EA9336B}" type="pres">
      <dgm:prSet presAssocID="{902C4064-EC60-43BE-9FC5-824408ECA290}" presName="sibTrans" presStyleCnt="0"/>
      <dgm:spPr/>
    </dgm:pt>
    <dgm:pt modelId="{910CF4AF-BF13-4B83-9567-27BB50040010}" type="pres">
      <dgm:prSet presAssocID="{DF52C919-2630-4B1B-B5DF-F02A68D3C2AF}" presName="compNode" presStyleCnt="0"/>
      <dgm:spPr/>
    </dgm:pt>
    <dgm:pt modelId="{39952737-3090-4B81-A2EC-598A538DC031}" type="pres">
      <dgm:prSet presAssocID="{DF52C919-2630-4B1B-B5DF-F02A68D3C2A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roup"/>
        </a:ext>
      </dgm:extLst>
    </dgm:pt>
    <dgm:pt modelId="{62C2A204-83E6-4151-93D8-D9FCFD158468}" type="pres">
      <dgm:prSet presAssocID="{DF52C919-2630-4B1B-B5DF-F02A68D3C2AF}" presName="spaceRect" presStyleCnt="0"/>
      <dgm:spPr/>
    </dgm:pt>
    <dgm:pt modelId="{7AF1B9F9-6119-4DB7-A411-208E5BE023D9}" type="pres">
      <dgm:prSet presAssocID="{DF52C919-2630-4B1B-B5DF-F02A68D3C2AF}" presName="textRect" presStyleLbl="revTx" presStyleIdx="2" presStyleCnt="3">
        <dgm:presLayoutVars>
          <dgm:chMax val="1"/>
          <dgm:chPref val="1"/>
        </dgm:presLayoutVars>
      </dgm:prSet>
      <dgm:spPr/>
    </dgm:pt>
  </dgm:ptLst>
  <dgm:cxnLst>
    <dgm:cxn modelId="{576D1F08-A3D0-485F-9DD8-E9BFE2B6EB9B}" type="presOf" srcId="{FBCBC05C-A597-459E-9509-8A49FA741C84}" destId="{078E7EEE-31C6-4435-9BC7-9CDC164A2092}" srcOrd="0" destOrd="0" presId="urn:microsoft.com/office/officeart/2018/2/layout/IconLabelList"/>
    <dgm:cxn modelId="{B0FEC019-0D2B-490E-A3C9-222111F2105E}" type="presOf" srcId="{93933F24-E7C4-4B78-90D4-8242D46E3630}" destId="{0FADBCC7-106B-45CE-AF74-69BCC32FB588}" srcOrd="0" destOrd="0" presId="urn:microsoft.com/office/officeart/2018/2/layout/IconLabelList"/>
    <dgm:cxn modelId="{E3F9CF3A-1734-4412-A072-116F7FDC4752}" srcId="{93933F24-E7C4-4B78-90D4-8242D46E3630}" destId="{22AA9CBC-D7B2-45FD-B1A7-7626D5BCC3BC}" srcOrd="1" destOrd="0" parTransId="{26347799-7D27-492A-9E84-021B1607F99E}" sibTransId="{902C4064-EC60-43BE-9FC5-824408ECA290}"/>
    <dgm:cxn modelId="{92C9173E-B1D8-48F6-A159-1F8A9766F19F}" srcId="{93933F24-E7C4-4B78-90D4-8242D46E3630}" destId="{FBCBC05C-A597-459E-9509-8A49FA741C84}" srcOrd="0" destOrd="0" parTransId="{3DCC3A4C-4933-4C5D-BE11-E76B50449B84}" sibTransId="{E35A1FA1-EF18-4CBB-B52B-6E255846829F}"/>
    <dgm:cxn modelId="{0C1CF48D-F50D-45A0-A23D-B0DC1AF322D4}" type="presOf" srcId="{22AA9CBC-D7B2-45FD-B1A7-7626D5BCC3BC}" destId="{D9ACACB5-A2F1-4EFC-9101-89B16EFC757F}" srcOrd="0" destOrd="0" presId="urn:microsoft.com/office/officeart/2018/2/layout/IconLabelList"/>
    <dgm:cxn modelId="{2B3C13B0-8539-4CB1-A3A7-D1C2ACB06567}" type="presOf" srcId="{DF52C919-2630-4B1B-B5DF-F02A68D3C2AF}" destId="{7AF1B9F9-6119-4DB7-A411-208E5BE023D9}" srcOrd="0" destOrd="0" presId="urn:microsoft.com/office/officeart/2018/2/layout/IconLabelList"/>
    <dgm:cxn modelId="{78D580BC-ED00-4451-8266-B5C4435719A7}" srcId="{93933F24-E7C4-4B78-90D4-8242D46E3630}" destId="{DF52C919-2630-4B1B-B5DF-F02A68D3C2AF}" srcOrd="2" destOrd="0" parTransId="{AAB4E367-7793-491C-99CB-E09E76D1CA66}" sibTransId="{A774B58E-CE2E-490E-A596-61CBF585316B}"/>
    <dgm:cxn modelId="{7414C724-3F4E-4CB9-9BB5-2895E72EC93E}" type="presParOf" srcId="{0FADBCC7-106B-45CE-AF74-69BCC32FB588}" destId="{BACAAEDB-15AD-4D64-9E5A-1B08BE2C5100}" srcOrd="0" destOrd="0" presId="urn:microsoft.com/office/officeart/2018/2/layout/IconLabelList"/>
    <dgm:cxn modelId="{AB6CAEEA-3A33-4579-8194-474ADD377908}" type="presParOf" srcId="{BACAAEDB-15AD-4D64-9E5A-1B08BE2C5100}" destId="{8DAA68FB-3FBA-4A4C-8F97-8ED4C3792B94}" srcOrd="0" destOrd="0" presId="urn:microsoft.com/office/officeart/2018/2/layout/IconLabelList"/>
    <dgm:cxn modelId="{F4A0AD61-F511-4009-9CB8-1D8F943FBE90}" type="presParOf" srcId="{BACAAEDB-15AD-4D64-9E5A-1B08BE2C5100}" destId="{3B9420CD-4C7F-49A0-ABC5-150DD0365EB7}" srcOrd="1" destOrd="0" presId="urn:microsoft.com/office/officeart/2018/2/layout/IconLabelList"/>
    <dgm:cxn modelId="{6F70B7A5-BFD7-4CE3-8C00-F5B56A2CA963}" type="presParOf" srcId="{BACAAEDB-15AD-4D64-9E5A-1B08BE2C5100}" destId="{078E7EEE-31C6-4435-9BC7-9CDC164A2092}" srcOrd="2" destOrd="0" presId="urn:microsoft.com/office/officeart/2018/2/layout/IconLabelList"/>
    <dgm:cxn modelId="{507300FD-57A1-4318-AA3C-916260AD976B}" type="presParOf" srcId="{0FADBCC7-106B-45CE-AF74-69BCC32FB588}" destId="{8E802D97-241E-4169-A7EF-4A57EDA629EE}" srcOrd="1" destOrd="0" presId="urn:microsoft.com/office/officeart/2018/2/layout/IconLabelList"/>
    <dgm:cxn modelId="{642B74F3-5AE2-40B3-B6B6-7D22696EC4FE}" type="presParOf" srcId="{0FADBCC7-106B-45CE-AF74-69BCC32FB588}" destId="{E319E441-21DE-4C15-B3BF-4559A15C2A51}" srcOrd="2" destOrd="0" presId="urn:microsoft.com/office/officeart/2018/2/layout/IconLabelList"/>
    <dgm:cxn modelId="{CB3400B0-86D4-42FD-A656-F60FC1EC3E25}" type="presParOf" srcId="{E319E441-21DE-4C15-B3BF-4559A15C2A51}" destId="{5E158057-BC4C-469F-B8C3-7B04A60DF361}" srcOrd="0" destOrd="0" presId="urn:microsoft.com/office/officeart/2018/2/layout/IconLabelList"/>
    <dgm:cxn modelId="{8E4371E5-EA01-4248-92C9-E3B98DEF3C86}" type="presParOf" srcId="{E319E441-21DE-4C15-B3BF-4559A15C2A51}" destId="{5CCA41C3-81A3-4E7E-B34C-860A84D66DCB}" srcOrd="1" destOrd="0" presId="urn:microsoft.com/office/officeart/2018/2/layout/IconLabelList"/>
    <dgm:cxn modelId="{874E36F9-32A0-443E-97F4-61D155AF2687}" type="presParOf" srcId="{E319E441-21DE-4C15-B3BF-4559A15C2A51}" destId="{D9ACACB5-A2F1-4EFC-9101-89B16EFC757F}" srcOrd="2" destOrd="0" presId="urn:microsoft.com/office/officeart/2018/2/layout/IconLabelList"/>
    <dgm:cxn modelId="{766C4DDC-271E-4C4B-9FDA-7718028E26F4}" type="presParOf" srcId="{0FADBCC7-106B-45CE-AF74-69BCC32FB588}" destId="{FEA1CE04-7996-4F9C-A604-06A10EA9336B}" srcOrd="3" destOrd="0" presId="urn:microsoft.com/office/officeart/2018/2/layout/IconLabelList"/>
    <dgm:cxn modelId="{22C1C1D4-4242-4B81-9E6E-02DCACE10DB6}" type="presParOf" srcId="{0FADBCC7-106B-45CE-AF74-69BCC32FB588}" destId="{910CF4AF-BF13-4B83-9567-27BB50040010}" srcOrd="4" destOrd="0" presId="urn:microsoft.com/office/officeart/2018/2/layout/IconLabelList"/>
    <dgm:cxn modelId="{18AB01D6-9731-46A6-BCA5-4FCAEE957932}" type="presParOf" srcId="{910CF4AF-BF13-4B83-9567-27BB50040010}" destId="{39952737-3090-4B81-A2EC-598A538DC031}" srcOrd="0" destOrd="0" presId="urn:microsoft.com/office/officeart/2018/2/layout/IconLabelList"/>
    <dgm:cxn modelId="{5648012B-EAFC-42C9-8C9D-065501DF1418}" type="presParOf" srcId="{910CF4AF-BF13-4B83-9567-27BB50040010}" destId="{62C2A204-83E6-4151-93D8-D9FCFD158468}" srcOrd="1" destOrd="0" presId="urn:microsoft.com/office/officeart/2018/2/layout/IconLabelList"/>
    <dgm:cxn modelId="{C08745F9-573F-47CE-AECF-0DD1F255B423}" type="presParOf" srcId="{910CF4AF-BF13-4B83-9567-27BB50040010}" destId="{7AF1B9F9-6119-4DB7-A411-208E5BE023D9}"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36B91-B5A1-5947-AA7A-49930F40EBFA}">
      <dsp:nvSpPr>
        <dsp:cNvPr id="0" name=""/>
        <dsp:cNvSpPr/>
      </dsp:nvSpPr>
      <dsp:spPr>
        <a:xfrm>
          <a:off x="5143" y="555820"/>
          <a:ext cx="1870121" cy="56103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Include</a:t>
          </a:r>
        </a:p>
      </dsp:txBody>
      <dsp:txXfrm>
        <a:off x="5143" y="555820"/>
        <a:ext cx="1870121" cy="561036"/>
      </dsp:txXfrm>
    </dsp:sp>
    <dsp:sp modelId="{C9F04FCC-79CA-7844-8657-074286109DF1}">
      <dsp:nvSpPr>
        <dsp:cNvPr id="0" name=""/>
        <dsp:cNvSpPr/>
      </dsp:nvSpPr>
      <dsp:spPr>
        <a:xfrm>
          <a:off x="5143" y="1116856"/>
          <a:ext cx="1870121" cy="149874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Include mental health screening in forearm competency test.</a:t>
          </a:r>
        </a:p>
      </dsp:txBody>
      <dsp:txXfrm>
        <a:off x="5143" y="1116856"/>
        <a:ext cx="1870121" cy="1498746"/>
      </dsp:txXfrm>
    </dsp:sp>
    <dsp:sp modelId="{59E4562A-21B9-C54D-81CE-4F401EC891BA}">
      <dsp:nvSpPr>
        <dsp:cNvPr id="0" name=""/>
        <dsp:cNvSpPr/>
      </dsp:nvSpPr>
      <dsp:spPr>
        <a:xfrm>
          <a:off x="1983158" y="555820"/>
          <a:ext cx="1870121" cy="561036"/>
        </a:xfrm>
        <a:prstGeom prst="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w="12700" cap="flat" cmpd="sng" algn="ctr">
          <a:solidFill>
            <a:schemeClr val="accent5">
              <a:hueOff val="-3038037"/>
              <a:satOff val="-207"/>
              <a:lumOff val="49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Require</a:t>
          </a:r>
        </a:p>
      </dsp:txBody>
      <dsp:txXfrm>
        <a:off x="1983158" y="555820"/>
        <a:ext cx="1870121" cy="561036"/>
      </dsp:txXfrm>
    </dsp:sp>
    <dsp:sp modelId="{9D45E794-C367-E748-97AC-DC4A695EA4E4}">
      <dsp:nvSpPr>
        <dsp:cNvPr id="0" name=""/>
        <dsp:cNvSpPr/>
      </dsp:nvSpPr>
      <dsp:spPr>
        <a:xfrm>
          <a:off x="1983158" y="1116856"/>
          <a:ext cx="1870121" cy="1498746"/>
        </a:xfrm>
        <a:prstGeom prst="rect">
          <a:avLst/>
        </a:prstGeom>
        <a:solidFill>
          <a:schemeClr val="accent5">
            <a:tint val="40000"/>
            <a:alpha val="90000"/>
            <a:hueOff val="-2986166"/>
            <a:satOff val="667"/>
            <a:lumOff val="100"/>
            <a:alphaOff val="0"/>
          </a:schemeClr>
        </a:solidFill>
        <a:ln w="12700" cap="flat" cmpd="sng" algn="ctr">
          <a:solidFill>
            <a:schemeClr val="accent5">
              <a:tint val="40000"/>
              <a:alpha val="90000"/>
              <a:hueOff val="-2986166"/>
              <a:satOff val="667"/>
              <a:lumOff val="1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Require periodic mental health re-evaluation when licences are renewed.</a:t>
          </a:r>
        </a:p>
      </dsp:txBody>
      <dsp:txXfrm>
        <a:off x="1983158" y="1116856"/>
        <a:ext cx="1870121" cy="1498746"/>
      </dsp:txXfrm>
    </dsp:sp>
    <dsp:sp modelId="{2663149C-9E18-434A-9087-CB5E1215706D}">
      <dsp:nvSpPr>
        <dsp:cNvPr id="0" name=""/>
        <dsp:cNvSpPr/>
      </dsp:nvSpPr>
      <dsp:spPr>
        <a:xfrm>
          <a:off x="3961174" y="555820"/>
          <a:ext cx="1870121" cy="561036"/>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w="12700" cap="flat" cmpd="sng" algn="ctr">
          <a:solidFill>
            <a:schemeClr val="accent5">
              <a:hueOff val="-6076075"/>
              <a:satOff val="-413"/>
              <a:lumOff val="98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Restrict</a:t>
          </a:r>
        </a:p>
      </dsp:txBody>
      <dsp:txXfrm>
        <a:off x="3961174" y="555820"/>
        <a:ext cx="1870121" cy="561036"/>
      </dsp:txXfrm>
    </dsp:sp>
    <dsp:sp modelId="{30DAF618-D06B-E044-90EA-D3E406841812}">
      <dsp:nvSpPr>
        <dsp:cNvPr id="0" name=""/>
        <dsp:cNvSpPr/>
      </dsp:nvSpPr>
      <dsp:spPr>
        <a:xfrm>
          <a:off x="3961174" y="1116856"/>
          <a:ext cx="1870121" cy="1498746"/>
        </a:xfrm>
        <a:prstGeom prst="rect">
          <a:avLst/>
        </a:prstGeom>
        <a:solidFill>
          <a:schemeClr val="accent5">
            <a:tint val="40000"/>
            <a:alpha val="90000"/>
            <a:hueOff val="-5972333"/>
            <a:satOff val="1333"/>
            <a:lumOff val="200"/>
            <a:alphaOff val="0"/>
          </a:schemeClr>
        </a:solidFill>
        <a:ln w="12700" cap="flat" cmpd="sng" algn="ctr">
          <a:solidFill>
            <a:schemeClr val="accent5">
              <a:tint val="40000"/>
              <a:alpha val="90000"/>
              <a:hueOff val="-5972333"/>
              <a:satOff val="1333"/>
              <a:lumOff val="2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Restrict access to firearms during:</a:t>
          </a:r>
        </a:p>
        <a:p>
          <a:pPr marL="57150" lvl="1" indent="-57150" algn="l" defTabSz="488950">
            <a:lnSpc>
              <a:spcPct val="90000"/>
            </a:lnSpc>
            <a:spcBef>
              <a:spcPct val="0"/>
            </a:spcBef>
            <a:spcAft>
              <a:spcPct val="15000"/>
            </a:spcAft>
            <a:buChar char="•"/>
          </a:pPr>
          <a:r>
            <a:rPr lang="en-US" sz="1100" kern="1200"/>
            <a:t>acute mental illness, </a:t>
          </a:r>
        </a:p>
        <a:p>
          <a:pPr marL="57150" lvl="1" indent="-57150" algn="l" defTabSz="488950">
            <a:lnSpc>
              <a:spcPct val="90000"/>
            </a:lnSpc>
            <a:spcBef>
              <a:spcPct val="0"/>
            </a:spcBef>
            <a:spcAft>
              <a:spcPct val="15000"/>
            </a:spcAft>
            <a:buChar char="•"/>
          </a:pPr>
          <a:r>
            <a:rPr lang="en-US" sz="1100" kern="1200"/>
            <a:t>domestic violence incidents and high suicide risk individuals.</a:t>
          </a:r>
        </a:p>
      </dsp:txBody>
      <dsp:txXfrm>
        <a:off x="3961174" y="1116856"/>
        <a:ext cx="1870121" cy="1498746"/>
      </dsp:txXfrm>
    </dsp:sp>
    <dsp:sp modelId="{CD0636C3-CA26-024D-AFBF-C0D83D20FCB6}">
      <dsp:nvSpPr>
        <dsp:cNvPr id="0" name=""/>
        <dsp:cNvSpPr/>
      </dsp:nvSpPr>
      <dsp:spPr>
        <a:xfrm>
          <a:off x="5939190" y="555820"/>
          <a:ext cx="1870121" cy="561036"/>
        </a:xfrm>
        <a:prstGeom prst="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w="12700" cap="flat" cmpd="sng" algn="ctr">
          <a:solidFill>
            <a:schemeClr val="accent5">
              <a:hueOff val="-9114112"/>
              <a:satOff val="-620"/>
              <a:lumOff val="147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Allow</a:t>
          </a:r>
        </a:p>
      </dsp:txBody>
      <dsp:txXfrm>
        <a:off x="5939190" y="555820"/>
        <a:ext cx="1870121" cy="561036"/>
      </dsp:txXfrm>
    </dsp:sp>
    <dsp:sp modelId="{7BACA5CD-DF64-E549-953E-B873652BCAB4}">
      <dsp:nvSpPr>
        <dsp:cNvPr id="0" name=""/>
        <dsp:cNvSpPr/>
      </dsp:nvSpPr>
      <dsp:spPr>
        <a:xfrm>
          <a:off x="5939190" y="1116856"/>
          <a:ext cx="1870121" cy="1498746"/>
        </a:xfrm>
        <a:prstGeom prst="rect">
          <a:avLst/>
        </a:prstGeom>
        <a:solidFill>
          <a:schemeClr val="accent5">
            <a:tint val="40000"/>
            <a:alpha val="90000"/>
            <a:hueOff val="-8958499"/>
            <a:satOff val="2000"/>
            <a:lumOff val="301"/>
            <a:alphaOff val="0"/>
          </a:schemeClr>
        </a:solidFill>
        <a:ln w="12700" cap="flat" cmpd="sng" algn="ctr">
          <a:solidFill>
            <a:schemeClr val="accent5">
              <a:tint val="40000"/>
              <a:alpha val="90000"/>
              <a:hueOff val="-8958499"/>
              <a:satOff val="2000"/>
              <a:lumOff val="3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Allow families or clinicians to notify authorities if someone becomes acutely unstable</a:t>
          </a:r>
        </a:p>
      </dsp:txBody>
      <dsp:txXfrm>
        <a:off x="5939190" y="1116856"/>
        <a:ext cx="1870121" cy="1498746"/>
      </dsp:txXfrm>
    </dsp:sp>
    <dsp:sp modelId="{9A6E1A89-E441-9043-8606-947F29747C12}">
      <dsp:nvSpPr>
        <dsp:cNvPr id="0" name=""/>
        <dsp:cNvSpPr/>
      </dsp:nvSpPr>
      <dsp:spPr>
        <a:xfrm>
          <a:off x="7917206" y="555820"/>
          <a:ext cx="1870121" cy="561036"/>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7781" tIns="147781" rIns="147781" bIns="147781" numCol="1" spcCol="1270" anchor="ctr" anchorCtr="0">
          <a:noAutofit/>
        </a:bodyPr>
        <a:lstStyle/>
        <a:p>
          <a:pPr marL="0" lvl="0" indent="0" algn="ctr" defTabSz="800100">
            <a:lnSpc>
              <a:spcPct val="90000"/>
            </a:lnSpc>
            <a:spcBef>
              <a:spcPct val="0"/>
            </a:spcBef>
            <a:spcAft>
              <a:spcPct val="35000"/>
            </a:spcAft>
            <a:buNone/>
          </a:pPr>
          <a:r>
            <a:rPr lang="en-US" sz="1800" kern="1200"/>
            <a:t>Include</a:t>
          </a:r>
        </a:p>
      </dsp:txBody>
      <dsp:txXfrm>
        <a:off x="7917206" y="555820"/>
        <a:ext cx="1870121" cy="561036"/>
      </dsp:txXfrm>
    </dsp:sp>
    <dsp:sp modelId="{E5A99D3C-6C53-6F42-B20D-5A9D701E6414}">
      <dsp:nvSpPr>
        <dsp:cNvPr id="0" name=""/>
        <dsp:cNvSpPr/>
      </dsp:nvSpPr>
      <dsp:spPr>
        <a:xfrm>
          <a:off x="7917206" y="1116856"/>
          <a:ext cx="1870121" cy="1498746"/>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84726" tIns="184726" rIns="184726" bIns="184726" numCol="1" spcCol="1270" anchor="t" anchorCtr="0">
          <a:noAutofit/>
        </a:bodyPr>
        <a:lstStyle/>
        <a:p>
          <a:pPr marL="0" lvl="0" indent="0" algn="l" defTabSz="622300">
            <a:lnSpc>
              <a:spcPct val="90000"/>
            </a:lnSpc>
            <a:spcBef>
              <a:spcPct val="0"/>
            </a:spcBef>
            <a:spcAft>
              <a:spcPct val="35000"/>
            </a:spcAft>
            <a:buNone/>
          </a:pPr>
          <a:r>
            <a:rPr lang="en-US" sz="1400" kern="1200"/>
            <a:t>Include modules on:</a:t>
          </a:r>
        </a:p>
        <a:p>
          <a:pPr marL="57150" lvl="1" indent="-57150" algn="l" defTabSz="488950">
            <a:lnSpc>
              <a:spcPct val="90000"/>
            </a:lnSpc>
            <a:spcBef>
              <a:spcPct val="0"/>
            </a:spcBef>
            <a:spcAft>
              <a:spcPct val="15000"/>
            </a:spcAft>
            <a:buChar char="•"/>
          </a:pPr>
          <a:r>
            <a:rPr lang="en-US" sz="1100" kern="1200"/>
            <a:t>Anger management, substance use risk and general mental health awareness.</a:t>
          </a:r>
        </a:p>
      </dsp:txBody>
      <dsp:txXfrm>
        <a:off x="7917206" y="1116856"/>
        <a:ext cx="1870121" cy="14987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A68FB-3FBA-4A4C-8F97-8ED4C3792B94}">
      <dsp:nvSpPr>
        <dsp:cNvPr id="0" name=""/>
        <dsp:cNvSpPr/>
      </dsp:nvSpPr>
      <dsp:spPr>
        <a:xfrm>
          <a:off x="2757023" y="280400"/>
          <a:ext cx="747509" cy="747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8E7EEE-31C6-4435-9BC7-9CDC164A2092}">
      <dsp:nvSpPr>
        <dsp:cNvPr id="0" name=""/>
        <dsp:cNvSpPr/>
      </dsp:nvSpPr>
      <dsp:spPr>
        <a:xfrm>
          <a:off x="2300211" y="1332141"/>
          <a:ext cx="1661132" cy="97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Limited funding for mental health.</a:t>
          </a:r>
        </a:p>
        <a:p>
          <a:pPr marL="0" lvl="0" indent="0" algn="ctr" defTabSz="488950">
            <a:lnSpc>
              <a:spcPct val="90000"/>
            </a:lnSpc>
            <a:spcBef>
              <a:spcPct val="0"/>
            </a:spcBef>
            <a:spcAft>
              <a:spcPct val="35000"/>
            </a:spcAft>
            <a:buNone/>
          </a:pPr>
          <a:r>
            <a:rPr lang="en-GB" sz="1100" kern="1200" dirty="0">
              <a:solidFill>
                <a:schemeClr val="accent6">
                  <a:lumMod val="60000"/>
                  <a:lumOff val="40000"/>
                </a:schemeClr>
              </a:solidFill>
            </a:rPr>
            <a:t>More funding for outpatient psychiatric care.</a:t>
          </a:r>
          <a:endParaRPr lang="en-US" sz="1100" kern="1200" dirty="0">
            <a:solidFill>
              <a:schemeClr val="accent6">
                <a:lumMod val="60000"/>
                <a:lumOff val="40000"/>
              </a:schemeClr>
            </a:solidFill>
          </a:endParaRPr>
        </a:p>
      </dsp:txBody>
      <dsp:txXfrm>
        <a:off x="2300211" y="1332141"/>
        <a:ext cx="1661132" cy="975915"/>
      </dsp:txXfrm>
    </dsp:sp>
    <dsp:sp modelId="{5E158057-BC4C-469F-B8C3-7B04A60DF361}">
      <dsp:nvSpPr>
        <dsp:cNvPr id="0" name=""/>
        <dsp:cNvSpPr/>
      </dsp:nvSpPr>
      <dsp:spPr>
        <a:xfrm>
          <a:off x="4708854" y="280400"/>
          <a:ext cx="747509" cy="747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ACACB5-A2F1-4EFC-9101-89B16EFC757F}">
      <dsp:nvSpPr>
        <dsp:cNvPr id="0" name=""/>
        <dsp:cNvSpPr/>
      </dsp:nvSpPr>
      <dsp:spPr>
        <a:xfrm>
          <a:off x="4252042" y="1332141"/>
          <a:ext cx="1661132" cy="97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Competing priorities across different sectors</a:t>
          </a:r>
          <a:endParaRPr lang="en-US" sz="1100" kern="1200" dirty="0">
            <a:solidFill>
              <a:schemeClr val="bg1"/>
            </a:solidFill>
          </a:endParaRPr>
        </a:p>
      </dsp:txBody>
      <dsp:txXfrm>
        <a:off x="4252042" y="1332141"/>
        <a:ext cx="1661132" cy="975915"/>
      </dsp:txXfrm>
    </dsp:sp>
    <dsp:sp modelId="{39952737-3090-4B81-A2EC-598A538DC031}">
      <dsp:nvSpPr>
        <dsp:cNvPr id="0" name=""/>
        <dsp:cNvSpPr/>
      </dsp:nvSpPr>
      <dsp:spPr>
        <a:xfrm>
          <a:off x="6660685" y="280400"/>
          <a:ext cx="747509" cy="747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F1B9F9-6119-4DB7-A411-208E5BE023D9}">
      <dsp:nvSpPr>
        <dsp:cNvPr id="0" name=""/>
        <dsp:cNvSpPr/>
      </dsp:nvSpPr>
      <dsp:spPr>
        <a:xfrm>
          <a:off x="6203873" y="1332141"/>
          <a:ext cx="1661132" cy="97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GB" sz="1100" kern="1200" dirty="0">
              <a:solidFill>
                <a:schemeClr val="bg1"/>
              </a:solidFill>
            </a:rPr>
            <a:t>Shortage of human resources.</a:t>
          </a:r>
        </a:p>
        <a:p>
          <a:pPr marL="0" lvl="0" indent="0" algn="ctr" defTabSz="488950">
            <a:lnSpc>
              <a:spcPct val="90000"/>
            </a:lnSpc>
            <a:spcBef>
              <a:spcPct val="0"/>
            </a:spcBef>
            <a:spcAft>
              <a:spcPct val="35000"/>
            </a:spcAft>
            <a:buNone/>
          </a:pPr>
          <a:r>
            <a:rPr lang="en-GB" sz="1100" kern="1200" dirty="0">
              <a:solidFill>
                <a:schemeClr val="accent6">
                  <a:lumMod val="60000"/>
                  <a:lumOff val="40000"/>
                </a:schemeClr>
              </a:solidFill>
            </a:rPr>
            <a:t>Task sharing</a:t>
          </a:r>
        </a:p>
        <a:p>
          <a:pPr marL="0" lvl="0" indent="0" algn="ctr" defTabSz="488950">
            <a:lnSpc>
              <a:spcPct val="90000"/>
            </a:lnSpc>
            <a:spcBef>
              <a:spcPct val="0"/>
            </a:spcBef>
            <a:spcAft>
              <a:spcPct val="35000"/>
            </a:spcAft>
            <a:buNone/>
          </a:pPr>
          <a:r>
            <a:rPr lang="en-GB" sz="1100" kern="1200" dirty="0">
              <a:solidFill>
                <a:schemeClr val="accent6">
                  <a:lumMod val="60000"/>
                  <a:lumOff val="40000"/>
                </a:schemeClr>
              </a:solidFill>
            </a:rPr>
            <a:t>Partnerships with private health for training of specialists</a:t>
          </a:r>
          <a:r>
            <a:rPr lang="en-GB" sz="1100" kern="1200" dirty="0">
              <a:solidFill>
                <a:schemeClr val="bg1"/>
              </a:solidFill>
            </a:rPr>
            <a:t>.</a:t>
          </a:r>
        </a:p>
      </dsp:txBody>
      <dsp:txXfrm>
        <a:off x="6203873" y="1332141"/>
        <a:ext cx="1661132" cy="975915"/>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21425E6-5724-4E4E-AB14-70ED3DEC718F}" type="datetimeFigureOut">
              <a:rPr lang="en-GB" smtClean="0"/>
              <a:t>09/04/2026</a:t>
            </a:fld>
            <a:endParaRPr lang="en-GB"/>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B3CB08FA-E20F-E042-B3BF-885FF5DE3467}" type="slidenum">
              <a:rPr lang="en-GB" smtClean="0"/>
              <a:t>‹#›</a:t>
            </a:fld>
            <a:endParaRPr lang="en-GB"/>
          </a:p>
        </p:txBody>
      </p:sp>
    </p:spTree>
    <p:extLst>
      <p:ext uri="{BB962C8B-B14F-4D97-AF65-F5344CB8AC3E}">
        <p14:creationId xmlns:p14="http://schemas.microsoft.com/office/powerpoint/2010/main" val="1639003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a:t>
            </a:fld>
            <a:endParaRPr lang="en-GB"/>
          </a:p>
        </p:txBody>
      </p:sp>
    </p:spTree>
    <p:extLst>
      <p:ext uri="{BB962C8B-B14F-4D97-AF65-F5344CB8AC3E}">
        <p14:creationId xmlns:p14="http://schemas.microsoft.com/office/powerpoint/2010/main" val="381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we talk about mental health, wea re not only talking about mental illness, but also the ability to live, cope and thrive.  Mental heath shapes how we experience life and connect with others.  As defined by the WHO it is the …….</a:t>
            </a:r>
          </a:p>
        </p:txBody>
      </p:sp>
      <p:sp>
        <p:nvSpPr>
          <p:cNvPr id="4" name="Slide Number Placeholder 3"/>
          <p:cNvSpPr>
            <a:spLocks noGrp="1"/>
          </p:cNvSpPr>
          <p:nvPr>
            <p:ph type="sldNum" sz="quarter" idx="5"/>
          </p:nvPr>
        </p:nvSpPr>
        <p:spPr/>
        <p:txBody>
          <a:bodyPr/>
          <a:lstStyle/>
          <a:p>
            <a:fld id="{B3CB08FA-E20F-E042-B3BF-885FF5DE3467}" type="slidenum">
              <a:rPr lang="en-GB" smtClean="0"/>
              <a:t>3</a:t>
            </a:fld>
            <a:endParaRPr lang="en-GB"/>
          </a:p>
        </p:txBody>
      </p:sp>
    </p:spTree>
    <p:extLst>
      <p:ext uri="{BB962C8B-B14F-4D97-AF65-F5344CB8AC3E}">
        <p14:creationId xmlns:p14="http://schemas.microsoft.com/office/powerpoint/2010/main" val="364580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Understanding the definition is important, but it becomes more meaningful when we see how good mental health show up in daily functions.  Some examples include:……</a:t>
            </a:r>
          </a:p>
        </p:txBody>
      </p:sp>
      <p:sp>
        <p:nvSpPr>
          <p:cNvPr id="4" name="Slide Number Placeholder 3"/>
          <p:cNvSpPr>
            <a:spLocks noGrp="1"/>
          </p:cNvSpPr>
          <p:nvPr>
            <p:ph type="sldNum" sz="quarter" idx="5"/>
          </p:nvPr>
        </p:nvSpPr>
        <p:spPr/>
        <p:txBody>
          <a:bodyPr/>
          <a:lstStyle/>
          <a:p>
            <a:fld id="{B3CB08FA-E20F-E042-B3BF-885FF5DE3467}" type="slidenum">
              <a:rPr lang="en-GB" smtClean="0"/>
              <a:t>4</a:t>
            </a:fld>
            <a:endParaRPr lang="en-GB"/>
          </a:p>
        </p:txBody>
      </p:sp>
    </p:spTree>
    <p:extLst>
      <p:ext uri="{BB962C8B-B14F-4D97-AF65-F5344CB8AC3E}">
        <p14:creationId xmlns:p14="http://schemas.microsoft.com/office/powerpoint/2010/main" val="1515838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want to promote mental health , we must understand the conditions that allow it to grow…</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5</a:t>
            </a:fld>
            <a:endParaRPr lang="en-GB"/>
          </a:p>
        </p:txBody>
      </p:sp>
    </p:spTree>
    <p:extLst>
      <p:ext uri="{BB962C8B-B14F-4D97-AF65-F5344CB8AC3E}">
        <p14:creationId xmlns:p14="http://schemas.microsoft.com/office/powerpoint/2010/main" val="3397989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Mental health disorder are a significant growing global concern.  According to the WHO, more than 1 billion people worldwide are living with a mental disorder, meaning roughly 1 in 8 people is affected.  Mental disorder contribute substantially to the global burden of disease accounting for about 1 in 10 disability adjusted life years ( DALYs) and 1 in 6 years lived with disability. YLDs).  The most affected age group are adults between the ages of 25-54, particularly those aged 35-44.  despite the high burden, a major treatment gap exist with approximately 71% OF AFFECTED INDIVIDUAL not receiving adequate care or any treatment at all.</a:t>
            </a:r>
          </a:p>
        </p:txBody>
      </p:sp>
      <p:sp>
        <p:nvSpPr>
          <p:cNvPr id="4" name="Slide Number Placeholder 3"/>
          <p:cNvSpPr>
            <a:spLocks noGrp="1"/>
          </p:cNvSpPr>
          <p:nvPr>
            <p:ph type="sldNum" sz="quarter" idx="5"/>
          </p:nvPr>
        </p:nvSpPr>
        <p:spPr/>
        <p:txBody>
          <a:bodyPr/>
          <a:lstStyle/>
          <a:p>
            <a:fld id="{B3CB08FA-E20F-E042-B3BF-885FF5DE3467}" type="slidenum">
              <a:rPr lang="en-GB" smtClean="0"/>
              <a:t>6</a:t>
            </a:fld>
            <a:endParaRPr lang="en-GB"/>
          </a:p>
        </p:txBody>
      </p:sp>
    </p:spTree>
    <p:extLst>
      <p:ext uri="{BB962C8B-B14F-4D97-AF65-F5344CB8AC3E}">
        <p14:creationId xmlns:p14="http://schemas.microsoft.com/office/powerpoint/2010/main" val="3224643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SA the situation is also concerning with an estimated 13-16%of the population or about 1in5  being diagnosed with a mental disorders in a 12-month period and 30 % or 1in 3 experiencing it at some point in their lives.  In South Africa the most common condition are depressive disorder, anxiety disorders and a substance use.  In children, ADHD is the most commonly occurring neurodevelopmental disorder</a:t>
            </a:r>
          </a:p>
        </p:txBody>
      </p:sp>
      <p:sp>
        <p:nvSpPr>
          <p:cNvPr id="4" name="Slide Number Placeholder 3"/>
          <p:cNvSpPr>
            <a:spLocks noGrp="1"/>
          </p:cNvSpPr>
          <p:nvPr>
            <p:ph type="sldNum" sz="quarter" idx="5"/>
          </p:nvPr>
        </p:nvSpPr>
        <p:spPr/>
        <p:txBody>
          <a:bodyPr/>
          <a:lstStyle/>
          <a:p>
            <a:fld id="{B3CB08FA-E20F-E042-B3BF-885FF5DE3467}" type="slidenum">
              <a:rPr lang="en-GB" smtClean="0"/>
              <a:t>7</a:t>
            </a:fld>
            <a:endParaRPr lang="en-GB"/>
          </a:p>
        </p:txBody>
      </p:sp>
    </p:spTree>
    <p:extLst>
      <p:ext uri="{BB962C8B-B14F-4D97-AF65-F5344CB8AC3E}">
        <p14:creationId xmlns:p14="http://schemas.microsoft.com/office/powerpoint/2010/main" val="2660510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solidFill>
                  <a:srgbClr val="FFFFFF"/>
                </a:solidFill>
              </a:rPr>
              <a:t>In south Africa the treatment gap is even higher with individuals suffering from severe mental disorder about 91% do not receive adequate treatment</a:t>
            </a:r>
          </a:p>
          <a:p>
            <a:pPr marL="0" indent="0">
              <a:buNone/>
            </a:pPr>
            <a:r>
              <a:rPr lang="en-GB" sz="1200" dirty="0">
                <a:solidFill>
                  <a:srgbClr val="FFFFFF"/>
                </a:solidFill>
              </a:rPr>
              <a:t>Ripple effect</a:t>
            </a:r>
          </a:p>
          <a:p>
            <a:pPr marL="0" indent="0">
              <a:buNone/>
            </a:pPr>
            <a:r>
              <a:rPr lang="en-GB" sz="1200" dirty="0">
                <a:solidFill>
                  <a:srgbClr val="FFFFFF"/>
                </a:solidFill>
              </a:rPr>
              <a:t>•	When a person in household has a mental disorder, it affects the entire household.  </a:t>
            </a:r>
          </a:p>
          <a:p>
            <a:pPr marL="0" indent="0">
              <a:buNone/>
            </a:pPr>
            <a:r>
              <a:rPr lang="en-GB" sz="1200" dirty="0">
                <a:solidFill>
                  <a:srgbClr val="FFFFFF"/>
                </a:solidFill>
              </a:rPr>
              <a:t>•	The affected person may miss due to impairing symptoms, for doctors’ appointments, take them to seek medical assistance in  case of acute episodes or emergencies.  Relatives and family members often take on the caregiving roles which also require them to miss work for doctors appointments and supervision.  In some households children or young people may miss school to help the family during these periods. If caregiving id prolonged at times this may result in burnout. Overtime both the affected and family may lose opportunities for employment and income.  The affected person experienced reduced capacity to work or difficulty maintaining employment and the family growing financial strain.  With this ongoing cycle the mental illness of one person can disrupt the stability, productivity  and wellbeing of an entire household.</a:t>
            </a:r>
          </a:p>
          <a:p>
            <a:pPr marL="0" indent="0">
              <a:buNone/>
            </a:pPr>
            <a:endParaRPr lang="en-GB" sz="1200" dirty="0">
              <a:solidFill>
                <a:srgbClr val="FFFFFF"/>
              </a:solidFill>
            </a:endParaRP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8</a:t>
            </a:fld>
            <a:endParaRPr lang="en-GB"/>
          </a:p>
        </p:txBody>
      </p:sp>
    </p:spTree>
    <p:extLst>
      <p:ext uri="{BB962C8B-B14F-4D97-AF65-F5344CB8AC3E}">
        <p14:creationId xmlns:p14="http://schemas.microsoft.com/office/powerpoint/2010/main" val="2128828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understand the tangible real-life impact of mental illness, we need to look beyond the individual and consider the household.  In south Africa, the national minimum wages around R30.23 per hour, which translates into roughly R5200 per month.  If someone with a mental illness misses 5 days of work in a month, the household can lose more than R1200 for a low income household this  is a substantial amount of their monthly income.  In a  year this amounts to R14000 lost, not including the cost of transport to the clinic, medication of the clinics happens to be out of stock and cost caregivers having to miss work to care for the MHCU.</a:t>
            </a:r>
          </a:p>
          <a:p>
            <a:endParaRPr lang="en-GB" dirty="0"/>
          </a:p>
          <a:p>
            <a:endParaRPr lang="en-GB" dirty="0"/>
          </a:p>
          <a:p>
            <a:endParaRPr lang="en-GB" dirty="0"/>
          </a:p>
          <a:p>
            <a:r>
              <a:rPr lang="en-GB" dirty="0"/>
              <a:t>This feeds into the cycle of poverty  and financial strain and economic instability.</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9</a:t>
            </a:fld>
            <a:endParaRPr lang="en-GB"/>
          </a:p>
        </p:txBody>
      </p:sp>
    </p:spTree>
    <p:extLst>
      <p:ext uri="{BB962C8B-B14F-4D97-AF65-F5344CB8AC3E}">
        <p14:creationId xmlns:p14="http://schemas.microsoft.com/office/powerpoint/2010/main" val="1887505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10</a:t>
            </a:fld>
            <a:endParaRPr lang="en-GB"/>
          </a:p>
        </p:txBody>
      </p:sp>
    </p:spTree>
    <p:extLst>
      <p:ext uri="{BB962C8B-B14F-4D97-AF65-F5344CB8AC3E}">
        <p14:creationId xmlns:p14="http://schemas.microsoft.com/office/powerpoint/2010/main" val="3125269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Aptos" panose="020B0004020202020204" pitchFamily="34" charset="0"/>
                <a:ea typeface="Aptos" panose="020B0004020202020204" pitchFamily="34" charset="0"/>
                <a:cs typeface="Times New Roman" panose="02020603050405020304" pitchFamily="18" charset="0"/>
              </a:rPr>
              <a:t>Mental health  and mental disorders arise from a multifactorial/multisectoral contributors and therefore require a multisectoral approach that integrates healthcare, education, policy and community efforts for holistic and comprehensive treatment and preventions.  The responsibility for protecting it must also be further cemented in the policies that guide those contributing sectors. Optimising existing laws allows us to prevent mental illness before it becomes a  national medical crisis.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11</a:t>
            </a:fld>
            <a:endParaRPr lang="en-GB"/>
          </a:p>
        </p:txBody>
      </p:sp>
    </p:spTree>
    <p:extLst>
      <p:ext uri="{BB962C8B-B14F-4D97-AF65-F5344CB8AC3E}">
        <p14:creationId xmlns:p14="http://schemas.microsoft.com/office/powerpoint/2010/main" val="730781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In the field of psychiatry , multidisciplinary teams, comprising psychiatrist, psychologists, social workers, Occupational therapist, nurses and other allied professionals are the cornerstone of comprehensive treatment approaches facilitating holistic patient care in assessments, intervention and support.  The approach has been widely supported by literature, emphasizing its efficacy in addressing at times) complex biopsychosocial challenges.  </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However implementation may vary significantly across facilities,  particularly resource constrained settings where staff shortages or infrastructural challenges.</a:t>
            </a:r>
            <a:endParaRPr lang="en-ZA" sz="1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12</a:t>
            </a:fld>
            <a:endParaRPr lang="en-GB"/>
          </a:p>
        </p:txBody>
      </p:sp>
    </p:spTree>
    <p:extLst>
      <p:ext uri="{BB962C8B-B14F-4D97-AF65-F5344CB8AC3E}">
        <p14:creationId xmlns:p14="http://schemas.microsoft.com/office/powerpoint/2010/main" val="3411005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security cluster plays an important role as legislation in this sector determines how societies protect vulnerable individuals prevent harm and the social conditions that shape mental health.</a:t>
            </a:r>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13</a:t>
            </a:fld>
            <a:endParaRPr lang="en-GB"/>
          </a:p>
        </p:txBody>
      </p:sp>
    </p:spTree>
    <p:extLst>
      <p:ext uri="{BB962C8B-B14F-4D97-AF65-F5344CB8AC3E}">
        <p14:creationId xmlns:p14="http://schemas.microsoft.com/office/powerpoint/2010/main" val="488670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15</a:t>
            </a:fld>
            <a:endParaRPr lang="en-GB"/>
          </a:p>
        </p:txBody>
      </p:sp>
    </p:spTree>
    <p:extLst>
      <p:ext uri="{BB962C8B-B14F-4D97-AF65-F5344CB8AC3E}">
        <p14:creationId xmlns:p14="http://schemas.microsoft.com/office/powerpoint/2010/main" val="172690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large proportion of mental disorder begin before age of 18, this means that early identification and support for the youth is paramount. The Child justice act empowers us to……</a:t>
            </a:r>
          </a:p>
        </p:txBody>
      </p:sp>
      <p:sp>
        <p:nvSpPr>
          <p:cNvPr id="4" name="Slide Number Placeholder 3"/>
          <p:cNvSpPr>
            <a:spLocks noGrp="1"/>
          </p:cNvSpPr>
          <p:nvPr>
            <p:ph type="sldNum" sz="quarter" idx="5"/>
          </p:nvPr>
        </p:nvSpPr>
        <p:spPr/>
        <p:txBody>
          <a:bodyPr/>
          <a:lstStyle/>
          <a:p>
            <a:fld id="{B3CB08FA-E20F-E042-B3BF-885FF5DE3467}" type="slidenum">
              <a:rPr lang="en-GB" smtClean="0"/>
              <a:t>16</a:t>
            </a:fld>
            <a:endParaRPr lang="en-GB"/>
          </a:p>
        </p:txBody>
      </p:sp>
    </p:spTree>
    <p:extLst>
      <p:ext uri="{BB962C8B-B14F-4D97-AF65-F5344CB8AC3E}">
        <p14:creationId xmlns:p14="http://schemas.microsoft.com/office/powerpoint/2010/main" val="303451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mental health promotions embedded in the curriculum, the education system can become one of South Africa’s largest mental health platform reaching people before mental illness develops or worsens. Schools are where young people spend most of their time.  Teachers often see the first signs, but without structured intervention systems, these early signs may be left unaddressed or handle inappropriately.  Through policies like the Screening, Identifications, assessment and Support Policy (SIAS) and the Curriculum and Assessment Policy (CAPS), there is a a big opportunity for strengthening of mental promotion and prevention.</a:t>
            </a:r>
          </a:p>
          <a:p>
            <a:endParaRPr lang="en-GB" dirty="0"/>
          </a:p>
          <a:p>
            <a:r>
              <a:rPr lang="en-GB" dirty="0"/>
              <a:t> </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17</a:t>
            </a:fld>
            <a:endParaRPr lang="en-GB"/>
          </a:p>
        </p:txBody>
      </p:sp>
    </p:spTree>
    <p:extLst>
      <p:ext uri="{BB962C8B-B14F-4D97-AF65-F5344CB8AC3E}">
        <p14:creationId xmlns:p14="http://schemas.microsoft.com/office/powerpoint/2010/main" val="2261334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READ AFTE READIN SLIDE: </a:t>
            </a:r>
          </a:p>
          <a:p>
            <a:endParaRPr lang="en-GB" dirty="0"/>
          </a:p>
          <a:p>
            <a:r>
              <a:rPr lang="en-GB" dirty="0"/>
              <a:t>This  system already exists in the DBE, but we find that referrals to our clinics for services are often haphazard, ill-informed, usually bypassing intermediate steps.</a:t>
            </a:r>
          </a:p>
        </p:txBody>
      </p:sp>
      <p:sp>
        <p:nvSpPr>
          <p:cNvPr id="4" name="Slide Number Placeholder 3"/>
          <p:cNvSpPr>
            <a:spLocks noGrp="1"/>
          </p:cNvSpPr>
          <p:nvPr>
            <p:ph type="sldNum" sz="quarter" idx="5"/>
          </p:nvPr>
        </p:nvSpPr>
        <p:spPr/>
        <p:txBody>
          <a:bodyPr/>
          <a:lstStyle/>
          <a:p>
            <a:fld id="{B3CB08FA-E20F-E042-B3BF-885FF5DE3467}" type="slidenum">
              <a:rPr lang="en-GB" smtClean="0"/>
              <a:t>19</a:t>
            </a:fld>
            <a:endParaRPr lang="en-GB"/>
          </a:p>
        </p:txBody>
      </p:sp>
    </p:spTree>
    <p:extLst>
      <p:ext uri="{BB962C8B-B14F-4D97-AF65-F5344CB8AC3E}">
        <p14:creationId xmlns:p14="http://schemas.microsoft.com/office/powerpoint/2010/main" val="1438056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be useful by promoting responsible reporting, reducing stigma, increasing public awareness, regulating harmful content and connecting people to support services.</a:t>
            </a:r>
          </a:p>
          <a:p>
            <a:endParaRPr lang="en-GB" dirty="0"/>
          </a:p>
          <a:p>
            <a:r>
              <a:rPr lang="en-GB" dirty="0"/>
              <a:t>There is particular channel on TV that seems to specialise in sensationalising and normalising the most negative aspect of society  e.g. crime, drug use, family disputes and overdramatization for viewership.  There has also been a lot of public criticism of the channels through the BCCSA, which again highlight the importance of oversight bodies and their regulatory role in the media space.</a:t>
            </a:r>
          </a:p>
          <a:p>
            <a:endParaRPr lang="en-GB" dirty="0"/>
          </a:p>
          <a:p>
            <a:endParaRPr lang="en-GB" dirty="0"/>
          </a:p>
        </p:txBody>
      </p:sp>
      <p:sp>
        <p:nvSpPr>
          <p:cNvPr id="4" name="Slide Number Placeholder 3"/>
          <p:cNvSpPr>
            <a:spLocks noGrp="1"/>
          </p:cNvSpPr>
          <p:nvPr>
            <p:ph type="sldNum" sz="quarter" idx="5"/>
          </p:nvPr>
        </p:nvSpPr>
        <p:spPr/>
        <p:txBody>
          <a:bodyPr/>
          <a:lstStyle/>
          <a:p>
            <a:fld id="{B3CB08FA-E20F-E042-B3BF-885FF5DE3467}" type="slidenum">
              <a:rPr lang="en-GB" smtClean="0"/>
              <a:t>21</a:t>
            </a:fld>
            <a:endParaRPr lang="en-GB"/>
          </a:p>
        </p:txBody>
      </p:sp>
    </p:spTree>
    <p:extLst>
      <p:ext uri="{BB962C8B-B14F-4D97-AF65-F5344CB8AC3E}">
        <p14:creationId xmlns:p14="http://schemas.microsoft.com/office/powerpoint/2010/main" val="2913024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Through the promotion of responsible content regulation the BCCSA and ICASA can help reduce stigma, discourage harmful portrayals of mental illness and promote accurate mental health messaging that supports prevention and help-seeking.</a:t>
            </a:r>
          </a:p>
        </p:txBody>
      </p:sp>
      <p:sp>
        <p:nvSpPr>
          <p:cNvPr id="4" name="Slide Number Placeholder 3"/>
          <p:cNvSpPr>
            <a:spLocks noGrp="1"/>
          </p:cNvSpPr>
          <p:nvPr>
            <p:ph type="sldNum" sz="quarter" idx="5"/>
          </p:nvPr>
        </p:nvSpPr>
        <p:spPr/>
        <p:txBody>
          <a:bodyPr/>
          <a:lstStyle/>
          <a:p>
            <a:fld id="{B3CB08FA-E20F-E042-B3BF-885FF5DE3467}" type="slidenum">
              <a:rPr lang="en-GB" smtClean="0"/>
              <a:t>23</a:t>
            </a:fld>
            <a:endParaRPr lang="en-GB"/>
          </a:p>
        </p:txBody>
      </p:sp>
    </p:spTree>
    <p:extLst>
      <p:ext uri="{BB962C8B-B14F-4D97-AF65-F5344CB8AC3E}">
        <p14:creationId xmlns:p14="http://schemas.microsoft.com/office/powerpoint/2010/main" val="1201277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a multisectoral approach is essential for addressing mental health, it is not without challenges.  Different sectors often operate in silos, with limited collaboration. This may lead to fragmented services or duplicate services.  Certain sectors may not be sure who I s responsible for what </a:t>
            </a:r>
            <a:r>
              <a:rPr lang="en-GB" dirty="0" err="1"/>
              <a:t>e.g</a:t>
            </a:r>
            <a:r>
              <a:rPr lang="en-GB" dirty="0"/>
              <a:t> assessment of children for learning problems.  </a:t>
            </a:r>
            <a:r>
              <a:rPr lang="en-GB" dirty="0" err="1"/>
              <a:t>Wrt</a:t>
            </a:r>
            <a:r>
              <a:rPr lang="en-GB" dirty="0"/>
              <a:t> policy implementation, even with polices such as the national mental health policy framework and strategic plan, implementation can be inconsistent due to lack of monitoring, funding and assertive determined leadership.</a:t>
            </a:r>
          </a:p>
        </p:txBody>
      </p:sp>
      <p:sp>
        <p:nvSpPr>
          <p:cNvPr id="4" name="Slide Number Placeholder 3"/>
          <p:cNvSpPr>
            <a:spLocks noGrp="1"/>
          </p:cNvSpPr>
          <p:nvPr>
            <p:ph type="sldNum" sz="quarter" idx="5"/>
          </p:nvPr>
        </p:nvSpPr>
        <p:spPr/>
        <p:txBody>
          <a:bodyPr/>
          <a:lstStyle/>
          <a:p>
            <a:fld id="{B3CB08FA-E20F-E042-B3BF-885FF5DE3467}" type="slidenum">
              <a:rPr lang="en-GB" smtClean="0"/>
              <a:t>24</a:t>
            </a:fld>
            <a:endParaRPr lang="en-GB"/>
          </a:p>
        </p:txBody>
      </p:sp>
    </p:spTree>
    <p:extLst>
      <p:ext uri="{BB962C8B-B14F-4D97-AF65-F5344CB8AC3E}">
        <p14:creationId xmlns:p14="http://schemas.microsoft.com/office/powerpoint/2010/main" val="3469857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Only 14 %of mental health budget goes to outpatient care in PHC,  </a:t>
            </a:r>
          </a:p>
          <a:p>
            <a:r>
              <a:rPr lang="en-GB" dirty="0"/>
              <a:t>More investment in infrastructure for inpatient care. </a:t>
            </a:r>
          </a:p>
          <a:p>
            <a:r>
              <a:rPr lang="en-GB" dirty="0"/>
              <a:t>Education focuses on academics.  Labour focusses on productivity and the bottom lines.  Health focuses on treatment and prevention.</a:t>
            </a:r>
          </a:p>
          <a:p>
            <a:r>
              <a:rPr lang="en-GB" dirty="0"/>
              <a:t>Shortage of human resources due scarcity of adequately trained psychiatric nurses, clinical psychologists and psychiatrists due low turnover in training and exodus out of public sector due burnout , low job satisfactions, poor remuneration, emigration.</a:t>
            </a:r>
          </a:p>
          <a:p>
            <a:r>
              <a:rPr lang="en-GB" dirty="0"/>
              <a:t>Community based residents, appropriately licenced NGOs.</a:t>
            </a:r>
          </a:p>
        </p:txBody>
      </p:sp>
      <p:sp>
        <p:nvSpPr>
          <p:cNvPr id="4" name="Slide Number Placeholder 3"/>
          <p:cNvSpPr>
            <a:spLocks noGrp="1"/>
          </p:cNvSpPr>
          <p:nvPr>
            <p:ph type="sldNum" sz="quarter" idx="5"/>
          </p:nvPr>
        </p:nvSpPr>
        <p:spPr/>
        <p:txBody>
          <a:bodyPr/>
          <a:lstStyle/>
          <a:p>
            <a:fld id="{B3CB08FA-E20F-E042-B3BF-885FF5DE3467}" type="slidenum">
              <a:rPr lang="en-GB" smtClean="0"/>
              <a:t>25</a:t>
            </a:fld>
            <a:endParaRPr lang="en-GB"/>
          </a:p>
        </p:txBody>
      </p:sp>
    </p:spTree>
    <p:extLst>
      <p:ext uri="{BB962C8B-B14F-4D97-AF65-F5344CB8AC3E}">
        <p14:creationId xmlns:p14="http://schemas.microsoft.com/office/powerpoint/2010/main" val="3476747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Employers, teachers and police officers may not understand mental conditions.  This can result in poor support for affected individuals.</a:t>
            </a:r>
          </a:p>
          <a:p>
            <a:r>
              <a:rPr lang="en-GB" dirty="0"/>
              <a:t>Many sectors collect data but in separate systems, making it hard to share information or track outcomes across services.</a:t>
            </a:r>
          </a:p>
        </p:txBody>
      </p:sp>
      <p:sp>
        <p:nvSpPr>
          <p:cNvPr id="4" name="Slide Number Placeholder 3"/>
          <p:cNvSpPr>
            <a:spLocks noGrp="1"/>
          </p:cNvSpPr>
          <p:nvPr>
            <p:ph type="sldNum" sz="quarter" idx="5"/>
          </p:nvPr>
        </p:nvSpPr>
        <p:spPr/>
        <p:txBody>
          <a:bodyPr/>
          <a:lstStyle/>
          <a:p>
            <a:fld id="{B3CB08FA-E20F-E042-B3BF-885FF5DE3467}" type="slidenum">
              <a:rPr lang="en-GB" smtClean="0"/>
              <a:t>26</a:t>
            </a:fld>
            <a:endParaRPr lang="en-GB"/>
          </a:p>
        </p:txBody>
      </p:sp>
    </p:spTree>
    <p:extLst>
      <p:ext uri="{BB962C8B-B14F-4D97-AF65-F5344CB8AC3E}">
        <p14:creationId xmlns:p14="http://schemas.microsoft.com/office/powerpoint/2010/main" val="1565635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1B465-BD2F-5ABC-8E98-99966F80A87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238F638-F31E-B2B0-C62F-D0930C84A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2D12F19-7582-C9CB-49FC-CB33261F30C3}"/>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5" name="Footer Placeholder 4">
            <a:extLst>
              <a:ext uri="{FF2B5EF4-FFF2-40B4-BE49-F238E27FC236}">
                <a16:creationId xmlns:a16="http://schemas.microsoft.com/office/drawing/2014/main" id="{9B7A2672-102D-0122-D599-AAA0018FF1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F4A2A7-C513-53A4-0DA2-E1D014C3C591}"/>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4103649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F05CD-EEC7-F91C-ECB2-08CF29CDAC4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5738EA0-1F88-DD49-F41C-C39EE864D58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D98DAE-0041-0B48-31B4-030206A7C966}"/>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5" name="Footer Placeholder 4">
            <a:extLst>
              <a:ext uri="{FF2B5EF4-FFF2-40B4-BE49-F238E27FC236}">
                <a16:creationId xmlns:a16="http://schemas.microsoft.com/office/drawing/2014/main" id="{387A077F-E170-5A0B-152D-72C8CBFB40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46F92F-1408-68C0-2643-60ABFE9CC647}"/>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100794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4C1E6-1023-F13C-2727-A9EFFC36477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EC50A5E-D412-012C-78DC-EF00A63FB5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F4A82C3-727E-6B42-6AAD-ABBE19D00EBB}"/>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5" name="Footer Placeholder 4">
            <a:extLst>
              <a:ext uri="{FF2B5EF4-FFF2-40B4-BE49-F238E27FC236}">
                <a16:creationId xmlns:a16="http://schemas.microsoft.com/office/drawing/2014/main" id="{DD9209B8-FF46-496A-8500-193AC85F69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5E771D-F06C-0999-8A2B-A39C96833F74}"/>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036644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E339B-EE5E-37BA-51A9-B92511AD713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F1B0EC1-343F-34DB-5238-EE0E627D1F4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8C30DD8-E37B-F448-5168-712596F1E5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3F59F8B-3781-2F67-88E6-843090250ED1}"/>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6" name="Footer Placeholder 5">
            <a:extLst>
              <a:ext uri="{FF2B5EF4-FFF2-40B4-BE49-F238E27FC236}">
                <a16:creationId xmlns:a16="http://schemas.microsoft.com/office/drawing/2014/main" id="{BDF3F78E-8E18-7728-3FE4-ADC7122E6F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7F6262-2442-4CD1-0C00-FDE4013B35EA}"/>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649787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F7BA-1C17-DD39-80F0-AE62C1185C7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FF9F9A1-AC42-2A3C-53E5-0544A6C3D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1601F1-4CF5-1030-F154-4130B7B4BDB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FE8AC61-8E4A-B8BC-E0E8-A3285A4451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DF5212-7044-B1BF-CEAD-B53DDA01F63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F754D029-D6F6-BF1C-ED0B-9C2FD507F560}"/>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8" name="Footer Placeholder 7">
            <a:extLst>
              <a:ext uri="{FF2B5EF4-FFF2-40B4-BE49-F238E27FC236}">
                <a16:creationId xmlns:a16="http://schemas.microsoft.com/office/drawing/2014/main" id="{E7BE4C42-FEF2-CA00-D084-FFAE02697B7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C59916-519E-9CA2-4358-3D01DC8B6E1A}"/>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781573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762D1-8EA6-1F31-7101-15041F25B8D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79E8F2BE-246E-715C-9D12-2A7D6AE5BA1B}"/>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4" name="Footer Placeholder 3">
            <a:extLst>
              <a:ext uri="{FF2B5EF4-FFF2-40B4-BE49-F238E27FC236}">
                <a16:creationId xmlns:a16="http://schemas.microsoft.com/office/drawing/2014/main" id="{E580E496-644E-6FB1-5C4E-6A186921607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F13767A-E9AA-7A11-2726-5128DECEEF76}"/>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404719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F01BA9-9752-0F62-39CC-6ECD10DE7395}"/>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3" name="Footer Placeholder 2">
            <a:extLst>
              <a:ext uri="{FF2B5EF4-FFF2-40B4-BE49-F238E27FC236}">
                <a16:creationId xmlns:a16="http://schemas.microsoft.com/office/drawing/2014/main" id="{52E5A88C-DC6C-B9A1-E99A-6A7D1EBAE5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7F01E0B-35C7-2287-EB1C-FEAA04D2CC2A}"/>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16223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4859-915D-7DE0-7642-1E4F06D21C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B3F1A1E-7409-CB81-65C8-CB71F05716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63C53EC-BC29-CEE3-BA81-8EA1A95C74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219846-F571-00F1-1401-01305339DE41}"/>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6" name="Footer Placeholder 5">
            <a:extLst>
              <a:ext uri="{FF2B5EF4-FFF2-40B4-BE49-F238E27FC236}">
                <a16:creationId xmlns:a16="http://schemas.microsoft.com/office/drawing/2014/main" id="{B5BE47F0-C990-82A0-87EB-EB93459E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430DD4-6045-2980-73C9-658644038A30}"/>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76092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F8AA-F84D-B7B9-5463-E2E2FDE064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0080601-FE38-AA5C-CFB3-5A52C1D75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C7C7C32-D6C4-0850-D042-B7981B1B2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6B60DA-ADEF-6984-A076-C761C2D6B4E1}"/>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6" name="Footer Placeholder 5">
            <a:extLst>
              <a:ext uri="{FF2B5EF4-FFF2-40B4-BE49-F238E27FC236}">
                <a16:creationId xmlns:a16="http://schemas.microsoft.com/office/drawing/2014/main" id="{2FA1710D-D6F1-C13A-9CC0-1F4617A977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EFDDD4-3D65-E015-39E3-2F7A0D5164EE}"/>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221540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2DE5-25F5-6752-7790-19B7D5383DD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E2EDB0A-6D58-9646-9DC4-11A7A170E70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E422D5F-0092-4DC4-94AC-0E6030E26173}"/>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5" name="Footer Placeholder 4">
            <a:extLst>
              <a:ext uri="{FF2B5EF4-FFF2-40B4-BE49-F238E27FC236}">
                <a16:creationId xmlns:a16="http://schemas.microsoft.com/office/drawing/2014/main" id="{0D8A1322-D4E3-CFA4-B165-38C457FCF1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C3A846-0E91-9BAB-BBC1-AF649EBA26DD}"/>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3378754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C25556-A024-D4D9-326B-8FB808F42308}"/>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0F8657-AB18-C21D-05B8-4565BBF703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BF237C8-302B-D87E-D741-465A932A39EE}"/>
              </a:ext>
            </a:extLst>
          </p:cNvPr>
          <p:cNvSpPr>
            <a:spLocks noGrp="1"/>
          </p:cNvSpPr>
          <p:nvPr>
            <p:ph type="dt" sz="half" idx="10"/>
          </p:nvPr>
        </p:nvSpPr>
        <p:spPr/>
        <p:txBody>
          <a:bodyPr/>
          <a:lstStyle/>
          <a:p>
            <a:fld id="{B771F118-13DA-F440-A636-5D2EF9DD7D02}" type="datetimeFigureOut">
              <a:rPr lang="en-GB" smtClean="0"/>
              <a:t>09/04/2026</a:t>
            </a:fld>
            <a:endParaRPr lang="en-GB"/>
          </a:p>
        </p:txBody>
      </p:sp>
      <p:sp>
        <p:nvSpPr>
          <p:cNvPr id="5" name="Footer Placeholder 4">
            <a:extLst>
              <a:ext uri="{FF2B5EF4-FFF2-40B4-BE49-F238E27FC236}">
                <a16:creationId xmlns:a16="http://schemas.microsoft.com/office/drawing/2014/main" id="{04D96E1B-D12D-94A7-7DD7-0208C429D5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5E251A-36BA-17EA-6CB3-2B8BF58AE9C2}"/>
              </a:ext>
            </a:extLst>
          </p:cNvPr>
          <p:cNvSpPr>
            <a:spLocks noGrp="1"/>
          </p:cNvSpPr>
          <p:nvPr>
            <p:ph type="sldNum" sz="quarter" idx="12"/>
          </p:nvPr>
        </p:nvSpPr>
        <p:spPr/>
        <p:txBody>
          <a:bodyPr/>
          <a:lstStyle/>
          <a:p>
            <a:fld id="{2BD44FF1-7D77-5444-AEEB-DE69C34EE8CB}" type="slidenum">
              <a:rPr lang="en-GB" smtClean="0"/>
              <a:t>‹#›</a:t>
            </a:fld>
            <a:endParaRPr lang="en-GB"/>
          </a:p>
        </p:txBody>
      </p:sp>
    </p:spTree>
    <p:extLst>
      <p:ext uri="{BB962C8B-B14F-4D97-AF65-F5344CB8AC3E}">
        <p14:creationId xmlns:p14="http://schemas.microsoft.com/office/powerpoint/2010/main" val="1223437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B0F36-DFB8-4970-9A10-F529B8552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DF08EC9-7C87-F2B6-DEEB-01D1553E88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AC4B9D-F299-6AF8-A31B-3D861A3A11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71F118-13DA-F440-A636-5D2EF9DD7D02}" type="datetimeFigureOut">
              <a:rPr lang="en-GB" smtClean="0"/>
              <a:t>09/04/2026</a:t>
            </a:fld>
            <a:endParaRPr lang="en-GB"/>
          </a:p>
        </p:txBody>
      </p:sp>
      <p:sp>
        <p:nvSpPr>
          <p:cNvPr id="5" name="Footer Placeholder 4">
            <a:extLst>
              <a:ext uri="{FF2B5EF4-FFF2-40B4-BE49-F238E27FC236}">
                <a16:creationId xmlns:a16="http://schemas.microsoft.com/office/drawing/2014/main" id="{FFA07383-11DF-1799-E822-B006F60B3B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4EF60D5-6CD4-7E4D-E33D-6A7F8C4D60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D44FF1-7D77-5444-AEEB-DE69C34EE8CB}" type="slidenum">
              <a:rPr lang="en-GB" smtClean="0"/>
              <a:t>‹#›</a:t>
            </a:fld>
            <a:endParaRPr lang="en-GB"/>
          </a:p>
        </p:txBody>
      </p:sp>
    </p:spTree>
    <p:extLst>
      <p:ext uri="{BB962C8B-B14F-4D97-AF65-F5344CB8AC3E}">
        <p14:creationId xmlns:p14="http://schemas.microsoft.com/office/powerpoint/2010/main" val="1163461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art of brain">
            <a:extLst>
              <a:ext uri="{FF2B5EF4-FFF2-40B4-BE49-F238E27FC236}">
                <a16:creationId xmlns:a16="http://schemas.microsoft.com/office/drawing/2014/main" id="{643991F4-A054-2A45-BF0C-8A767DCE3737}"/>
              </a:ext>
            </a:extLst>
          </p:cNvPr>
          <p:cNvPicPr>
            <a:picLocks noChangeAspect="1"/>
          </p:cNvPicPr>
          <p:nvPr/>
        </p:nvPicPr>
        <p:blipFill>
          <a:blip r:embed="rId3">
            <a:alphaModFix amt="50000"/>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8BF149AB-3543-F8CF-16C1-8BEF66F6F320}"/>
              </a:ext>
            </a:extLst>
          </p:cNvPr>
          <p:cNvSpPr>
            <a:spLocks noGrp="1"/>
          </p:cNvSpPr>
          <p:nvPr>
            <p:ph type="ctrTitle"/>
          </p:nvPr>
        </p:nvSpPr>
        <p:spPr>
          <a:xfrm>
            <a:off x="1524000" y="1122362"/>
            <a:ext cx="9144000" cy="2900518"/>
          </a:xfrm>
        </p:spPr>
        <p:txBody>
          <a:bodyPr>
            <a:normAutofit/>
          </a:bodyPr>
          <a:lstStyle/>
          <a:p>
            <a:r>
              <a:rPr lang="en-GB">
                <a:solidFill>
                  <a:srgbClr val="FFFFFF"/>
                </a:solidFill>
              </a:rPr>
              <a:t>Multisectoral approach to Mental Health</a:t>
            </a:r>
          </a:p>
        </p:txBody>
      </p:sp>
      <p:sp>
        <p:nvSpPr>
          <p:cNvPr id="3" name="Subtitle 2">
            <a:extLst>
              <a:ext uri="{FF2B5EF4-FFF2-40B4-BE49-F238E27FC236}">
                <a16:creationId xmlns:a16="http://schemas.microsoft.com/office/drawing/2014/main" id="{21C3430B-52DE-7BF2-FA82-956BCEE5674B}"/>
              </a:ext>
            </a:extLst>
          </p:cNvPr>
          <p:cNvSpPr>
            <a:spLocks noGrp="1"/>
          </p:cNvSpPr>
          <p:nvPr>
            <p:ph type="subTitle" idx="1"/>
          </p:nvPr>
        </p:nvSpPr>
        <p:spPr>
          <a:xfrm>
            <a:off x="1524000" y="4159404"/>
            <a:ext cx="9144000" cy="1098395"/>
          </a:xfrm>
        </p:spPr>
        <p:txBody>
          <a:bodyPr>
            <a:normAutofit/>
          </a:bodyPr>
          <a:lstStyle/>
          <a:p>
            <a:r>
              <a:rPr lang="en-GB">
                <a:solidFill>
                  <a:srgbClr val="FFFFFF"/>
                </a:solidFill>
              </a:rPr>
              <a:t>22 April 2026</a:t>
            </a:r>
          </a:p>
          <a:p>
            <a:r>
              <a:rPr lang="en-GB">
                <a:solidFill>
                  <a:srgbClr val="FFFFFF"/>
                </a:solidFill>
              </a:rPr>
              <a:t>K Msane.</a:t>
            </a:r>
          </a:p>
        </p:txBody>
      </p:sp>
    </p:spTree>
    <p:extLst>
      <p:ext uri="{BB962C8B-B14F-4D97-AF65-F5344CB8AC3E}">
        <p14:creationId xmlns:p14="http://schemas.microsoft.com/office/powerpoint/2010/main" val="98753151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gital art of brain">
            <a:extLst>
              <a:ext uri="{FF2B5EF4-FFF2-40B4-BE49-F238E27FC236}">
                <a16:creationId xmlns:a16="http://schemas.microsoft.com/office/drawing/2014/main" id="{024C8C70-5DAA-CC63-5861-BA90F39757A6}"/>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CB6C15F-1B66-757D-A25D-B75F96D345BE}"/>
              </a:ext>
            </a:extLst>
          </p:cNvPr>
          <p:cNvSpPr>
            <a:spLocks noGrp="1"/>
          </p:cNvSpPr>
          <p:nvPr>
            <p:ph type="title"/>
          </p:nvPr>
        </p:nvSpPr>
        <p:spPr>
          <a:xfrm>
            <a:off x="838200" y="365125"/>
            <a:ext cx="10515600" cy="1325563"/>
          </a:xfrm>
        </p:spPr>
        <p:txBody>
          <a:bodyPr vert="horz" lIns="91440" tIns="45720" rIns="91440" bIns="45720" rtlCol="0">
            <a:normAutofit/>
          </a:bodyPr>
          <a:lstStyle/>
          <a:p>
            <a:r>
              <a:rPr lang="en-US" sz="2800">
                <a:solidFill>
                  <a:srgbClr val="FFFFFF"/>
                </a:solidFill>
              </a:rPr>
              <a:t>Contents</a:t>
            </a:r>
            <a:br>
              <a:rPr lang="en-US" sz="2800">
                <a:solidFill>
                  <a:srgbClr val="FFFFFF"/>
                </a:solidFill>
              </a:rPr>
            </a:br>
            <a:br>
              <a:rPr lang="en-US" sz="2800">
                <a:solidFill>
                  <a:srgbClr val="FFFFFF"/>
                </a:solidFill>
              </a:rPr>
            </a:br>
            <a:endParaRPr lang="en-US" sz="2800">
              <a:solidFill>
                <a:srgbClr val="FFFFFF"/>
              </a:solidFill>
            </a:endParaRPr>
          </a:p>
        </p:txBody>
      </p:sp>
      <p:sp>
        <p:nvSpPr>
          <p:cNvPr id="4" name="Content Placeholder 3">
            <a:extLst>
              <a:ext uri="{FF2B5EF4-FFF2-40B4-BE49-F238E27FC236}">
                <a16:creationId xmlns:a16="http://schemas.microsoft.com/office/drawing/2014/main" id="{14239E5B-F04D-944A-D556-60062F68A167}"/>
              </a:ext>
            </a:extLst>
          </p:cNvPr>
          <p:cNvSpPr>
            <a:spLocks noGrp="1"/>
          </p:cNvSpPr>
          <p:nvPr>
            <p:ph idx="1"/>
          </p:nvPr>
        </p:nvSpPr>
        <p:spPr>
          <a:xfrm>
            <a:off x="838200" y="1825625"/>
            <a:ext cx="10515600" cy="4351338"/>
          </a:xfrm>
        </p:spPr>
        <p:txBody>
          <a:bodyPr>
            <a:normAutofit/>
          </a:bodyPr>
          <a:lstStyle/>
          <a:p>
            <a:r>
              <a:rPr lang="en-GB" sz="2000">
                <a:solidFill>
                  <a:srgbClr val="FFFFFF"/>
                </a:solidFill>
              </a:rPr>
              <a:t>What is mental health.</a:t>
            </a:r>
            <a:br>
              <a:rPr lang="en-GB" sz="2000">
                <a:solidFill>
                  <a:srgbClr val="FFFFFF"/>
                </a:solidFill>
              </a:rPr>
            </a:br>
            <a:br>
              <a:rPr lang="en-GB" sz="2000">
                <a:solidFill>
                  <a:srgbClr val="FFFFFF"/>
                </a:solidFill>
              </a:rPr>
            </a:br>
            <a:r>
              <a:rPr lang="en-GB" sz="2000">
                <a:solidFill>
                  <a:srgbClr val="FFFFFF"/>
                </a:solidFill>
              </a:rPr>
              <a:t>Epidemiology of mental health in South Africa.</a:t>
            </a:r>
            <a:br>
              <a:rPr lang="en-GB" sz="2000">
                <a:solidFill>
                  <a:srgbClr val="FFFFFF"/>
                </a:solidFill>
              </a:rPr>
            </a:br>
            <a:br>
              <a:rPr lang="en-GB" sz="2000">
                <a:solidFill>
                  <a:srgbClr val="FFFFFF"/>
                </a:solidFill>
              </a:rPr>
            </a:br>
            <a:r>
              <a:rPr lang="en-GB" sz="2000">
                <a:solidFill>
                  <a:srgbClr val="FFFFFF"/>
                </a:solidFill>
              </a:rPr>
              <a:t>Why is mental health important/ benefits of good mental health.</a:t>
            </a:r>
            <a:br>
              <a:rPr lang="en-GB" sz="2000">
                <a:solidFill>
                  <a:srgbClr val="FFFFFF"/>
                </a:solidFill>
              </a:rPr>
            </a:br>
            <a:br>
              <a:rPr lang="en-GB" sz="2000">
                <a:solidFill>
                  <a:srgbClr val="FFFFFF"/>
                </a:solidFill>
              </a:rPr>
            </a:br>
            <a:r>
              <a:rPr lang="en-GB" sz="2000">
                <a:solidFill>
                  <a:srgbClr val="FFFFFF"/>
                </a:solidFill>
              </a:rPr>
              <a:t>Contributors of good mental health.</a:t>
            </a:r>
          </a:p>
          <a:p>
            <a:r>
              <a:rPr lang="en-GB" sz="2000">
                <a:solidFill>
                  <a:srgbClr val="FFFFFF"/>
                </a:solidFill>
              </a:rPr>
              <a:t>Epidemiology </a:t>
            </a:r>
            <a:br>
              <a:rPr lang="en-GB" sz="2000">
                <a:solidFill>
                  <a:srgbClr val="FFFFFF"/>
                </a:solidFill>
              </a:rPr>
            </a:br>
            <a:br>
              <a:rPr lang="en-GB" sz="2000">
                <a:solidFill>
                  <a:srgbClr val="FFFFFF"/>
                </a:solidFill>
              </a:rPr>
            </a:br>
            <a:r>
              <a:rPr lang="en-GB" sz="2000">
                <a:solidFill>
                  <a:srgbClr val="FFFFFF"/>
                </a:solidFill>
              </a:rPr>
              <a:t>Contributors/risk factors for poor mental health.</a:t>
            </a:r>
            <a:br>
              <a:rPr lang="en-GB" sz="2000">
                <a:solidFill>
                  <a:srgbClr val="FFFFFF"/>
                </a:solidFill>
              </a:rPr>
            </a:br>
            <a:r>
              <a:rPr lang="en-GB" sz="2000">
                <a:solidFill>
                  <a:srgbClr val="FFFFFF"/>
                </a:solidFill>
              </a:rPr>
              <a:t>Outcomes/ complications of poor mental health.</a:t>
            </a:r>
          </a:p>
          <a:p>
            <a:r>
              <a:rPr lang="en-GB" sz="2000">
                <a:solidFill>
                  <a:srgbClr val="FFFFFF"/>
                </a:solidFill>
              </a:rPr>
              <a:t>Multisectoral approach to mental health and illness</a:t>
            </a:r>
            <a:br>
              <a:rPr lang="en-GB" sz="2000">
                <a:solidFill>
                  <a:srgbClr val="FFFFFF"/>
                </a:solidFill>
              </a:rPr>
            </a:br>
            <a:br>
              <a:rPr lang="en-GB" sz="2000">
                <a:solidFill>
                  <a:srgbClr val="FFFFFF"/>
                </a:solidFill>
              </a:rPr>
            </a:br>
            <a:endParaRPr lang="en-GB" sz="2000">
              <a:solidFill>
                <a:srgbClr val="FFFFFF"/>
              </a:solidFill>
            </a:endParaRPr>
          </a:p>
        </p:txBody>
      </p:sp>
    </p:spTree>
    <p:extLst>
      <p:ext uri="{BB962C8B-B14F-4D97-AF65-F5344CB8AC3E}">
        <p14:creationId xmlns:p14="http://schemas.microsoft.com/office/powerpoint/2010/main" val="165774077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7705"/>
          </a:schemeClr>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Digital art of brain">
            <a:extLst>
              <a:ext uri="{FF2B5EF4-FFF2-40B4-BE49-F238E27FC236}">
                <a16:creationId xmlns:a16="http://schemas.microsoft.com/office/drawing/2014/main" id="{AB4C94C0-50B1-7E1B-D31E-43ECFAD97B6E}"/>
              </a:ext>
            </a:extLst>
          </p:cNvPr>
          <p:cNvPicPr>
            <a:picLocks noChangeAspect="1"/>
          </p:cNvPicPr>
          <p:nvPr/>
        </p:nvPicPr>
        <p:blipFill>
          <a:blip r:embed="rId3">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BA4CE775-9FC1-571B-8A0E-0CCC0DB896E5}"/>
              </a:ext>
            </a:extLst>
          </p:cNvPr>
          <p:cNvSpPr>
            <a:spLocks noGrp="1"/>
          </p:cNvSpPr>
          <p:nvPr>
            <p:ph type="title"/>
          </p:nvPr>
        </p:nvSpPr>
        <p:spPr>
          <a:xfrm>
            <a:off x="1198181" y="728906"/>
            <a:ext cx="9792471" cy="2057037"/>
          </a:xfrm>
        </p:spPr>
        <p:txBody>
          <a:bodyPr>
            <a:normAutofit/>
          </a:bodyPr>
          <a:lstStyle/>
          <a:p>
            <a:r>
              <a:rPr lang="en-GB" dirty="0">
                <a:solidFill>
                  <a:srgbClr val="FFFFFF"/>
                </a:solidFill>
              </a:rPr>
              <a:t>Mental health</a:t>
            </a:r>
          </a:p>
        </p:txBody>
      </p:sp>
      <p:sp>
        <p:nvSpPr>
          <p:cNvPr id="3" name="Content Placeholder 2">
            <a:extLst>
              <a:ext uri="{FF2B5EF4-FFF2-40B4-BE49-F238E27FC236}">
                <a16:creationId xmlns:a16="http://schemas.microsoft.com/office/drawing/2014/main" id="{0CE83EC9-5A44-945B-65F8-B12D525D8811}"/>
              </a:ext>
            </a:extLst>
          </p:cNvPr>
          <p:cNvSpPr>
            <a:spLocks noGrp="1"/>
          </p:cNvSpPr>
          <p:nvPr>
            <p:ph idx="1"/>
          </p:nvPr>
        </p:nvSpPr>
        <p:spPr>
          <a:xfrm>
            <a:off x="1198181" y="2957665"/>
            <a:ext cx="9792471" cy="3171423"/>
          </a:xfrm>
        </p:spPr>
        <p:txBody>
          <a:bodyPr>
            <a:normAutofit/>
          </a:bodyPr>
          <a:lstStyle/>
          <a:p>
            <a:r>
              <a:rPr lang="en-GB" sz="2000">
                <a:solidFill>
                  <a:srgbClr val="FFFFFF"/>
                </a:solidFill>
              </a:rPr>
              <a:t>The World Health Organisation (WHO) describes mental health as “Mental health is a state of mental well-being that enables people to cope with the stresses of life, realize their abilities, learn well and work well, and contribute to their community”.</a:t>
            </a:r>
          </a:p>
        </p:txBody>
      </p:sp>
    </p:spTree>
    <p:extLst>
      <p:ext uri="{BB962C8B-B14F-4D97-AF65-F5344CB8AC3E}">
        <p14:creationId xmlns:p14="http://schemas.microsoft.com/office/powerpoint/2010/main" val="4250399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art of brain">
            <a:extLst>
              <a:ext uri="{FF2B5EF4-FFF2-40B4-BE49-F238E27FC236}">
                <a16:creationId xmlns:a16="http://schemas.microsoft.com/office/drawing/2014/main" id="{F5E2AEF5-1ACD-CA60-433F-1068151A43E2}"/>
              </a:ext>
            </a:extLst>
          </p:cNvPr>
          <p:cNvPicPr>
            <a:picLocks noChangeAspect="1"/>
          </p:cNvPicPr>
          <p:nvPr/>
        </p:nvPicPr>
        <p:blipFill>
          <a:blip r:embed="rId3">
            <a:alphaModFix amt="35000"/>
          </a:blip>
          <a:srcRect/>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F64173E4-16BA-F913-7300-3E87F920EB8B}"/>
              </a:ext>
            </a:extLst>
          </p:cNvPr>
          <p:cNvSpPr>
            <a:spLocks noGrp="1"/>
          </p:cNvSpPr>
          <p:nvPr>
            <p:ph type="title"/>
          </p:nvPr>
        </p:nvSpPr>
        <p:spPr>
          <a:xfrm>
            <a:off x="838200" y="365125"/>
            <a:ext cx="10515600" cy="1325563"/>
          </a:xfrm>
        </p:spPr>
        <p:txBody>
          <a:bodyPr>
            <a:normAutofit/>
          </a:bodyPr>
          <a:lstStyle/>
          <a:p>
            <a:r>
              <a:rPr lang="en-GB">
                <a:solidFill>
                  <a:srgbClr val="FFFFFF"/>
                </a:solidFill>
              </a:rPr>
              <a:t>Good mental health</a:t>
            </a:r>
          </a:p>
        </p:txBody>
      </p:sp>
      <p:sp>
        <p:nvSpPr>
          <p:cNvPr id="3" name="Content Placeholder 2">
            <a:extLst>
              <a:ext uri="{FF2B5EF4-FFF2-40B4-BE49-F238E27FC236}">
                <a16:creationId xmlns:a16="http://schemas.microsoft.com/office/drawing/2014/main" id="{E2ECAEFE-0BDD-F00B-2ADF-7403539A5FE6}"/>
              </a:ext>
            </a:extLst>
          </p:cNvPr>
          <p:cNvSpPr>
            <a:spLocks noGrp="1"/>
          </p:cNvSpPr>
          <p:nvPr>
            <p:ph idx="1"/>
          </p:nvPr>
        </p:nvSpPr>
        <p:spPr>
          <a:xfrm>
            <a:off x="838200" y="1825625"/>
            <a:ext cx="10515600" cy="4351338"/>
          </a:xfrm>
        </p:spPr>
        <p:txBody>
          <a:bodyPr>
            <a:normAutofit/>
          </a:bodyPr>
          <a:lstStyle/>
          <a:p>
            <a:r>
              <a:rPr lang="en-GB" sz="1500" dirty="0">
                <a:solidFill>
                  <a:srgbClr val="FFFFFF"/>
                </a:solidFill>
              </a:rPr>
              <a:t>Resilience  (the ability to withstand and adapt successfully  despite challenging circumstances).</a:t>
            </a:r>
          </a:p>
          <a:p>
            <a:r>
              <a:rPr lang="en-GB" sz="1500" dirty="0">
                <a:solidFill>
                  <a:srgbClr val="FFFFFF"/>
                </a:solidFill>
              </a:rPr>
              <a:t>The ability to tolerate uncertainty and discomfort and tension and to take risks in a responsible manner.</a:t>
            </a:r>
          </a:p>
          <a:p>
            <a:r>
              <a:rPr lang="en-GB" sz="1500" dirty="0">
                <a:solidFill>
                  <a:srgbClr val="FFFFFF"/>
                </a:solidFill>
              </a:rPr>
              <a:t>A sense of self sufficiency, self-worth and self-esteem and be productive in personal and professional lives.</a:t>
            </a:r>
          </a:p>
          <a:p>
            <a:r>
              <a:rPr lang="en-GB" sz="1500" dirty="0">
                <a:solidFill>
                  <a:srgbClr val="FFFFFF"/>
                </a:solidFill>
              </a:rPr>
              <a:t>The ability to examines oneself ( introspect) and consider change that may be required.</a:t>
            </a:r>
          </a:p>
          <a:p>
            <a:r>
              <a:rPr lang="en-GB" sz="1500" dirty="0">
                <a:solidFill>
                  <a:srgbClr val="FFFFFF"/>
                </a:solidFill>
              </a:rPr>
              <a:t>The ability to learn from experiences.</a:t>
            </a:r>
          </a:p>
          <a:p>
            <a:r>
              <a:rPr lang="en-GB" sz="1500" dirty="0">
                <a:solidFill>
                  <a:srgbClr val="FFFFFF"/>
                </a:solidFill>
              </a:rPr>
              <a:t>The ability to interact with others and to offer affection and o experience deep emotions, in ways that are appropriate with healthy boundaries and strengthen social networks.</a:t>
            </a:r>
          </a:p>
          <a:p>
            <a:r>
              <a:rPr lang="en-GB" sz="1500" dirty="0">
                <a:solidFill>
                  <a:srgbClr val="FFFFFF"/>
                </a:solidFill>
              </a:rPr>
              <a:t>Empathise with others.</a:t>
            </a:r>
          </a:p>
          <a:p>
            <a:r>
              <a:rPr lang="en-GB" sz="1500" dirty="0">
                <a:solidFill>
                  <a:srgbClr val="FFFFFF"/>
                </a:solidFill>
              </a:rPr>
              <a:t>Ability to form enduring/lasting emotional connections.</a:t>
            </a:r>
          </a:p>
          <a:p>
            <a:r>
              <a:rPr lang="en-GB" sz="1500" dirty="0">
                <a:solidFill>
                  <a:srgbClr val="FFFFFF"/>
                </a:solidFill>
              </a:rPr>
              <a:t>The ability to use your imagination for creative or other suitable purposes.</a:t>
            </a:r>
          </a:p>
          <a:p>
            <a:r>
              <a:rPr lang="en-GB" sz="1500" dirty="0">
                <a:solidFill>
                  <a:srgbClr val="FFFFFF"/>
                </a:solidFill>
              </a:rPr>
              <a:t>Engage in spiritual and religious beliefs in meaningful ways</a:t>
            </a:r>
          </a:p>
          <a:p>
            <a:r>
              <a:rPr lang="en-GB" sz="1500" dirty="0">
                <a:solidFill>
                  <a:srgbClr val="FFFFFF"/>
                </a:solidFill>
              </a:rPr>
              <a:t>Thereby reduces risk of developing chronic diseases.</a:t>
            </a:r>
          </a:p>
          <a:p>
            <a:endParaRPr lang="en-GB" sz="1500" dirty="0">
              <a:solidFill>
                <a:srgbClr val="FFFFFF"/>
              </a:solidFill>
            </a:endParaRPr>
          </a:p>
          <a:p>
            <a:endParaRPr lang="en-GB" sz="1500" dirty="0">
              <a:solidFill>
                <a:srgbClr val="FFFFFF"/>
              </a:solidFill>
            </a:endParaRPr>
          </a:p>
        </p:txBody>
      </p:sp>
    </p:spTree>
    <p:extLst>
      <p:ext uri="{BB962C8B-B14F-4D97-AF65-F5344CB8AC3E}">
        <p14:creationId xmlns:p14="http://schemas.microsoft.com/office/powerpoint/2010/main" val="265610882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Digital art of brain">
            <a:extLst>
              <a:ext uri="{FF2B5EF4-FFF2-40B4-BE49-F238E27FC236}">
                <a16:creationId xmlns:a16="http://schemas.microsoft.com/office/drawing/2014/main" id="{19CD69BF-32D5-9B92-9428-841D645CCF82}"/>
              </a:ext>
            </a:extLst>
          </p:cNvPr>
          <p:cNvPicPr>
            <a:picLocks noGrp="1" noChangeAspect="1"/>
          </p:cNvPicPr>
          <p:nvPr>
            <p:ph idx="1"/>
          </p:nvPr>
        </p:nvPicPr>
        <p:blipFill>
          <a:blip r:embed="rId3">
            <a:alphaModFix amt="35000"/>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5BF95745-9B4E-1A63-1740-16DE1F60A023}"/>
              </a:ext>
            </a:extLst>
          </p:cNvPr>
          <p:cNvSpPr>
            <a:spLocks noGrp="1"/>
          </p:cNvSpPr>
          <p:nvPr>
            <p:ph type="title"/>
          </p:nvPr>
        </p:nvSpPr>
        <p:spPr>
          <a:xfrm>
            <a:off x="526471" y="326143"/>
            <a:ext cx="10137569" cy="1213065"/>
          </a:xfrm>
        </p:spPr>
        <p:txBody>
          <a:bodyPr vert="horz" lIns="91440" tIns="45720" rIns="91440" bIns="45720" rtlCol="0" anchor="b">
            <a:normAutofit fontScale="90000"/>
          </a:bodyPr>
          <a:lstStyle/>
          <a:p>
            <a:r>
              <a:rPr lang="en-US" sz="6000" dirty="0">
                <a:solidFill>
                  <a:srgbClr val="FFFFFF"/>
                </a:solidFill>
              </a:rPr>
              <a:t>Determinants of good mental health</a:t>
            </a:r>
          </a:p>
        </p:txBody>
      </p:sp>
      <p:graphicFrame>
        <p:nvGraphicFramePr>
          <p:cNvPr id="12" name="Table 11">
            <a:extLst>
              <a:ext uri="{FF2B5EF4-FFF2-40B4-BE49-F238E27FC236}">
                <a16:creationId xmlns:a16="http://schemas.microsoft.com/office/drawing/2014/main" id="{0A0009FC-65A8-2753-1902-C1CAA233F2F9}"/>
              </a:ext>
            </a:extLst>
          </p:cNvPr>
          <p:cNvGraphicFramePr>
            <a:graphicFrameLocks noGrp="1"/>
          </p:cNvGraphicFramePr>
          <p:nvPr>
            <p:extLst>
              <p:ext uri="{D42A27DB-BD31-4B8C-83A1-F6EECF244321}">
                <p14:modId xmlns:p14="http://schemas.microsoft.com/office/powerpoint/2010/main" val="1148260071"/>
              </p:ext>
            </p:extLst>
          </p:nvPr>
        </p:nvGraphicFramePr>
        <p:xfrm>
          <a:off x="688768" y="1858753"/>
          <a:ext cx="10521536" cy="4399543"/>
        </p:xfrm>
        <a:graphic>
          <a:graphicData uri="http://schemas.openxmlformats.org/drawingml/2006/table">
            <a:tbl>
              <a:tblPr firstRow="1" firstCol="1" bandRow="1"/>
              <a:tblGrid>
                <a:gridCol w="3511192">
                  <a:extLst>
                    <a:ext uri="{9D8B030D-6E8A-4147-A177-3AD203B41FA5}">
                      <a16:colId xmlns:a16="http://schemas.microsoft.com/office/drawing/2014/main" val="3445654925"/>
                    </a:ext>
                  </a:extLst>
                </a:gridCol>
                <a:gridCol w="3499152">
                  <a:extLst>
                    <a:ext uri="{9D8B030D-6E8A-4147-A177-3AD203B41FA5}">
                      <a16:colId xmlns:a16="http://schemas.microsoft.com/office/drawing/2014/main" val="1930936933"/>
                    </a:ext>
                  </a:extLst>
                </a:gridCol>
                <a:gridCol w="3511192">
                  <a:extLst>
                    <a:ext uri="{9D8B030D-6E8A-4147-A177-3AD203B41FA5}">
                      <a16:colId xmlns:a16="http://schemas.microsoft.com/office/drawing/2014/main" val="3075053105"/>
                    </a:ext>
                  </a:extLst>
                </a:gridCol>
              </a:tblGrid>
              <a:tr h="397937">
                <a:tc>
                  <a:txBody>
                    <a:bodyPr/>
                    <a:lstStyle/>
                    <a:p>
                      <a:pPr algn="l">
                        <a:buNone/>
                        <a:tabLst>
                          <a:tab pos="726440" algn="l"/>
                        </a:tabLst>
                      </a:pPr>
                      <a:r>
                        <a:rPr lang="en-GB" sz="1400" b="1" dirty="0">
                          <a:effectLst/>
                          <a:latin typeface="Aptos" panose="020B0004020202020204" pitchFamily="34" charset="0"/>
                          <a:ea typeface="Aptos" panose="020B0004020202020204" pitchFamily="34" charset="0"/>
                          <a:cs typeface="Times New Roman" panose="02020603050405020304" pitchFamily="18" charset="0"/>
                        </a:rPr>
                        <a:t>INDIVIDUAL</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l">
                        <a:buNone/>
                        <a:tabLst>
                          <a:tab pos="726440" algn="l"/>
                        </a:tabLst>
                      </a:pPr>
                      <a:r>
                        <a:rPr lang="en-GB" sz="1400" b="1">
                          <a:effectLst/>
                          <a:latin typeface="Aptos" panose="020B0004020202020204" pitchFamily="34" charset="0"/>
                          <a:ea typeface="Aptos" panose="020B0004020202020204" pitchFamily="34" charset="0"/>
                          <a:cs typeface="Times New Roman" panose="02020603050405020304" pitchFamily="18" charset="0"/>
                        </a:rPr>
                        <a:t>FAMILY</a:t>
                      </a:r>
                      <a:endParaRPr lang="en-ZA" sz="140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l">
                        <a:buNone/>
                        <a:tabLst>
                          <a:tab pos="726440" algn="l"/>
                        </a:tabLst>
                      </a:pPr>
                      <a:r>
                        <a:rPr lang="en-GB" sz="1400" b="1" dirty="0">
                          <a:effectLst/>
                          <a:latin typeface="Aptos" panose="020B0004020202020204" pitchFamily="34" charset="0"/>
                          <a:ea typeface="Aptos" panose="020B0004020202020204" pitchFamily="34" charset="0"/>
                          <a:cs typeface="Times New Roman" panose="02020603050405020304" pitchFamily="18" charset="0"/>
                        </a:rPr>
                        <a:t>ENVIRONMENT</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7692257"/>
                  </a:ext>
                </a:extLst>
              </a:tr>
              <a:tr h="4001606">
                <a:tc>
                  <a:txBody>
                    <a:bodyPr/>
                    <a:lstStyle/>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Easy temperament</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Female gender (prior to adolescence) and </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Male gender (during adolescence).</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Higher IQ.</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social skills.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Feeling of empathy with others.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Sense of humour.</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Awareness of strengths and limitations.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Sense of identity and agency and purpose.</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self-esteem. </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problem-solving skills.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Higher level of education.</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physical health</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228600" algn="l"/>
                          <a:tab pos="726440" algn="l"/>
                        </a:tabLst>
                      </a:pPr>
                      <a:r>
                        <a:rPr lang="en-ZA" sz="1400" dirty="0">
                          <a:effectLst/>
                          <a:latin typeface="Aptos" panose="020B0004020202020204" pitchFamily="34" charset="0"/>
                          <a:ea typeface="Aptos" panose="020B0004020202020204" pitchFamily="34" charset="0"/>
                          <a:cs typeface="Times New Roman" panose="02020603050405020304" pitchFamily="18" charset="0"/>
                        </a:rPr>
                        <a:t>Personality traits agreeableness, emotional stability and conscientiousness.</a:t>
                      </a:r>
                    </a:p>
                  </a:txBody>
                  <a:tcPr marL="65595" marR="65595" marT="8482"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Warm and supportive caregivers.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Good Parent–child relationship.</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Parental harmony.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Supportive extended family.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A valued social role, e.g. Helping siblings; where parental conflict exists, a close relationship with one parent or other attachment figure.</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Successful school experiences.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Stable employment</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Valued social role and a sense of purpose, e.g. job, volunteering, helping neighbour.</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A close relationship with others, sense of community and belonging.</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Membership of a religious or faith community.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Extracurricular activities </a:t>
                      </a:r>
                      <a:r>
                        <a:rPr lang="en-GB" sz="1400" dirty="0" err="1">
                          <a:effectLst/>
                          <a:latin typeface="Aptos" panose="020B0004020202020204" pitchFamily="34" charset="0"/>
                          <a:ea typeface="Aptos" panose="020B0004020202020204" pitchFamily="34" charset="0"/>
                          <a:cs typeface="Times New Roman" panose="02020603050405020304" pitchFamily="18" charset="0"/>
                        </a:rPr>
                        <a:t>e.g</a:t>
                      </a:r>
                      <a:r>
                        <a:rPr lang="en-GB" sz="1400" dirty="0">
                          <a:effectLst/>
                          <a:latin typeface="Aptos" panose="020B0004020202020204" pitchFamily="34" charset="0"/>
                          <a:ea typeface="Aptos" panose="020B0004020202020204" pitchFamily="34" charset="0"/>
                          <a:cs typeface="Times New Roman" panose="02020603050405020304" pitchFamily="18" charset="0"/>
                        </a:rPr>
                        <a:t> hobbies, gardening.</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lnSpc>
                          <a:spcPct val="150000"/>
                        </a:lnSpc>
                        <a:buFont typeface="Arial" panose="020B0604020202020204" pitchFamily="34" charset="0"/>
                        <a:buChar char="•"/>
                        <a:tabLst>
                          <a:tab pos="228600" algn="l"/>
                          <a:tab pos="726440" algn="l"/>
                        </a:tabLst>
                      </a:pPr>
                      <a:r>
                        <a:rPr lang="en-GB" sz="1400" dirty="0">
                          <a:effectLst/>
                          <a:latin typeface="Aptos" panose="020B0004020202020204" pitchFamily="34" charset="0"/>
                          <a:ea typeface="Aptos" panose="020B0004020202020204" pitchFamily="34" charset="0"/>
                          <a:cs typeface="Times New Roman" panose="02020603050405020304" pitchFamily="18" charset="0"/>
                        </a:rPr>
                        <a:t>Economic stability.</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txBody>
                  <a:tcPr marL="65595" marR="65595" marT="8482"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398793"/>
                  </a:ext>
                </a:extLst>
              </a:tr>
            </a:tbl>
          </a:graphicData>
        </a:graphic>
      </p:graphicFrame>
    </p:spTree>
    <p:extLst>
      <p:ext uri="{BB962C8B-B14F-4D97-AF65-F5344CB8AC3E}">
        <p14:creationId xmlns:p14="http://schemas.microsoft.com/office/powerpoint/2010/main" val="262084079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5E8324CC-A9B7-FB78-FC79-FE2446FECD15}"/>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644A7D8-CD7F-186D-7076-DD71C19AD87D}"/>
              </a:ext>
            </a:extLst>
          </p:cNvPr>
          <p:cNvSpPr>
            <a:spLocks noGrp="1"/>
          </p:cNvSpPr>
          <p:nvPr>
            <p:ph type="title"/>
          </p:nvPr>
        </p:nvSpPr>
        <p:spPr>
          <a:xfrm>
            <a:off x="838200" y="365125"/>
            <a:ext cx="10515600" cy="1325563"/>
          </a:xfrm>
        </p:spPr>
        <p:txBody>
          <a:bodyPr>
            <a:normAutofit/>
          </a:bodyPr>
          <a:lstStyle/>
          <a:p>
            <a:r>
              <a:rPr lang="en-GB">
                <a:solidFill>
                  <a:srgbClr val="FFFFFF"/>
                </a:solidFill>
              </a:rPr>
              <a:t>Epidemiology </a:t>
            </a:r>
          </a:p>
        </p:txBody>
      </p:sp>
      <p:sp>
        <p:nvSpPr>
          <p:cNvPr id="3" name="Content Placeholder 2">
            <a:extLst>
              <a:ext uri="{FF2B5EF4-FFF2-40B4-BE49-F238E27FC236}">
                <a16:creationId xmlns:a16="http://schemas.microsoft.com/office/drawing/2014/main" id="{9C60EDD4-5110-54D1-06B9-CB81CE92ADDC}"/>
              </a:ext>
            </a:extLst>
          </p:cNvPr>
          <p:cNvSpPr>
            <a:spLocks noGrp="1"/>
          </p:cNvSpPr>
          <p:nvPr>
            <p:ph idx="1"/>
          </p:nvPr>
        </p:nvSpPr>
        <p:spPr>
          <a:xfrm>
            <a:off x="838200" y="1825625"/>
            <a:ext cx="10515600" cy="4351338"/>
          </a:xfrm>
        </p:spPr>
        <p:txBody>
          <a:bodyPr>
            <a:normAutofit/>
          </a:bodyPr>
          <a:lstStyle/>
          <a:p>
            <a:r>
              <a:rPr lang="en-GB" sz="1100" dirty="0">
                <a:solidFill>
                  <a:srgbClr val="FFFFFF"/>
                </a:solidFill>
              </a:rPr>
              <a:t>Globally over 1 billion people estimated to have mental disorders</a:t>
            </a:r>
          </a:p>
          <a:p>
            <a:r>
              <a:rPr lang="en-GB" sz="1100" dirty="0">
                <a:solidFill>
                  <a:srgbClr val="FFFFFF"/>
                </a:solidFill>
              </a:rPr>
              <a:t>That 1 in 8 people</a:t>
            </a:r>
          </a:p>
          <a:p>
            <a:r>
              <a:rPr lang="en-GB" sz="1100" dirty="0">
                <a:solidFill>
                  <a:srgbClr val="FFFFFF"/>
                </a:solidFill>
              </a:rPr>
              <a:t>I was estimated by 2030 it would be the biggest contributor to burden of disease, but it seems it seems that that milestones has been passed already.</a:t>
            </a:r>
          </a:p>
          <a:p>
            <a:r>
              <a:rPr lang="en-GB" sz="1100" dirty="0">
                <a:solidFill>
                  <a:srgbClr val="FFFFFF"/>
                </a:solidFill>
              </a:rPr>
              <a:t>1 in 10 Daly</a:t>
            </a:r>
          </a:p>
          <a:p>
            <a:r>
              <a:rPr lang="en-GB" sz="1100" dirty="0">
                <a:solidFill>
                  <a:srgbClr val="FFFFFF"/>
                </a:solidFill>
              </a:rPr>
              <a:t>1in 6 YLD</a:t>
            </a:r>
          </a:p>
          <a:p>
            <a:r>
              <a:rPr lang="en-GB" sz="1100" dirty="0">
                <a:solidFill>
                  <a:srgbClr val="FFFFFF"/>
                </a:solidFill>
              </a:rPr>
              <a:t>High affected age group is between 25-54</a:t>
            </a:r>
          </a:p>
          <a:p>
            <a:r>
              <a:rPr lang="en-GB" sz="1100" dirty="0">
                <a:solidFill>
                  <a:srgbClr val="FFFFFF"/>
                </a:solidFill>
              </a:rPr>
              <a:t>35-39</a:t>
            </a:r>
          </a:p>
          <a:p>
            <a:r>
              <a:rPr lang="en-GB" sz="1100" dirty="0">
                <a:solidFill>
                  <a:srgbClr val="FFFFFF"/>
                </a:solidFill>
              </a:rPr>
              <a:t>40-44</a:t>
            </a:r>
          </a:p>
          <a:p>
            <a:r>
              <a:rPr lang="en-GB" sz="1100" dirty="0">
                <a:solidFill>
                  <a:srgbClr val="FFFFFF"/>
                </a:solidFill>
              </a:rPr>
              <a:t>71% not receiving adequate or any treatment at all.</a:t>
            </a:r>
          </a:p>
          <a:p>
            <a:endParaRPr lang="en-GB" sz="1100" dirty="0">
              <a:solidFill>
                <a:srgbClr val="FFFFFF"/>
              </a:solidFill>
            </a:endParaRPr>
          </a:p>
          <a:p>
            <a:endParaRPr lang="en-GB" sz="1100" dirty="0">
              <a:solidFill>
                <a:srgbClr val="FFFFFF"/>
              </a:solidFill>
            </a:endParaRPr>
          </a:p>
        </p:txBody>
      </p:sp>
    </p:spTree>
    <p:extLst>
      <p:ext uri="{BB962C8B-B14F-4D97-AF65-F5344CB8AC3E}">
        <p14:creationId xmlns:p14="http://schemas.microsoft.com/office/powerpoint/2010/main" val="104315201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E7AD7541-3DE6-4B94-0044-D66994393594}"/>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E2651F2-026D-F824-64EE-66DA3E5312FB}"/>
              </a:ext>
            </a:extLst>
          </p:cNvPr>
          <p:cNvSpPr>
            <a:spLocks noGrp="1"/>
          </p:cNvSpPr>
          <p:nvPr>
            <p:ph type="title"/>
          </p:nvPr>
        </p:nvSpPr>
        <p:spPr>
          <a:xfrm>
            <a:off x="838200" y="365125"/>
            <a:ext cx="10515600" cy="1325563"/>
          </a:xfrm>
        </p:spPr>
        <p:txBody>
          <a:bodyPr>
            <a:normAutofit/>
          </a:bodyPr>
          <a:lstStyle/>
          <a:p>
            <a:r>
              <a:rPr lang="en-GB">
                <a:solidFill>
                  <a:srgbClr val="FFFFFF"/>
                </a:solidFill>
              </a:rPr>
              <a:t>EPIDEMIOLOGY</a:t>
            </a:r>
          </a:p>
        </p:txBody>
      </p:sp>
      <p:sp>
        <p:nvSpPr>
          <p:cNvPr id="3" name="Content Placeholder 2">
            <a:extLst>
              <a:ext uri="{FF2B5EF4-FFF2-40B4-BE49-F238E27FC236}">
                <a16:creationId xmlns:a16="http://schemas.microsoft.com/office/drawing/2014/main" id="{889F5623-51BB-B388-303C-5243C259000A}"/>
              </a:ext>
            </a:extLst>
          </p:cNvPr>
          <p:cNvSpPr>
            <a:spLocks noGrp="1"/>
          </p:cNvSpPr>
          <p:nvPr>
            <p:ph idx="1"/>
          </p:nvPr>
        </p:nvSpPr>
        <p:spPr>
          <a:xfrm>
            <a:off x="838200" y="1825625"/>
            <a:ext cx="10515600" cy="4351338"/>
          </a:xfrm>
        </p:spPr>
        <p:txBody>
          <a:bodyPr>
            <a:normAutofit lnSpcReduction="10000"/>
          </a:bodyPr>
          <a:lstStyle/>
          <a:p>
            <a:r>
              <a:rPr lang="en-GB" sz="2200" dirty="0">
                <a:solidFill>
                  <a:srgbClr val="FFFFFF"/>
                </a:solidFill>
              </a:rPr>
              <a:t>In South Africa:</a:t>
            </a:r>
          </a:p>
          <a:p>
            <a:endParaRPr lang="en-GB" sz="2200" dirty="0">
              <a:solidFill>
                <a:srgbClr val="FFFFFF"/>
              </a:solidFill>
            </a:endParaRPr>
          </a:p>
          <a:p>
            <a:r>
              <a:rPr lang="en-GB" sz="2200" dirty="0">
                <a:solidFill>
                  <a:srgbClr val="FFFFFF"/>
                </a:solidFill>
              </a:rPr>
              <a:t>13-16% ( 1in 6 people) of the population prevalence of mental disorders</a:t>
            </a:r>
          </a:p>
          <a:p>
            <a:endParaRPr lang="en-GB" sz="2200" dirty="0">
              <a:solidFill>
                <a:srgbClr val="FFFFFF"/>
              </a:solidFill>
            </a:endParaRPr>
          </a:p>
          <a:p>
            <a:r>
              <a:rPr lang="en-GB" sz="2200" dirty="0">
                <a:solidFill>
                  <a:srgbClr val="FFFFFF"/>
                </a:solidFill>
              </a:rPr>
              <a:t>30% lifetime chance of mental disorder ( 1in 3 people)</a:t>
            </a:r>
          </a:p>
          <a:p>
            <a:endParaRPr lang="en-GB" sz="2200" dirty="0">
              <a:solidFill>
                <a:srgbClr val="FFFFFF"/>
              </a:solidFill>
            </a:endParaRPr>
          </a:p>
          <a:p>
            <a:r>
              <a:rPr lang="en-GB" sz="2200" dirty="0">
                <a:solidFill>
                  <a:srgbClr val="FFFFFF"/>
                </a:solidFill>
              </a:rPr>
              <a:t>Largest contributing disorders are depression and anxiety.</a:t>
            </a:r>
          </a:p>
          <a:p>
            <a:endParaRPr lang="en-GB" sz="2200" dirty="0">
              <a:solidFill>
                <a:srgbClr val="FFFFFF"/>
              </a:solidFill>
            </a:endParaRPr>
          </a:p>
          <a:p>
            <a:r>
              <a:rPr lang="en-GB" sz="2200" dirty="0">
                <a:solidFill>
                  <a:srgbClr val="FFFFFF"/>
                </a:solidFill>
              </a:rPr>
              <a:t>ADHD is the most common disorder in children with about 1 in 20 children being diagnosed</a:t>
            </a:r>
          </a:p>
          <a:p>
            <a:r>
              <a:rPr lang="en-GB" sz="2200" dirty="0">
                <a:solidFill>
                  <a:srgbClr val="FFFFFF"/>
                </a:solidFill>
              </a:rPr>
              <a:t>91 % of severely mentally ill lack access to adequate treatment.</a:t>
            </a:r>
          </a:p>
        </p:txBody>
      </p:sp>
    </p:spTree>
    <p:extLst>
      <p:ext uri="{BB962C8B-B14F-4D97-AF65-F5344CB8AC3E}">
        <p14:creationId xmlns:p14="http://schemas.microsoft.com/office/powerpoint/2010/main" val="428933571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DDCE13E6-9EFA-46F9-BD70-77258636A7DF}"/>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2C029D2-3D97-FCF1-BA13-117187FA6799}"/>
              </a:ext>
            </a:extLst>
          </p:cNvPr>
          <p:cNvSpPr>
            <a:spLocks noGrp="1"/>
          </p:cNvSpPr>
          <p:nvPr>
            <p:ph type="title"/>
          </p:nvPr>
        </p:nvSpPr>
        <p:spPr>
          <a:xfrm>
            <a:off x="838200" y="365125"/>
            <a:ext cx="10515600" cy="1325563"/>
          </a:xfrm>
        </p:spPr>
        <p:txBody>
          <a:bodyPr>
            <a:normAutofit/>
          </a:bodyPr>
          <a:lstStyle/>
          <a:p>
            <a:pPr marL="228600" marR="0" lvl="0" indent="-228600" defTabSz="914400" rtl="0" eaLnBrk="1" fontAlgn="auto" latinLnBrk="0" hangingPunct="1">
              <a:spcBef>
                <a:spcPts val="1000"/>
              </a:spcBef>
              <a:spcAft>
                <a:spcPts val="0"/>
              </a:spcAft>
              <a:tabLst>
                <a:tab pos="726440" algn="l"/>
              </a:tabLst>
              <a:defRPr/>
            </a:pPr>
            <a:r>
              <a:rPr kumimoji="0" lang="en-GB" b="0" i="0" strike="noStrike" kern="1200" cap="none" spc="0" normalizeH="0" baseline="0" noProof="0">
                <a:ln>
                  <a:noFill/>
                </a:ln>
                <a:solidFill>
                  <a:srgbClr val="FFFFFF"/>
                </a:solidFill>
                <a:effectLst/>
                <a:uLnTx/>
                <a:uFillTx/>
                <a:latin typeface="Aptos" panose="020B0004020202020204" pitchFamily="34" charset="0"/>
                <a:ea typeface="Aptos" panose="020B0004020202020204" pitchFamily="34" charset="0"/>
                <a:cs typeface="Times New Roman" panose="02020603050405020304" pitchFamily="18" charset="0"/>
              </a:rPr>
              <a:t>What happens when mental health is eroded?</a:t>
            </a:r>
            <a:endParaRPr lang="en-GB">
              <a:solidFill>
                <a:srgbClr val="FFFFFF"/>
              </a:solidFill>
            </a:endParaRPr>
          </a:p>
        </p:txBody>
      </p:sp>
      <p:sp>
        <p:nvSpPr>
          <p:cNvPr id="3" name="Content Placeholder 2">
            <a:extLst>
              <a:ext uri="{FF2B5EF4-FFF2-40B4-BE49-F238E27FC236}">
                <a16:creationId xmlns:a16="http://schemas.microsoft.com/office/drawing/2014/main" id="{CCD5EAE7-36E5-4751-22CD-029700FB9E53}"/>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Presenteeism</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Absenteeism</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 Low work productivity</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Disrupted education</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Low education levels</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Less/reduced earning potential</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Economic/ financial instability</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Financial crisis/Poverty </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Family dysfunction</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Increased caregiver burden and burnout.</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Reduce work hours or take off from school to care for patient  more financial strife.</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500">
              <a:solidFill>
                <a:srgbClr val="FFFFFF"/>
              </a:solidFill>
            </a:endParaRPr>
          </a:p>
        </p:txBody>
      </p:sp>
    </p:spTree>
    <p:extLst>
      <p:ext uri="{BB962C8B-B14F-4D97-AF65-F5344CB8AC3E}">
        <p14:creationId xmlns:p14="http://schemas.microsoft.com/office/powerpoint/2010/main" val="88449635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D3D904B9-E16C-B425-6845-191771EB5362}"/>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663680E-01F8-4C64-70CD-A41687637243}"/>
              </a:ext>
            </a:extLst>
          </p:cNvPr>
          <p:cNvSpPr>
            <a:spLocks noGrp="1"/>
          </p:cNvSpPr>
          <p:nvPr>
            <p:ph type="title"/>
          </p:nvPr>
        </p:nvSpPr>
        <p:spPr>
          <a:xfrm>
            <a:off x="838200" y="365125"/>
            <a:ext cx="10515600" cy="1325563"/>
          </a:xfrm>
        </p:spPr>
        <p:txBody>
          <a:bodyPr>
            <a:normAutofit/>
          </a:bodyPr>
          <a:lstStyle/>
          <a:p>
            <a:r>
              <a:rPr lang="en-GB">
                <a:solidFill>
                  <a:srgbClr val="FFFFFF"/>
                </a:solidFill>
              </a:rPr>
              <a:t>Burden of disease</a:t>
            </a:r>
          </a:p>
        </p:txBody>
      </p:sp>
      <p:sp>
        <p:nvSpPr>
          <p:cNvPr id="3" name="Content Placeholder 2">
            <a:extLst>
              <a:ext uri="{FF2B5EF4-FFF2-40B4-BE49-F238E27FC236}">
                <a16:creationId xmlns:a16="http://schemas.microsoft.com/office/drawing/2014/main" id="{90E942C8-97CA-260E-851B-3C6E81E205BC}"/>
              </a:ext>
            </a:extLst>
          </p:cNvPr>
          <p:cNvSpPr>
            <a:spLocks noGrp="1"/>
          </p:cNvSpPr>
          <p:nvPr>
            <p:ph idx="1"/>
          </p:nvPr>
        </p:nvSpPr>
        <p:spPr>
          <a:xfrm>
            <a:off x="838200" y="1825625"/>
            <a:ext cx="10515600" cy="4351338"/>
          </a:xfrm>
        </p:spPr>
        <p:txBody>
          <a:bodyPr>
            <a:normAutofit/>
          </a:bodyPr>
          <a:lstStyle/>
          <a:p>
            <a:r>
              <a:rPr lang="en-GB">
                <a:solidFill>
                  <a:srgbClr val="FFFFFF"/>
                </a:solidFill>
              </a:rPr>
              <a:t>Minimum wage in SA IS R30.23</a:t>
            </a:r>
          </a:p>
          <a:p>
            <a:endParaRPr lang="en-GB">
              <a:solidFill>
                <a:srgbClr val="FFFFFF"/>
              </a:solidFill>
            </a:endParaRPr>
          </a:p>
          <a:p>
            <a:r>
              <a:rPr lang="en-GB">
                <a:solidFill>
                  <a:srgbClr val="FFFFFF"/>
                </a:solidFill>
              </a:rPr>
              <a:t>5200/ MONTH</a:t>
            </a:r>
          </a:p>
          <a:p>
            <a:endParaRPr lang="en-GB">
              <a:solidFill>
                <a:srgbClr val="FFFFFF"/>
              </a:solidFill>
            </a:endParaRPr>
          </a:p>
          <a:p>
            <a:r>
              <a:rPr lang="en-GB">
                <a:solidFill>
                  <a:srgbClr val="FFFFFF"/>
                </a:solidFill>
              </a:rPr>
              <a:t>62 400/  YEAR</a:t>
            </a:r>
          </a:p>
          <a:p>
            <a:endParaRPr lang="en-GB">
              <a:solidFill>
                <a:srgbClr val="FFFFFF"/>
              </a:solidFill>
            </a:endParaRPr>
          </a:p>
          <a:p>
            <a:r>
              <a:rPr lang="en-GB">
                <a:solidFill>
                  <a:srgbClr val="FFFFFF"/>
                </a:solidFill>
              </a:rPr>
              <a:t>(SASSA  R2400).</a:t>
            </a:r>
          </a:p>
          <a:p>
            <a:endParaRPr lang="en-GB">
              <a:solidFill>
                <a:srgbClr val="FFFFFF"/>
              </a:solidFill>
            </a:endParaRPr>
          </a:p>
          <a:p>
            <a:endParaRPr lang="en-GB">
              <a:solidFill>
                <a:srgbClr val="FFFFFF"/>
              </a:solidFill>
            </a:endParaRPr>
          </a:p>
        </p:txBody>
      </p:sp>
    </p:spTree>
    <p:extLst>
      <p:ext uri="{BB962C8B-B14F-4D97-AF65-F5344CB8AC3E}">
        <p14:creationId xmlns:p14="http://schemas.microsoft.com/office/powerpoint/2010/main" val="287542630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4CD9F1-D536-9B43-63CC-F3698A242F09}"/>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a:solidFill>
                  <a:schemeClr val="tx1"/>
                </a:solidFill>
                <a:latin typeface="+mj-lt"/>
                <a:ea typeface="+mj-ea"/>
                <a:cs typeface="+mj-cs"/>
              </a:rPr>
              <a:t>Determinant of negative mental health.</a:t>
            </a:r>
          </a:p>
        </p:txBody>
      </p:sp>
      <p:graphicFrame>
        <p:nvGraphicFramePr>
          <p:cNvPr id="4" name="Content Placeholder 3">
            <a:extLst>
              <a:ext uri="{FF2B5EF4-FFF2-40B4-BE49-F238E27FC236}">
                <a16:creationId xmlns:a16="http://schemas.microsoft.com/office/drawing/2014/main" id="{D27FF84F-A742-D8F8-D0E5-C151494BCF60}"/>
              </a:ext>
            </a:extLst>
          </p:cNvPr>
          <p:cNvGraphicFramePr>
            <a:graphicFrameLocks noGrp="1"/>
          </p:cNvGraphicFramePr>
          <p:nvPr>
            <p:ph idx="1"/>
            <p:extLst>
              <p:ext uri="{D42A27DB-BD31-4B8C-83A1-F6EECF244321}">
                <p14:modId xmlns:p14="http://schemas.microsoft.com/office/powerpoint/2010/main" val="1432645144"/>
              </p:ext>
            </p:extLst>
          </p:nvPr>
        </p:nvGraphicFramePr>
        <p:xfrm>
          <a:off x="1037968" y="1482811"/>
          <a:ext cx="10095470" cy="4812919"/>
        </p:xfrm>
        <a:graphic>
          <a:graphicData uri="http://schemas.openxmlformats.org/drawingml/2006/table">
            <a:tbl>
              <a:tblPr firstRow="1" firstCol="1" bandRow="1">
                <a:solidFill>
                  <a:schemeClr val="accent1">
                    <a:lumMod val="20000"/>
                    <a:lumOff val="80000"/>
                  </a:schemeClr>
                </a:solidFill>
              </a:tblPr>
              <a:tblGrid>
                <a:gridCol w="3406480">
                  <a:extLst>
                    <a:ext uri="{9D8B030D-6E8A-4147-A177-3AD203B41FA5}">
                      <a16:colId xmlns:a16="http://schemas.microsoft.com/office/drawing/2014/main" val="955317387"/>
                    </a:ext>
                  </a:extLst>
                </a:gridCol>
                <a:gridCol w="3368773">
                  <a:extLst>
                    <a:ext uri="{9D8B030D-6E8A-4147-A177-3AD203B41FA5}">
                      <a16:colId xmlns:a16="http://schemas.microsoft.com/office/drawing/2014/main" val="1166658631"/>
                    </a:ext>
                  </a:extLst>
                </a:gridCol>
                <a:gridCol w="3320217">
                  <a:extLst>
                    <a:ext uri="{9D8B030D-6E8A-4147-A177-3AD203B41FA5}">
                      <a16:colId xmlns:a16="http://schemas.microsoft.com/office/drawing/2014/main" val="3832895984"/>
                    </a:ext>
                  </a:extLst>
                </a:gridCol>
              </a:tblGrid>
              <a:tr h="473378">
                <a:tc>
                  <a:txBody>
                    <a:bodyPr/>
                    <a:lstStyle/>
                    <a:p>
                      <a:pPr algn="l">
                        <a:buNone/>
                        <a:tabLst>
                          <a:tab pos="726440" algn="l"/>
                        </a:tabLst>
                      </a:pPr>
                      <a:r>
                        <a:rPr lang="en-GB"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BIOLOGICAL</a:t>
                      </a:r>
                      <a:endParaRPr lang="en-ZA"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1587" marR="121587" marT="121587" marB="121587" anchor="ctr">
                    <a:lnL w="12700" cmpd="sng">
                      <a:noFill/>
                    </a:lnL>
                    <a:lnR w="12700" cmpd="sng">
                      <a:noFill/>
                    </a:lnR>
                    <a:lnT w="12700" cmpd="sng">
                      <a:noFill/>
                    </a:lnT>
                    <a:lnB w="38100" cmpd="sng">
                      <a:noFill/>
                    </a:lnB>
                    <a:solidFill>
                      <a:schemeClr val="accent2">
                        <a:lumMod val="60000"/>
                        <a:lumOff val="40000"/>
                      </a:schemeClr>
                    </a:solidFill>
                  </a:tcPr>
                </a:tc>
                <a:tc>
                  <a:txBody>
                    <a:bodyPr/>
                    <a:lstStyle/>
                    <a:p>
                      <a:pPr algn="l">
                        <a:buNone/>
                        <a:tabLst>
                          <a:tab pos="726440" algn="l"/>
                        </a:tabLst>
                      </a:pPr>
                      <a:r>
                        <a:rPr lang="en-GB"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PSYCHOLOGICAL/ INDIVIDUAL</a:t>
                      </a:r>
                      <a:endParaRPr lang="en-ZA"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1587" marR="121587" marT="121587" marB="121587" anchor="ctr">
                    <a:lnL w="12700" cmpd="sng">
                      <a:noFill/>
                    </a:lnL>
                    <a:lnR w="12700" cmpd="sng">
                      <a:noFill/>
                    </a:lnR>
                    <a:lnT w="12700" cmpd="sng">
                      <a:noFill/>
                    </a:lnT>
                    <a:lnB w="38100" cmpd="sng">
                      <a:noFill/>
                    </a:lnB>
                    <a:solidFill>
                      <a:schemeClr val="accent2">
                        <a:lumMod val="40000"/>
                        <a:lumOff val="60000"/>
                      </a:schemeClr>
                    </a:solidFill>
                  </a:tcPr>
                </a:tc>
                <a:tc>
                  <a:txBody>
                    <a:bodyPr/>
                    <a:lstStyle/>
                    <a:p>
                      <a:pPr algn="l">
                        <a:buNone/>
                        <a:tabLst>
                          <a:tab pos="726440" algn="l"/>
                        </a:tabLst>
                      </a:pPr>
                      <a:r>
                        <a:rPr lang="en-GB"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SOCIAL / ENVIRONMENTAL</a:t>
                      </a:r>
                      <a:endParaRPr lang="en-ZA" sz="1100" b="1" cap="all" spc="6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1587" marR="121587" marT="121587" marB="121587" anchor="ctr">
                    <a:lnL w="12700" cmpd="sng">
                      <a:noFill/>
                    </a:lnL>
                    <a:lnR w="12700" cmpd="sng">
                      <a:noFill/>
                    </a:lnR>
                    <a:lnT w="12700" cmpd="sng">
                      <a:noFill/>
                    </a:lnT>
                    <a:lnB w="38100" cmpd="sng">
                      <a:noFill/>
                    </a:lnB>
                    <a:solidFill>
                      <a:schemeClr val="accent2">
                        <a:lumMod val="60000"/>
                        <a:lumOff val="40000"/>
                      </a:schemeClr>
                    </a:solidFill>
                  </a:tcPr>
                </a:tc>
                <a:extLst>
                  <a:ext uri="{0D108BD9-81ED-4DB2-BD59-A6C34878D82A}">
                    <a16:rowId xmlns:a16="http://schemas.microsoft.com/office/drawing/2014/main" val="482678335"/>
                  </a:ext>
                </a:extLst>
              </a:tr>
              <a:tr h="4339541">
                <a:tc>
                  <a:txBody>
                    <a:bodyPr/>
                    <a:lstStyle/>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Genetic disorders e.g.  Downs syndromes/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Familial disorders ( strong family history)</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Congenital syndromes</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Inborn errors of metabolism</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Perinatal problems e.g. LBW, exposure to certain medication</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Chronic pain syndromes,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Incapacitating states e.g. Strokes,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Traumatic Brian Injury,</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Epilepsy</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Substance use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Medication use/abuse</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Metabolic disorders (DM/ HPT/ Dyslipidaemia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HIV</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Neurological disorders</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algn="l">
                        <a:buNone/>
                        <a:tabLst>
                          <a:tab pos="726440" algn="l"/>
                        </a:tabLst>
                      </a:pPr>
                      <a:r>
                        <a:rPr lang="en-GB"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lang="en-ZA" sz="1100" b="1"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9452" marR="49452" marT="8334" marB="81058">
                    <a:lnL w="12700" cmpd="sng">
                      <a:noFill/>
                      <a:prstDash val="solid"/>
                    </a:lnL>
                    <a:lnR w="12700" cmpd="sng">
                      <a:noFill/>
                      <a:prstDash val="solid"/>
                    </a:lnR>
                    <a:lnT w="38100" cmpd="sng">
                      <a:noFill/>
                    </a:lnT>
                    <a:lnB w="12700" cmpd="sng">
                      <a:noFill/>
                      <a:prstDash val="solid"/>
                    </a:lnB>
                    <a:solidFill>
                      <a:schemeClr val="accent2">
                        <a:lumMod val="40000"/>
                        <a:lumOff val="60000"/>
                      </a:schemeClr>
                    </a:solidFill>
                  </a:tcPr>
                </a:tc>
                <a:tc>
                  <a:txBody>
                    <a:bodyPr/>
                    <a:lstStyle/>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Attachment (bonds children form with caregivers)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Adverse childhood events.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Early loss of a caregiver.</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Low baseline functioning/ neurodevelopmental disorders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Temperament (overly anxious/ irritable children/poor frustration tolerance)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Neglect</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Physical and sexual abuse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Bullying</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Punitive parenting</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Personality traits _ highly suspicious, anxious, dependent, avoidant</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increasing age.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Lower level of education</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9452" marR="49452" marT="8334" marB="81058">
                    <a:lnL w="12700" cmpd="sng">
                      <a:noFill/>
                      <a:prstDash val="solid"/>
                    </a:lnL>
                    <a:lnR w="12700" cmpd="sng">
                      <a:noFill/>
                      <a:prstDash val="solid"/>
                    </a:lnR>
                    <a:lnT w="38100" cmpd="sng">
                      <a:noFill/>
                    </a:lnT>
                    <a:lnB w="12700" cmpd="sng">
                      <a:noFill/>
                      <a:prstDash val="solid"/>
                    </a:lnB>
                    <a:solidFill>
                      <a:schemeClr val="accent2">
                        <a:lumMod val="60000"/>
                        <a:lumOff val="40000"/>
                      </a:schemeClr>
                    </a:solidFill>
                  </a:tcPr>
                </a:tc>
                <a:tc>
                  <a:txBody>
                    <a:bodyPr/>
                    <a:lstStyle/>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Poverty</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Unemployment/ stressful jobs.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GBV</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High Crime rates/Dangerous neighbourhoods and communities.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Cultural /societal expectations expectation i.e. academic, marriage, infertility, self-image/ beauty standards.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Life altering events e.g. having a child, separation, divorce.</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Wars</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Community Unrest</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Calibri" panose="020F0502020204030204" pitchFamily="34" charset="0"/>
                        <a:buChar char="•"/>
                        <a:tabLst>
                          <a:tab pos="2286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Economic instability (COVID)</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l">
                        <a:buFont typeface="Arial" panose="020B0604020202020204" pitchFamily="34" charset="0"/>
                        <a:buChar char="•"/>
                        <a:tabLst>
                          <a:tab pos="457200" algn="l"/>
                          <a:tab pos="726440" algn="l"/>
                        </a:tabLst>
                      </a:pPr>
                      <a:r>
                        <a:rPr lang="en-GB"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Increasing Inequality</a:t>
                      </a:r>
                      <a:endParaRPr lang="en-ZA" sz="14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9452" marR="49452" marT="8334" marB="81058">
                    <a:lnL w="12700" cmpd="sng">
                      <a:noFill/>
                      <a:prstDash val="solid"/>
                    </a:lnL>
                    <a:lnR w="12700" cmpd="sng">
                      <a:noFill/>
                      <a:prstDash val="solid"/>
                    </a:lnR>
                    <a:lnT w="38100" cmpd="sng">
                      <a:noFill/>
                    </a:lnT>
                    <a:lnB w="12700" cmpd="sng">
                      <a:noFill/>
                      <a:prstDash val="solid"/>
                    </a:lnB>
                    <a:solidFill>
                      <a:schemeClr val="accent2">
                        <a:lumMod val="40000"/>
                        <a:lumOff val="60000"/>
                      </a:schemeClr>
                    </a:solidFill>
                  </a:tcPr>
                </a:tc>
                <a:extLst>
                  <a:ext uri="{0D108BD9-81ED-4DB2-BD59-A6C34878D82A}">
                    <a16:rowId xmlns:a16="http://schemas.microsoft.com/office/drawing/2014/main" val="2185296457"/>
                  </a:ext>
                </a:extLst>
              </a:tr>
            </a:tbl>
          </a:graphicData>
        </a:graphic>
      </p:graphicFrame>
    </p:spTree>
    <p:extLst>
      <p:ext uri="{BB962C8B-B14F-4D97-AF65-F5344CB8AC3E}">
        <p14:creationId xmlns:p14="http://schemas.microsoft.com/office/powerpoint/2010/main" val="112343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gital art of brain">
            <a:extLst>
              <a:ext uri="{FF2B5EF4-FFF2-40B4-BE49-F238E27FC236}">
                <a16:creationId xmlns:a16="http://schemas.microsoft.com/office/drawing/2014/main" id="{8FDF072B-EAEF-74EE-EB2B-E59AB70D7569}"/>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F49C69B-070A-5ECD-4B12-6588F1975132}"/>
              </a:ext>
            </a:extLst>
          </p:cNvPr>
          <p:cNvSpPr>
            <a:spLocks noGrp="1"/>
          </p:cNvSpPr>
          <p:nvPr>
            <p:ph type="title"/>
          </p:nvPr>
        </p:nvSpPr>
        <p:spPr>
          <a:xfrm>
            <a:off x="1676400" y="2539914"/>
            <a:ext cx="10515600" cy="1574886"/>
          </a:xfrm>
        </p:spPr>
        <p:txBody>
          <a:bodyPr>
            <a:normAutofit/>
          </a:bodyPr>
          <a:lstStyle/>
          <a:p>
            <a:pPr algn="ctr"/>
            <a:r>
              <a:rPr lang="en-GB" dirty="0">
                <a:solidFill>
                  <a:srgbClr val="FFFFFF"/>
                </a:solidFill>
                <a:latin typeface="Aptos" panose="020B0004020202020204" pitchFamily="34" charset="0"/>
                <a:ea typeface="Aptos" panose="020B0004020202020204" pitchFamily="34" charset="0"/>
                <a:cs typeface="Times New Roman" panose="02020603050405020304" pitchFamily="18" charset="0"/>
              </a:rPr>
              <a:t>Multisectoral approach</a:t>
            </a:r>
            <a:br>
              <a:rPr lang="en-ZA" dirty="0">
                <a:solidFill>
                  <a:srgbClr val="FFFFFF"/>
                </a:solidFill>
                <a:latin typeface="Aptos" panose="020B0004020202020204" pitchFamily="34" charset="0"/>
                <a:ea typeface="Aptos" panose="020B0004020202020204" pitchFamily="34" charset="0"/>
                <a:cs typeface="Times New Roman" panose="02020603050405020304" pitchFamily="18" charset="0"/>
              </a:rPr>
            </a:br>
            <a:endParaRPr lang="en-GB" dirty="0">
              <a:solidFill>
                <a:srgbClr val="FFFFFF"/>
              </a:solidFill>
            </a:endParaRPr>
          </a:p>
        </p:txBody>
      </p:sp>
      <p:sp>
        <p:nvSpPr>
          <p:cNvPr id="3" name="Content Placeholder 2">
            <a:extLst>
              <a:ext uri="{FF2B5EF4-FFF2-40B4-BE49-F238E27FC236}">
                <a16:creationId xmlns:a16="http://schemas.microsoft.com/office/drawing/2014/main" id="{78B65DFC-625D-92A1-0C48-23C193CF19B5}"/>
              </a:ext>
            </a:extLst>
          </p:cNvPr>
          <p:cNvSpPr>
            <a:spLocks noGrp="1"/>
          </p:cNvSpPr>
          <p:nvPr>
            <p:ph idx="4294967295"/>
          </p:nvPr>
        </p:nvSpPr>
        <p:spPr>
          <a:xfrm>
            <a:off x="0" y="1825625"/>
            <a:ext cx="10515600" cy="4351338"/>
          </a:xfrm>
        </p:spPr>
        <p:txBody>
          <a:bodyPr>
            <a:normAutofit/>
          </a:bodyPr>
          <a:lstStyle/>
          <a:p>
            <a:pPr>
              <a:buNone/>
              <a:tabLst>
                <a:tab pos="726440" algn="l"/>
              </a:tabLst>
            </a:pPr>
            <a:r>
              <a:rPr lang="en-GB" sz="2200" u="none" strike="noStrike"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22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200" dirty="0">
              <a:solidFill>
                <a:srgbClr val="FFFFFF"/>
              </a:solidFill>
            </a:endParaRPr>
          </a:p>
        </p:txBody>
      </p:sp>
    </p:spTree>
    <p:extLst>
      <p:ext uri="{BB962C8B-B14F-4D97-AF65-F5344CB8AC3E}">
        <p14:creationId xmlns:p14="http://schemas.microsoft.com/office/powerpoint/2010/main" val="27631895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A74FA0E-5ADC-ECFD-A7CC-AD4FED46813E}"/>
              </a:ext>
            </a:extLst>
          </p:cNvPr>
          <p:cNvGraphicFramePr>
            <a:graphicFrameLocks noGrp="1"/>
          </p:cNvGraphicFramePr>
          <p:nvPr>
            <p:ph idx="1"/>
            <p:extLst>
              <p:ext uri="{D42A27DB-BD31-4B8C-83A1-F6EECF244321}">
                <p14:modId xmlns:p14="http://schemas.microsoft.com/office/powerpoint/2010/main" val="1884965759"/>
              </p:ext>
            </p:extLst>
          </p:nvPr>
        </p:nvGraphicFramePr>
        <p:xfrm>
          <a:off x="643467" y="670466"/>
          <a:ext cx="10905069" cy="5717075"/>
        </p:xfrm>
        <a:graphic>
          <a:graphicData uri="http://schemas.openxmlformats.org/drawingml/2006/table">
            <a:tbl>
              <a:tblPr firstRow="1" firstCol="1" bandRow="1">
                <a:solidFill>
                  <a:srgbClr val="F2F2F2">
                    <a:alpha val="30196"/>
                  </a:srgbClr>
                </a:solidFill>
                <a:tableStyleId>{5C22544A-7EE6-4342-B048-85BDC9FD1C3A}</a:tableStyleId>
              </a:tblPr>
              <a:tblGrid>
                <a:gridCol w="1948678">
                  <a:extLst>
                    <a:ext uri="{9D8B030D-6E8A-4147-A177-3AD203B41FA5}">
                      <a16:colId xmlns:a16="http://schemas.microsoft.com/office/drawing/2014/main" val="4193621073"/>
                    </a:ext>
                  </a:extLst>
                </a:gridCol>
                <a:gridCol w="2212031">
                  <a:extLst>
                    <a:ext uri="{9D8B030D-6E8A-4147-A177-3AD203B41FA5}">
                      <a16:colId xmlns:a16="http://schemas.microsoft.com/office/drawing/2014/main" val="3035597590"/>
                    </a:ext>
                  </a:extLst>
                </a:gridCol>
                <a:gridCol w="2930399">
                  <a:extLst>
                    <a:ext uri="{9D8B030D-6E8A-4147-A177-3AD203B41FA5}">
                      <a16:colId xmlns:a16="http://schemas.microsoft.com/office/drawing/2014/main" val="1914379667"/>
                    </a:ext>
                  </a:extLst>
                </a:gridCol>
                <a:gridCol w="1967698">
                  <a:extLst>
                    <a:ext uri="{9D8B030D-6E8A-4147-A177-3AD203B41FA5}">
                      <a16:colId xmlns:a16="http://schemas.microsoft.com/office/drawing/2014/main" val="2515821557"/>
                    </a:ext>
                  </a:extLst>
                </a:gridCol>
                <a:gridCol w="1846263">
                  <a:extLst>
                    <a:ext uri="{9D8B030D-6E8A-4147-A177-3AD203B41FA5}">
                      <a16:colId xmlns:a16="http://schemas.microsoft.com/office/drawing/2014/main" val="350709272"/>
                    </a:ext>
                  </a:extLst>
                </a:gridCol>
              </a:tblGrid>
              <a:tr h="595529">
                <a:tc>
                  <a:txBody>
                    <a:bodyPr/>
                    <a:lstStyle/>
                    <a:p>
                      <a:pPr>
                        <a:buNone/>
                        <a:tabLst>
                          <a:tab pos="726440" algn="l"/>
                        </a:tabLst>
                      </a:pPr>
                      <a:r>
                        <a:rPr lang="en-GB" sz="1300" b="0" cap="none" spc="0">
                          <a:solidFill>
                            <a:schemeClr val="bg1"/>
                          </a:solidFill>
                          <a:effectLst/>
                        </a:rPr>
                        <a:t>PSYCHIATRIST</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9050" cap="flat" cmpd="sng" algn="ctr">
                      <a:noFill/>
                      <a:prstDash val="solid"/>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a:solidFill>
                            <a:schemeClr val="bg1"/>
                          </a:solidFill>
                          <a:effectLst/>
                        </a:rPr>
                        <a:t>PSYCHOLOGIST</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a:solidFill>
                            <a:schemeClr val="bg1"/>
                          </a:solidFill>
                          <a:effectLst/>
                        </a:rPr>
                        <a:t>SOCIAL WORKER</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a:solidFill>
                            <a:schemeClr val="bg1"/>
                          </a:solidFill>
                          <a:effectLst/>
                        </a:rPr>
                        <a:t>OCCUPATIONAL THERAPY</a:t>
                      </a:r>
                      <a:endParaRPr lang="en-ZA" sz="1300" b="0" cap="none" spc="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tc>
                  <a:txBody>
                    <a:bodyPr/>
                    <a:lstStyle/>
                    <a:p>
                      <a:pPr>
                        <a:buNone/>
                        <a:tabLst>
                          <a:tab pos="726440" algn="l"/>
                        </a:tabLst>
                      </a:pPr>
                      <a:r>
                        <a:rPr lang="en-GB" sz="1300" b="0" cap="none" spc="0" dirty="0">
                          <a:solidFill>
                            <a:schemeClr val="bg1"/>
                          </a:solidFill>
                          <a:effectLst/>
                        </a:rPr>
                        <a:t>NURSES </a:t>
                      </a:r>
                      <a:endParaRPr lang="en-ZA" sz="1300" b="0" cap="none" spc="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nchor="ctr">
                    <a:lnL w="12700" cmpd="sng">
                      <a:noFill/>
                    </a:lnL>
                    <a:lnR w="12700" cmpd="sng">
                      <a:noFill/>
                    </a:lnR>
                    <a:lnT w="19050" cap="flat" cmpd="sng" algn="ctr">
                      <a:noFill/>
                      <a:prstDash val="solid"/>
                    </a:lnT>
                    <a:lnB w="38100" cmpd="sng">
                      <a:noFill/>
                    </a:lnB>
                    <a:solidFill>
                      <a:schemeClr val="accent2">
                        <a:lumMod val="75000"/>
                      </a:schemeClr>
                    </a:solidFill>
                  </a:tcPr>
                </a:tc>
                <a:extLst>
                  <a:ext uri="{0D108BD9-81ED-4DB2-BD59-A6C34878D82A}">
                    <a16:rowId xmlns:a16="http://schemas.microsoft.com/office/drawing/2014/main" val="1245632134"/>
                  </a:ext>
                </a:extLst>
              </a:tr>
              <a:tr h="4921539">
                <a:tc>
                  <a:txBody>
                    <a:bodyPr/>
                    <a:lstStyle/>
                    <a:p>
                      <a:pPr marL="342900" lvl="0" indent="-342900">
                        <a:buFont typeface="Symbol" pitchFamily="2" charset="2"/>
                        <a:buChar char=""/>
                        <a:tabLst>
                          <a:tab pos="726440" algn="l"/>
                        </a:tabLst>
                      </a:pPr>
                      <a:r>
                        <a:rPr lang="en-GB" sz="1300" cap="none" spc="0" dirty="0">
                          <a:solidFill>
                            <a:schemeClr val="tx1"/>
                          </a:solidFill>
                          <a:effectLst/>
                        </a:rPr>
                        <a:t>Screen and assess the patient</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Conduct any relevant medical investigations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Diagnose mental and medical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Provide medical/ pharmacological treatment for the mental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Manage co-morbid medical disorders.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Community outreach programmes for mental health promotion and mental illness prevention.</a:t>
                      </a:r>
                      <a:endPar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38100" cap="flat" cmpd="sng" algn="ctr">
                      <a:no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a:solidFill>
                            <a:schemeClr val="tx1"/>
                          </a:solidFill>
                          <a:effectLst/>
                        </a:rPr>
                        <a:t>Screening and assessment of patients.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Assis I diagnosis of mental disorders.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Administer psychometric test e.g. IQ tests, behavioural assessments, personality assessments.</a:t>
                      </a:r>
                      <a:endParaRPr lang="en-ZA" sz="1300" cap="none" spc="0">
                        <a:solidFill>
                          <a:schemeClr val="tx1"/>
                        </a:solidFill>
                        <a:effectLst/>
                      </a:endParaRPr>
                    </a:p>
                    <a:p>
                      <a:pPr>
                        <a:buNone/>
                        <a:tabLst>
                          <a:tab pos="726440" algn="l"/>
                        </a:tabLst>
                      </a:pPr>
                      <a:r>
                        <a:rPr lang="en-GB" sz="1300" cap="none" spc="0">
                          <a:solidFill>
                            <a:schemeClr val="tx1"/>
                          </a:solidFill>
                          <a:effectLst/>
                        </a:rPr>
                        <a:t> </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Provide the appropriate / most suitable evidence based therapy for the mental disorder.</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Cognitive rehabilitation</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Community outreach programmes for mental promotion and mental illness prevention.</a:t>
                      </a:r>
                      <a:endParaRPr lang="en-ZA" sz="13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dirty="0">
                          <a:solidFill>
                            <a:schemeClr val="tx1"/>
                          </a:solidFill>
                          <a:effectLst/>
                        </a:rPr>
                        <a:t>Case manager</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Ensuring protection of rights of MHCU and children in accordance with MHCA, CCA,</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Assists with reintegrating patient back into community.</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Facilitates family and MDT interface liaison.</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Facilitates access to social programmes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err="1">
                          <a:solidFill>
                            <a:schemeClr val="tx1"/>
                          </a:solidFill>
                          <a:effectLst/>
                        </a:rPr>
                        <a:t>i.e</a:t>
                      </a:r>
                      <a:r>
                        <a:rPr lang="en-GB" sz="1300" cap="none" spc="0" dirty="0">
                          <a:solidFill>
                            <a:schemeClr val="tx1"/>
                          </a:solidFill>
                          <a:effectLst/>
                        </a:rPr>
                        <a:t> substance rehab,  community programmes, home visits to ensure adherence, SASSA grant applications, food parcel programmes.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Placement in. suitable environments.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Mediation. </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Community outreach programmes for mental promotion and mental illness prevention.</a:t>
                      </a:r>
                      <a:endParaRPr lang="en-ZA" sz="1300" cap="none" spc="0" dirty="0">
                        <a:solidFill>
                          <a:schemeClr val="tx1"/>
                        </a:solidFill>
                        <a:effectLst/>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a:solidFill>
                            <a:schemeClr val="tx1"/>
                          </a:solidFill>
                          <a:effectLst/>
                        </a:rPr>
                        <a:t>Routine screening and assessments.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Prevention, education, Health promotion and counselling</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Functional assessment.</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 SASSA grant &amp; Work assessments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Community outreach programmes.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Vocational rehab programmes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Learnership placements.</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Learning disability assessment</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Activities of daily living (ADLs, use of leisure time retraining</a:t>
                      </a:r>
                      <a:endParaRPr lang="en-ZA" sz="1300" cap="none" spc="0">
                        <a:solidFill>
                          <a:schemeClr val="tx1"/>
                        </a:solidFill>
                        <a:effectLst/>
                      </a:endParaRPr>
                    </a:p>
                    <a:p>
                      <a:pPr marL="342900" lvl="0" indent="-342900">
                        <a:buFont typeface="Symbol" pitchFamily="2" charset="2"/>
                        <a:buChar char=""/>
                        <a:tabLst>
                          <a:tab pos="726440" algn="l"/>
                        </a:tabLst>
                      </a:pPr>
                      <a:r>
                        <a:rPr lang="en-GB" sz="1300" cap="none" spc="0">
                          <a:solidFill>
                            <a:schemeClr val="tx1"/>
                          </a:solidFill>
                          <a:effectLst/>
                        </a:rPr>
                        <a:t>Personal stress management</a:t>
                      </a:r>
                      <a:endParaRPr lang="en-ZA" sz="13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chemeClr val="accent2">
                        <a:lumMod val="40000"/>
                        <a:lumOff val="60000"/>
                        <a:alpha val="30196"/>
                      </a:schemeClr>
                    </a:solidFill>
                  </a:tcPr>
                </a:tc>
                <a:tc>
                  <a:txBody>
                    <a:bodyPr/>
                    <a:lstStyle/>
                    <a:p>
                      <a:pPr marL="342900" lvl="0" indent="-342900">
                        <a:buFont typeface="Symbol" pitchFamily="2" charset="2"/>
                        <a:buChar char=""/>
                        <a:tabLst>
                          <a:tab pos="726440" algn="l"/>
                        </a:tabLst>
                      </a:pPr>
                      <a:r>
                        <a:rPr lang="en-GB" sz="1300" cap="none" spc="0" dirty="0">
                          <a:solidFill>
                            <a:schemeClr val="tx1"/>
                          </a:solidFill>
                          <a:effectLst/>
                        </a:rPr>
                        <a:t>Monitor progress.</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Ensure that care and treatment are delivered daily.</a:t>
                      </a:r>
                      <a:endParaRPr lang="en-ZA" sz="1300" cap="none" spc="0" dirty="0">
                        <a:solidFill>
                          <a:schemeClr val="tx1"/>
                        </a:solidFill>
                        <a:effectLst/>
                      </a:endParaRPr>
                    </a:p>
                    <a:p>
                      <a:pPr marL="342900" lvl="0" indent="-342900">
                        <a:buFont typeface="Symbol" pitchFamily="2" charset="2"/>
                        <a:buChar char=""/>
                        <a:tabLst>
                          <a:tab pos="726440" algn="l"/>
                        </a:tabLst>
                      </a:pPr>
                      <a:r>
                        <a:rPr lang="en-GB" sz="1300" cap="none" spc="0" dirty="0">
                          <a:solidFill>
                            <a:schemeClr val="tx1"/>
                          </a:solidFill>
                          <a:effectLst/>
                        </a:rPr>
                        <a:t>Facilitating the care plan</a:t>
                      </a:r>
                      <a:endParaRPr lang="en-ZA" sz="13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09555" marR="24621" marT="84273" marB="84273">
                    <a:lnL w="6350" cap="flat" cmpd="sng" algn="ctr">
                      <a:solidFill>
                        <a:schemeClr val="tx1">
                          <a:lumMod val="75000"/>
                          <a:lumOff val="25000"/>
                        </a:schemeClr>
                      </a:solidFill>
                      <a:prstDash val="solid"/>
                    </a:lnL>
                    <a:lnR w="38100" cap="flat" cmpd="sng" algn="ctr">
                      <a:noFill/>
                      <a:prstDash val="solid"/>
                    </a:lnR>
                    <a:lnT w="38100" cmpd="sng">
                      <a:noFill/>
                    </a:lnT>
                    <a:lnB w="38100" cap="flat" cmpd="sng" algn="ctr">
                      <a:noFill/>
                      <a:prstDash val="solid"/>
                    </a:lnB>
                    <a:solidFill>
                      <a:schemeClr val="accent2">
                        <a:lumMod val="40000"/>
                        <a:lumOff val="60000"/>
                        <a:alpha val="30196"/>
                      </a:schemeClr>
                    </a:solidFill>
                  </a:tcPr>
                </a:tc>
                <a:extLst>
                  <a:ext uri="{0D108BD9-81ED-4DB2-BD59-A6C34878D82A}">
                    <a16:rowId xmlns:a16="http://schemas.microsoft.com/office/drawing/2014/main" val="969536005"/>
                  </a:ext>
                </a:extLst>
              </a:tr>
            </a:tbl>
          </a:graphicData>
        </a:graphic>
      </p:graphicFrame>
    </p:spTree>
    <p:extLst>
      <p:ext uri="{BB962C8B-B14F-4D97-AF65-F5344CB8AC3E}">
        <p14:creationId xmlns:p14="http://schemas.microsoft.com/office/powerpoint/2010/main" val="3395347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9EAE0E31-3CD7-1C18-8714-F4AB0CA1F787}"/>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1DBBE83-E169-C35B-4F49-E135805C726D}"/>
              </a:ext>
            </a:extLst>
          </p:cNvPr>
          <p:cNvSpPr>
            <a:spLocks noGrp="1"/>
          </p:cNvSpPr>
          <p:nvPr>
            <p:ph type="title"/>
          </p:nvPr>
        </p:nvSpPr>
        <p:spPr>
          <a:xfrm>
            <a:off x="838200" y="365125"/>
            <a:ext cx="10515600" cy="1325563"/>
          </a:xfrm>
        </p:spPr>
        <p:txBody>
          <a:bodyPr>
            <a:normAutofit fontScale="90000"/>
          </a:bodyPr>
          <a:lstStyle/>
          <a:p>
            <a:r>
              <a:rPr lang="en-GB" dirty="0">
                <a:solidFill>
                  <a:srgbClr val="FFFFFF"/>
                </a:solidFill>
                <a:latin typeface="Aptos" panose="020B0004020202020204" pitchFamily="34" charset="0"/>
                <a:ea typeface="Aptos" panose="020B0004020202020204" pitchFamily="34" charset="0"/>
                <a:cs typeface="Times New Roman" panose="02020603050405020304" pitchFamily="18" charset="0"/>
              </a:rPr>
              <a:t> Justice, Crime prevention and security clusters</a:t>
            </a:r>
            <a:br>
              <a:rPr lang="en-ZA" dirty="0">
                <a:solidFill>
                  <a:srgbClr val="FFFFFF"/>
                </a:solidFill>
                <a:latin typeface="Aptos" panose="020B0004020202020204" pitchFamily="34" charset="0"/>
                <a:ea typeface="Aptos" panose="020B0004020202020204" pitchFamily="34" charset="0"/>
                <a:cs typeface="Times New Roman" panose="02020603050405020304" pitchFamily="18" charset="0"/>
              </a:rPr>
            </a:br>
            <a:endParaRPr lang="en-GB" dirty="0">
              <a:solidFill>
                <a:srgbClr val="FFFFFF"/>
              </a:solidFill>
            </a:endParaRPr>
          </a:p>
        </p:txBody>
      </p:sp>
      <p:sp>
        <p:nvSpPr>
          <p:cNvPr id="3" name="Content Placeholder 2">
            <a:extLst>
              <a:ext uri="{FF2B5EF4-FFF2-40B4-BE49-F238E27FC236}">
                <a16:creationId xmlns:a16="http://schemas.microsoft.com/office/drawing/2014/main" id="{71FE05AD-DABF-C198-FD74-07A8F1BD4C0D}"/>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1500" u="none" strike="noStrike"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Criminal procedure Act 51 of 1977</a:t>
            </a:r>
          </a:p>
          <a:p>
            <a:pPr>
              <a:buNone/>
              <a:tabLst>
                <a:tab pos="726440" algn="l"/>
              </a:tabLst>
            </a:pPr>
            <a:r>
              <a:rPr lang="en-GB" sz="1500" dirty="0">
                <a:solidFill>
                  <a:srgbClr val="FFFFFF"/>
                </a:solidFill>
                <a:latin typeface="Aptos" panose="020B0004020202020204" pitchFamily="34" charset="0"/>
                <a:ea typeface="Aptos" panose="020B0004020202020204" pitchFamily="34" charset="0"/>
                <a:cs typeface="Times New Roman" panose="02020603050405020304" pitchFamily="18" charset="0"/>
              </a:rPr>
              <a:t>Prevention of and Treatment for Substance abuse Act.</a:t>
            </a:r>
          </a:p>
          <a:p>
            <a:pPr>
              <a:buNone/>
              <a:tabLst>
                <a:tab pos="726440" algn="l"/>
              </a:tabLst>
            </a:pP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Responding to crime and violence in communities including.</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Decisive action on illicit substance use, i.e. drug dealers and drug labs including underage alcohol use.</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Appropriate handling of GBV and sexual assault cases. </a:t>
            </a:r>
            <a:r>
              <a:rPr lang="en-GB" sz="15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i.e</a:t>
            </a: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sensitivity and discretion, privacy.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Detention of mentally ill users.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Reduction of backlog for  facilities to conduct 30 day observations for assessment for fitness to stand trial and criminal responsibility.</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Diversion programmes for preadolescents and adolescents.</a:t>
            </a:r>
            <a:endParaRPr lang="en-ZA" sz="15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500" dirty="0">
              <a:solidFill>
                <a:srgbClr val="FFFFFF"/>
              </a:solidFill>
            </a:endParaRPr>
          </a:p>
        </p:txBody>
      </p:sp>
    </p:spTree>
    <p:extLst>
      <p:ext uri="{BB962C8B-B14F-4D97-AF65-F5344CB8AC3E}">
        <p14:creationId xmlns:p14="http://schemas.microsoft.com/office/powerpoint/2010/main" val="601197079"/>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Picture 3" descr="Digital art of brain">
            <a:extLst>
              <a:ext uri="{FF2B5EF4-FFF2-40B4-BE49-F238E27FC236}">
                <a16:creationId xmlns:a16="http://schemas.microsoft.com/office/drawing/2014/main" id="{D346C279-D9BA-979C-6FCA-BA20DC97F435}"/>
              </a:ext>
            </a:extLst>
          </p:cNvPr>
          <p:cNvPicPr>
            <a:picLocks noChangeAspect="1"/>
          </p:cNvPicPr>
          <p:nvPr/>
        </p:nvPicPr>
        <p:blipFill>
          <a:blip r:embed="rId2">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9DBB25C0-8FDC-72F4-B1DB-7941BB445529}"/>
              </a:ext>
            </a:extLst>
          </p:cNvPr>
          <p:cNvSpPr>
            <a:spLocks noGrp="1"/>
          </p:cNvSpPr>
          <p:nvPr>
            <p:ph type="title"/>
          </p:nvPr>
        </p:nvSpPr>
        <p:spPr>
          <a:xfrm>
            <a:off x="1198181" y="728906"/>
            <a:ext cx="9792471" cy="2057037"/>
          </a:xfrm>
        </p:spPr>
        <p:txBody>
          <a:bodyPr>
            <a:normAutofit/>
          </a:bodyPr>
          <a:lstStyle/>
          <a:p>
            <a:r>
              <a:rPr lang="en-GB" b="1" i="1">
                <a:solidFill>
                  <a:srgbClr val="FFFFFF"/>
                </a:solidFill>
              </a:rPr>
              <a:t>Firearms act</a:t>
            </a:r>
            <a:br>
              <a:rPr lang="en-ZA">
                <a:solidFill>
                  <a:srgbClr val="FFFFFF"/>
                </a:solidFill>
              </a:rPr>
            </a:br>
            <a:endParaRPr lang="en-GB">
              <a:solidFill>
                <a:srgbClr val="FFFFFF"/>
              </a:solidFill>
            </a:endParaRPr>
          </a:p>
        </p:txBody>
      </p:sp>
      <p:graphicFrame>
        <p:nvGraphicFramePr>
          <p:cNvPr id="5" name="Content Placeholder 2">
            <a:extLst>
              <a:ext uri="{FF2B5EF4-FFF2-40B4-BE49-F238E27FC236}">
                <a16:creationId xmlns:a16="http://schemas.microsoft.com/office/drawing/2014/main" id="{22C20105-BBB1-C438-4817-687A6509BE40}"/>
              </a:ext>
            </a:extLst>
          </p:cNvPr>
          <p:cNvGraphicFramePr>
            <a:graphicFrameLocks noGrp="1"/>
          </p:cNvGraphicFramePr>
          <p:nvPr>
            <p:ph idx="1"/>
            <p:extLst>
              <p:ext uri="{D42A27DB-BD31-4B8C-83A1-F6EECF244321}">
                <p14:modId xmlns:p14="http://schemas.microsoft.com/office/powerpoint/2010/main" val="14788601"/>
              </p:ext>
            </p:extLst>
          </p:nvPr>
        </p:nvGraphicFramePr>
        <p:xfrm>
          <a:off x="1198181" y="2957665"/>
          <a:ext cx="9792471" cy="31714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1748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BAF4F031-BEA0-3AEA-21D1-101213CC1F00}"/>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702B054-C15D-E962-BBA4-34CCB1FC8BEA}"/>
              </a:ext>
            </a:extLst>
          </p:cNvPr>
          <p:cNvSpPr>
            <a:spLocks noGrp="1"/>
          </p:cNvSpPr>
          <p:nvPr>
            <p:ph type="title"/>
          </p:nvPr>
        </p:nvSpPr>
        <p:spPr>
          <a:xfrm>
            <a:off x="838200" y="365125"/>
            <a:ext cx="10515600" cy="1325563"/>
          </a:xfrm>
        </p:spPr>
        <p:txBody>
          <a:bodyPr>
            <a:normAutofit/>
          </a:bodyPr>
          <a:lstStyle/>
          <a:p>
            <a:r>
              <a:rPr lang="en-GB" sz="2800" b="1" i="1" dirty="0">
                <a:solidFill>
                  <a:srgbClr val="FFFFFF"/>
                </a:solidFill>
                <a:latin typeface="Aptos" panose="020B0004020202020204" pitchFamily="34" charset="0"/>
                <a:ea typeface="Aptos" panose="020B0004020202020204" pitchFamily="34" charset="0"/>
                <a:cs typeface="Times New Roman" panose="02020603050405020304" pitchFamily="18" charset="0"/>
              </a:rPr>
              <a:t>Labour law( Labour relations Act, Basic Conditions of Employment Act 7</a:t>
            </a:r>
            <a:r>
              <a:rPr lang="en-GB" sz="2800" dirty="0">
                <a:solidFill>
                  <a:srgbClr val="FFFFFF"/>
                </a:solidFill>
                <a:latin typeface="Aptos" panose="020B0004020202020204" pitchFamily="34" charset="0"/>
                <a:ea typeface="Aptos" panose="020B0004020202020204" pitchFamily="34" charset="0"/>
                <a:cs typeface="Times New Roman" panose="02020603050405020304" pitchFamily="18" charset="0"/>
              </a:rPr>
              <a:t> , </a:t>
            </a:r>
            <a:r>
              <a:rPr lang="en-GB" sz="2800" b="1" dirty="0">
                <a:solidFill>
                  <a:srgbClr val="FFFFFF"/>
                </a:solidFill>
                <a:latin typeface="Aptos" panose="020B0004020202020204" pitchFamily="34" charset="0"/>
                <a:ea typeface="Aptos" panose="020B0004020202020204" pitchFamily="34" charset="0"/>
                <a:cs typeface="Times New Roman" panose="02020603050405020304" pitchFamily="18" charset="0"/>
              </a:rPr>
              <a:t>Occupational Health and Safety Act</a:t>
            </a:r>
            <a:br>
              <a:rPr lang="en-ZA" sz="2800" dirty="0">
                <a:solidFill>
                  <a:srgbClr val="FFFFFF"/>
                </a:solidFill>
                <a:latin typeface="Aptos" panose="020B0004020202020204" pitchFamily="34" charset="0"/>
                <a:ea typeface="Aptos" panose="020B0004020202020204" pitchFamily="34" charset="0"/>
                <a:cs typeface="Times New Roman" panose="02020603050405020304" pitchFamily="18" charset="0"/>
              </a:rPr>
            </a:br>
            <a:endParaRPr lang="en-GB" sz="2800" dirty="0">
              <a:solidFill>
                <a:srgbClr val="FFFFFF"/>
              </a:solidFill>
            </a:endParaRPr>
          </a:p>
        </p:txBody>
      </p:sp>
      <p:sp>
        <p:nvSpPr>
          <p:cNvPr id="3" name="Content Placeholder 2">
            <a:extLst>
              <a:ext uri="{FF2B5EF4-FFF2-40B4-BE49-F238E27FC236}">
                <a16:creationId xmlns:a16="http://schemas.microsoft.com/office/drawing/2014/main" id="{BDA611E1-DC1D-2541-A6CD-F4A19EE6175B}"/>
              </a:ext>
            </a:extLst>
          </p:cNvPr>
          <p:cNvSpPr>
            <a:spLocks noGrp="1"/>
          </p:cNvSpPr>
          <p:nvPr>
            <p:ph idx="1"/>
          </p:nvPr>
        </p:nvSpPr>
        <p:spPr>
          <a:xfrm>
            <a:off x="838200" y="1825625"/>
            <a:ext cx="10515600" cy="4351338"/>
          </a:xfrm>
        </p:spPr>
        <p:txBody>
          <a:bodyPr>
            <a:normAutofit/>
          </a:bodyPr>
          <a:lstStyle/>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Work environments are major precipitants of stress, burnout, depression and anxiety.</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Flexible working hours/ hybrid work models</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Prevention of stress and burnout for high risk professionals </a:t>
            </a:r>
            <a:r>
              <a:rPr lang="en-GB" sz="2000" dirty="0" err="1">
                <a:solidFill>
                  <a:srgbClr val="FFFFFF"/>
                </a:solidFill>
                <a:effectLst/>
                <a:latin typeface="Aptos" panose="020B0004020202020204" pitchFamily="34" charset="0"/>
                <a:ea typeface="Aptos" panose="020B0004020202020204" pitchFamily="34" charset="0"/>
                <a:cs typeface="Times New Roman" panose="02020603050405020304" pitchFamily="18" charset="0"/>
              </a:rPr>
              <a:t>i.e</a:t>
            </a: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health care workers, police  officers, social workers.</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Require employers to address: workplace stress, burnout, bullying &amp; harassment.</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Employers should be required to provide : employee wellness programmes, confidential counselling services , anonymous work grievance protocol and mental health days and protection against unfair treatment and dismissal. </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228600">
              <a:buNone/>
              <a:tabLst>
                <a:tab pos="726440" algn="l"/>
              </a:tabLst>
            </a:pPr>
            <a:r>
              <a:rPr lang="en-GB"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228600">
              <a:buNone/>
              <a:tabLst>
                <a:tab pos="726440" algn="l"/>
              </a:tabLst>
            </a:pPr>
            <a:r>
              <a:rPr lang="en-GB" sz="2000" i="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Reduce burnout, lower absenteeism and presenteeism, increase productivity and earning potential</a:t>
            </a:r>
            <a:endParaRPr lang="en-ZA" sz="20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000" dirty="0">
              <a:solidFill>
                <a:srgbClr val="FFFFFF"/>
              </a:solidFill>
            </a:endParaRPr>
          </a:p>
        </p:txBody>
      </p:sp>
    </p:spTree>
    <p:extLst>
      <p:ext uri="{BB962C8B-B14F-4D97-AF65-F5344CB8AC3E}">
        <p14:creationId xmlns:p14="http://schemas.microsoft.com/office/powerpoint/2010/main" val="382518117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6B736101-AE4C-D4CA-5345-E4D57E418E89}"/>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37C96AA-E39F-2549-9DF1-ACE58873BFC7}"/>
              </a:ext>
            </a:extLst>
          </p:cNvPr>
          <p:cNvSpPr>
            <a:spLocks noGrp="1"/>
          </p:cNvSpPr>
          <p:nvPr>
            <p:ph type="title"/>
          </p:nvPr>
        </p:nvSpPr>
        <p:spPr>
          <a:xfrm>
            <a:off x="838200" y="365125"/>
            <a:ext cx="10515600" cy="1325563"/>
          </a:xfrm>
        </p:spPr>
        <p:txBody>
          <a:bodyPr>
            <a:normAutofit/>
          </a:bodyPr>
          <a:lstStyle/>
          <a:p>
            <a:r>
              <a:rPr lang="en-GB" b="1" i="1">
                <a:solidFill>
                  <a:srgbClr val="FFFFFF"/>
                </a:solidFill>
              </a:rPr>
              <a:t>Child justice act</a:t>
            </a:r>
            <a:br>
              <a:rPr lang="en-ZA">
                <a:solidFill>
                  <a:srgbClr val="FFFFFF"/>
                </a:solidFill>
              </a:rPr>
            </a:br>
            <a:endParaRPr lang="en-GB">
              <a:solidFill>
                <a:srgbClr val="FFFFFF"/>
              </a:solidFill>
            </a:endParaRPr>
          </a:p>
        </p:txBody>
      </p:sp>
      <p:sp>
        <p:nvSpPr>
          <p:cNvPr id="3" name="Content Placeholder 2">
            <a:extLst>
              <a:ext uri="{FF2B5EF4-FFF2-40B4-BE49-F238E27FC236}">
                <a16:creationId xmlns:a16="http://schemas.microsoft.com/office/drawing/2014/main" id="{52D1831C-DADD-6D85-AB39-6165F49A4332}"/>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2000">
                <a:solidFill>
                  <a:srgbClr val="FFFFFF"/>
                </a:solidFill>
                <a:effectLst/>
                <a:latin typeface="Aptos" panose="020B0004020202020204" pitchFamily="34" charset="0"/>
                <a:ea typeface="Aptos" panose="020B0004020202020204" pitchFamily="34" charset="0"/>
                <a:cs typeface="Times New Roman" panose="02020603050405020304" pitchFamily="18" charset="0"/>
              </a:rPr>
              <a:t>Identify children exposed to violence, abuse or neglect.</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000">
                <a:solidFill>
                  <a:srgbClr val="FFFFFF"/>
                </a:solidFill>
                <a:effectLst/>
                <a:latin typeface="Aptos" panose="020B0004020202020204" pitchFamily="34" charset="0"/>
                <a:ea typeface="Aptos" panose="020B0004020202020204" pitchFamily="34" charset="0"/>
                <a:cs typeface="Times New Roman" panose="02020603050405020304" pitchFamily="18" charset="0"/>
              </a:rPr>
              <a:t>Usually removed and placed in places of safety.</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000">
                <a:solidFill>
                  <a:srgbClr val="FFFFFF"/>
                </a:solidFill>
                <a:effectLst/>
                <a:latin typeface="Aptos" panose="020B0004020202020204" pitchFamily="34" charset="0"/>
                <a:ea typeface="Aptos" panose="020B0004020202020204" pitchFamily="34" charset="0"/>
                <a:cs typeface="Times New Roman" panose="02020603050405020304" pitchFamily="18" charset="0"/>
              </a:rPr>
              <a:t>Connecting those children with psychologists and social workers</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000">
                <a:solidFill>
                  <a:srgbClr val="FFFFFF"/>
                </a:solidFill>
                <a:effectLst/>
                <a:latin typeface="Aptos" panose="020B0004020202020204" pitchFamily="34" charset="0"/>
                <a:ea typeface="Aptos" panose="020B0004020202020204" pitchFamily="34" charset="0"/>
                <a:cs typeface="Times New Roman" panose="02020603050405020304" pitchFamily="18" charset="0"/>
              </a:rPr>
              <a:t>Offering trauma counselling, school reintegration or , family counselling and placement with known vetted family members and substance use treatment if necessary.</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a:solidFill>
                  <a:srgbClr val="FFFFFF"/>
                </a:solidFill>
                <a:effectLst/>
                <a:latin typeface="Aptos" panose="020B0004020202020204" pitchFamily="34" charset="0"/>
                <a:ea typeface="Aptos" panose="020B0004020202020204" pitchFamily="34" charset="0"/>
                <a:cs typeface="Times New Roman" panose="02020603050405020304" pitchFamily="18" charset="0"/>
              </a:rPr>
              <a:t>Encourages diversion from formal court towards rehabilitation programmes.</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2000">
                <a:solidFill>
                  <a:srgbClr val="FFFFFF"/>
                </a:solidFill>
                <a:effectLst/>
                <a:latin typeface="Aptos" panose="020B0004020202020204" pitchFamily="34" charset="0"/>
                <a:ea typeface="Aptos" panose="020B0004020202020204" pitchFamily="34" charset="0"/>
                <a:cs typeface="Times New Roman" panose="02020603050405020304" pitchFamily="18" charset="0"/>
              </a:rPr>
              <a:t>Screening for child offenders as evidence shows that youth offenders are usually exposed to trauma and substance use and have neurodevelopmental disorders and use </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000" i="1">
                <a:solidFill>
                  <a:srgbClr val="FFFFFF"/>
                </a:solidFill>
                <a:effectLst/>
                <a:latin typeface="Aptos" panose="020B0004020202020204" pitchFamily="34" charset="0"/>
                <a:ea typeface="Aptos" panose="020B0004020202020204" pitchFamily="34" charset="0"/>
                <a:cs typeface="Times New Roman" panose="02020603050405020304" pitchFamily="18" charset="0"/>
              </a:rPr>
              <a:t>Thereby preventing progression of risk factors and childhood behavioural problems ie. Conduct disorders into adult criminality, substance use.</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000" i="1">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20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000">
              <a:solidFill>
                <a:srgbClr val="FFFFFF"/>
              </a:solidFill>
            </a:endParaRPr>
          </a:p>
        </p:txBody>
      </p:sp>
    </p:spTree>
    <p:extLst>
      <p:ext uri="{BB962C8B-B14F-4D97-AF65-F5344CB8AC3E}">
        <p14:creationId xmlns:p14="http://schemas.microsoft.com/office/powerpoint/2010/main" val="2434196670"/>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93F50230-9725-471A-9133-5A84D416149C}"/>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059775B-0997-920F-7308-E020FB9613AF}"/>
              </a:ext>
            </a:extLst>
          </p:cNvPr>
          <p:cNvSpPr>
            <a:spLocks noGrp="1"/>
          </p:cNvSpPr>
          <p:nvPr>
            <p:ph type="title"/>
          </p:nvPr>
        </p:nvSpPr>
        <p:spPr>
          <a:xfrm>
            <a:off x="838200" y="365125"/>
            <a:ext cx="10515600" cy="1325563"/>
          </a:xfrm>
        </p:spPr>
        <p:txBody>
          <a:bodyPr>
            <a:normAutofit/>
          </a:bodyPr>
          <a:lstStyle/>
          <a:p>
            <a:pPr>
              <a:tabLst>
                <a:tab pos="726440" algn="l"/>
              </a:tabLst>
            </a:pPr>
            <a:r>
              <a:rPr lang="en-GB" b="1" i="1"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Education</a:t>
            </a:r>
            <a:endParaRPr lang="en-GB" dirty="0">
              <a:solidFill>
                <a:srgbClr val="FFFFFF"/>
              </a:solidFill>
            </a:endParaRPr>
          </a:p>
        </p:txBody>
      </p:sp>
      <p:sp>
        <p:nvSpPr>
          <p:cNvPr id="3" name="Content Placeholder 2">
            <a:extLst>
              <a:ext uri="{FF2B5EF4-FFF2-40B4-BE49-F238E27FC236}">
                <a16:creationId xmlns:a16="http://schemas.microsoft.com/office/drawing/2014/main" id="{20A6245F-D87B-FEE3-BC1B-EDA8DDD6F3D3}"/>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(South African schools Act)</a:t>
            </a:r>
            <a:br>
              <a:rPr lang="en-GB"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br>
            <a:endParaRPr lang="en-GB"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The department of basic education has a Screening, Identification, assessment and Support policy (SIAS) which has been designed to assist with identification of learner who may have learning problems.  This is a multilevel referral pathway that  If implemented correctly, can assist with mental health promotion, early identification of mental illness and prevention of long term negative prognosis and support inclusive education:</a:t>
            </a:r>
            <a:endParaRPr lang="en-ZA" sz="26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600" dirty="0">
              <a:solidFill>
                <a:srgbClr val="FFFFFF"/>
              </a:solidFill>
            </a:endParaRPr>
          </a:p>
        </p:txBody>
      </p:sp>
    </p:spTree>
    <p:extLst>
      <p:ext uri="{BB962C8B-B14F-4D97-AF65-F5344CB8AC3E}">
        <p14:creationId xmlns:p14="http://schemas.microsoft.com/office/powerpoint/2010/main" val="337456119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EEC7CE42-3C72-26B1-3D85-EFA2A0B0E9C5}"/>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B25169B-06F6-C40A-E3F4-247DD5C93567}"/>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latin typeface="Aptos" panose="020B0004020202020204" pitchFamily="34" charset="0"/>
                <a:ea typeface="Aptos" panose="020B0004020202020204" pitchFamily="34" charset="0"/>
                <a:cs typeface="Times New Roman" panose="02020603050405020304" pitchFamily="18" charset="0"/>
              </a:rPr>
              <a:t>Education </a:t>
            </a:r>
            <a:endParaRPr lang="en-GB" dirty="0">
              <a:solidFill>
                <a:srgbClr val="FFFFFF"/>
              </a:solidFill>
            </a:endParaRPr>
          </a:p>
        </p:txBody>
      </p:sp>
      <p:sp>
        <p:nvSpPr>
          <p:cNvPr id="3" name="Content Placeholder 2">
            <a:extLst>
              <a:ext uri="{FF2B5EF4-FFF2-40B4-BE49-F238E27FC236}">
                <a16:creationId xmlns:a16="http://schemas.microsoft.com/office/drawing/2014/main" id="{016B4646-F6F6-8A9A-3D27-1DC5684F751B}"/>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SIAS requires teachers to screen learners who show learning problems and to administer classroom based interventions.</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Some of these problems include: </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Attention and concentration problems</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Learning problems</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Behavioural problems</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Anxiety or depression</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Signs of abuse/ neglect.</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Problems due to poverty.</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In the case of a classroom based intervention not being efficacious then a teacher can refer learner to the School based support team SBST.   </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The SBST can develop support plans individualised for the learner.</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500">
                <a:solidFill>
                  <a:srgbClr val="FFFFFF"/>
                </a:solidFill>
                <a:effectLst/>
                <a:latin typeface="Aptos" panose="020B0004020202020204" pitchFamily="34" charset="0"/>
                <a:ea typeface="Aptos" panose="020B0004020202020204" pitchFamily="34" charset="0"/>
                <a:cs typeface="Times New Roman" panose="02020603050405020304" pitchFamily="18" charset="0"/>
              </a:rPr>
              <a:t>Schools can refer for further psychosocial support if required.</a:t>
            </a:r>
            <a:endParaRPr lang="en-ZA" sz="15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500">
              <a:solidFill>
                <a:srgbClr val="FFFFFF"/>
              </a:solidFill>
            </a:endParaRPr>
          </a:p>
        </p:txBody>
      </p:sp>
    </p:spTree>
    <p:extLst>
      <p:ext uri="{BB962C8B-B14F-4D97-AF65-F5344CB8AC3E}">
        <p14:creationId xmlns:p14="http://schemas.microsoft.com/office/powerpoint/2010/main" val="1379821979"/>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258B8368-D9D1-222E-6891-44B38A854392}"/>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6F54F42-C3B6-BBF6-AE3A-16B138C5E2BA}"/>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latin typeface="Aptos" panose="020B0004020202020204" pitchFamily="34" charset="0"/>
                <a:ea typeface="Aptos" panose="020B0004020202020204" pitchFamily="34" charset="0"/>
                <a:cs typeface="Times New Roman" panose="02020603050405020304" pitchFamily="18" charset="0"/>
              </a:rPr>
              <a:t>Education </a:t>
            </a:r>
            <a:endParaRPr lang="en-GB" dirty="0">
              <a:solidFill>
                <a:srgbClr val="FFFFFF"/>
              </a:solidFill>
            </a:endParaRPr>
          </a:p>
        </p:txBody>
      </p:sp>
      <p:sp>
        <p:nvSpPr>
          <p:cNvPr id="3" name="Content Placeholder 2">
            <a:extLst>
              <a:ext uri="{FF2B5EF4-FFF2-40B4-BE49-F238E27FC236}">
                <a16:creationId xmlns:a16="http://schemas.microsoft.com/office/drawing/2014/main" id="{58D3C224-A608-B707-EC9E-D590AFB822F8}"/>
              </a:ext>
            </a:extLst>
          </p:cNvPr>
          <p:cNvSpPr>
            <a:spLocks noGrp="1"/>
          </p:cNvSpPr>
          <p:nvPr>
            <p:ph idx="1"/>
          </p:nvPr>
        </p:nvSpPr>
        <p:spPr>
          <a:xfrm>
            <a:off x="838200" y="1825625"/>
            <a:ext cx="10515600" cy="4351338"/>
          </a:xfrm>
        </p:spPr>
        <p:txBody>
          <a:bodyPr>
            <a:normAutofit/>
          </a:bodyPr>
          <a:lstStyle/>
          <a:p>
            <a:pPr>
              <a:buNone/>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Of school level interventions are still insufficient then SIAS allows for escalation to District based support team, which can help connect the struggling learner with education psychologist.</a:t>
            </a:r>
          </a:p>
          <a:p>
            <a:pPr marL="0" indent="0">
              <a:buNone/>
              <a:tabLst>
                <a:tab pos="726440" algn="l"/>
              </a:tabLst>
            </a:pP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Clinical psychologist, social workers, psychiatric doctor or other mental health workers.</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tabLst>
                <a:tab pos="726440" algn="l"/>
              </a:tabLst>
            </a:pP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SIAS also requires family involvement and the collaboration with parents for support planning.   With this collaboration, hopefully there is better awareness and insight of learning or psychological challenges faced by the learner.</a:t>
            </a:r>
          </a:p>
          <a:p>
            <a:pPr>
              <a:tabLst>
                <a:tab pos="726440" algn="l"/>
              </a:tabLst>
            </a:pP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Improved treatment adherence.</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tabLst>
                <a:tab pos="726440" algn="l"/>
              </a:tabLst>
            </a:pP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Data that is collected through SIAs can also be used for mental health planning in schools and communities school counselling, school nurse and psychologist, social worker allocation and the  relevant mental health programmes.</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pPr>
              <a:buNone/>
              <a:tabLst>
                <a:tab pos="726440" algn="l"/>
              </a:tabLst>
            </a:pPr>
            <a:r>
              <a:rPr lang="en-GB"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 </a:t>
            </a:r>
            <a:endParaRPr lang="en-ZA" sz="13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1300" dirty="0">
              <a:solidFill>
                <a:srgbClr val="FFFFFF"/>
              </a:solidFill>
            </a:endParaRPr>
          </a:p>
        </p:txBody>
      </p:sp>
    </p:spTree>
    <p:extLst>
      <p:ext uri="{BB962C8B-B14F-4D97-AF65-F5344CB8AC3E}">
        <p14:creationId xmlns:p14="http://schemas.microsoft.com/office/powerpoint/2010/main" val="4234260467"/>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58AA1C54-68B4-7132-FAB5-F076A6CCB926}"/>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6F2053B-6FB9-0DB2-230B-5E34E51FC321}"/>
              </a:ext>
            </a:extLst>
          </p:cNvPr>
          <p:cNvSpPr>
            <a:spLocks noGrp="1"/>
          </p:cNvSpPr>
          <p:nvPr>
            <p:ph type="title"/>
          </p:nvPr>
        </p:nvSpPr>
        <p:spPr>
          <a:xfrm>
            <a:off x="838200" y="365125"/>
            <a:ext cx="10515600" cy="1325563"/>
          </a:xfrm>
        </p:spPr>
        <p:txBody>
          <a:bodyPr>
            <a:normAutofit/>
          </a:bodyPr>
          <a:lstStyle/>
          <a:p>
            <a:r>
              <a:rPr lang="en-GB" b="1" i="1" dirty="0">
                <a:solidFill>
                  <a:srgbClr val="FFFFFF"/>
                </a:solidFill>
                <a:latin typeface="Aptos" panose="020B0004020202020204" pitchFamily="34" charset="0"/>
                <a:ea typeface="Aptos" panose="020B0004020202020204" pitchFamily="34" charset="0"/>
                <a:cs typeface="Times New Roman" panose="02020603050405020304" pitchFamily="18" charset="0"/>
              </a:rPr>
              <a:t>Education </a:t>
            </a:r>
            <a:endParaRPr lang="en-GB" dirty="0">
              <a:solidFill>
                <a:srgbClr val="FFFFFF"/>
              </a:solidFill>
            </a:endParaRPr>
          </a:p>
        </p:txBody>
      </p:sp>
      <p:sp>
        <p:nvSpPr>
          <p:cNvPr id="3" name="Content Placeholder 2">
            <a:extLst>
              <a:ext uri="{FF2B5EF4-FFF2-40B4-BE49-F238E27FC236}">
                <a16:creationId xmlns:a16="http://schemas.microsoft.com/office/drawing/2014/main" id="{F0A47D8D-CF9E-C282-A5D3-34135161AA4D}"/>
              </a:ext>
            </a:extLst>
          </p:cNvPr>
          <p:cNvSpPr>
            <a:spLocks noGrp="1"/>
          </p:cNvSpPr>
          <p:nvPr>
            <p:ph idx="1"/>
          </p:nvPr>
        </p:nvSpPr>
        <p:spPr>
          <a:xfrm>
            <a:off x="838200" y="1587062"/>
            <a:ext cx="10515600" cy="4589901"/>
          </a:xfrm>
        </p:spPr>
        <p:txBody>
          <a:bodyPr>
            <a:normAutofit lnSpcReduction="10000"/>
          </a:bodyPr>
          <a:lstStyle/>
          <a:p>
            <a:pPr marL="0" indent="0">
              <a:buNone/>
            </a:pPr>
            <a:r>
              <a:rPr lang="en-GB" sz="1600" b="1" u="sng" dirty="0">
                <a:solidFill>
                  <a:srgbClr val="FFFFFF"/>
                </a:solidFill>
              </a:rPr>
              <a:t>Curriculum and  Assessment Policy (CAPS)</a:t>
            </a:r>
          </a:p>
          <a:p>
            <a:pPr marL="0" indent="0">
              <a:buNone/>
            </a:pPr>
            <a:r>
              <a:rPr lang="en-GB" sz="1300" dirty="0">
                <a:solidFill>
                  <a:srgbClr val="FFFFFF"/>
                </a:solidFill>
              </a:rPr>
              <a:t>School subjects can play a significant role is mental health some of the practical ways that a school subjects can be used include teaching learners: </a:t>
            </a:r>
            <a:endParaRPr lang="en-ZA" sz="1300" dirty="0">
              <a:solidFill>
                <a:srgbClr val="FFFFFF"/>
              </a:solidFill>
            </a:endParaRPr>
          </a:p>
          <a:p>
            <a:pPr marL="0" indent="0">
              <a:buNone/>
            </a:pPr>
            <a:endParaRPr lang="en-ZA" sz="1300" dirty="0">
              <a:solidFill>
                <a:srgbClr val="FFFFFF"/>
              </a:solidFill>
            </a:endParaRPr>
          </a:p>
          <a:p>
            <a:pPr lvl="1">
              <a:lnSpc>
                <a:spcPct val="150000"/>
              </a:lnSpc>
            </a:pPr>
            <a:r>
              <a:rPr lang="en-GB" sz="1200" dirty="0">
                <a:solidFill>
                  <a:srgbClr val="FFFFFF"/>
                </a:solidFill>
              </a:rPr>
              <a:t>How to recognize symptoms of anxiety, depression and trauma.</a:t>
            </a:r>
            <a:endParaRPr lang="en-ZA" sz="1200" dirty="0">
              <a:solidFill>
                <a:srgbClr val="FFFFFF"/>
              </a:solidFill>
            </a:endParaRPr>
          </a:p>
          <a:p>
            <a:pPr lvl="1">
              <a:lnSpc>
                <a:spcPct val="150000"/>
              </a:lnSpc>
            </a:pPr>
            <a:r>
              <a:rPr lang="en-GB" sz="1200" dirty="0">
                <a:solidFill>
                  <a:srgbClr val="FFFFFF"/>
                </a:solidFill>
              </a:rPr>
              <a:t>Basic coping and emotional skills ( mood regulations and resilience)</a:t>
            </a:r>
            <a:endParaRPr lang="en-ZA" sz="1200" dirty="0">
              <a:solidFill>
                <a:srgbClr val="FFFFFF"/>
              </a:solidFill>
            </a:endParaRPr>
          </a:p>
          <a:p>
            <a:pPr lvl="1">
              <a:lnSpc>
                <a:spcPct val="150000"/>
              </a:lnSpc>
            </a:pPr>
            <a:r>
              <a:rPr lang="en-GB" sz="1200" dirty="0">
                <a:solidFill>
                  <a:srgbClr val="FFFFFF"/>
                </a:solidFill>
              </a:rPr>
              <a:t>Mindfulness.</a:t>
            </a:r>
            <a:endParaRPr lang="en-ZA" sz="1200" dirty="0">
              <a:solidFill>
                <a:srgbClr val="FFFFFF"/>
              </a:solidFill>
            </a:endParaRPr>
          </a:p>
          <a:p>
            <a:pPr lvl="1">
              <a:lnSpc>
                <a:spcPct val="150000"/>
              </a:lnSpc>
            </a:pPr>
            <a:r>
              <a:rPr lang="en-GB" sz="1200" dirty="0">
                <a:solidFill>
                  <a:srgbClr val="FFFFFF"/>
                </a:solidFill>
              </a:rPr>
              <a:t>Help seeking behaviour i.e. how to go about  going to local clinic to access social services in case of abuse/neglect.</a:t>
            </a:r>
          </a:p>
          <a:p>
            <a:pPr lvl="1">
              <a:lnSpc>
                <a:spcPct val="150000"/>
              </a:lnSpc>
            </a:pPr>
            <a:r>
              <a:rPr lang="en-GB" sz="1200" dirty="0">
                <a:solidFill>
                  <a:srgbClr val="FFFFFF"/>
                </a:solidFill>
              </a:rPr>
              <a:t>Childline.</a:t>
            </a:r>
            <a:endParaRPr lang="en-ZA" sz="1200" dirty="0">
              <a:solidFill>
                <a:srgbClr val="FFFFFF"/>
              </a:solidFill>
            </a:endParaRPr>
          </a:p>
          <a:p>
            <a:pPr lvl="1">
              <a:lnSpc>
                <a:spcPct val="150000"/>
              </a:lnSpc>
            </a:pPr>
            <a:r>
              <a:rPr lang="en-GB" sz="1200" dirty="0">
                <a:solidFill>
                  <a:srgbClr val="FFFFFF"/>
                </a:solidFill>
              </a:rPr>
              <a:t>Information about substance use and mental health</a:t>
            </a:r>
            <a:endParaRPr lang="en-ZA" sz="1200" dirty="0">
              <a:solidFill>
                <a:srgbClr val="FFFFFF"/>
              </a:solidFill>
            </a:endParaRPr>
          </a:p>
          <a:p>
            <a:pPr lvl="1">
              <a:lnSpc>
                <a:spcPct val="150000"/>
              </a:lnSpc>
            </a:pPr>
            <a:r>
              <a:rPr lang="en-GB" sz="1200" dirty="0">
                <a:solidFill>
                  <a:srgbClr val="FFFFFF"/>
                </a:solidFill>
              </a:rPr>
              <a:t>Social  media awareness.</a:t>
            </a:r>
            <a:endParaRPr lang="en-ZA" sz="1200" dirty="0">
              <a:solidFill>
                <a:srgbClr val="FFFFFF"/>
              </a:solidFill>
            </a:endParaRPr>
          </a:p>
          <a:p>
            <a:pPr lvl="1">
              <a:lnSpc>
                <a:spcPct val="150000"/>
              </a:lnSpc>
            </a:pPr>
            <a:r>
              <a:rPr lang="en-GB" sz="1200" dirty="0">
                <a:solidFill>
                  <a:srgbClr val="FFFFFF"/>
                </a:solidFill>
              </a:rPr>
              <a:t>Social determinants of mental health.</a:t>
            </a:r>
            <a:endParaRPr lang="en-ZA" sz="1200" dirty="0">
              <a:solidFill>
                <a:srgbClr val="FFFFFF"/>
              </a:solidFill>
            </a:endParaRPr>
          </a:p>
          <a:p>
            <a:pPr lvl="1">
              <a:lnSpc>
                <a:spcPct val="150000"/>
              </a:lnSpc>
            </a:pPr>
            <a:r>
              <a:rPr lang="en-GB" sz="1200" dirty="0">
                <a:solidFill>
                  <a:srgbClr val="FFFFFF"/>
                </a:solidFill>
              </a:rPr>
              <a:t>Effects of trauma on learning.</a:t>
            </a:r>
            <a:endParaRPr lang="en-ZA" sz="1200" dirty="0">
              <a:solidFill>
                <a:srgbClr val="FFFFFF"/>
              </a:solidFill>
            </a:endParaRPr>
          </a:p>
          <a:p>
            <a:pPr lvl="1">
              <a:lnSpc>
                <a:spcPct val="150000"/>
              </a:lnSpc>
            </a:pPr>
            <a:r>
              <a:rPr lang="en-GB" sz="1200" dirty="0">
                <a:solidFill>
                  <a:srgbClr val="FFFFFF"/>
                </a:solidFill>
              </a:rPr>
              <a:t>Encourage collaborative learning instead of competitiveness.</a:t>
            </a:r>
            <a:endParaRPr lang="en-ZA" sz="1200" dirty="0">
              <a:solidFill>
                <a:srgbClr val="FFFFFF"/>
              </a:solidFill>
            </a:endParaRPr>
          </a:p>
          <a:p>
            <a:pPr lvl="1">
              <a:lnSpc>
                <a:spcPct val="150000"/>
              </a:lnSpc>
            </a:pPr>
            <a:r>
              <a:rPr lang="en-GB" sz="1200" dirty="0">
                <a:solidFill>
                  <a:srgbClr val="FFFFFF"/>
                </a:solidFill>
              </a:rPr>
              <a:t>Address bullying in decisively</a:t>
            </a:r>
            <a:endParaRPr lang="en-ZA" sz="1200" dirty="0">
              <a:solidFill>
                <a:srgbClr val="FFFFFF"/>
              </a:solidFill>
            </a:endParaRPr>
          </a:p>
          <a:p>
            <a:endParaRPr lang="en-GB" sz="1300" dirty="0">
              <a:solidFill>
                <a:srgbClr val="FFFFFF"/>
              </a:solidFill>
            </a:endParaRPr>
          </a:p>
        </p:txBody>
      </p:sp>
    </p:spTree>
    <p:extLst>
      <p:ext uri="{BB962C8B-B14F-4D97-AF65-F5344CB8AC3E}">
        <p14:creationId xmlns:p14="http://schemas.microsoft.com/office/powerpoint/2010/main" val="337047714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78603E53-93C2-818B-E83E-111C5D127DF7}"/>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EB19398-39D6-A855-C1A2-3341E1F75B83}"/>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Media </a:t>
            </a:r>
          </a:p>
        </p:txBody>
      </p:sp>
      <p:sp>
        <p:nvSpPr>
          <p:cNvPr id="3" name="Content Placeholder 2">
            <a:extLst>
              <a:ext uri="{FF2B5EF4-FFF2-40B4-BE49-F238E27FC236}">
                <a16:creationId xmlns:a16="http://schemas.microsoft.com/office/drawing/2014/main" id="{5F6082B3-9759-D48D-1B6D-6DF7FAD0066B}"/>
              </a:ext>
            </a:extLst>
          </p:cNvPr>
          <p:cNvSpPr>
            <a:spLocks noGrp="1"/>
          </p:cNvSpPr>
          <p:nvPr>
            <p:ph idx="1"/>
          </p:nvPr>
        </p:nvSpPr>
        <p:spPr>
          <a:xfrm>
            <a:off x="838200" y="1825625"/>
            <a:ext cx="10515600" cy="4351338"/>
          </a:xfrm>
        </p:spPr>
        <p:txBody>
          <a:bodyPr>
            <a:normAutofit/>
          </a:bodyPr>
          <a:lstStyle/>
          <a:p>
            <a:pPr marL="0" indent="0">
              <a:buNone/>
            </a:pPr>
            <a:r>
              <a:rPr lang="en-GB" sz="2600" dirty="0">
                <a:solidFill>
                  <a:srgbClr val="FFFFFF"/>
                </a:solidFill>
              </a:rPr>
              <a:t>Media influences how mental illness is portrayed through:</a:t>
            </a:r>
          </a:p>
          <a:p>
            <a:pPr lvl="1">
              <a:lnSpc>
                <a:spcPct val="200000"/>
              </a:lnSpc>
            </a:pPr>
            <a:r>
              <a:rPr lang="en-GB" sz="2200" dirty="0">
                <a:solidFill>
                  <a:srgbClr val="FFFFFF"/>
                </a:solidFill>
              </a:rPr>
              <a:t> </a:t>
            </a:r>
            <a:r>
              <a:rPr lang="en-GB" sz="2800" dirty="0">
                <a:solidFill>
                  <a:srgbClr val="FFFFFF"/>
                </a:solidFill>
              </a:rPr>
              <a:t>How information spreads. </a:t>
            </a:r>
          </a:p>
          <a:p>
            <a:pPr lvl="1">
              <a:lnSpc>
                <a:spcPct val="200000"/>
              </a:lnSpc>
            </a:pPr>
            <a:r>
              <a:rPr lang="en-GB" sz="2800" dirty="0">
                <a:solidFill>
                  <a:srgbClr val="FFFFFF"/>
                </a:solidFill>
              </a:rPr>
              <a:t> How society understands mental wellbeing.</a:t>
            </a:r>
          </a:p>
          <a:p>
            <a:pPr lvl="1">
              <a:lnSpc>
                <a:spcPct val="200000"/>
              </a:lnSpc>
            </a:pPr>
            <a:r>
              <a:rPr lang="en-GB" sz="2800" dirty="0">
                <a:solidFill>
                  <a:srgbClr val="FFFFFF"/>
                </a:solidFill>
              </a:rPr>
              <a:t>  Shapes public belief, stigma and help-seeking behaviour</a:t>
            </a:r>
            <a:endParaRPr lang="en-ZA" sz="2800" dirty="0">
              <a:solidFill>
                <a:srgbClr val="FFFFFF"/>
              </a:solidFill>
            </a:endParaRPr>
          </a:p>
          <a:p>
            <a:pPr marL="457200" lvl="1" indent="0">
              <a:lnSpc>
                <a:spcPct val="200000"/>
              </a:lnSpc>
              <a:buNone/>
            </a:pPr>
            <a:endParaRPr lang="en-ZA" sz="2800" dirty="0">
              <a:solidFill>
                <a:srgbClr val="FFFFFF"/>
              </a:solidFill>
            </a:endParaRPr>
          </a:p>
          <a:p>
            <a:pPr marL="0" indent="0">
              <a:buNone/>
            </a:pPr>
            <a:endParaRPr lang="en-ZA" sz="2600" dirty="0">
              <a:solidFill>
                <a:srgbClr val="FFFFFF"/>
              </a:solidFill>
            </a:endParaRPr>
          </a:p>
        </p:txBody>
      </p:sp>
    </p:spTree>
    <p:extLst>
      <p:ext uri="{BB962C8B-B14F-4D97-AF65-F5344CB8AC3E}">
        <p14:creationId xmlns:p14="http://schemas.microsoft.com/office/powerpoint/2010/main" val="507957227"/>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0259777F-0CB9-5EA2-BF23-B2005312BEBE}"/>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AC80F02-552C-A6B4-2A55-2AE122CB2AB1}"/>
              </a:ext>
            </a:extLst>
          </p:cNvPr>
          <p:cNvSpPr>
            <a:spLocks noGrp="1"/>
          </p:cNvSpPr>
          <p:nvPr>
            <p:ph type="title"/>
          </p:nvPr>
        </p:nvSpPr>
        <p:spPr>
          <a:xfrm>
            <a:off x="838200" y="365125"/>
            <a:ext cx="10515600" cy="1325563"/>
          </a:xfrm>
        </p:spPr>
        <p:txBody>
          <a:bodyPr>
            <a:normAutofit/>
          </a:bodyPr>
          <a:lstStyle/>
          <a:p>
            <a:r>
              <a:rPr lang="en-GB">
                <a:solidFill>
                  <a:srgbClr val="FFFFFF"/>
                </a:solidFill>
              </a:rPr>
              <a:t>Media </a:t>
            </a:r>
          </a:p>
        </p:txBody>
      </p:sp>
      <p:sp>
        <p:nvSpPr>
          <p:cNvPr id="3" name="Content Placeholder 2">
            <a:extLst>
              <a:ext uri="{FF2B5EF4-FFF2-40B4-BE49-F238E27FC236}">
                <a16:creationId xmlns:a16="http://schemas.microsoft.com/office/drawing/2014/main" id="{A8E7C81F-FB4C-FB6D-1197-CCEDE53CA0E8}"/>
              </a:ext>
            </a:extLst>
          </p:cNvPr>
          <p:cNvSpPr>
            <a:spLocks noGrp="1"/>
          </p:cNvSpPr>
          <p:nvPr>
            <p:ph idx="1"/>
          </p:nvPr>
        </p:nvSpPr>
        <p:spPr>
          <a:xfrm>
            <a:off x="838200" y="1825625"/>
            <a:ext cx="10515600" cy="4351338"/>
          </a:xfrm>
        </p:spPr>
        <p:txBody>
          <a:bodyPr>
            <a:normAutofit/>
          </a:bodyPr>
          <a:lstStyle/>
          <a:p>
            <a:r>
              <a:rPr lang="en-GB" sz="2200" dirty="0">
                <a:solidFill>
                  <a:srgbClr val="FFFFFF"/>
                </a:solidFill>
              </a:rPr>
              <a:t>Responsible reporting on mental health and suicide and reducing risk of suicide contagion by: </a:t>
            </a:r>
            <a:endParaRPr lang="en-ZA" sz="2200" dirty="0">
              <a:solidFill>
                <a:srgbClr val="FFFFFF"/>
              </a:solidFill>
            </a:endParaRPr>
          </a:p>
          <a:p>
            <a:endParaRPr lang="en-ZA" sz="2200" dirty="0">
              <a:solidFill>
                <a:srgbClr val="FFFFFF"/>
              </a:solidFill>
            </a:endParaRPr>
          </a:p>
          <a:p>
            <a:r>
              <a:rPr lang="en-GB" sz="2200" dirty="0">
                <a:solidFill>
                  <a:srgbClr val="FFFFFF"/>
                </a:solidFill>
              </a:rPr>
              <a:t>Avoiding sensationalising suicide</a:t>
            </a:r>
            <a:endParaRPr lang="en-ZA" sz="2200" dirty="0">
              <a:solidFill>
                <a:srgbClr val="FFFFFF"/>
              </a:solidFill>
            </a:endParaRPr>
          </a:p>
          <a:p>
            <a:r>
              <a:rPr lang="en-GB" sz="2200" dirty="0">
                <a:solidFill>
                  <a:srgbClr val="FFFFFF"/>
                </a:solidFill>
              </a:rPr>
              <a:t>Avoid explicit description of suicide methods</a:t>
            </a:r>
            <a:endParaRPr lang="en-ZA" sz="2200" dirty="0">
              <a:solidFill>
                <a:srgbClr val="FFFFFF"/>
              </a:solidFill>
            </a:endParaRPr>
          </a:p>
          <a:p>
            <a:r>
              <a:rPr lang="en-GB" sz="2200" dirty="0">
                <a:solidFill>
                  <a:srgbClr val="FFFFFF"/>
                </a:solidFill>
              </a:rPr>
              <a:t>Provide info on where people can get help</a:t>
            </a:r>
            <a:endParaRPr lang="en-ZA" sz="2200" dirty="0">
              <a:solidFill>
                <a:srgbClr val="FFFFFF"/>
              </a:solidFill>
            </a:endParaRPr>
          </a:p>
          <a:p>
            <a:r>
              <a:rPr lang="en-GB" sz="2200" dirty="0">
                <a:solidFill>
                  <a:srgbClr val="FFFFFF"/>
                </a:solidFill>
              </a:rPr>
              <a:t>Highlight recovers stories.</a:t>
            </a:r>
            <a:endParaRPr lang="en-ZA" sz="2200" dirty="0">
              <a:solidFill>
                <a:srgbClr val="FFFFFF"/>
              </a:solidFill>
            </a:endParaRPr>
          </a:p>
          <a:p>
            <a:r>
              <a:rPr lang="en-GB" sz="2200" dirty="0">
                <a:solidFill>
                  <a:srgbClr val="FFFFFF"/>
                </a:solidFill>
              </a:rPr>
              <a:t>Limit cyberbullying and harassment</a:t>
            </a:r>
            <a:endParaRPr lang="en-ZA" sz="2200" dirty="0">
              <a:solidFill>
                <a:srgbClr val="FFFFFF"/>
              </a:solidFill>
            </a:endParaRPr>
          </a:p>
          <a:p>
            <a:r>
              <a:rPr lang="en-GB" sz="2200" dirty="0">
                <a:solidFill>
                  <a:srgbClr val="FFFFFF"/>
                </a:solidFill>
              </a:rPr>
              <a:t>Promote digital wellbeing content</a:t>
            </a:r>
            <a:endParaRPr lang="en-ZA" sz="2200" dirty="0">
              <a:solidFill>
                <a:srgbClr val="FFFFFF"/>
              </a:solidFill>
            </a:endParaRPr>
          </a:p>
          <a:p>
            <a:pPr marL="0" indent="0">
              <a:buNone/>
            </a:pPr>
            <a:endParaRPr lang="en-ZA" sz="2200" dirty="0">
              <a:solidFill>
                <a:srgbClr val="FFFFFF"/>
              </a:solidFill>
            </a:endParaRPr>
          </a:p>
          <a:p>
            <a:endParaRPr lang="en-GB" sz="2200" dirty="0">
              <a:solidFill>
                <a:srgbClr val="FFFFFF"/>
              </a:solidFill>
            </a:endParaRPr>
          </a:p>
        </p:txBody>
      </p:sp>
    </p:spTree>
    <p:extLst>
      <p:ext uri="{BB962C8B-B14F-4D97-AF65-F5344CB8AC3E}">
        <p14:creationId xmlns:p14="http://schemas.microsoft.com/office/powerpoint/2010/main" val="1468947710"/>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3A309CA1-E083-3B52-FE86-846D25B48760}"/>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F95B3D9-8DDF-B2FA-D416-A0C3E2E36DC4}"/>
              </a:ext>
            </a:extLst>
          </p:cNvPr>
          <p:cNvSpPr>
            <a:spLocks noGrp="1"/>
          </p:cNvSpPr>
          <p:nvPr>
            <p:ph type="title"/>
          </p:nvPr>
        </p:nvSpPr>
        <p:spPr>
          <a:xfrm>
            <a:off x="838200" y="365125"/>
            <a:ext cx="10515600" cy="1325563"/>
          </a:xfrm>
        </p:spPr>
        <p:txBody>
          <a:bodyPr>
            <a:normAutofit/>
          </a:bodyPr>
          <a:lstStyle/>
          <a:p>
            <a:r>
              <a:rPr lang="en-GB">
                <a:solidFill>
                  <a:srgbClr val="FFFFFF"/>
                </a:solidFill>
              </a:rPr>
              <a:t>Media </a:t>
            </a:r>
          </a:p>
        </p:txBody>
      </p:sp>
      <p:sp>
        <p:nvSpPr>
          <p:cNvPr id="3" name="Content Placeholder 2">
            <a:extLst>
              <a:ext uri="{FF2B5EF4-FFF2-40B4-BE49-F238E27FC236}">
                <a16:creationId xmlns:a16="http://schemas.microsoft.com/office/drawing/2014/main" id="{1E89306B-FCDC-C824-2D07-8DAB2C71CA72}"/>
              </a:ext>
            </a:extLst>
          </p:cNvPr>
          <p:cNvSpPr>
            <a:spLocks noGrp="1"/>
          </p:cNvSpPr>
          <p:nvPr>
            <p:ph idx="1"/>
          </p:nvPr>
        </p:nvSpPr>
        <p:spPr>
          <a:xfrm>
            <a:off x="838200" y="1825625"/>
            <a:ext cx="10515600" cy="4351338"/>
          </a:xfrm>
        </p:spPr>
        <p:txBody>
          <a:bodyPr>
            <a:normAutofit/>
          </a:bodyPr>
          <a:lstStyle/>
          <a:p>
            <a:r>
              <a:rPr lang="en-GB" sz="1500" dirty="0">
                <a:solidFill>
                  <a:srgbClr val="FFFFFF"/>
                </a:solidFill>
              </a:rPr>
              <a:t>Reducing stigma</a:t>
            </a:r>
            <a:endParaRPr lang="en-ZA" sz="1500" dirty="0">
              <a:solidFill>
                <a:srgbClr val="FFFFFF"/>
              </a:solidFill>
            </a:endParaRPr>
          </a:p>
          <a:p>
            <a:r>
              <a:rPr lang="en-GB" sz="1500" dirty="0">
                <a:solidFill>
                  <a:srgbClr val="FFFFFF"/>
                </a:solidFill>
              </a:rPr>
              <a:t>Encourage accurate portrayal of mental illness.</a:t>
            </a:r>
            <a:endParaRPr lang="en-ZA" sz="1500" dirty="0">
              <a:solidFill>
                <a:srgbClr val="FFFFFF"/>
              </a:solidFill>
            </a:endParaRPr>
          </a:p>
          <a:p>
            <a:r>
              <a:rPr lang="en-GB" sz="1500" dirty="0">
                <a:solidFill>
                  <a:srgbClr val="FFFFFF"/>
                </a:solidFill>
              </a:rPr>
              <a:t>Avoid harmful stereotypes and graphic violence</a:t>
            </a:r>
            <a:endParaRPr lang="en-ZA" sz="1500" dirty="0">
              <a:solidFill>
                <a:srgbClr val="FFFFFF"/>
              </a:solidFill>
            </a:endParaRPr>
          </a:p>
          <a:p>
            <a:r>
              <a:rPr lang="en-GB" sz="1500" dirty="0">
                <a:solidFill>
                  <a:srgbClr val="FFFFFF"/>
                </a:solidFill>
              </a:rPr>
              <a:t>Balanced portrayal of people with mental illness.</a:t>
            </a:r>
            <a:endParaRPr lang="en-ZA" sz="1500" dirty="0">
              <a:solidFill>
                <a:srgbClr val="FFFFFF"/>
              </a:solidFill>
            </a:endParaRPr>
          </a:p>
          <a:p>
            <a:r>
              <a:rPr lang="en-GB" sz="1500" dirty="0">
                <a:solidFill>
                  <a:srgbClr val="FFFFFF"/>
                </a:solidFill>
              </a:rPr>
              <a:t>Regular consultation of mental experts in programming.</a:t>
            </a:r>
            <a:endParaRPr lang="en-ZA" sz="1500" dirty="0">
              <a:solidFill>
                <a:srgbClr val="FFFFFF"/>
              </a:solidFill>
            </a:endParaRPr>
          </a:p>
          <a:p>
            <a:r>
              <a:rPr lang="en-GB" sz="1500" dirty="0">
                <a:solidFill>
                  <a:srgbClr val="FFFFFF"/>
                </a:solidFill>
              </a:rPr>
              <a:t>Normalise help seeking behaviour.</a:t>
            </a:r>
            <a:endParaRPr lang="en-ZA" sz="1500" dirty="0">
              <a:solidFill>
                <a:srgbClr val="FFFFFF"/>
              </a:solidFill>
            </a:endParaRPr>
          </a:p>
          <a:p>
            <a:r>
              <a:rPr lang="en-GB" sz="1500" dirty="0">
                <a:solidFill>
                  <a:srgbClr val="FFFFFF"/>
                </a:solidFill>
              </a:rPr>
              <a:t>Do not normalise substance misuse</a:t>
            </a:r>
            <a:endParaRPr lang="en-ZA" sz="1500" dirty="0">
              <a:solidFill>
                <a:srgbClr val="FFFFFF"/>
              </a:solidFill>
            </a:endParaRPr>
          </a:p>
          <a:p>
            <a:pPr marL="0" indent="0">
              <a:buNone/>
            </a:pPr>
            <a:endParaRPr lang="en-GB" sz="1500" dirty="0">
              <a:solidFill>
                <a:srgbClr val="FFFFFF"/>
              </a:solidFill>
            </a:endParaRPr>
          </a:p>
          <a:p>
            <a:pPr marL="0" indent="0">
              <a:buNone/>
            </a:pPr>
            <a:r>
              <a:rPr lang="en-GB" sz="1500" dirty="0">
                <a:solidFill>
                  <a:srgbClr val="FFFFFF"/>
                </a:solidFill>
              </a:rPr>
              <a:t>Provide information on access to resources: </a:t>
            </a:r>
            <a:endParaRPr lang="en-ZA" sz="1500" dirty="0">
              <a:solidFill>
                <a:srgbClr val="FFFFFF"/>
              </a:solidFill>
            </a:endParaRPr>
          </a:p>
          <a:p>
            <a:r>
              <a:rPr lang="en-GB" sz="1500" dirty="0">
                <a:solidFill>
                  <a:srgbClr val="FFFFFF"/>
                </a:solidFill>
              </a:rPr>
              <a:t>Crisis helplines</a:t>
            </a:r>
            <a:endParaRPr lang="en-ZA" sz="1500" dirty="0">
              <a:solidFill>
                <a:srgbClr val="FFFFFF"/>
              </a:solidFill>
            </a:endParaRPr>
          </a:p>
          <a:p>
            <a:r>
              <a:rPr lang="en-GB" sz="1500" dirty="0">
                <a:solidFill>
                  <a:srgbClr val="FFFFFF"/>
                </a:solidFill>
              </a:rPr>
              <a:t>Mental health support resources</a:t>
            </a:r>
            <a:endParaRPr lang="en-ZA" sz="1500" dirty="0">
              <a:solidFill>
                <a:srgbClr val="FFFFFF"/>
              </a:solidFill>
            </a:endParaRPr>
          </a:p>
          <a:p>
            <a:r>
              <a:rPr lang="en-GB" sz="1500" dirty="0">
                <a:solidFill>
                  <a:srgbClr val="FFFFFF"/>
                </a:solidFill>
              </a:rPr>
              <a:t>Community services</a:t>
            </a:r>
            <a:endParaRPr lang="en-ZA" sz="1500" dirty="0">
              <a:solidFill>
                <a:srgbClr val="FFFFFF"/>
              </a:solidFill>
            </a:endParaRPr>
          </a:p>
          <a:p>
            <a:pPr marL="0" indent="0">
              <a:buNone/>
            </a:pPr>
            <a:endParaRPr lang="en-ZA" sz="1500" dirty="0">
              <a:solidFill>
                <a:srgbClr val="FFFFFF"/>
              </a:solidFill>
            </a:endParaRPr>
          </a:p>
        </p:txBody>
      </p:sp>
    </p:spTree>
    <p:extLst>
      <p:ext uri="{BB962C8B-B14F-4D97-AF65-F5344CB8AC3E}">
        <p14:creationId xmlns:p14="http://schemas.microsoft.com/office/powerpoint/2010/main" val="2241113610"/>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igital art of brain">
            <a:extLst>
              <a:ext uri="{FF2B5EF4-FFF2-40B4-BE49-F238E27FC236}">
                <a16:creationId xmlns:a16="http://schemas.microsoft.com/office/drawing/2014/main" id="{7D16CD75-BA65-250E-020F-5183129EFE31}"/>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3FA97D5E-DBA3-6060-1A5D-10DA636582F8}"/>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Systems challenges</a:t>
            </a:r>
          </a:p>
        </p:txBody>
      </p:sp>
      <p:sp>
        <p:nvSpPr>
          <p:cNvPr id="5" name="Content Placeholder 4">
            <a:extLst>
              <a:ext uri="{FF2B5EF4-FFF2-40B4-BE49-F238E27FC236}">
                <a16:creationId xmlns:a16="http://schemas.microsoft.com/office/drawing/2014/main" id="{3C6B6A2A-84F7-D95A-1C0D-19BD7FD5F956}"/>
              </a:ext>
            </a:extLst>
          </p:cNvPr>
          <p:cNvSpPr>
            <a:spLocks noGrp="1"/>
          </p:cNvSpPr>
          <p:nvPr>
            <p:ph idx="1"/>
          </p:nvPr>
        </p:nvSpPr>
        <p:spPr>
          <a:xfrm>
            <a:off x="838200" y="1825624"/>
            <a:ext cx="10515600" cy="4575175"/>
          </a:xfrm>
        </p:spPr>
        <p:txBody>
          <a:bodyPr>
            <a:normAutofit fontScale="85000" lnSpcReduction="20000"/>
          </a:bodyPr>
          <a:lstStyle/>
          <a:p>
            <a:r>
              <a:rPr lang="en-GB" dirty="0">
                <a:solidFill>
                  <a:srgbClr val="FFFFFF"/>
                </a:solidFill>
              </a:rPr>
              <a:t>Poor coordination between sectors.</a:t>
            </a:r>
          </a:p>
          <a:p>
            <a:pPr lvl="1"/>
            <a:r>
              <a:rPr lang="en-GB" sz="1800" dirty="0">
                <a:solidFill>
                  <a:srgbClr val="FFFFFF"/>
                </a:solidFill>
              </a:rPr>
              <a:t>Different sectors often operate in silos, with limited collaboration. This may lead to fragmented services or duplicate services.</a:t>
            </a:r>
          </a:p>
          <a:p>
            <a:pPr lvl="1"/>
            <a:r>
              <a:rPr lang="en-GB" sz="1800" i="1" dirty="0">
                <a:solidFill>
                  <a:schemeClr val="accent6">
                    <a:lumMod val="60000"/>
                    <a:lumOff val="40000"/>
                  </a:schemeClr>
                </a:solidFill>
              </a:rPr>
              <a:t>Formation of intersectoral committees with regular meetings. </a:t>
            </a:r>
          </a:p>
          <a:p>
            <a:pPr lvl="1"/>
            <a:r>
              <a:rPr lang="en-GB" sz="1800" i="1" dirty="0">
                <a:solidFill>
                  <a:schemeClr val="accent6">
                    <a:lumMod val="60000"/>
                    <a:lumOff val="40000"/>
                  </a:schemeClr>
                </a:solidFill>
              </a:rPr>
              <a:t>Create referral pathways.</a:t>
            </a:r>
          </a:p>
          <a:p>
            <a:endParaRPr lang="en-GB" sz="1800" dirty="0">
              <a:solidFill>
                <a:srgbClr val="FFFFFF"/>
              </a:solidFill>
            </a:endParaRPr>
          </a:p>
          <a:p>
            <a:r>
              <a:rPr lang="en-GB" dirty="0">
                <a:solidFill>
                  <a:srgbClr val="FFFFFF"/>
                </a:solidFill>
              </a:rPr>
              <a:t>Unclear roles</a:t>
            </a:r>
          </a:p>
          <a:p>
            <a:pPr lvl="1"/>
            <a:r>
              <a:rPr lang="en-GB" sz="1800" dirty="0">
                <a:solidFill>
                  <a:srgbClr val="FFFFFF"/>
                </a:solidFill>
              </a:rPr>
              <a:t>Certain sectors may not be sure who is responsible for what </a:t>
            </a:r>
            <a:r>
              <a:rPr lang="en-GB" sz="1800" dirty="0" err="1">
                <a:solidFill>
                  <a:srgbClr val="FFFFFF"/>
                </a:solidFill>
              </a:rPr>
              <a:t>e.g</a:t>
            </a:r>
            <a:r>
              <a:rPr lang="en-GB" sz="1800" dirty="0">
                <a:solidFill>
                  <a:srgbClr val="FFFFFF"/>
                </a:solidFill>
              </a:rPr>
              <a:t> assessment of children for learning problem.</a:t>
            </a:r>
          </a:p>
          <a:p>
            <a:pPr lvl="1"/>
            <a:r>
              <a:rPr lang="en-GB" sz="1800" i="1" dirty="0">
                <a:solidFill>
                  <a:schemeClr val="accent6">
                    <a:lumMod val="60000"/>
                    <a:lumOff val="40000"/>
                  </a:schemeClr>
                </a:solidFill>
              </a:rPr>
              <a:t>Assign specific responsibilities to specific departments.</a:t>
            </a:r>
          </a:p>
          <a:p>
            <a:pPr lvl="1"/>
            <a:r>
              <a:rPr lang="en-GB" sz="1800" i="1" dirty="0">
                <a:solidFill>
                  <a:schemeClr val="accent6">
                    <a:lumMod val="60000"/>
                    <a:lumOff val="40000"/>
                  </a:schemeClr>
                </a:solidFill>
              </a:rPr>
              <a:t>Clear referral pathways.</a:t>
            </a:r>
          </a:p>
          <a:p>
            <a:endParaRPr lang="en-GB" sz="2200" dirty="0">
              <a:solidFill>
                <a:srgbClr val="FFFFFF"/>
              </a:solidFill>
            </a:endParaRPr>
          </a:p>
          <a:p>
            <a:r>
              <a:rPr lang="en-GB" dirty="0">
                <a:solidFill>
                  <a:srgbClr val="FFFFFF"/>
                </a:solidFill>
              </a:rPr>
              <a:t>Weak Policy implementation</a:t>
            </a:r>
          </a:p>
          <a:p>
            <a:pPr lvl="1"/>
            <a:r>
              <a:rPr lang="en-GB" sz="1900" dirty="0" err="1">
                <a:solidFill>
                  <a:srgbClr val="FFFFFF"/>
                </a:solidFill>
              </a:rPr>
              <a:t>W.rt</a:t>
            </a:r>
            <a:r>
              <a:rPr lang="en-GB" sz="1900" dirty="0">
                <a:solidFill>
                  <a:srgbClr val="FFFFFF"/>
                </a:solidFill>
              </a:rPr>
              <a:t>. policy implementation, even with polices such as the national mental health policy framework and strategic plan, implementation can be inconsistent due to lack of monitoring, funding and assertive determined leadership.</a:t>
            </a:r>
          </a:p>
          <a:p>
            <a:pPr lvl="1"/>
            <a:r>
              <a:rPr lang="en-GB" sz="1600" i="1" dirty="0">
                <a:solidFill>
                  <a:schemeClr val="accent6">
                    <a:lumMod val="60000"/>
                    <a:lumOff val="40000"/>
                  </a:schemeClr>
                </a:solidFill>
              </a:rPr>
              <a:t>MHCA 17of 2002, National mental Health Policy Framework and Strategic Plan</a:t>
            </a:r>
          </a:p>
          <a:p>
            <a:pPr lvl="1"/>
            <a:r>
              <a:rPr lang="en-GB" sz="1600" i="1" dirty="0">
                <a:solidFill>
                  <a:schemeClr val="accent6">
                    <a:lumMod val="60000"/>
                    <a:lumOff val="40000"/>
                  </a:schemeClr>
                </a:solidFill>
              </a:rPr>
              <a:t>Clear monitoring and evaluation frameworks.</a:t>
            </a:r>
          </a:p>
          <a:p>
            <a:pPr lvl="1"/>
            <a:r>
              <a:rPr lang="en-GB" sz="1600" i="1" dirty="0">
                <a:solidFill>
                  <a:schemeClr val="accent6">
                    <a:lumMod val="60000"/>
                    <a:lumOff val="40000"/>
                  </a:schemeClr>
                </a:solidFill>
              </a:rPr>
              <a:t>Track progress using measurable indicators.</a:t>
            </a:r>
          </a:p>
          <a:p>
            <a:endParaRPr lang="en-GB" sz="1900" dirty="0">
              <a:solidFill>
                <a:srgbClr val="FFFFFF"/>
              </a:solidFill>
            </a:endParaRPr>
          </a:p>
          <a:p>
            <a:endParaRPr lang="en-GB" dirty="0">
              <a:solidFill>
                <a:srgbClr val="FFFFFF"/>
              </a:solidFill>
            </a:endParaRPr>
          </a:p>
        </p:txBody>
      </p:sp>
    </p:spTree>
    <p:extLst>
      <p:ext uri="{BB962C8B-B14F-4D97-AF65-F5344CB8AC3E}">
        <p14:creationId xmlns:p14="http://schemas.microsoft.com/office/powerpoint/2010/main" val="3067810897"/>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0D154FF6-6087-B519-E3BA-5F51261B0944}"/>
              </a:ext>
            </a:extLst>
          </p:cNvPr>
          <p:cNvPicPr>
            <a:picLocks noChangeAspect="1"/>
          </p:cNvPicPr>
          <p:nvPr/>
        </p:nvPicPr>
        <p:blipFill>
          <a:blip r:embed="rId3">
            <a:alphaModFix amt="34000"/>
          </a:blip>
          <a:srcRect b="2270"/>
          <a:stretch>
            <a:fillRect/>
          </a:stretch>
        </p:blipFill>
        <p:spPr>
          <a:xfrm>
            <a:off x="-151699" y="0"/>
            <a:ext cx="12471385" cy="6858000"/>
          </a:xfrm>
          <a:prstGeom prst="rect">
            <a:avLst/>
          </a:prstGeom>
        </p:spPr>
      </p:pic>
      <p:sp>
        <p:nvSpPr>
          <p:cNvPr id="2" name="Title 1">
            <a:extLst>
              <a:ext uri="{FF2B5EF4-FFF2-40B4-BE49-F238E27FC236}">
                <a16:creationId xmlns:a16="http://schemas.microsoft.com/office/drawing/2014/main" id="{79EC6DDE-CA0B-F96D-BCB7-1A0B90A593E2}"/>
              </a:ext>
            </a:extLst>
          </p:cNvPr>
          <p:cNvSpPr>
            <a:spLocks noGrp="1"/>
          </p:cNvSpPr>
          <p:nvPr>
            <p:ph type="title"/>
          </p:nvPr>
        </p:nvSpPr>
        <p:spPr>
          <a:xfrm>
            <a:off x="838200" y="525195"/>
            <a:ext cx="10165218" cy="1019965"/>
          </a:xfrm>
        </p:spPr>
        <p:txBody>
          <a:bodyPr anchor="b">
            <a:normAutofit/>
          </a:bodyPr>
          <a:lstStyle/>
          <a:p>
            <a:r>
              <a:rPr lang="en-GB" sz="4000" dirty="0">
                <a:solidFill>
                  <a:srgbClr val="FFFFFF"/>
                </a:solidFill>
              </a:rPr>
              <a:t>Resource challenges</a:t>
            </a:r>
          </a:p>
        </p:txBody>
      </p:sp>
      <p:graphicFrame>
        <p:nvGraphicFramePr>
          <p:cNvPr id="5" name="Content Placeholder 2">
            <a:extLst>
              <a:ext uri="{FF2B5EF4-FFF2-40B4-BE49-F238E27FC236}">
                <a16:creationId xmlns:a16="http://schemas.microsoft.com/office/drawing/2014/main" id="{20A9E250-D10E-656B-167E-D51223F8882F}"/>
              </a:ext>
            </a:extLst>
          </p:cNvPr>
          <p:cNvGraphicFramePr>
            <a:graphicFrameLocks noGrp="1"/>
          </p:cNvGraphicFramePr>
          <p:nvPr>
            <p:ph idx="1"/>
            <p:extLst>
              <p:ext uri="{D42A27DB-BD31-4B8C-83A1-F6EECF244321}">
                <p14:modId xmlns:p14="http://schemas.microsoft.com/office/powerpoint/2010/main" val="4126816675"/>
              </p:ext>
            </p:extLst>
          </p:nvPr>
        </p:nvGraphicFramePr>
        <p:xfrm>
          <a:off x="838200" y="2708472"/>
          <a:ext cx="10165218" cy="25884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81357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C598A9BE-72FD-A6D5-A5C3-DEB78C5D846E}"/>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B10F7B1-5965-C17E-173B-1F4646057C7B}"/>
              </a:ext>
            </a:extLst>
          </p:cNvPr>
          <p:cNvSpPr>
            <a:spLocks noGrp="1"/>
          </p:cNvSpPr>
          <p:nvPr>
            <p:ph type="title"/>
          </p:nvPr>
        </p:nvSpPr>
        <p:spPr>
          <a:xfrm>
            <a:off x="838200" y="365125"/>
            <a:ext cx="10515600" cy="1325563"/>
          </a:xfrm>
        </p:spPr>
        <p:txBody>
          <a:bodyPr>
            <a:normAutofit/>
          </a:bodyPr>
          <a:lstStyle/>
          <a:p>
            <a:r>
              <a:rPr lang="en-GB" dirty="0">
                <a:solidFill>
                  <a:srgbClr val="FFFFFF"/>
                </a:solidFill>
              </a:rPr>
              <a:t>Social and knowledge challenges</a:t>
            </a:r>
          </a:p>
        </p:txBody>
      </p:sp>
      <p:sp>
        <p:nvSpPr>
          <p:cNvPr id="3" name="Content Placeholder 2">
            <a:extLst>
              <a:ext uri="{FF2B5EF4-FFF2-40B4-BE49-F238E27FC236}">
                <a16:creationId xmlns:a16="http://schemas.microsoft.com/office/drawing/2014/main" id="{40A32765-51EE-6211-B552-33878490D07E}"/>
              </a:ext>
            </a:extLst>
          </p:cNvPr>
          <p:cNvSpPr>
            <a:spLocks noGrp="1"/>
          </p:cNvSpPr>
          <p:nvPr>
            <p:ph idx="1"/>
          </p:nvPr>
        </p:nvSpPr>
        <p:spPr>
          <a:xfrm>
            <a:off x="838200" y="1825625"/>
            <a:ext cx="10515600" cy="4351338"/>
          </a:xfrm>
        </p:spPr>
        <p:txBody>
          <a:bodyPr>
            <a:normAutofit fontScale="92500" lnSpcReduction="20000"/>
          </a:bodyPr>
          <a:lstStyle/>
          <a:p>
            <a:r>
              <a:rPr lang="en-GB" dirty="0">
                <a:solidFill>
                  <a:srgbClr val="FFFFFF"/>
                </a:solidFill>
              </a:rPr>
              <a:t>Stigma and low mental health literacy.</a:t>
            </a:r>
          </a:p>
          <a:p>
            <a:pPr lvl="1"/>
            <a:r>
              <a:rPr lang="en-GB" sz="1900" dirty="0">
                <a:solidFill>
                  <a:srgbClr val="FFFFFF"/>
                </a:solidFill>
              </a:rPr>
              <a:t>Employers, teachers and police officers may not understand mental conditions.  This can result in poor support for affected individuals.</a:t>
            </a:r>
          </a:p>
          <a:p>
            <a:pPr lvl="1"/>
            <a:r>
              <a:rPr lang="en-GB" sz="1700" i="1" dirty="0">
                <a:solidFill>
                  <a:schemeClr val="accent6">
                    <a:lumMod val="60000"/>
                    <a:lumOff val="40000"/>
                  </a:schemeClr>
                </a:solidFill>
              </a:rPr>
              <a:t>Provide mental health literacy training .</a:t>
            </a:r>
          </a:p>
          <a:p>
            <a:pPr lvl="1"/>
            <a:endParaRPr lang="en-GB" dirty="0">
              <a:solidFill>
                <a:srgbClr val="FFFFFF"/>
              </a:solidFill>
            </a:endParaRPr>
          </a:p>
          <a:p>
            <a:r>
              <a:rPr lang="en-GB" dirty="0">
                <a:solidFill>
                  <a:srgbClr val="FFFFFF"/>
                </a:solidFill>
              </a:rPr>
              <a:t>Poor data sharing between sectors.</a:t>
            </a:r>
          </a:p>
          <a:p>
            <a:pPr lvl="1"/>
            <a:r>
              <a:rPr lang="en-GB" sz="1800" dirty="0">
                <a:solidFill>
                  <a:srgbClr val="FFFFFF"/>
                </a:solidFill>
              </a:rPr>
              <a:t>Many sectors collect data but in separate systems, making it hard to share information or track outcomes across services.</a:t>
            </a:r>
          </a:p>
          <a:p>
            <a:pPr lvl="1"/>
            <a:r>
              <a:rPr lang="en-GB" sz="1700" i="1" dirty="0">
                <a:solidFill>
                  <a:schemeClr val="accent6">
                    <a:lumMod val="60000"/>
                    <a:lumOff val="40000"/>
                  </a:schemeClr>
                </a:solidFill>
              </a:rPr>
              <a:t>Develop shared data bases.</a:t>
            </a:r>
          </a:p>
          <a:p>
            <a:pPr lvl="1"/>
            <a:r>
              <a:rPr lang="en-GB" sz="1700" i="1" dirty="0">
                <a:solidFill>
                  <a:schemeClr val="accent6">
                    <a:lumMod val="60000"/>
                    <a:lumOff val="40000"/>
                  </a:schemeClr>
                </a:solidFill>
              </a:rPr>
              <a:t>Improve mental health surveillance and research.</a:t>
            </a:r>
          </a:p>
          <a:p>
            <a:pPr lvl="1"/>
            <a:endParaRPr lang="en-GB" dirty="0">
              <a:solidFill>
                <a:srgbClr val="FFFFFF"/>
              </a:solidFill>
            </a:endParaRPr>
          </a:p>
          <a:p>
            <a:r>
              <a:rPr lang="en-GB" dirty="0">
                <a:solidFill>
                  <a:srgbClr val="FFFFFF"/>
                </a:solidFill>
              </a:rPr>
              <a:t>Limited community awareness.</a:t>
            </a:r>
          </a:p>
          <a:p>
            <a:pPr lvl="1"/>
            <a:r>
              <a:rPr lang="en-GB" sz="1700" dirty="0">
                <a:solidFill>
                  <a:schemeClr val="accent6">
                    <a:lumMod val="60000"/>
                    <a:lumOff val="40000"/>
                  </a:schemeClr>
                </a:solidFill>
              </a:rPr>
              <a:t>National mental  health awareness campaigns</a:t>
            </a:r>
          </a:p>
          <a:p>
            <a:pPr lvl="1"/>
            <a:r>
              <a:rPr lang="en-GB" sz="1700" dirty="0">
                <a:solidFill>
                  <a:schemeClr val="accent6">
                    <a:lumMod val="60000"/>
                    <a:lumOff val="40000"/>
                  </a:schemeClr>
                </a:solidFill>
              </a:rPr>
              <a:t>Mental health education in schools and workplaces</a:t>
            </a:r>
          </a:p>
          <a:p>
            <a:pPr lvl="1"/>
            <a:r>
              <a:rPr lang="en-GB" sz="1700" dirty="0">
                <a:solidFill>
                  <a:schemeClr val="accent6">
                    <a:lumMod val="60000"/>
                    <a:lumOff val="40000"/>
                  </a:schemeClr>
                </a:solidFill>
              </a:rPr>
              <a:t>Partnerships with media to promote responsible reporting</a:t>
            </a:r>
          </a:p>
        </p:txBody>
      </p:sp>
    </p:spTree>
    <p:extLst>
      <p:ext uri="{BB962C8B-B14F-4D97-AF65-F5344CB8AC3E}">
        <p14:creationId xmlns:p14="http://schemas.microsoft.com/office/powerpoint/2010/main" val="3746963822"/>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4AFFA4-6D02-2875-BC6D-40FD25F25D64}"/>
              </a:ext>
            </a:extLst>
          </p:cNvPr>
          <p:cNvSpPr>
            <a:spLocks noGrp="1"/>
          </p:cNvSpPr>
          <p:nvPr>
            <p:ph type="title"/>
          </p:nvPr>
        </p:nvSpPr>
        <p:spPr/>
        <p:txBody>
          <a:bodyPr/>
          <a:lstStyle/>
          <a:p>
            <a:r>
              <a:rPr lang="en-GB" dirty="0"/>
              <a:t>Resources.</a:t>
            </a:r>
          </a:p>
        </p:txBody>
      </p:sp>
      <p:sp>
        <p:nvSpPr>
          <p:cNvPr id="5" name="Rectangle 2">
            <a:extLst>
              <a:ext uri="{FF2B5EF4-FFF2-40B4-BE49-F238E27FC236}">
                <a16:creationId xmlns:a16="http://schemas.microsoft.com/office/drawing/2014/main" id="{E1D32261-4C75-2D11-18B9-F23BED6E9C06}"/>
              </a:ext>
            </a:extLst>
          </p:cNvPr>
          <p:cNvSpPr>
            <a:spLocks noGrp="1" noChangeArrowheads="1"/>
          </p:cNvSpPr>
          <p:nvPr>
            <p:ph sz="half" idx="1"/>
          </p:nvPr>
        </p:nvSpPr>
        <p:spPr bwMode="auto">
          <a:xfrm>
            <a:off x="838201" y="1690688"/>
            <a:ext cx="5181600"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24-HOUR TOLL-FREE EMERGENCY HELPLINES</a:t>
            </a: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Suicide Crisis Helpline</a:t>
            </a:r>
            <a:br>
              <a:rPr kumimoji="0" lang="en-US" altLang="en-US" sz="1400" b="1"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0800 567 567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Department of Social Development Substance Abuse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0800 12 13 14</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32312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Cipla Mental Health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0800 456 789</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31393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effectLst/>
                <a:latin typeface="+mn-lt"/>
                <a:cs typeface="Arial" panose="020B0604020202020204" pitchFamily="34" charset="0"/>
              </a:rPr>
              <a:t>NPOwer</a:t>
            </a:r>
            <a:r>
              <a:rPr kumimoji="0" lang="en-US" altLang="en-US" sz="1400" b="1" i="0" u="none" strike="noStrike" cap="none" normalizeH="0" baseline="0" dirty="0">
                <a:ln>
                  <a:noFill/>
                </a:ln>
                <a:effectLst/>
                <a:latin typeface="+mn-lt"/>
                <a:cs typeface="Arial" panose="020B0604020202020204" pitchFamily="34" charset="0"/>
              </a:rPr>
              <a:t> SA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0800 515 515 </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43010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mn-lt"/>
                <a:cs typeface="Arial" panose="020B0604020202020204" pitchFamily="34" charset="0"/>
              </a:rPr>
              <a:t>Healthcare Workers Care Network Helpline</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0800 21 21 21</a:t>
            </a:r>
            <a:br>
              <a:rPr kumimoji="0" lang="en-US" altLang="en-US" sz="1400" b="0" i="0" u="none" strike="noStrike" cap="none" normalizeH="0" baseline="0" dirty="0">
                <a:ln>
                  <a:noFill/>
                </a:ln>
                <a:effectLst/>
                <a:latin typeface="+mn-lt"/>
                <a:cs typeface="Arial" panose="020B0604020202020204" pitchFamily="34" charset="0"/>
              </a:rPr>
            </a:br>
            <a:r>
              <a:rPr kumimoji="0" lang="en-US" altLang="en-US" sz="1400" b="0" i="0" u="none" strike="noStrike" cap="none" normalizeH="0" baseline="0" dirty="0">
                <a:ln>
                  <a:noFill/>
                </a:ln>
                <a:effectLst/>
                <a:latin typeface="+mn-lt"/>
                <a:cs typeface="Arial" panose="020B0604020202020204" pitchFamily="34" charset="0"/>
              </a:rPr>
              <a:t>SMS 43001</a:t>
            </a:r>
            <a:endParaRPr kumimoji="0" lang="en-US" altLang="en-US" sz="1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CD072F77-1C3C-3A12-029B-277A59B97549}"/>
              </a:ext>
            </a:extLst>
          </p:cNvPr>
          <p:cNvSpPr>
            <a:spLocks noGrp="1"/>
          </p:cNvSpPr>
          <p:nvPr>
            <p:ph sz="half" idx="2"/>
          </p:nvPr>
        </p:nvSpPr>
        <p:spPr/>
        <p:txBody>
          <a:bodyPr>
            <a:normAutofit/>
          </a:bodyPr>
          <a:lstStyle/>
          <a:p>
            <a:pPr marL="0" indent="0">
              <a:buNone/>
            </a:pPr>
            <a:r>
              <a:rPr lang="en-GB" sz="1600" b="1" dirty="0"/>
              <a:t>South African Society Of Psychiatrists (SASOP).</a:t>
            </a:r>
          </a:p>
          <a:p>
            <a:pPr marL="0" indent="0">
              <a:buNone/>
            </a:pPr>
            <a:endParaRPr lang="en-GB" sz="1600" b="1" dirty="0"/>
          </a:p>
          <a:p>
            <a:pPr marL="0" indent="0">
              <a:buNone/>
            </a:pPr>
            <a:r>
              <a:rPr lang="en-GB" sz="1600" b="1" dirty="0"/>
              <a:t>UFS #Fair Kitchens Chefs Helpline</a:t>
            </a:r>
            <a:br>
              <a:rPr lang="en-GB" sz="1600" dirty="0"/>
            </a:br>
            <a:r>
              <a:rPr lang="en-GB" sz="1600" dirty="0"/>
              <a:t>0800 006 333</a:t>
            </a:r>
          </a:p>
          <a:p>
            <a:pPr marL="0" indent="0">
              <a:buNone/>
            </a:pPr>
            <a:endParaRPr lang="en-GB" sz="1600" dirty="0"/>
          </a:p>
          <a:p>
            <a:pPr marL="0" indent="0">
              <a:buNone/>
            </a:pPr>
            <a:r>
              <a:rPr lang="en-GB" sz="1600" b="1" dirty="0"/>
              <a:t>Cipla Chat Line</a:t>
            </a:r>
          </a:p>
          <a:p>
            <a:pPr marL="0" indent="0">
              <a:buNone/>
            </a:pPr>
            <a:r>
              <a:rPr lang="en-GB" sz="1600" dirty="0"/>
              <a:t>076 882 2775</a:t>
            </a:r>
          </a:p>
          <a:p>
            <a:pPr marL="0" indent="0">
              <a:buNone/>
            </a:pPr>
            <a:endParaRPr lang="en-GB" sz="1600" dirty="0"/>
          </a:p>
          <a:p>
            <a:pPr marL="0" indent="0">
              <a:buNone/>
            </a:pPr>
            <a:r>
              <a:rPr lang="en-GB" sz="1600" b="1" dirty="0"/>
              <a:t>Maybelline </a:t>
            </a:r>
            <a:r>
              <a:rPr lang="en-GB" sz="1600" b="1" dirty="0" err="1"/>
              <a:t>BraveTogether</a:t>
            </a:r>
            <a:endParaRPr lang="en-GB" sz="1600" b="1" dirty="0"/>
          </a:p>
          <a:p>
            <a:pPr marL="0" indent="0">
              <a:buNone/>
            </a:pPr>
            <a:r>
              <a:rPr lang="en-GB" sz="1600" dirty="0"/>
              <a:t>087 163 2030</a:t>
            </a:r>
          </a:p>
          <a:p>
            <a:pPr marL="0" indent="0">
              <a:buNone/>
            </a:pPr>
            <a:endParaRPr lang="en-GB" sz="1600" dirty="0"/>
          </a:p>
          <a:p>
            <a:pPr marL="0" indent="0">
              <a:buNone/>
            </a:pPr>
            <a:r>
              <a:rPr lang="en-GB" sz="1600" b="1" dirty="0"/>
              <a:t>SMS (SADAG)</a:t>
            </a:r>
          </a:p>
          <a:p>
            <a:pPr marL="0" indent="0">
              <a:buNone/>
            </a:pPr>
            <a:r>
              <a:rPr lang="en-GB" sz="1600" dirty="0"/>
              <a:t>31393</a:t>
            </a:r>
          </a:p>
          <a:p>
            <a:endParaRPr lang="en-GB" dirty="0"/>
          </a:p>
        </p:txBody>
      </p:sp>
      <p:pic>
        <p:nvPicPr>
          <p:cNvPr id="12" name="Picture 11" descr="Digital art of brain">
            <a:extLst>
              <a:ext uri="{FF2B5EF4-FFF2-40B4-BE49-F238E27FC236}">
                <a16:creationId xmlns:a16="http://schemas.microsoft.com/office/drawing/2014/main" id="{80FCB357-873E-199E-E2A2-21D269046DD1}"/>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664886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art of brain">
            <a:extLst>
              <a:ext uri="{FF2B5EF4-FFF2-40B4-BE49-F238E27FC236}">
                <a16:creationId xmlns:a16="http://schemas.microsoft.com/office/drawing/2014/main" id="{D2352865-8F21-E6E0-FD20-D787F797EDEB}"/>
              </a:ext>
            </a:extLst>
          </p:cNvPr>
          <p:cNvPicPr>
            <a:picLocks noChangeAspect="1"/>
          </p:cNvPicPr>
          <p:nvPr/>
        </p:nvPicPr>
        <p:blipFill>
          <a:blip r:embed="rId2">
            <a:alphaModFix amt="35000"/>
          </a:blip>
          <a:srcRect/>
          <a:stretch>
            <a:fillRect/>
          </a:stretch>
        </p:blipFill>
        <p:spPr>
          <a:xfrm>
            <a:off x="20" y="10"/>
            <a:ext cx="12191980" cy="6857990"/>
          </a:xfrm>
          <a:prstGeom prst="rect">
            <a:avLst/>
          </a:prstGeom>
        </p:spPr>
      </p:pic>
      <p:sp>
        <p:nvSpPr>
          <p:cNvPr id="3" name="Content Placeholder 2">
            <a:extLst>
              <a:ext uri="{FF2B5EF4-FFF2-40B4-BE49-F238E27FC236}">
                <a16:creationId xmlns:a16="http://schemas.microsoft.com/office/drawing/2014/main" id="{9852179B-134B-EDFB-873E-6B4C108E4375}"/>
              </a:ext>
            </a:extLst>
          </p:cNvPr>
          <p:cNvSpPr>
            <a:spLocks noGrp="1"/>
          </p:cNvSpPr>
          <p:nvPr>
            <p:ph idx="1"/>
          </p:nvPr>
        </p:nvSpPr>
        <p:spPr>
          <a:xfrm>
            <a:off x="838200" y="1825625"/>
            <a:ext cx="10515600" cy="4351338"/>
          </a:xfrm>
        </p:spPr>
        <p:txBody>
          <a:bodyPr>
            <a:normAutofit/>
          </a:bodyPr>
          <a:lstStyle/>
          <a:p>
            <a:pPr marL="0" indent="0">
              <a:buNone/>
            </a:pPr>
            <a:r>
              <a:rPr lang="en-GB" sz="2200" i="1">
                <a:solidFill>
                  <a:srgbClr val="FFFFFF"/>
                </a:solidFill>
                <a:latin typeface="Arial" panose="020B0604020202020204" pitchFamily="34" charset="0"/>
                <a:cs typeface="Arial" panose="020B0604020202020204" pitchFamily="34" charset="0"/>
              </a:rPr>
              <a:t>In private healthcare, people often pay with money.  They pay for quicker appointment, faster referrals and faster access to the best medical care.  In state/public healthcare, many people pay with something else, their time.  Hours spent in queues, sometimes months waiting for specialist care. But mental health introduces an additional complexity.  Even with the best treatment and quickest access to care, recovery is not always immediate.  Mental illness does not follow predictable timelines. Recovery often requires sustained support, patience and stability.  When care is delayed, that lost time can deepen the suffering and disrupt work, education and family life.  Ultimately access to healthcare determines who gets more time, not just to be treated, but time to recover live well and longer.  So when we contend for health, what are a really fighting for is more time and the ability to make the most of that time.</a:t>
            </a:r>
          </a:p>
          <a:p>
            <a:endParaRPr lang="en-GB" sz="2200">
              <a:solidFill>
                <a:srgbClr val="FFFFFF"/>
              </a:solidFill>
            </a:endParaRPr>
          </a:p>
          <a:p>
            <a:endParaRPr lang="en-GB" sz="2200">
              <a:solidFill>
                <a:srgbClr val="FFFFFF"/>
              </a:solidFill>
            </a:endParaRPr>
          </a:p>
        </p:txBody>
      </p:sp>
    </p:spTree>
    <p:extLst>
      <p:ext uri="{BB962C8B-B14F-4D97-AF65-F5344CB8AC3E}">
        <p14:creationId xmlns:p14="http://schemas.microsoft.com/office/powerpoint/2010/main" val="2589666864"/>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es in folders">
            <a:extLst>
              <a:ext uri="{FF2B5EF4-FFF2-40B4-BE49-F238E27FC236}">
                <a16:creationId xmlns:a16="http://schemas.microsoft.com/office/drawing/2014/main" id="{3F3A2D10-DB07-4950-F709-08E5B5B7D819}"/>
              </a:ext>
            </a:extLst>
          </p:cNvPr>
          <p:cNvPicPr>
            <a:picLocks noChangeAspect="1"/>
          </p:cNvPicPr>
          <p:nvPr/>
        </p:nvPicPr>
        <p:blipFill>
          <a:blip r:embed="rId2">
            <a:alphaModFix amt="35000"/>
          </a:blip>
          <a:srcRect t="3026" b="1270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4B6764F-BA08-9BEF-48A2-F0369F85A75E}"/>
              </a:ext>
            </a:extLst>
          </p:cNvPr>
          <p:cNvSpPr>
            <a:spLocks noGrp="1"/>
          </p:cNvSpPr>
          <p:nvPr>
            <p:ph type="title"/>
          </p:nvPr>
        </p:nvSpPr>
        <p:spPr>
          <a:xfrm>
            <a:off x="838200" y="365125"/>
            <a:ext cx="10515600" cy="1325563"/>
          </a:xfrm>
        </p:spPr>
        <p:txBody>
          <a:bodyPr>
            <a:normAutofit/>
          </a:bodyPr>
          <a:lstStyle/>
          <a:p>
            <a:r>
              <a:rPr lang="en-GB">
                <a:solidFill>
                  <a:srgbClr val="FFFFFF"/>
                </a:solidFill>
              </a:rPr>
              <a:t>References </a:t>
            </a:r>
            <a:br>
              <a:rPr lang="en-GB">
                <a:solidFill>
                  <a:srgbClr val="FFFFFF"/>
                </a:solidFill>
              </a:rPr>
            </a:br>
            <a:endParaRPr lang="en-GB">
              <a:solidFill>
                <a:srgbClr val="FFFFFF"/>
              </a:solidFill>
            </a:endParaRPr>
          </a:p>
        </p:txBody>
      </p:sp>
      <p:sp>
        <p:nvSpPr>
          <p:cNvPr id="3" name="Content Placeholder 2">
            <a:extLst>
              <a:ext uri="{FF2B5EF4-FFF2-40B4-BE49-F238E27FC236}">
                <a16:creationId xmlns:a16="http://schemas.microsoft.com/office/drawing/2014/main" id="{DAC06E19-74ED-26F6-7622-8D40E1DAE7EC}"/>
              </a:ext>
            </a:extLst>
          </p:cNvPr>
          <p:cNvSpPr>
            <a:spLocks noGrp="1"/>
          </p:cNvSpPr>
          <p:nvPr>
            <p:ph idx="1"/>
          </p:nvPr>
        </p:nvSpPr>
        <p:spPr>
          <a:xfrm>
            <a:off x="838200" y="1825625"/>
            <a:ext cx="10515600" cy="4351338"/>
          </a:xfrm>
        </p:spPr>
        <p:txBody>
          <a:bodyPr>
            <a:normAutofit/>
          </a:bodyPr>
          <a:lstStyle/>
          <a:p>
            <a:endParaRPr lang="en-GB">
              <a:solidFill>
                <a:srgbClr val="FFFFFF"/>
              </a:solidFill>
            </a:endParaRPr>
          </a:p>
        </p:txBody>
      </p:sp>
    </p:spTree>
    <p:extLst>
      <p:ext uri="{BB962C8B-B14F-4D97-AF65-F5344CB8AC3E}">
        <p14:creationId xmlns:p14="http://schemas.microsoft.com/office/powerpoint/2010/main" val="106954260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TotalTime>
  <Words>3979</Words>
  <Application>Microsoft Macintosh PowerPoint</Application>
  <PresentationFormat>Widescreen</PresentationFormat>
  <Paragraphs>411</Paragraphs>
  <Slides>29</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Calibri</vt:lpstr>
      <vt:lpstr>Symbol</vt:lpstr>
      <vt:lpstr>Office Theme</vt:lpstr>
      <vt:lpstr>Multisectoral approach to Mental Health</vt:lpstr>
      <vt:lpstr>Contents  </vt:lpstr>
      <vt:lpstr>Mental health</vt:lpstr>
      <vt:lpstr>Good mental health</vt:lpstr>
      <vt:lpstr>Determinants of good mental health</vt:lpstr>
      <vt:lpstr>Epidemiology </vt:lpstr>
      <vt:lpstr>EPIDEMIOLOGY</vt:lpstr>
      <vt:lpstr>What happens when mental health is eroded?</vt:lpstr>
      <vt:lpstr>Burden of disease</vt:lpstr>
      <vt:lpstr>Determinant of negative mental health.</vt:lpstr>
      <vt:lpstr>Multisectoral approach </vt:lpstr>
      <vt:lpstr>PowerPoint Presentation</vt:lpstr>
      <vt:lpstr> Justice, Crime prevention and security clusters </vt:lpstr>
      <vt:lpstr>Firearms act </vt:lpstr>
      <vt:lpstr>Labour law( Labour relations Act, Basic Conditions of Employment Act 7 , Occupational Health and Safety Act </vt:lpstr>
      <vt:lpstr>Child justice act </vt:lpstr>
      <vt:lpstr>Education</vt:lpstr>
      <vt:lpstr>Education </vt:lpstr>
      <vt:lpstr>Education </vt:lpstr>
      <vt:lpstr>Education </vt:lpstr>
      <vt:lpstr>Media </vt:lpstr>
      <vt:lpstr>Media </vt:lpstr>
      <vt:lpstr>Media </vt:lpstr>
      <vt:lpstr>Systems challenges</vt:lpstr>
      <vt:lpstr>Resource challenges</vt:lpstr>
      <vt:lpstr>Social and knowledge challenges</vt:lpstr>
      <vt:lpstr>Resources.</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Kelebogile Msane</dc:creator>
  <cp:lastModifiedBy>Sithole, Sbongumenzi (GPHealth)</cp:lastModifiedBy>
  <cp:revision>75</cp:revision>
  <cp:lastPrinted>2026-04-05T16:50:44Z</cp:lastPrinted>
  <dcterms:created xsi:type="dcterms:W3CDTF">2026-04-02T19:31:57Z</dcterms:created>
  <dcterms:modified xsi:type="dcterms:W3CDTF">2026-04-09T08:08:34Z</dcterms:modified>
</cp:coreProperties>
</file>