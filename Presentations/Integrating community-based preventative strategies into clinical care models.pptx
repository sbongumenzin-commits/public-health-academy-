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B6CD14-1F11-461B-A45D-3E4D0451F279}" v="14" dt="2026-04-15T18:32:43.9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8" d="100"/>
          <a:sy n="78" d="100"/>
        </p:scale>
        <p:origin x="835"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mokate, Sereme (GPHealth)" userId="4b562d1f-2c50-4ce5-bdf6-0a89450032d6" providerId="ADAL" clId="{F4F4300C-4022-489E-99A0-D38B8E8A6D80}"/>
    <pc:docChg chg="undo custSel addSld modSld sldOrd">
      <pc:chgData name="Mamokate, Sereme (GPHealth)" userId="4b562d1f-2c50-4ce5-bdf6-0a89450032d6" providerId="ADAL" clId="{F4F4300C-4022-489E-99A0-D38B8E8A6D80}" dt="2026-04-15T18:48:31.201" v="14667" actId="2711"/>
      <pc:docMkLst>
        <pc:docMk/>
      </pc:docMkLst>
      <pc:sldChg chg="delSp modSp mod delDesignElem">
        <pc:chgData name="Mamokate, Sereme (GPHealth)" userId="4b562d1f-2c50-4ce5-bdf6-0a89450032d6" providerId="ADAL" clId="{F4F4300C-4022-489E-99A0-D38B8E8A6D80}" dt="2026-04-15T18:32:44.086" v="14584" actId="27636"/>
        <pc:sldMkLst>
          <pc:docMk/>
          <pc:sldMk cId="4121544680" sldId="256"/>
        </pc:sldMkLst>
        <pc:spChg chg="mod">
          <ac:chgData name="Mamokate, Sereme (GPHealth)" userId="4b562d1f-2c50-4ce5-bdf6-0a89450032d6" providerId="ADAL" clId="{F4F4300C-4022-489E-99A0-D38B8E8A6D80}" dt="2026-04-15T18:32:44.086" v="14584" actId="27636"/>
          <ac:spMkLst>
            <pc:docMk/>
            <pc:sldMk cId="4121544680" sldId="256"/>
            <ac:spMk id="2" creationId="{71B861F7-2BDF-9E24-F0E2-87BEC036A1CA}"/>
          </ac:spMkLst>
        </pc:spChg>
        <pc:spChg chg="del">
          <ac:chgData name="Mamokate, Sereme (GPHealth)" userId="4b562d1f-2c50-4ce5-bdf6-0a89450032d6" providerId="ADAL" clId="{F4F4300C-4022-489E-99A0-D38B8E8A6D80}" dt="2026-04-15T18:32:43.943" v="14583"/>
          <ac:spMkLst>
            <pc:docMk/>
            <pc:sldMk cId="4121544680" sldId="256"/>
            <ac:spMk id="8" creationId="{5A292AEA-2528-46C0-B426-95822B6141FB}"/>
          </ac:spMkLst>
        </pc:spChg>
        <pc:spChg chg="del">
          <ac:chgData name="Mamokate, Sereme (GPHealth)" userId="4b562d1f-2c50-4ce5-bdf6-0a89450032d6" providerId="ADAL" clId="{F4F4300C-4022-489E-99A0-D38B8E8A6D80}" dt="2026-04-15T18:32:43.943" v="14583"/>
          <ac:spMkLst>
            <pc:docMk/>
            <pc:sldMk cId="4121544680" sldId="256"/>
            <ac:spMk id="10" creationId="{D8B7B198-E4DF-43CD-AD8C-199884323745}"/>
          </ac:spMkLst>
        </pc:spChg>
        <pc:spChg chg="del">
          <ac:chgData name="Mamokate, Sereme (GPHealth)" userId="4b562d1f-2c50-4ce5-bdf6-0a89450032d6" providerId="ADAL" clId="{F4F4300C-4022-489E-99A0-D38B8E8A6D80}" dt="2026-04-15T18:32:43.943" v="14583"/>
          <ac:spMkLst>
            <pc:docMk/>
            <pc:sldMk cId="4121544680" sldId="256"/>
            <ac:spMk id="12" creationId="{2BE67753-EA0E-4819-8D22-0B6600CF7231}"/>
          </ac:spMkLst>
        </pc:spChg>
        <pc:grpChg chg="del">
          <ac:chgData name="Mamokate, Sereme (GPHealth)" userId="4b562d1f-2c50-4ce5-bdf6-0a89450032d6" providerId="ADAL" clId="{F4F4300C-4022-489E-99A0-D38B8E8A6D80}" dt="2026-04-15T18:32:43.943" v="14583"/>
          <ac:grpSpMkLst>
            <pc:docMk/>
            <pc:sldMk cId="4121544680" sldId="256"/>
            <ac:grpSpMk id="14" creationId="{D76D63AC-0421-45EC-B383-E79A61A78C6B}"/>
          </ac:grpSpMkLst>
        </pc:grpChg>
        <pc:grpChg chg="del">
          <ac:chgData name="Mamokate, Sereme (GPHealth)" userId="4b562d1f-2c50-4ce5-bdf6-0a89450032d6" providerId="ADAL" clId="{F4F4300C-4022-489E-99A0-D38B8E8A6D80}" dt="2026-04-15T18:32:43.943" v="14583"/>
          <ac:grpSpMkLst>
            <pc:docMk/>
            <pc:sldMk cId="4121544680" sldId="256"/>
            <ac:grpSpMk id="23" creationId="{87F87F1B-42BA-4AC7-A4E2-41544DDB2CE3}"/>
          </ac:grpSpMkLst>
        </pc:grpChg>
        <pc:grpChg chg="del">
          <ac:chgData name="Mamokate, Sereme (GPHealth)" userId="4b562d1f-2c50-4ce5-bdf6-0a89450032d6" providerId="ADAL" clId="{F4F4300C-4022-489E-99A0-D38B8E8A6D80}" dt="2026-04-15T18:32:43.943" v="14583"/>
          <ac:grpSpMkLst>
            <pc:docMk/>
            <pc:sldMk cId="4121544680" sldId="256"/>
            <ac:grpSpMk id="29" creationId="{967346A5-7569-4F15-AB5D-BE3DADF192C0}"/>
          </ac:grpSpMkLst>
        </pc:grpChg>
      </pc:sldChg>
      <pc:sldChg chg="addSp modSp mod setBg">
        <pc:chgData name="Mamokate, Sereme (GPHealth)" userId="4b562d1f-2c50-4ce5-bdf6-0a89450032d6" providerId="ADAL" clId="{F4F4300C-4022-489E-99A0-D38B8E8A6D80}" dt="2026-04-15T18:33:35.843" v="14594" actId="26606"/>
        <pc:sldMkLst>
          <pc:docMk/>
          <pc:sldMk cId="3289236345" sldId="257"/>
        </pc:sldMkLst>
        <pc:spChg chg="mod">
          <ac:chgData name="Mamokate, Sereme (GPHealth)" userId="4b562d1f-2c50-4ce5-bdf6-0a89450032d6" providerId="ADAL" clId="{F4F4300C-4022-489E-99A0-D38B8E8A6D80}" dt="2026-04-15T18:33:35.843" v="14594" actId="26606"/>
          <ac:spMkLst>
            <pc:docMk/>
            <pc:sldMk cId="3289236345" sldId="257"/>
            <ac:spMk id="2" creationId="{F6CE4CC4-EE53-7D35-D603-F32791B99E13}"/>
          </ac:spMkLst>
        </pc:spChg>
        <pc:spChg chg="mod">
          <ac:chgData name="Mamokate, Sereme (GPHealth)" userId="4b562d1f-2c50-4ce5-bdf6-0a89450032d6" providerId="ADAL" clId="{F4F4300C-4022-489E-99A0-D38B8E8A6D80}" dt="2026-04-15T18:33:35.843" v="14594" actId="26606"/>
          <ac:spMkLst>
            <pc:docMk/>
            <pc:sldMk cId="3289236345" sldId="257"/>
            <ac:spMk id="3" creationId="{3A858472-3B42-23B6-705C-E40AD4F025EE}"/>
          </ac:spMkLst>
        </pc:spChg>
        <pc:spChg chg="add">
          <ac:chgData name="Mamokate, Sereme (GPHealth)" userId="4b562d1f-2c50-4ce5-bdf6-0a89450032d6" providerId="ADAL" clId="{F4F4300C-4022-489E-99A0-D38B8E8A6D80}" dt="2026-04-15T18:33:35.843" v="14594" actId="26606"/>
          <ac:spMkLst>
            <pc:docMk/>
            <pc:sldMk cId="3289236345" sldId="257"/>
            <ac:spMk id="8" creationId="{6BFC9644-673A-459F-B3C5-9310A4E50E3B}"/>
          </ac:spMkLst>
        </pc:spChg>
        <pc:spChg chg="add">
          <ac:chgData name="Mamokate, Sereme (GPHealth)" userId="4b562d1f-2c50-4ce5-bdf6-0a89450032d6" providerId="ADAL" clId="{F4F4300C-4022-489E-99A0-D38B8E8A6D80}" dt="2026-04-15T18:33:35.843" v="14594" actId="26606"/>
          <ac:spMkLst>
            <pc:docMk/>
            <pc:sldMk cId="3289236345" sldId="257"/>
            <ac:spMk id="39" creationId="{7D1C411D-0818-4640-8657-2AF78250C802}"/>
          </ac:spMkLst>
        </pc:spChg>
        <pc:grpChg chg="add">
          <ac:chgData name="Mamokate, Sereme (GPHealth)" userId="4b562d1f-2c50-4ce5-bdf6-0a89450032d6" providerId="ADAL" clId="{F4F4300C-4022-489E-99A0-D38B8E8A6D80}" dt="2026-04-15T18:33:35.843" v="14594" actId="26606"/>
          <ac:grpSpMkLst>
            <pc:docMk/>
            <pc:sldMk cId="3289236345" sldId="257"/>
            <ac:grpSpMk id="10" creationId="{4ADB9295-9645-4BF2-ADFD-75800B7FAD06}"/>
          </ac:grpSpMkLst>
        </pc:grpChg>
      </pc:sldChg>
      <pc:sldChg chg="modSp mod modNotesTx">
        <pc:chgData name="Mamokate, Sereme (GPHealth)" userId="4b562d1f-2c50-4ce5-bdf6-0a89450032d6" providerId="ADAL" clId="{F4F4300C-4022-489E-99A0-D38B8E8A6D80}" dt="2026-04-15T18:37:27.700" v="14602" actId="14100"/>
        <pc:sldMkLst>
          <pc:docMk/>
          <pc:sldMk cId="3651945153" sldId="258"/>
        </pc:sldMkLst>
        <pc:spChg chg="mod">
          <ac:chgData name="Mamokate, Sereme (GPHealth)" userId="4b562d1f-2c50-4ce5-bdf6-0a89450032d6" providerId="ADAL" clId="{F4F4300C-4022-489E-99A0-D38B8E8A6D80}" dt="2026-04-15T18:37:27.700" v="14602" actId="14100"/>
          <ac:spMkLst>
            <pc:docMk/>
            <pc:sldMk cId="3651945153" sldId="258"/>
            <ac:spMk id="2" creationId="{8E1BB221-093A-C8B6-221A-463A4509EEC8}"/>
          </ac:spMkLst>
        </pc:spChg>
        <pc:spChg chg="mod">
          <ac:chgData name="Mamokate, Sereme (GPHealth)" userId="4b562d1f-2c50-4ce5-bdf6-0a89450032d6" providerId="ADAL" clId="{F4F4300C-4022-489E-99A0-D38B8E8A6D80}" dt="2026-04-15T18:37:18.702" v="14601" actId="27636"/>
          <ac:spMkLst>
            <pc:docMk/>
            <pc:sldMk cId="3651945153" sldId="258"/>
            <ac:spMk id="3" creationId="{DDBB5C4C-CC83-BFCE-DF4B-88562A0DDC8E}"/>
          </ac:spMkLst>
        </pc:spChg>
      </pc:sldChg>
      <pc:sldChg chg="modSp new mod modNotesTx">
        <pc:chgData name="Mamokate, Sereme (GPHealth)" userId="4b562d1f-2c50-4ce5-bdf6-0a89450032d6" providerId="ADAL" clId="{F4F4300C-4022-489E-99A0-D38B8E8A6D80}" dt="2026-04-15T18:38:27.218" v="14609" actId="27636"/>
        <pc:sldMkLst>
          <pc:docMk/>
          <pc:sldMk cId="4285436313" sldId="259"/>
        </pc:sldMkLst>
        <pc:spChg chg="mod">
          <ac:chgData name="Mamokate, Sereme (GPHealth)" userId="4b562d1f-2c50-4ce5-bdf6-0a89450032d6" providerId="ADAL" clId="{F4F4300C-4022-489E-99A0-D38B8E8A6D80}" dt="2026-04-15T18:37:56.357" v="14603" actId="2711"/>
          <ac:spMkLst>
            <pc:docMk/>
            <pc:sldMk cId="4285436313" sldId="259"/>
            <ac:spMk id="2" creationId="{E6497235-6114-2F04-2C95-28E6F7906C73}"/>
          </ac:spMkLst>
        </pc:spChg>
        <pc:spChg chg="mod">
          <ac:chgData name="Mamokate, Sereme (GPHealth)" userId="4b562d1f-2c50-4ce5-bdf6-0a89450032d6" providerId="ADAL" clId="{F4F4300C-4022-489E-99A0-D38B8E8A6D80}" dt="2026-04-15T18:38:27.218" v="14609" actId="27636"/>
          <ac:spMkLst>
            <pc:docMk/>
            <pc:sldMk cId="4285436313" sldId="259"/>
            <ac:spMk id="3" creationId="{71D8B897-0999-6A3C-F9CD-CC435729F7F5}"/>
          </ac:spMkLst>
        </pc:spChg>
      </pc:sldChg>
      <pc:sldChg chg="modSp new mod modNotesTx">
        <pc:chgData name="Mamokate, Sereme (GPHealth)" userId="4b562d1f-2c50-4ce5-bdf6-0a89450032d6" providerId="ADAL" clId="{F4F4300C-4022-489E-99A0-D38B8E8A6D80}" dt="2026-04-15T18:39:12.313" v="14615" actId="27636"/>
        <pc:sldMkLst>
          <pc:docMk/>
          <pc:sldMk cId="128952589" sldId="260"/>
        </pc:sldMkLst>
        <pc:spChg chg="mod">
          <ac:chgData name="Mamokate, Sereme (GPHealth)" userId="4b562d1f-2c50-4ce5-bdf6-0a89450032d6" providerId="ADAL" clId="{F4F4300C-4022-489E-99A0-D38B8E8A6D80}" dt="2026-04-15T18:38:44.453" v="14610" actId="2711"/>
          <ac:spMkLst>
            <pc:docMk/>
            <pc:sldMk cId="128952589" sldId="260"/>
            <ac:spMk id="2" creationId="{647F0CA8-50ED-AC04-D5C3-E7FD347A77BA}"/>
          </ac:spMkLst>
        </pc:spChg>
        <pc:spChg chg="mod">
          <ac:chgData name="Mamokate, Sereme (GPHealth)" userId="4b562d1f-2c50-4ce5-bdf6-0a89450032d6" providerId="ADAL" clId="{F4F4300C-4022-489E-99A0-D38B8E8A6D80}" dt="2026-04-15T18:39:12.313" v="14615" actId="27636"/>
          <ac:spMkLst>
            <pc:docMk/>
            <pc:sldMk cId="128952589" sldId="260"/>
            <ac:spMk id="3" creationId="{27A5A64F-59F0-821F-F7C0-40975C7C8EB5}"/>
          </ac:spMkLst>
        </pc:spChg>
      </pc:sldChg>
      <pc:sldChg chg="modSp new mod modNotesTx">
        <pc:chgData name="Mamokate, Sereme (GPHealth)" userId="4b562d1f-2c50-4ce5-bdf6-0a89450032d6" providerId="ADAL" clId="{F4F4300C-4022-489E-99A0-D38B8E8A6D80}" dt="2026-04-15T18:40:33.336" v="14627" actId="27636"/>
        <pc:sldMkLst>
          <pc:docMk/>
          <pc:sldMk cId="3356788448" sldId="261"/>
        </pc:sldMkLst>
        <pc:spChg chg="mod">
          <ac:chgData name="Mamokate, Sereme (GPHealth)" userId="4b562d1f-2c50-4ce5-bdf6-0a89450032d6" providerId="ADAL" clId="{F4F4300C-4022-489E-99A0-D38B8E8A6D80}" dt="2026-04-15T18:40:11.592" v="14623" actId="14100"/>
          <ac:spMkLst>
            <pc:docMk/>
            <pc:sldMk cId="3356788448" sldId="261"/>
            <ac:spMk id="2" creationId="{744DAC1A-93F9-12A8-F527-CAEA3AE91A6A}"/>
          </ac:spMkLst>
        </pc:spChg>
        <pc:spChg chg="mod">
          <ac:chgData name="Mamokate, Sereme (GPHealth)" userId="4b562d1f-2c50-4ce5-bdf6-0a89450032d6" providerId="ADAL" clId="{F4F4300C-4022-489E-99A0-D38B8E8A6D80}" dt="2026-04-15T18:40:33.336" v="14627" actId="27636"/>
          <ac:spMkLst>
            <pc:docMk/>
            <pc:sldMk cId="3356788448" sldId="261"/>
            <ac:spMk id="3" creationId="{2AAAAF2E-D0CE-653A-58F7-4CBE7543B7D5}"/>
          </ac:spMkLst>
        </pc:spChg>
      </pc:sldChg>
      <pc:sldChg chg="addSp delSp modSp new mod modNotesTx">
        <pc:chgData name="Mamokate, Sereme (GPHealth)" userId="4b562d1f-2c50-4ce5-bdf6-0a89450032d6" providerId="ADAL" clId="{F4F4300C-4022-489E-99A0-D38B8E8A6D80}" dt="2026-04-15T18:41:13.140" v="14630" actId="2711"/>
        <pc:sldMkLst>
          <pc:docMk/>
          <pc:sldMk cId="1658572365" sldId="262"/>
        </pc:sldMkLst>
        <pc:spChg chg="mod">
          <ac:chgData name="Mamokate, Sereme (GPHealth)" userId="4b562d1f-2c50-4ce5-bdf6-0a89450032d6" providerId="ADAL" clId="{F4F4300C-4022-489E-99A0-D38B8E8A6D80}" dt="2026-04-15T18:41:13.140" v="14630" actId="2711"/>
          <ac:spMkLst>
            <pc:docMk/>
            <pc:sldMk cId="1658572365" sldId="262"/>
            <ac:spMk id="2" creationId="{82B21EA6-3C6B-DAE6-6DBF-1F1C9FF73F1A}"/>
          </ac:spMkLst>
        </pc:spChg>
        <pc:spChg chg="del mod">
          <ac:chgData name="Mamokate, Sereme (GPHealth)" userId="4b562d1f-2c50-4ce5-bdf6-0a89450032d6" providerId="ADAL" clId="{F4F4300C-4022-489E-99A0-D38B8E8A6D80}" dt="2026-04-14T13:23:50.316" v="7473"/>
          <ac:spMkLst>
            <pc:docMk/>
            <pc:sldMk cId="1658572365" sldId="262"/>
            <ac:spMk id="3" creationId="{73268C66-3538-40B9-D32B-6877252AA9AA}"/>
          </ac:spMkLst>
        </pc:spChg>
        <pc:graphicFrameChg chg="add mod">
          <ac:chgData name="Mamokate, Sereme (GPHealth)" userId="4b562d1f-2c50-4ce5-bdf6-0a89450032d6" providerId="ADAL" clId="{F4F4300C-4022-489E-99A0-D38B8E8A6D80}" dt="2026-04-15T18:32:43.943" v="14583"/>
          <ac:graphicFrameMkLst>
            <pc:docMk/>
            <pc:sldMk cId="1658572365" sldId="262"/>
            <ac:graphicFrameMk id="4" creationId="{66DBD946-C737-FEE3-AF6E-CF61C08AA621}"/>
          </ac:graphicFrameMkLst>
        </pc:graphicFrameChg>
      </pc:sldChg>
      <pc:sldChg chg="modSp new mod modNotesTx">
        <pc:chgData name="Mamokate, Sereme (GPHealth)" userId="4b562d1f-2c50-4ce5-bdf6-0a89450032d6" providerId="ADAL" clId="{F4F4300C-4022-489E-99A0-D38B8E8A6D80}" dt="2026-04-15T18:41:40.015" v="14632" actId="2711"/>
        <pc:sldMkLst>
          <pc:docMk/>
          <pc:sldMk cId="2513969140" sldId="263"/>
        </pc:sldMkLst>
        <pc:spChg chg="mod">
          <ac:chgData name="Mamokate, Sereme (GPHealth)" userId="4b562d1f-2c50-4ce5-bdf6-0a89450032d6" providerId="ADAL" clId="{F4F4300C-4022-489E-99A0-D38B8E8A6D80}" dt="2026-04-15T18:41:28.954" v="14631" actId="2711"/>
          <ac:spMkLst>
            <pc:docMk/>
            <pc:sldMk cId="2513969140" sldId="263"/>
            <ac:spMk id="2" creationId="{6F1A0AF8-F415-D689-5C4D-1D5B854E8AFE}"/>
          </ac:spMkLst>
        </pc:spChg>
        <pc:spChg chg="mod">
          <ac:chgData name="Mamokate, Sereme (GPHealth)" userId="4b562d1f-2c50-4ce5-bdf6-0a89450032d6" providerId="ADAL" clId="{F4F4300C-4022-489E-99A0-D38B8E8A6D80}" dt="2026-04-15T18:41:40.015" v="14632" actId="2711"/>
          <ac:spMkLst>
            <pc:docMk/>
            <pc:sldMk cId="2513969140" sldId="263"/>
            <ac:spMk id="3" creationId="{507CFB21-EA2A-E1B4-5464-A65AC2FDFB92}"/>
          </ac:spMkLst>
        </pc:spChg>
      </pc:sldChg>
      <pc:sldChg chg="modSp new mod ord modNotesTx">
        <pc:chgData name="Mamokate, Sereme (GPHealth)" userId="4b562d1f-2c50-4ce5-bdf6-0a89450032d6" providerId="ADAL" clId="{F4F4300C-4022-489E-99A0-D38B8E8A6D80}" dt="2026-04-15T18:42:43.395" v="14640" actId="14100"/>
        <pc:sldMkLst>
          <pc:docMk/>
          <pc:sldMk cId="355862945" sldId="264"/>
        </pc:sldMkLst>
        <pc:spChg chg="mod">
          <ac:chgData name="Mamokate, Sereme (GPHealth)" userId="4b562d1f-2c50-4ce5-bdf6-0a89450032d6" providerId="ADAL" clId="{F4F4300C-4022-489E-99A0-D38B8E8A6D80}" dt="2026-04-15T18:42:30.645" v="14638" actId="14100"/>
          <ac:spMkLst>
            <pc:docMk/>
            <pc:sldMk cId="355862945" sldId="264"/>
            <ac:spMk id="2" creationId="{ABF582B1-1B77-326F-94C1-509D5832DCF8}"/>
          </ac:spMkLst>
        </pc:spChg>
        <pc:spChg chg="mod">
          <ac:chgData name="Mamokate, Sereme (GPHealth)" userId="4b562d1f-2c50-4ce5-bdf6-0a89450032d6" providerId="ADAL" clId="{F4F4300C-4022-489E-99A0-D38B8E8A6D80}" dt="2026-04-15T18:42:43.395" v="14640" actId="14100"/>
          <ac:spMkLst>
            <pc:docMk/>
            <pc:sldMk cId="355862945" sldId="264"/>
            <ac:spMk id="3" creationId="{96F036EF-60DE-A2D1-D240-622D83E1F0A2}"/>
          </ac:spMkLst>
        </pc:spChg>
      </pc:sldChg>
      <pc:sldChg chg="addSp delSp modSp new mod modNotesTx">
        <pc:chgData name="Mamokate, Sereme (GPHealth)" userId="4b562d1f-2c50-4ce5-bdf6-0a89450032d6" providerId="ADAL" clId="{F4F4300C-4022-489E-99A0-D38B8E8A6D80}" dt="2026-04-15T18:43:35.137" v="14642" actId="2711"/>
        <pc:sldMkLst>
          <pc:docMk/>
          <pc:sldMk cId="1447121446" sldId="265"/>
        </pc:sldMkLst>
        <pc:spChg chg="mod">
          <ac:chgData name="Mamokate, Sereme (GPHealth)" userId="4b562d1f-2c50-4ce5-bdf6-0a89450032d6" providerId="ADAL" clId="{F4F4300C-4022-489E-99A0-D38B8E8A6D80}" dt="2026-04-15T18:43:18.124" v="14641" actId="2711"/>
          <ac:spMkLst>
            <pc:docMk/>
            <pc:sldMk cId="1447121446" sldId="265"/>
            <ac:spMk id="2" creationId="{02FABA1E-5107-6237-8AF3-35C39CF47159}"/>
          </ac:spMkLst>
        </pc:spChg>
        <pc:spChg chg="del mod">
          <ac:chgData name="Mamokate, Sereme (GPHealth)" userId="4b562d1f-2c50-4ce5-bdf6-0a89450032d6" providerId="ADAL" clId="{F4F4300C-4022-489E-99A0-D38B8E8A6D80}" dt="2026-04-14T19:47:20.481" v="9908" actId="3680"/>
          <ac:spMkLst>
            <pc:docMk/>
            <pc:sldMk cId="1447121446" sldId="265"/>
            <ac:spMk id="3" creationId="{DB5A5ADE-874C-FF85-01A9-A71BB3B6E7A1}"/>
          </ac:spMkLst>
        </pc:spChg>
        <pc:graphicFrameChg chg="add mod ord modGraphic">
          <ac:chgData name="Mamokate, Sereme (GPHealth)" userId="4b562d1f-2c50-4ce5-bdf6-0a89450032d6" providerId="ADAL" clId="{F4F4300C-4022-489E-99A0-D38B8E8A6D80}" dt="2026-04-15T18:43:35.137" v="14642" actId="2711"/>
          <ac:graphicFrameMkLst>
            <pc:docMk/>
            <pc:sldMk cId="1447121446" sldId="265"/>
            <ac:graphicFrameMk id="4" creationId="{941799CF-765C-B3D6-C266-655218933B2F}"/>
          </ac:graphicFrameMkLst>
        </pc:graphicFrameChg>
      </pc:sldChg>
      <pc:sldChg chg="modSp new mod modNotesTx">
        <pc:chgData name="Mamokate, Sereme (GPHealth)" userId="4b562d1f-2c50-4ce5-bdf6-0a89450032d6" providerId="ADAL" clId="{F4F4300C-4022-489E-99A0-D38B8E8A6D80}" dt="2026-04-15T18:44:12.156" v="14645" actId="14100"/>
        <pc:sldMkLst>
          <pc:docMk/>
          <pc:sldMk cId="3392175826" sldId="266"/>
        </pc:sldMkLst>
        <pc:spChg chg="mod">
          <ac:chgData name="Mamokate, Sereme (GPHealth)" userId="4b562d1f-2c50-4ce5-bdf6-0a89450032d6" providerId="ADAL" clId="{F4F4300C-4022-489E-99A0-D38B8E8A6D80}" dt="2026-04-15T18:43:51.329" v="14643" actId="2711"/>
          <ac:spMkLst>
            <pc:docMk/>
            <pc:sldMk cId="3392175826" sldId="266"/>
            <ac:spMk id="2" creationId="{233EC8CE-147E-CDA4-FC7C-5BCC04B7B0F8}"/>
          </ac:spMkLst>
        </pc:spChg>
        <pc:spChg chg="mod">
          <ac:chgData name="Mamokate, Sereme (GPHealth)" userId="4b562d1f-2c50-4ce5-bdf6-0a89450032d6" providerId="ADAL" clId="{F4F4300C-4022-489E-99A0-D38B8E8A6D80}" dt="2026-04-15T18:44:12.156" v="14645" actId="14100"/>
          <ac:spMkLst>
            <pc:docMk/>
            <pc:sldMk cId="3392175826" sldId="266"/>
            <ac:spMk id="3" creationId="{1F7CA80C-7127-8DBB-BD42-5C73103228CC}"/>
          </ac:spMkLst>
        </pc:spChg>
      </pc:sldChg>
      <pc:sldChg chg="modSp new mod modNotesTx">
        <pc:chgData name="Mamokate, Sereme (GPHealth)" userId="4b562d1f-2c50-4ce5-bdf6-0a89450032d6" providerId="ADAL" clId="{F4F4300C-4022-489E-99A0-D38B8E8A6D80}" dt="2026-04-15T18:45:16.155" v="14649" actId="14100"/>
        <pc:sldMkLst>
          <pc:docMk/>
          <pc:sldMk cId="777363696" sldId="267"/>
        </pc:sldMkLst>
        <pc:spChg chg="mod">
          <ac:chgData name="Mamokate, Sereme (GPHealth)" userId="4b562d1f-2c50-4ce5-bdf6-0a89450032d6" providerId="ADAL" clId="{F4F4300C-4022-489E-99A0-D38B8E8A6D80}" dt="2026-04-15T18:44:51.120" v="14646" actId="2711"/>
          <ac:spMkLst>
            <pc:docMk/>
            <pc:sldMk cId="777363696" sldId="267"/>
            <ac:spMk id="2" creationId="{E7946258-A912-1A96-EC87-C3E6E502EC3A}"/>
          </ac:spMkLst>
        </pc:spChg>
        <pc:spChg chg="mod">
          <ac:chgData name="Mamokate, Sereme (GPHealth)" userId="4b562d1f-2c50-4ce5-bdf6-0a89450032d6" providerId="ADAL" clId="{F4F4300C-4022-489E-99A0-D38B8E8A6D80}" dt="2026-04-15T18:45:16.155" v="14649" actId="14100"/>
          <ac:spMkLst>
            <pc:docMk/>
            <pc:sldMk cId="777363696" sldId="267"/>
            <ac:spMk id="3" creationId="{923E8A53-879F-1346-E90D-91B289B40E4F}"/>
          </ac:spMkLst>
        </pc:spChg>
      </pc:sldChg>
      <pc:sldChg chg="modSp new mod modNotesTx">
        <pc:chgData name="Mamokate, Sereme (GPHealth)" userId="4b562d1f-2c50-4ce5-bdf6-0a89450032d6" providerId="ADAL" clId="{F4F4300C-4022-489E-99A0-D38B8E8A6D80}" dt="2026-04-15T18:46:04.569" v="14653" actId="14100"/>
        <pc:sldMkLst>
          <pc:docMk/>
          <pc:sldMk cId="3511561573" sldId="268"/>
        </pc:sldMkLst>
        <pc:spChg chg="mod">
          <ac:chgData name="Mamokate, Sereme (GPHealth)" userId="4b562d1f-2c50-4ce5-bdf6-0a89450032d6" providerId="ADAL" clId="{F4F4300C-4022-489E-99A0-D38B8E8A6D80}" dt="2026-04-15T18:45:41.387" v="14650" actId="2711"/>
          <ac:spMkLst>
            <pc:docMk/>
            <pc:sldMk cId="3511561573" sldId="268"/>
            <ac:spMk id="2" creationId="{581B368E-0978-414C-EE7F-F9A30E7756BF}"/>
          </ac:spMkLst>
        </pc:spChg>
        <pc:spChg chg="mod">
          <ac:chgData name="Mamokate, Sereme (GPHealth)" userId="4b562d1f-2c50-4ce5-bdf6-0a89450032d6" providerId="ADAL" clId="{F4F4300C-4022-489E-99A0-D38B8E8A6D80}" dt="2026-04-15T18:46:04.569" v="14653" actId="14100"/>
          <ac:spMkLst>
            <pc:docMk/>
            <pc:sldMk cId="3511561573" sldId="268"/>
            <ac:spMk id="3" creationId="{8F283DF6-A198-A3F7-28ED-CEC4418EA985}"/>
          </ac:spMkLst>
        </pc:spChg>
      </pc:sldChg>
      <pc:sldChg chg="modSp new mod modNotesTx">
        <pc:chgData name="Mamokate, Sereme (GPHealth)" userId="4b562d1f-2c50-4ce5-bdf6-0a89450032d6" providerId="ADAL" clId="{F4F4300C-4022-489E-99A0-D38B8E8A6D80}" dt="2026-04-15T18:47:21.953" v="14662" actId="14100"/>
        <pc:sldMkLst>
          <pc:docMk/>
          <pc:sldMk cId="2830159844" sldId="269"/>
        </pc:sldMkLst>
        <pc:spChg chg="mod">
          <ac:chgData name="Mamokate, Sereme (GPHealth)" userId="4b562d1f-2c50-4ce5-bdf6-0a89450032d6" providerId="ADAL" clId="{F4F4300C-4022-489E-99A0-D38B8E8A6D80}" dt="2026-04-15T18:47:21.953" v="14662" actId="14100"/>
          <ac:spMkLst>
            <pc:docMk/>
            <pc:sldMk cId="2830159844" sldId="269"/>
            <ac:spMk id="2" creationId="{4B002E9A-C2D7-9030-78F4-38B8919090F4}"/>
          </ac:spMkLst>
        </pc:spChg>
        <pc:spChg chg="mod">
          <ac:chgData name="Mamokate, Sereme (GPHealth)" userId="4b562d1f-2c50-4ce5-bdf6-0a89450032d6" providerId="ADAL" clId="{F4F4300C-4022-489E-99A0-D38B8E8A6D80}" dt="2026-04-15T18:47:10.144" v="14661" actId="14100"/>
          <ac:spMkLst>
            <pc:docMk/>
            <pc:sldMk cId="2830159844" sldId="269"/>
            <ac:spMk id="3" creationId="{161E7952-3469-484D-A4F3-3B558B2E0F34}"/>
          </ac:spMkLst>
        </pc:spChg>
      </pc:sldChg>
      <pc:sldChg chg="modSp new mod modNotesTx">
        <pc:chgData name="Mamokate, Sereme (GPHealth)" userId="4b562d1f-2c50-4ce5-bdf6-0a89450032d6" providerId="ADAL" clId="{F4F4300C-4022-489E-99A0-D38B8E8A6D80}" dt="2026-04-15T18:47:46.365" v="14664" actId="2711"/>
        <pc:sldMkLst>
          <pc:docMk/>
          <pc:sldMk cId="2100762126" sldId="270"/>
        </pc:sldMkLst>
        <pc:spChg chg="mod">
          <ac:chgData name="Mamokate, Sereme (GPHealth)" userId="4b562d1f-2c50-4ce5-bdf6-0a89450032d6" providerId="ADAL" clId="{F4F4300C-4022-489E-99A0-D38B8E8A6D80}" dt="2026-04-15T18:47:36.435" v="14663" actId="2711"/>
          <ac:spMkLst>
            <pc:docMk/>
            <pc:sldMk cId="2100762126" sldId="270"/>
            <ac:spMk id="2" creationId="{942FDB39-E821-770C-78FB-BCB3F6D81DAB}"/>
          </ac:spMkLst>
        </pc:spChg>
        <pc:spChg chg="mod">
          <ac:chgData name="Mamokate, Sereme (GPHealth)" userId="4b562d1f-2c50-4ce5-bdf6-0a89450032d6" providerId="ADAL" clId="{F4F4300C-4022-489E-99A0-D38B8E8A6D80}" dt="2026-04-15T18:47:46.365" v="14664" actId="2711"/>
          <ac:spMkLst>
            <pc:docMk/>
            <pc:sldMk cId="2100762126" sldId="270"/>
            <ac:spMk id="3" creationId="{F0754D77-369B-8725-0773-1213E5BD84C8}"/>
          </ac:spMkLst>
        </pc:spChg>
      </pc:sldChg>
      <pc:sldChg chg="modSp new mod modNotesTx">
        <pc:chgData name="Mamokate, Sereme (GPHealth)" userId="4b562d1f-2c50-4ce5-bdf6-0a89450032d6" providerId="ADAL" clId="{F4F4300C-4022-489E-99A0-D38B8E8A6D80}" dt="2026-04-15T18:48:09.305" v="14666" actId="2711"/>
        <pc:sldMkLst>
          <pc:docMk/>
          <pc:sldMk cId="3158465197" sldId="271"/>
        </pc:sldMkLst>
        <pc:spChg chg="mod">
          <ac:chgData name="Mamokate, Sereme (GPHealth)" userId="4b562d1f-2c50-4ce5-bdf6-0a89450032d6" providerId="ADAL" clId="{F4F4300C-4022-489E-99A0-D38B8E8A6D80}" dt="2026-04-15T18:48:00.329" v="14665" actId="2711"/>
          <ac:spMkLst>
            <pc:docMk/>
            <pc:sldMk cId="3158465197" sldId="271"/>
            <ac:spMk id="2" creationId="{058B0DD5-CD53-38FD-2C86-B46234E598DA}"/>
          </ac:spMkLst>
        </pc:spChg>
        <pc:spChg chg="mod">
          <ac:chgData name="Mamokate, Sereme (GPHealth)" userId="4b562d1f-2c50-4ce5-bdf6-0a89450032d6" providerId="ADAL" clId="{F4F4300C-4022-489E-99A0-D38B8E8A6D80}" dt="2026-04-15T18:48:09.305" v="14666" actId="2711"/>
          <ac:spMkLst>
            <pc:docMk/>
            <pc:sldMk cId="3158465197" sldId="271"/>
            <ac:spMk id="3" creationId="{B45FBCFC-755D-943A-150C-5D0242D9471D}"/>
          </ac:spMkLst>
        </pc:spChg>
      </pc:sldChg>
      <pc:sldChg chg="modSp new mod">
        <pc:chgData name="Mamokate, Sereme (GPHealth)" userId="4b562d1f-2c50-4ce5-bdf6-0a89450032d6" providerId="ADAL" clId="{F4F4300C-4022-489E-99A0-D38B8E8A6D80}" dt="2026-04-15T18:48:31.201" v="14667" actId="2711"/>
        <pc:sldMkLst>
          <pc:docMk/>
          <pc:sldMk cId="668309270" sldId="272"/>
        </pc:sldMkLst>
        <pc:spChg chg="mod">
          <ac:chgData name="Mamokate, Sereme (GPHealth)" userId="4b562d1f-2c50-4ce5-bdf6-0a89450032d6" providerId="ADAL" clId="{F4F4300C-4022-489E-99A0-D38B8E8A6D80}" dt="2026-04-15T18:48:31.201" v="14667" actId="2711"/>
          <ac:spMkLst>
            <pc:docMk/>
            <pc:sldMk cId="668309270" sldId="272"/>
            <ac:spMk id="2" creationId="{C046F990-3C89-FCFC-5FAB-9C478F488DB3}"/>
          </ac:spMkLst>
        </pc:spChg>
        <pc:spChg chg="mod">
          <ac:chgData name="Mamokate, Sereme (GPHealth)" userId="4b562d1f-2c50-4ce5-bdf6-0a89450032d6" providerId="ADAL" clId="{F4F4300C-4022-489E-99A0-D38B8E8A6D80}" dt="2026-04-15T18:32:44.297" v="14593" actId="27636"/>
          <ac:spMkLst>
            <pc:docMk/>
            <pc:sldMk cId="668309270" sldId="272"/>
            <ac:spMk id="3" creationId="{2F350F43-BD14-430F-9460-20BD3A4ABCA4}"/>
          </ac:spMkLst>
        </pc:spChg>
      </pc:sldChg>
      <pc:sldChg chg="modSp new mod">
        <pc:chgData name="Mamokate, Sereme (GPHealth)" userId="4b562d1f-2c50-4ce5-bdf6-0a89450032d6" providerId="ADAL" clId="{F4F4300C-4022-489E-99A0-D38B8E8A6D80}" dt="2026-04-15T18:32:43.943" v="14583"/>
        <pc:sldMkLst>
          <pc:docMk/>
          <pc:sldMk cId="3264743883" sldId="273"/>
        </pc:sldMkLst>
        <pc:spChg chg="mod">
          <ac:chgData name="Mamokate, Sereme (GPHealth)" userId="4b562d1f-2c50-4ce5-bdf6-0a89450032d6" providerId="ADAL" clId="{F4F4300C-4022-489E-99A0-D38B8E8A6D80}" dt="2026-04-15T18:32:43.943" v="14583"/>
          <ac:spMkLst>
            <pc:docMk/>
            <pc:sldMk cId="3264743883" sldId="273"/>
            <ac:spMk id="2" creationId="{FE89CA6B-3B5A-4AAC-3971-DAE054B53BC0}"/>
          </ac:spMkLst>
        </pc:spChg>
        <pc:spChg chg="mod">
          <ac:chgData name="Mamokate, Sereme (GPHealth)" userId="4b562d1f-2c50-4ce5-bdf6-0a89450032d6" providerId="ADAL" clId="{F4F4300C-4022-489E-99A0-D38B8E8A6D80}" dt="2026-04-15T18:32:43.943" v="14583"/>
          <ac:spMkLst>
            <pc:docMk/>
            <pc:sldMk cId="3264743883" sldId="273"/>
            <ac:spMk id="3" creationId="{EDDF7782-7906-55AB-D68F-22E389CB16D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33E106-8765-4B51-9ABB-3E2DAA03E09F}" type="datetimeFigureOut">
              <a:rPr lang="en-ZA" smtClean="0"/>
              <a:t>2026/04/15</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F7BD10-833A-4686-A1AA-DE1FDCB7B2BA}" type="slidenum">
              <a:rPr lang="en-ZA" smtClean="0"/>
              <a:t>‹#›</a:t>
            </a:fld>
            <a:endParaRPr lang="en-ZA"/>
          </a:p>
        </p:txBody>
      </p:sp>
    </p:spTree>
    <p:extLst>
      <p:ext uri="{BB962C8B-B14F-4D97-AF65-F5344CB8AC3E}">
        <p14:creationId xmlns:p14="http://schemas.microsoft.com/office/powerpoint/2010/main" val="529913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There is growing recognition that an individual’s health is shaped not only by biological factors and clinical treatment, but also by the </a:t>
            </a:r>
            <a:r>
              <a:rPr lang="en-GB" b="1" dirty="0"/>
              <a:t>social, economic, and environmental conditions in which they live</a:t>
            </a:r>
            <a:r>
              <a:rPr lang="en-GB" dirty="0"/>
              <a:t>. Factors such as income, education, housing quality, food security, employment, transportation, safety, and access to social support also influence the individual’s health behaviours and long-term outcomes. These </a:t>
            </a:r>
            <a:r>
              <a:rPr lang="en-GB" b="1" dirty="0"/>
              <a:t>social determinants of health (SDOH)</a:t>
            </a:r>
            <a:r>
              <a:rPr lang="en-GB" dirty="0"/>
              <a:t> can operate in ways that either protect the health of a person or increase their vulnerability to illness. As a result, health systems are increasingly moving beyond a purely biomedical model toward incorporating approaches that address the broader contexts in which disease develops.</a:t>
            </a:r>
          </a:p>
          <a:p>
            <a:pPr>
              <a:buNone/>
            </a:pPr>
            <a:r>
              <a:rPr lang="en-GB" dirty="0"/>
              <a:t>This shift has placed a stronger spotlight on the </a:t>
            </a:r>
            <a:r>
              <a:rPr lang="en-GB" b="1" dirty="0"/>
              <a:t>interaction between clinical providers and the community</a:t>
            </a:r>
            <a:r>
              <a:rPr lang="en-GB" dirty="0"/>
              <a:t>. Healthcare providers alone cannot effectively address many upstream causes of poor health without partnerships with community organisations, schools, faith-based groups, social services, and local public health programmes. The majority of the resources do not come from the physicians but from the individual’s community. A physician might advise about exercise, but if there are no safe places to exercise, the recommendation is nullified. Strong community-clinical linkages enable patients to be connected with resources that support prevention, such as nutrition programmes, physical activity initiatives, mental health support, smoking cessation services, and chronic disease education. This collaboration improves continuity of care and extends prevention beyond the walls of the clinic.</a:t>
            </a:r>
          </a:p>
          <a:p>
            <a:pPr>
              <a:buNone/>
            </a:pPr>
            <a:r>
              <a:rPr lang="en-GB" dirty="0"/>
              <a:t>At the same time, the </a:t>
            </a:r>
            <a:r>
              <a:rPr lang="en-GB" b="1" dirty="0"/>
              <a:t>global burden of disease continues to rise</a:t>
            </a:r>
            <a:r>
              <a:rPr lang="en-GB" dirty="0"/>
              <a:t>, driven largely by ageing populations, urbanisation, unhealthy lifestyles, and persistent social inequities. Noncommunicable diseases (NCDs) such as cardiovascular disease, diabetes, cancer, and chronic respiratory illness now account for approximately </a:t>
            </a:r>
            <a:r>
              <a:rPr lang="en-GB" b="1" dirty="0"/>
              <a:t>75% of global deaths</a:t>
            </a:r>
            <a:r>
              <a:rPr lang="en-GB" dirty="0"/>
              <a:t>, underscoring the urgent need for prevention-focused systems. This growing burden places enormous strain on already overstretched health services, particularly in low- and middle-income settings.</a:t>
            </a:r>
          </a:p>
          <a:p>
            <a:pPr>
              <a:buNone/>
            </a:pPr>
            <a:r>
              <a:rPr lang="en-GB" dirty="0"/>
              <a:t>In this context, </a:t>
            </a:r>
            <a:r>
              <a:rPr lang="en-GB" b="1" dirty="0"/>
              <a:t>acute and episodic clinical care alone is no longer sufficient</a:t>
            </a:r>
            <a:r>
              <a:rPr lang="en-GB" dirty="0"/>
              <a:t>. Traditional models of care are often designed to respond to illness after symptoms emerge, focusing on diagnosis and treatment rather than prevention. While this model remains essential for acute conditions, it is less effective in addressing chronic diseases that develop gradually through prolonged exposure to behavioural, metabolic, and environmental risk factors.</a:t>
            </a:r>
          </a:p>
          <a:p>
            <a:pPr>
              <a:buNone/>
            </a:pPr>
            <a:r>
              <a:rPr lang="en-GB" dirty="0"/>
              <a:t>A major limitation of episodic care is that it frequently </a:t>
            </a:r>
            <a:r>
              <a:rPr lang="en-GB" b="1" dirty="0"/>
              <a:t>addresses disease after onset rather than targeting early risk factors and timely intervention</a:t>
            </a:r>
            <a:r>
              <a:rPr lang="en-GB" dirty="0"/>
              <a:t>. By the time patients present with advanced hypertension, uncontrolled diabetes, or complications of obesity, opportunities for primary prevention may already have been missed. Community-based preventive approaches help shift the focus toward </a:t>
            </a:r>
            <a:r>
              <a:rPr lang="en-GB" b="1" dirty="0"/>
              <a:t>screening, early detection, risk reduction, health promotion, and self-management support</a:t>
            </a:r>
            <a:r>
              <a:rPr lang="en-GB" dirty="0"/>
              <a:t>, enabling intervention before disease progression occurs.</a:t>
            </a:r>
          </a:p>
          <a:p>
            <a:pPr>
              <a:buNone/>
            </a:pPr>
            <a:r>
              <a:rPr lang="en-GB" dirty="0"/>
              <a:t>Preventive strategies are particularly valuable because they </a:t>
            </a:r>
            <a:r>
              <a:rPr lang="en-GB" b="1" dirty="0"/>
              <a:t>reduce morbidity, premature mortality, and long-term healthcare costs</a:t>
            </a:r>
            <a:r>
              <a:rPr lang="en-GB" dirty="0"/>
              <a:t>. Early interventions such as lifestyle counselling, community exercise programmes, healthy food access initiatives, immunisation, and routine screening can significantly lower the incidence and severity of chronic disease. This reduces avoidable hospitalisations, complications, disability, and costly long-term treatment requirements, making prevention both clinically effective and economically sustainable.</a:t>
            </a:r>
          </a:p>
          <a:p>
            <a:pPr>
              <a:buNone/>
            </a:pPr>
            <a:r>
              <a:rPr lang="en-GB" dirty="0"/>
              <a:t>Most importantly, </a:t>
            </a:r>
            <a:r>
              <a:rPr lang="en-GB" b="1" dirty="0"/>
              <a:t>addressing social determinants of health is essential for sustained health improvement and the reduction of inequities</a:t>
            </a:r>
            <a:r>
              <a:rPr lang="en-GB" dirty="0"/>
              <a:t>. Without tackling root causes such as poverty, unemployment, inadequate housing, limited education, and poor access to healthy environments, health gains are often temporary and unevenly distributed. Prevention strategies that intentionally address these structural drivers help create more equitable outcomes, particularly for underserved and vulnerable populations, thereby narrowing health disparities across communities.</a:t>
            </a:r>
          </a:p>
          <a:p>
            <a:pPr marL="171450" indent="-171450">
              <a:buFont typeface="Arial" panose="020B0604020202020204" pitchFamily="34" charset="0"/>
              <a:buChar char="•"/>
            </a:pP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3</a:t>
            </a:fld>
            <a:endParaRPr lang="en-ZA"/>
          </a:p>
        </p:txBody>
      </p:sp>
    </p:spTree>
    <p:extLst>
      <p:ext uri="{BB962C8B-B14F-4D97-AF65-F5344CB8AC3E}">
        <p14:creationId xmlns:p14="http://schemas.microsoft.com/office/powerpoint/2010/main" val="99129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Healthy behaviours – physical activity, healthy eating habits, and stopping smoking</a:t>
            </a:r>
          </a:p>
          <a:p>
            <a:r>
              <a:rPr lang="en-GB" dirty="0"/>
              <a:t>Prevention of the onset of disease – done through early screening, vaccination and risk reduction</a:t>
            </a:r>
          </a:p>
          <a:p>
            <a:r>
              <a:rPr lang="en-GB" dirty="0"/>
              <a:t>Development of health education programmes which target schools, the workplace, and faith-based outreach</a:t>
            </a:r>
          </a:p>
          <a:p>
            <a:r>
              <a:rPr lang="en-GB" dirty="0"/>
              <a:t>Screenings are conducted at mobile clinics and local campaigns, and referrals to PHC facilities</a:t>
            </a:r>
          </a:p>
          <a:p>
            <a:r>
              <a:rPr lang="en-GB" dirty="0"/>
              <a:t>Establishment of peer support networks – support groups, community champions</a:t>
            </a:r>
          </a:p>
          <a:p>
            <a:r>
              <a:rPr lang="en-GB" dirty="0"/>
              <a:t>Build local capacity – this means that the health sector not only works for the community but works with them, capacitating the community to get meaningfully involved in the planning, decision-making, and implementation process.</a:t>
            </a:r>
          </a:p>
          <a:p>
            <a:r>
              <a:rPr lang="en-GB" dirty="0"/>
              <a:t>These bottom-up approaches help build community confidence in the health sector and strengthen community leadership and governance structures. Create community ownership and create a strong foundation for sustainability</a:t>
            </a:r>
          </a:p>
          <a:p>
            <a:r>
              <a:rPr lang="en-GB" dirty="0"/>
              <a:t>CHWs play a pivotal role as they routinely go into the community and create trust and relationships with the families they visit. They are attached to a primary healthcare facility for support with health services. Continuity of care is achieved through these linkages</a:t>
            </a:r>
          </a:p>
          <a:p>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4</a:t>
            </a:fld>
            <a:endParaRPr lang="en-ZA"/>
          </a:p>
        </p:txBody>
      </p:sp>
    </p:spTree>
    <p:extLst>
      <p:ext uri="{BB962C8B-B14F-4D97-AF65-F5344CB8AC3E}">
        <p14:creationId xmlns:p14="http://schemas.microsoft.com/office/powerpoint/2010/main" val="1039083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Core components: </a:t>
            </a:r>
          </a:p>
          <a:p>
            <a:r>
              <a:rPr lang="en-ZA" dirty="0"/>
              <a:t>Facility-based in hospitals and specialist centres  </a:t>
            </a:r>
          </a:p>
          <a:p>
            <a:r>
              <a:rPr lang="en-ZA" dirty="0"/>
              <a:t>Episodic care, where treatment is often problem-specific and encounter-based (when patients present themselves to the facilities when symptoms have already developed)</a:t>
            </a:r>
          </a:p>
          <a:p>
            <a:r>
              <a:rPr lang="en-ZA" b="1" dirty="0"/>
              <a:t>Limitations: </a:t>
            </a:r>
            <a:r>
              <a:rPr lang="en-ZA" b="0" dirty="0"/>
              <a:t>Traditional care models are effective for acute illness management; however, there is less emphasis on early prevention and health promotion, and little community engagement</a:t>
            </a:r>
          </a:p>
          <a:p>
            <a:r>
              <a:rPr lang="en-ZA" b="0" dirty="0"/>
              <a:t>Poor integration of social determinants – where healthcare systems, policies, and </a:t>
            </a:r>
            <a:r>
              <a:rPr lang="en-GB" b="0" dirty="0"/>
              <a:t>healthcare providers fail to adequately address non-medical, environmental, and social conditions, such as housing stability, food security, education, income,</a:t>
            </a:r>
            <a:r>
              <a:rPr lang="en-ZA" b="0" dirty="0"/>
              <a:t> and social support. The system then concentrates on treating symptoms rather than addressing the root causes of illnesses</a:t>
            </a:r>
          </a:p>
          <a:p>
            <a:r>
              <a:rPr lang="en-ZA" b="0" dirty="0"/>
              <a:t>Key aspects of poor integration of SDOH</a:t>
            </a:r>
          </a:p>
          <a:p>
            <a:pPr marL="171450" indent="-171450">
              <a:buFont typeface="Arial" panose="020B0604020202020204" pitchFamily="34" charset="0"/>
              <a:buChar char="•"/>
            </a:pPr>
            <a:r>
              <a:rPr lang="en-ZA" b="0" dirty="0"/>
              <a:t>Siloed care delivery – medical care and social services operating independently</a:t>
            </a:r>
          </a:p>
          <a:p>
            <a:pPr marL="171450" indent="-171450">
              <a:buFont typeface="Arial" panose="020B0604020202020204" pitchFamily="34" charset="0"/>
              <a:buChar char="•"/>
            </a:pPr>
            <a:r>
              <a:rPr lang="en-ZA" b="0" dirty="0"/>
              <a:t>Treatment of a condition, e.g., asthma, without addressing the underlying cause, such as a lack of air filtration or poor quality housing</a:t>
            </a:r>
          </a:p>
          <a:p>
            <a:pPr marL="171450" indent="-171450">
              <a:buFont typeface="Arial" panose="020B0604020202020204" pitchFamily="34" charset="0"/>
              <a:buChar char="•"/>
            </a:pPr>
            <a:r>
              <a:rPr lang="en-ZA" b="0" dirty="0"/>
              <a:t>Not accounting for social factors such as socioeconomic position (lower income leading to poorer health)</a:t>
            </a:r>
          </a:p>
          <a:p>
            <a:pPr marL="171450" indent="-171450">
              <a:buFont typeface="Arial" panose="020B0604020202020204" pitchFamily="34" charset="0"/>
              <a:buChar char="•"/>
            </a:pPr>
            <a:r>
              <a:rPr lang="en-ZA" b="0" dirty="0"/>
              <a:t>Missed opportunity for prevention of chronic illnesses before they require extensive medical intervention</a:t>
            </a:r>
          </a:p>
          <a:p>
            <a:r>
              <a:rPr lang="en-ZA" b="1" dirty="0"/>
              <a:t>Fragmented continuity of care:</a:t>
            </a:r>
            <a:r>
              <a:rPr lang="en-ZA" b="0" dirty="0"/>
              <a:t> services to patients are disconnected, not coordinated, or duplicated across public and private sectors</a:t>
            </a:r>
          </a:p>
          <a:p>
            <a:pPr marL="171450" indent="-171450">
              <a:buFont typeface="Arial" panose="020B0604020202020204" pitchFamily="34" charset="0"/>
              <a:buChar char="•"/>
            </a:pPr>
            <a:r>
              <a:rPr lang="en-ZA" b="0" dirty="0"/>
              <a:t>South Africa has a dual healthcare system, and there are significant gaps between the public and the private sectors as they operate independently. This leads to disruption of care for patients moving between the two</a:t>
            </a:r>
          </a:p>
          <a:p>
            <a:pPr marL="171450" indent="-171450">
              <a:buFont typeface="Arial" panose="020B0604020202020204" pitchFamily="34" charset="0"/>
              <a:buChar char="•"/>
            </a:pPr>
            <a:r>
              <a:rPr lang="en-ZA" b="0" dirty="0"/>
              <a:t>Lack of communication  between healthcare providers (during the transition from hospitals to community clinics)</a:t>
            </a:r>
          </a:p>
          <a:p>
            <a:pPr marL="171450" indent="-171450">
              <a:buFont typeface="Arial" panose="020B0604020202020204" pitchFamily="34" charset="0"/>
              <a:buChar char="•"/>
            </a:pPr>
            <a:r>
              <a:rPr lang="en-ZA" b="0" dirty="0"/>
              <a:t>Patients with multiple chronic illnesses are at times expected to manage their own care by navigating the fragmented services, leading to frustration and suboptimal health</a:t>
            </a:r>
          </a:p>
          <a:p>
            <a:pPr marL="171450" indent="-171450">
              <a:buFont typeface="Arial" panose="020B0604020202020204" pitchFamily="34" charset="0"/>
              <a:buChar char="•"/>
            </a:pPr>
            <a:r>
              <a:rPr lang="en-ZA" b="0" dirty="0"/>
              <a:t>Limited resources in the public sector lead to a lack of consistent care for chronic illnesses</a:t>
            </a:r>
            <a:r>
              <a:rPr lang="en-ZA" b="1" dirty="0"/>
              <a:t> </a:t>
            </a:r>
          </a:p>
        </p:txBody>
      </p:sp>
      <p:sp>
        <p:nvSpPr>
          <p:cNvPr id="4" name="Slide Number Placeholder 3"/>
          <p:cNvSpPr>
            <a:spLocks noGrp="1"/>
          </p:cNvSpPr>
          <p:nvPr>
            <p:ph type="sldNum" sz="quarter" idx="5"/>
          </p:nvPr>
        </p:nvSpPr>
        <p:spPr/>
        <p:txBody>
          <a:bodyPr/>
          <a:lstStyle/>
          <a:p>
            <a:fld id="{F1F7BD10-833A-4686-A1AA-DE1FDCB7B2BA}" type="slidenum">
              <a:rPr lang="en-ZA" smtClean="0"/>
              <a:t>5</a:t>
            </a:fld>
            <a:endParaRPr lang="en-ZA"/>
          </a:p>
        </p:txBody>
      </p:sp>
    </p:spTree>
    <p:extLst>
      <p:ext uri="{BB962C8B-B14F-4D97-AF65-F5344CB8AC3E}">
        <p14:creationId xmlns:p14="http://schemas.microsoft.com/office/powerpoint/2010/main" val="3574092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Integrating community-based preventive strategies into clinical care helps transform healthcare from a </a:t>
            </a:r>
            <a:r>
              <a:rPr lang="en-GB" b="1" dirty="0"/>
              <a:t>reactive, disease-focused model</a:t>
            </a:r>
            <a:r>
              <a:rPr lang="en-GB" dirty="0"/>
              <a:t> into a </a:t>
            </a:r>
            <a:r>
              <a:rPr lang="en-GB" b="1" dirty="0"/>
              <a:t>proactive, person-</a:t>
            </a:r>
            <a:r>
              <a:rPr lang="en-GB" b="1" dirty="0" err="1"/>
              <a:t>centered</a:t>
            </a:r>
            <a:r>
              <a:rPr lang="en-GB" b="1" dirty="0"/>
              <a:t>, and equitable health system</a:t>
            </a:r>
            <a:r>
              <a:rPr lang="en-GB" dirty="0"/>
              <a:t>. Rather than waiting for illness to develop, this approach emphasizes </a:t>
            </a:r>
            <a:r>
              <a:rPr lang="en-GB" b="1" dirty="0"/>
              <a:t>health promotion, risk reduction, and early intervention</a:t>
            </a:r>
            <a:r>
              <a:rPr lang="en-GB" dirty="0"/>
              <a:t> through strong collaboration between healthcare facilities and community resources. It connects medical care with social, </a:t>
            </a:r>
            <a:r>
              <a:rPr lang="en-GB" dirty="0" err="1"/>
              <a:t>behavioral</a:t>
            </a:r>
            <a:r>
              <a:rPr lang="en-GB" dirty="0"/>
              <a:t>, and environmental support systems, enabling providers to address both clinical conditions and the broader determinants of health. This integrated model is increasingly recognized as essential for improving population health and reducing inequities. </a:t>
            </a:r>
          </a:p>
          <a:p>
            <a:pPr>
              <a:buNone/>
            </a:pPr>
            <a:r>
              <a:rPr lang="en-GB" b="1" dirty="0"/>
              <a:t>Creates a More Proactive Health System</a:t>
            </a:r>
          </a:p>
          <a:p>
            <a:pPr>
              <a:buNone/>
            </a:pPr>
            <a:r>
              <a:rPr lang="en-GB" dirty="0"/>
              <a:t>A proactive health system focuses on </a:t>
            </a:r>
            <a:r>
              <a:rPr lang="en-GB" b="1" dirty="0"/>
              <a:t>preventing disease before it occurs or worsens</a:t>
            </a:r>
            <a:r>
              <a:rPr lang="en-GB" dirty="0"/>
              <a:t>. Community-based prevention allows health services to identify risks early through outreach programs, screenings, home visits, school health initiatives, and health education campaigns. By detecting hypertension, diabetes risk, malnutrition, or mental health concerns early, providers can intervene sooner, reducing complications and improving long-term outcomes. This shifts care from expensive acute treatment to </a:t>
            </a:r>
            <a:r>
              <a:rPr lang="en-GB" b="1" dirty="0"/>
              <a:t>continuous prevention and wellness management</a:t>
            </a:r>
            <a:r>
              <a:rPr lang="en-GB" dirty="0"/>
              <a:t>. </a:t>
            </a:r>
          </a:p>
          <a:p>
            <a:pPr>
              <a:buNone/>
            </a:pPr>
            <a:r>
              <a:rPr lang="en-GB" b="1" dirty="0"/>
              <a:t>Supports Person-</a:t>
            </a:r>
            <a:r>
              <a:rPr lang="en-GB" b="1" dirty="0" err="1"/>
              <a:t>Centered</a:t>
            </a:r>
            <a:r>
              <a:rPr lang="en-GB" b="1" dirty="0"/>
              <a:t> Care</a:t>
            </a:r>
          </a:p>
          <a:p>
            <a:pPr>
              <a:buNone/>
            </a:pPr>
            <a:r>
              <a:rPr lang="en-GB" dirty="0"/>
              <a:t>This approach strengthens </a:t>
            </a:r>
            <a:r>
              <a:rPr lang="en-GB" b="1" dirty="0"/>
              <a:t>person-</a:t>
            </a:r>
            <a:r>
              <a:rPr lang="en-GB" b="1" dirty="0" err="1"/>
              <a:t>centered</a:t>
            </a:r>
            <a:r>
              <a:rPr lang="en-GB" b="1" dirty="0"/>
              <a:t> care</a:t>
            </a:r>
            <a:r>
              <a:rPr lang="en-GB" dirty="0"/>
              <a:t> by recognizing that patients’ health </a:t>
            </a:r>
            <a:r>
              <a:rPr lang="en-GB" dirty="0" err="1"/>
              <a:t>behaviors</a:t>
            </a:r>
            <a:r>
              <a:rPr lang="en-GB" dirty="0"/>
              <a:t> and outcomes are shaped by their families, communities, culture, and living environments. Clinical teams work alongside community health workers, social workers, and local organizations to tailor prevention plans to the patient’s real-life circumstances. This improves relevance, trust, and adherence because interventions are designed around the person’s social and cultural context rather than only biomedical needs.</a:t>
            </a:r>
          </a:p>
          <a:p>
            <a:pPr>
              <a:buNone/>
            </a:pPr>
            <a:r>
              <a:rPr lang="en-GB" b="1" dirty="0"/>
              <a:t>Promotes a More Equitable Health System</a:t>
            </a:r>
          </a:p>
          <a:p>
            <a:pPr>
              <a:buNone/>
            </a:pPr>
            <a:r>
              <a:rPr lang="en-GB" dirty="0"/>
              <a:t>Community-based prevention is particularly valuable for improving </a:t>
            </a:r>
            <a:r>
              <a:rPr lang="en-GB" b="1" dirty="0"/>
              <a:t>health equity</a:t>
            </a:r>
            <a:r>
              <a:rPr lang="en-GB" dirty="0"/>
              <a:t>. Vulnerable and underserved populations often face barriers such as poverty, transport challenges, food insecurity, poor housing, and limited access to care. By embedding community resources into clinical pathways, healthcare systems can better reach marginalized groups and reduce the unequal burden of preventable disease. Addressing these structural barriers helps close gaps in access, outcomes, and quality of care. </a:t>
            </a:r>
          </a:p>
          <a:p>
            <a:pPr>
              <a:buNone/>
            </a:pPr>
            <a:r>
              <a:rPr lang="en-GB" b="1" dirty="0"/>
              <a:t>Links Medical Care with Social and Community Resources</a:t>
            </a:r>
          </a:p>
          <a:p>
            <a:pPr>
              <a:buNone/>
            </a:pPr>
            <a:r>
              <a:rPr lang="en-GB" dirty="0"/>
              <a:t>A major strength of this model is its ability to connect healthcare providers with </a:t>
            </a:r>
            <a:r>
              <a:rPr lang="en-GB" b="1" dirty="0"/>
              <a:t>community-based organizations, schools, NGOs, faith-based groups, and social support services</a:t>
            </a:r>
            <a:r>
              <a:rPr lang="en-GB" dirty="0"/>
              <a:t>. This linkage ensures that patients receive support beyond diagnosis and medication, including nutrition programs, transport assistance, housing support, physical activity initiatives, and </a:t>
            </a:r>
            <a:r>
              <a:rPr lang="en-GB" dirty="0" err="1"/>
              <a:t>counseling</a:t>
            </a:r>
            <a:r>
              <a:rPr lang="en-GB" dirty="0"/>
              <a:t> services. Such integration creates a </a:t>
            </a:r>
            <a:r>
              <a:rPr lang="en-GB" b="1" dirty="0"/>
              <a:t>continuum of care between clinics and communities</a:t>
            </a:r>
            <a:r>
              <a:rPr lang="en-GB" dirty="0"/>
              <a:t>, improving prevention and follow-up. </a:t>
            </a:r>
          </a:p>
          <a:p>
            <a:pPr>
              <a:buNone/>
            </a:pPr>
            <a:br>
              <a:rPr lang="en-GB" dirty="0"/>
            </a:br>
            <a:endParaRPr lang="en-GB" dirty="0"/>
          </a:p>
          <a:p>
            <a:pPr>
              <a:buNone/>
            </a:pPr>
            <a:r>
              <a:rPr lang="en-GB" b="1" dirty="0"/>
              <a:t>Benefits of Integration</a:t>
            </a:r>
          </a:p>
          <a:p>
            <a:pPr>
              <a:buNone/>
            </a:pPr>
            <a:r>
              <a:rPr lang="en-GB" b="1" dirty="0"/>
              <a:t>1) Early Identification of Risk</a:t>
            </a:r>
          </a:p>
          <a:p>
            <a:pPr>
              <a:buNone/>
            </a:pPr>
            <a:r>
              <a:rPr lang="en-GB" dirty="0"/>
              <a:t>Community outreach and routine screening make it easier to identify risk factors such as obesity, high blood pressure, smoking, food insecurity, and sedentary lifestyles before disease develops. Early recognition allows for timely </a:t>
            </a:r>
            <a:r>
              <a:rPr lang="en-GB" dirty="0" err="1"/>
              <a:t>counseling</a:t>
            </a:r>
            <a:r>
              <a:rPr lang="en-GB" dirty="0"/>
              <a:t>, referral, and </a:t>
            </a:r>
            <a:r>
              <a:rPr lang="en-GB" dirty="0" err="1"/>
              <a:t>behavior</a:t>
            </a:r>
            <a:r>
              <a:rPr lang="en-GB" dirty="0"/>
              <a:t> modification, significantly reducing disease progression.</a:t>
            </a:r>
          </a:p>
          <a:p>
            <a:pPr>
              <a:buNone/>
            </a:pPr>
            <a:r>
              <a:rPr lang="en-GB" b="1" dirty="0"/>
              <a:t>2) Better Patient Engagement and Self-Management Support</a:t>
            </a:r>
          </a:p>
          <a:p>
            <a:pPr>
              <a:buNone/>
            </a:pPr>
            <a:r>
              <a:rPr lang="en-GB" dirty="0"/>
              <a:t>Community-based prevention improves </a:t>
            </a:r>
            <a:r>
              <a:rPr lang="en-GB" b="1" dirty="0"/>
              <a:t>health literacy, patient empowerment, and self-management skills</a:t>
            </a:r>
            <a:r>
              <a:rPr lang="en-GB" dirty="0"/>
              <a:t>. Patients receive ongoing education and peer/community support that helps them better manage chronic conditions, medication adherence, nutrition, exercise, and symptom monitoring. This strengthens patient ownership of health outcomes.</a:t>
            </a:r>
          </a:p>
          <a:p>
            <a:pPr>
              <a:buNone/>
            </a:pPr>
            <a:r>
              <a:rPr lang="en-GB" b="1" dirty="0"/>
              <a:t>3) Addressing Social Determinants of Health (SDOH)</a:t>
            </a:r>
          </a:p>
          <a:p>
            <a:pPr>
              <a:buNone/>
            </a:pPr>
            <a:r>
              <a:rPr lang="en-GB" dirty="0"/>
              <a:t>A key advantage is the ability to address </a:t>
            </a:r>
            <a:r>
              <a:rPr lang="en-GB" b="1" dirty="0"/>
              <a:t>non-medical drivers of illness</a:t>
            </a:r>
            <a:r>
              <a:rPr lang="en-GB" dirty="0"/>
              <a:t>, including income, education, housing, food access, employment, and safety. These determinants strongly influence disease risk and treatment success. By integrating social screening and referral systems into clinical workflows, providers can respond to the root causes of poor health rather than only its symptoms. </a:t>
            </a:r>
          </a:p>
          <a:p>
            <a:pPr>
              <a:buNone/>
            </a:pPr>
            <a:r>
              <a:rPr lang="en-GB" b="1" dirty="0"/>
              <a:t>4) Reduced Health Disparities</a:t>
            </a:r>
          </a:p>
          <a:p>
            <a:pPr>
              <a:buNone/>
            </a:pPr>
            <a:r>
              <a:rPr lang="en-GB" dirty="0"/>
              <a:t>When prevention services are extended into communities, historically excluded groups gain improved access to screening, education, and support services. This reduces disparities in chronic disease burden, maternal-child outcomes, infectious diseases, and mental health care.</a:t>
            </a:r>
          </a:p>
          <a:p>
            <a:pPr>
              <a:buNone/>
            </a:pPr>
            <a:r>
              <a:rPr lang="en-GB" b="1" dirty="0"/>
              <a:t>5) Lower Long-Term Healthcare Costs</a:t>
            </a:r>
          </a:p>
          <a:p>
            <a:pPr>
              <a:buNone/>
            </a:pPr>
            <a:r>
              <a:rPr lang="en-GB" dirty="0"/>
              <a:t>Prevention-oriented systems reduce the need for costly hospital admissions, emergency visits, and advanced disease treatment. By investing early in lifestyle interventions, social support, and risk reduction, healthcare systems achieve better outcomes at a lower cost over time, making this model both </a:t>
            </a:r>
            <a:r>
              <a:rPr lang="en-GB" b="1" dirty="0"/>
              <a:t>clinically effective and economically sustainable</a:t>
            </a:r>
            <a:r>
              <a:rPr lang="en-GB" dirty="0"/>
              <a:t>.</a:t>
            </a:r>
          </a:p>
          <a:p>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6</a:t>
            </a:fld>
            <a:endParaRPr lang="en-ZA"/>
          </a:p>
        </p:txBody>
      </p:sp>
    </p:spTree>
    <p:extLst>
      <p:ext uri="{BB962C8B-B14F-4D97-AF65-F5344CB8AC3E}">
        <p14:creationId xmlns:p14="http://schemas.microsoft.com/office/powerpoint/2010/main" val="2739915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Vision:</a:t>
            </a:r>
          </a:p>
          <a:p>
            <a:r>
              <a:rPr lang="en-GB" dirty="0"/>
              <a:t>All people have equal access to quality health services that are co</a:t>
            </a:r>
          </a:p>
          <a:p>
            <a:r>
              <a:rPr lang="en-GB" dirty="0"/>
              <a:t>produced in a way that meets their life course needs and respects social </a:t>
            </a:r>
          </a:p>
          <a:p>
            <a:r>
              <a:rPr lang="en-GB" dirty="0"/>
              <a:t>preferences, are coordinated across the continuum of care, and are </a:t>
            </a:r>
          </a:p>
          <a:p>
            <a:r>
              <a:rPr lang="en-GB" dirty="0"/>
              <a:t>comprehensive, safe, effective, timely, efficient and acceptable; and all </a:t>
            </a:r>
          </a:p>
          <a:p>
            <a:r>
              <a:rPr lang="en-GB" dirty="0"/>
              <a:t>carers are motivated, skilled and operate in a supportive environment” </a:t>
            </a:r>
          </a:p>
          <a:p>
            <a:r>
              <a:rPr lang="en-ZA" dirty="0"/>
              <a:t>A strong integration framework requires a system level coordination between clinical services, community structures and public health systems</a:t>
            </a:r>
          </a:p>
          <a:p>
            <a:r>
              <a:rPr lang="en-ZA" dirty="0"/>
              <a:t>Comprising of the 5 core components:  partnerships, shared data and tracking systems, training of the workforce, financing and policies that support the integration</a:t>
            </a:r>
          </a:p>
        </p:txBody>
      </p:sp>
      <p:sp>
        <p:nvSpPr>
          <p:cNvPr id="4" name="Slide Number Placeholder 3"/>
          <p:cNvSpPr>
            <a:spLocks noGrp="1"/>
          </p:cNvSpPr>
          <p:nvPr>
            <p:ph type="sldNum" sz="quarter" idx="5"/>
          </p:nvPr>
        </p:nvSpPr>
        <p:spPr/>
        <p:txBody>
          <a:bodyPr/>
          <a:lstStyle/>
          <a:p>
            <a:fld id="{F1F7BD10-833A-4686-A1AA-DE1FDCB7B2BA}" type="slidenum">
              <a:rPr lang="en-ZA" smtClean="0"/>
              <a:t>7</a:t>
            </a:fld>
            <a:endParaRPr lang="en-ZA"/>
          </a:p>
        </p:txBody>
      </p:sp>
    </p:spTree>
    <p:extLst>
      <p:ext uri="{BB962C8B-B14F-4D97-AF65-F5344CB8AC3E}">
        <p14:creationId xmlns:p14="http://schemas.microsoft.com/office/powerpoint/2010/main" val="3130213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a:t>1</a:t>
            </a:r>
            <a:r>
              <a:rPr lang="en-GB" b="1" dirty="0"/>
              <a:t>) Partnerships</a:t>
            </a:r>
          </a:p>
          <a:p>
            <a:pPr>
              <a:buNone/>
            </a:pPr>
            <a:r>
              <a:rPr lang="en-GB" dirty="0"/>
              <a:t>Strong </a:t>
            </a:r>
            <a:r>
              <a:rPr lang="en-GB" b="1" dirty="0"/>
              <a:t>multi-sectoral partnerships</a:t>
            </a:r>
            <a:r>
              <a:rPr lang="en-GB" dirty="0"/>
              <a:t> are essential for addressing the complex determinants of health that extend beyond the clinic walls. Collaboration between </a:t>
            </a:r>
            <a:r>
              <a:rPr lang="en-GB" b="1" dirty="0"/>
              <a:t>clinics, NGOs, schools, community-based organisations, and cultural or faith-based institutions</a:t>
            </a:r>
            <a:r>
              <a:rPr lang="en-GB" dirty="0"/>
              <a:t> enables a coordinated response to prevention needs across the life course. These partnerships strengthen referral pathways, expand access to health promotion services, and improve reach into underserved populations. For example, schools may support adolescent health screening, NGOs may provide adherence support or nutrition services, while faith-based organisations can enhance trust, health literacy, and culturally acceptable outreach. Such cross-sector coordination is a central pillar of people-centred primary healthcare because it links medical care with the social environments in which people live. </a:t>
            </a:r>
          </a:p>
          <a:p>
            <a:pPr>
              <a:buNone/>
            </a:pPr>
            <a:br>
              <a:rPr lang="en-GB" dirty="0"/>
            </a:br>
            <a:endParaRPr lang="en-GB" dirty="0"/>
          </a:p>
          <a:p>
            <a:pPr>
              <a:buNone/>
            </a:pPr>
            <a:r>
              <a:rPr lang="en-GB" b="1" dirty="0"/>
              <a:t>2) Shared Data and Tracking Systems</a:t>
            </a:r>
          </a:p>
          <a:p>
            <a:pPr>
              <a:buNone/>
            </a:pPr>
            <a:r>
              <a:rPr lang="en-GB" dirty="0"/>
              <a:t>Integrated </a:t>
            </a:r>
            <a:r>
              <a:rPr lang="en-GB" b="1" dirty="0"/>
              <a:t>data-sharing, referral, and patient tracking systems</a:t>
            </a:r>
            <a:r>
              <a:rPr lang="en-GB" dirty="0"/>
              <a:t> are critical for ensuring continuity of care across community and facility settings. Shared electronic records, interoperable referral platforms, and community registries allow providers to monitor screening outcomes, follow up on referrals, identify missed appointments, and track high-risk individuals over time. This prevents fragmentation, duplication of services, and loss to follow-up. In prevention-focused systems, data platforms also support </a:t>
            </a:r>
            <a:r>
              <a:rPr lang="en-GB" b="1" dirty="0"/>
              <a:t>population risk stratification</a:t>
            </a:r>
            <a:r>
              <a:rPr lang="en-GB" dirty="0"/>
              <a:t>, helping teams identify communities with rising chronic disease risk, maternal health needs, or social vulnerability. Ultimately, robust information systems transform prevention from isolated activities into a coordinated continuum of care. </a:t>
            </a:r>
          </a:p>
          <a:p>
            <a:pPr>
              <a:buNone/>
            </a:pPr>
            <a:br>
              <a:rPr lang="en-GB" dirty="0"/>
            </a:br>
            <a:endParaRPr lang="en-GB" dirty="0"/>
          </a:p>
          <a:p>
            <a:pPr>
              <a:buNone/>
            </a:pPr>
            <a:r>
              <a:rPr lang="en-GB" b="1" dirty="0"/>
              <a:t>3) Training</a:t>
            </a:r>
          </a:p>
          <a:p>
            <a:pPr>
              <a:buNone/>
            </a:pPr>
            <a:r>
              <a:rPr lang="en-GB" dirty="0"/>
              <a:t>Successful integration requires the </a:t>
            </a:r>
            <a:r>
              <a:rPr lang="en-GB" b="1" dirty="0"/>
              <a:t>establishment and continuous training of multidisciplinary teams</a:t>
            </a:r>
            <a:r>
              <a:rPr lang="en-GB" dirty="0"/>
              <a:t> that are skilled in prevention, outreach, and care coordination. These teams may include nurses, social workers, community health workers, pharmacists, dietitians, mental health practitioners, and health educators. Training should focus on preventive screening, motivational interviewing, community engagement, cultural competence, chronic disease risk reduction, and referral management. Equally important is role clarification so that team members understand shared accountability for outcomes. A well-trained workforce improves the system’s ability to provide proactive, community-oriented, and person-centred care rather than reactive episodic treatment. </a:t>
            </a:r>
          </a:p>
          <a:p>
            <a:pPr>
              <a:buNone/>
            </a:pPr>
            <a:br>
              <a:rPr lang="en-GB" dirty="0"/>
            </a:br>
            <a:endParaRPr lang="en-GB" dirty="0"/>
          </a:p>
          <a:p>
            <a:pPr>
              <a:buNone/>
            </a:pPr>
            <a:r>
              <a:rPr lang="en-GB" b="1" dirty="0"/>
              <a:t>4) Finances</a:t>
            </a:r>
          </a:p>
          <a:p>
            <a:pPr>
              <a:buNone/>
            </a:pPr>
            <a:r>
              <a:rPr lang="en-GB" dirty="0"/>
              <a:t>Sustained financing is one of the most important requirements for long-term success. Traditional health financing often rewards </a:t>
            </a:r>
            <a:r>
              <a:rPr lang="en-GB" b="1" dirty="0"/>
              <a:t>episodic, curative services</a:t>
            </a:r>
            <a:r>
              <a:rPr lang="en-GB" dirty="0"/>
              <a:t>, which can discourage investment in prevention. In contrast, integrated prevention models require </a:t>
            </a:r>
            <a:r>
              <a:rPr lang="en-GB" b="1" dirty="0"/>
              <a:t>dedicated and predictable funding streams</a:t>
            </a:r>
            <a:r>
              <a:rPr lang="en-GB" dirty="0"/>
              <a:t> for outreach, health promotion, screening, community health workers, digital tracking systems, and care coordination. Payment reforms such as capitation, bundled payments, and performance-based incentives can better align financing with prevention goals by rewarding reduced hospital admissions, improved chronic disease control, and better referral completion. When financing explicitly prioritises prevention, health systems can shift resources upstream to address risk factors before disease becomes severe. </a:t>
            </a:r>
          </a:p>
          <a:p>
            <a:pPr>
              <a:buNone/>
            </a:pPr>
            <a:br>
              <a:rPr lang="en-GB" dirty="0"/>
            </a:br>
            <a:endParaRPr lang="en-GB" dirty="0"/>
          </a:p>
          <a:p>
            <a:pPr>
              <a:buNone/>
            </a:pPr>
            <a:r>
              <a:rPr lang="en-GB" b="1" dirty="0"/>
              <a:t>5) Policy</a:t>
            </a:r>
          </a:p>
          <a:p>
            <a:pPr>
              <a:buNone/>
            </a:pPr>
            <a:r>
              <a:rPr lang="en-GB" dirty="0"/>
              <a:t>National </a:t>
            </a:r>
            <a:r>
              <a:rPr lang="en-GB" b="1" dirty="0"/>
              <a:t>primary healthcare and universal health coverage policies</a:t>
            </a:r>
            <a:r>
              <a:rPr lang="en-GB" dirty="0"/>
              <a:t> provide the governance foundation needed to institutionalise integrated, people-centred care. Policies should formally embed prevention into PHC service packages, mandate collaboration between health and social sectors, support community health worker programmes, and require interoperable data systems. They also establish accountability frameworks, quality standards, and financing mechanisms that make prevention part of routine service delivery rather than an optional add-on. When prevention is embedded in policy, it becomes protected from short-term project cycles and more likely to be scaled equitably across districts and provinces. WHO specifically identifies policy, governance, and cross-sector coordination as critical to integrated people-centred health systems</a:t>
            </a:r>
          </a:p>
          <a:p>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8</a:t>
            </a:fld>
            <a:endParaRPr lang="en-ZA"/>
          </a:p>
        </p:txBody>
      </p:sp>
    </p:spTree>
    <p:extLst>
      <p:ext uri="{BB962C8B-B14F-4D97-AF65-F5344CB8AC3E}">
        <p14:creationId xmlns:p14="http://schemas.microsoft.com/office/powerpoint/2010/main" val="1660172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PCMH – although this </a:t>
            </a:r>
            <a:r>
              <a:rPr lang="en-GB" dirty="0"/>
              <a:t>has been widely promoted as a mechanism for integrating prevention, treatment, and chronic disease management within primary care settings, it is argued that, despite its emphasis on patient-centeredness, the model does not always fully embody a community-based philosophy in practice</a:t>
            </a:r>
          </a:p>
          <a:p>
            <a:r>
              <a:rPr lang="en-GB" dirty="0"/>
              <a:t>Patient-</a:t>
            </a:r>
            <a:r>
              <a:rPr lang="en-GB" dirty="0" err="1"/>
              <a:t>centered</a:t>
            </a:r>
            <a:r>
              <a:rPr lang="en-GB" dirty="0"/>
              <a:t> care must extend beyond the clinical encounter to include the knowledge, values, and lived experiences of communities</a:t>
            </a:r>
          </a:p>
          <a:p>
            <a:r>
              <a:rPr lang="en-GB" dirty="0"/>
              <a:t>It is therefore important that community members and healthcare practitioners become equal partners in the organization and design of services</a:t>
            </a:r>
          </a:p>
          <a:p>
            <a:r>
              <a:rPr lang="en-GB" dirty="0"/>
              <a:t>By integrating community perspectives into decision-making, the PCMH can better address social determinants of health, improve responsiveness to local needs, and foster long-term trust between healthcare systems and populations.</a:t>
            </a:r>
          </a:p>
          <a:p>
            <a:r>
              <a:rPr lang="en-GB" dirty="0"/>
              <a:t>ACO – integrate community preventative strategies by shifting from a reactive model to a proactive, population health approach addressing the root cause of an illness outside a consulting room. This is achieved through a partnership with community based organisation to address social determinants of health and focusing on preventive screenings</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9</a:t>
            </a:fld>
            <a:endParaRPr lang="en-ZA"/>
          </a:p>
        </p:txBody>
      </p:sp>
    </p:spTree>
    <p:extLst>
      <p:ext uri="{BB962C8B-B14F-4D97-AF65-F5344CB8AC3E}">
        <p14:creationId xmlns:p14="http://schemas.microsoft.com/office/powerpoint/2010/main" val="1112474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CHW – function: promote screening, health education, adherence to medication, referrals to PHC/ Hospitals, and follow-up for those with chronic illnesses </a:t>
            </a:r>
          </a:p>
          <a:p>
            <a:r>
              <a:rPr lang="en-ZA" dirty="0"/>
              <a:t>Mobile clinics – extend preventive services to schools, places of employment, rural areas, and underserved areas. This ensures that there is early detection of chronic conditions </a:t>
            </a:r>
          </a:p>
          <a:p>
            <a:r>
              <a:rPr lang="en-ZA" dirty="0"/>
              <a:t>Lifestyle changes – programs focus on healthy diet, physical activity, smoking cessation and treatment literacy which then leads to improvement in behaviour and preventive service use</a:t>
            </a:r>
          </a:p>
        </p:txBody>
      </p:sp>
      <p:sp>
        <p:nvSpPr>
          <p:cNvPr id="4" name="Slide Number Placeholder 3"/>
          <p:cNvSpPr>
            <a:spLocks noGrp="1"/>
          </p:cNvSpPr>
          <p:nvPr>
            <p:ph type="sldNum" sz="quarter" idx="5"/>
          </p:nvPr>
        </p:nvSpPr>
        <p:spPr/>
        <p:txBody>
          <a:bodyPr/>
          <a:lstStyle/>
          <a:p>
            <a:fld id="{F1F7BD10-833A-4686-A1AA-DE1FDCB7B2BA}" type="slidenum">
              <a:rPr lang="en-ZA" smtClean="0"/>
              <a:t>10</a:t>
            </a:fld>
            <a:endParaRPr lang="en-ZA"/>
          </a:p>
        </p:txBody>
      </p:sp>
    </p:spTree>
    <p:extLst>
      <p:ext uri="{BB962C8B-B14F-4D97-AF65-F5344CB8AC3E}">
        <p14:creationId xmlns:p14="http://schemas.microsoft.com/office/powerpoint/2010/main" val="3214278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a:t>Community health workers, outreach teams, and local organizations are often better positioned to recognize emerging social, </a:t>
            </a:r>
            <a:r>
              <a:rPr lang="en-GB" dirty="0" err="1"/>
              <a:t>behavioral</a:t>
            </a:r>
            <a:r>
              <a:rPr lang="en-GB" dirty="0"/>
              <a:t>, and environmental risk factors before they progress into advanced disease, enabling timely preventive interventions</a:t>
            </a:r>
          </a:p>
          <a:p>
            <a:pPr marL="228600" indent="-228600">
              <a:buAutoNum type="arabicPeriod"/>
            </a:pPr>
            <a:r>
              <a:rPr lang="en-GB" dirty="0"/>
              <a:t>Community-linked care models improve the likelihood that patients successfully complete referrals by addressing barriers such as transportation, health literacy, appointment scheduling, and follow-up communication. Through patient navigation and coordinated support systems, individuals are more effectively guided across different levels of care, reducing missed consultations and fragmented service delivery.</a:t>
            </a:r>
          </a:p>
          <a:p>
            <a:pPr marL="228600" indent="-228600">
              <a:buAutoNum type="arabicPeriod"/>
            </a:pPr>
            <a:r>
              <a:rPr lang="en-GB" dirty="0"/>
              <a:t>Prevention-oriented community partnerships reinforce patients’ ability to manage chronic conditions and maintain treatment plans through continuous education, </a:t>
            </a:r>
            <a:r>
              <a:rPr lang="en-GB" dirty="0" err="1"/>
              <a:t>counseling</a:t>
            </a:r>
            <a:r>
              <a:rPr lang="en-GB" dirty="0"/>
              <a:t>, peer support, and culturally relevant health coaching. These approaches empower individuals to develop health literacy, strengthen motivation, and improve adherence to medication, lifestyle modifications, and follow-up care recommendations.</a:t>
            </a:r>
          </a:p>
          <a:p>
            <a:pPr marL="228600" indent="-228600">
              <a:buAutoNum type="arabicPeriod"/>
            </a:pPr>
            <a:r>
              <a:rPr lang="en-GB" dirty="0"/>
              <a:t>By emphasizing proactive monitoring, early intervention, and consistent support within the community, integrated prevention strategies help reduce unnecessary hospitalizations and emergency visits. Timely management of worsening symptoms, social determinants of health, and care gaps can prevent avoidable disease exacerbations that would otherwise result in costly inpatient admissions.</a:t>
            </a:r>
          </a:p>
          <a:p>
            <a:pPr marL="228600" indent="-228600">
              <a:buAutoNum type="arabicPeriod"/>
            </a:pPr>
            <a:r>
              <a:rPr lang="en-GB" dirty="0"/>
              <a:t>Stronger linkages between healthcare facilities and community-based services promote seamless transitions across the continuum of care. Shared communication systems, multidisciplinary teamwork, and coordinated follow-up ensure that patients receive consistent support after discharge, during rehabilitation, and throughout long-term disease prevention and management, thereby minimizing care fragmentation.</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11</a:t>
            </a:fld>
            <a:endParaRPr lang="en-ZA"/>
          </a:p>
        </p:txBody>
      </p:sp>
    </p:spTree>
    <p:extLst>
      <p:ext uri="{BB962C8B-B14F-4D97-AF65-F5344CB8AC3E}">
        <p14:creationId xmlns:p14="http://schemas.microsoft.com/office/powerpoint/2010/main" val="4048578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1" dirty="0"/>
              <a:t>Common challenges: </a:t>
            </a:r>
            <a:r>
              <a:rPr lang="en-GB" dirty="0"/>
              <a:t>Despite the proven value of integrated community-clinical prevention models, implementation is often constrained by several recurring system-level barriers</a:t>
            </a:r>
          </a:p>
          <a:p>
            <a:r>
              <a:rPr lang="en-GB" dirty="0"/>
              <a:t>Fragmented systems: as previously mentioned, there is at times poor coordination between the private and public health care systems</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12</a:t>
            </a:fld>
            <a:endParaRPr lang="en-ZA"/>
          </a:p>
        </p:txBody>
      </p:sp>
    </p:spTree>
    <p:extLst>
      <p:ext uri="{BB962C8B-B14F-4D97-AF65-F5344CB8AC3E}">
        <p14:creationId xmlns:p14="http://schemas.microsoft.com/office/powerpoint/2010/main" val="11792578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overcome barriers and strengthen integration of community-based preventative strategies into clinical care, the following enablers are consistently supported in implementation and integrated care</a:t>
            </a:r>
          </a:p>
          <a:p>
            <a:r>
              <a:rPr lang="en-ZA" dirty="0"/>
              <a:t>Summary: </a:t>
            </a:r>
            <a:r>
              <a:rPr lang="en-GB" dirty="0"/>
              <a:t>“These solutions address the core operational barriers to integration. Collaboration improves coordination, payment reform ensures sustainability, IT systems strengthen continuity, workforce development expands capacity, and policy incentives embed prevention into routine care models.”</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13</a:t>
            </a:fld>
            <a:endParaRPr lang="en-ZA"/>
          </a:p>
        </p:txBody>
      </p:sp>
    </p:spTree>
    <p:extLst>
      <p:ext uri="{BB962C8B-B14F-4D97-AF65-F5344CB8AC3E}">
        <p14:creationId xmlns:p14="http://schemas.microsoft.com/office/powerpoint/2010/main" val="5393554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Key Policy drivers: Strong policy and financing mechanisms are essential to institutionalize community-based prevention within clinical care models.</a:t>
            </a:r>
          </a:p>
          <a:p>
            <a:r>
              <a:rPr lang="en-GB" dirty="0"/>
              <a:t>Policy &amp; Funding: Key Policy drivers: Strong policy and sustainable financing mechanisms are foundational to embedding community-based prevention within broader clinical care systems. Without deliberate alignment of incentives, workforce structures, and equity-oriented governance, preventive services tend to remain fragmented, underfunded, and secondary to acute care. The following policy levers are central to institutionalising integrated, prevention-focused health systems.</a:t>
            </a:r>
          </a:p>
          <a:p>
            <a:pPr marL="228600" indent="-228600">
              <a:buAutoNum type="arabicPeriod"/>
            </a:pPr>
            <a:r>
              <a:rPr lang="en-GB" dirty="0"/>
              <a:t>Reimbursement for Preventive Services. Reorienting payment systems is one of the most powerful tools for shifting health systems from reactive, episodic care toward proactive, population-based prevention. Traditional fee-for-service models often incentivise volume of treatment rather than health outcomes, thereby undervaluing prevention and early intervention. To address this imbalance, reimbursement structures should explicitly reward: Preventive screening (e.g., hypertension, diabetes, cancer screening)Health promotion and patient education activities Chronic disease risk identification and stratification Care coordination and follow-up across service levels Social and behavioural risk interventions Value-based payment models, bundled payments, and capitation systems can better support these objectives by linking provider reimbursement to population health outcomes rather than individual service delivery. The World Health Organization (WHO) Primary Health Care (PHC) framework emphasizes strategic purchasing and payment reform as essential enablers of integrated, people-centred care, particularly in strengthening continuity between community and clinical services.</a:t>
            </a:r>
          </a:p>
          <a:p>
            <a:pPr marL="228600" indent="-228600">
              <a:buAutoNum type="arabicPeriod"/>
            </a:pPr>
            <a:r>
              <a:rPr lang="en-GB" dirty="0"/>
              <a:t>Support for Community Health Workers (CHWs)Community Health Workers (CHWs) are a critical interface between formal health systems and communities, particularly in underserved or resource-constrained settings. However, their effectiveness is highly dependent on formal recognition, structured financing, and supportive supervision systems. Policy support for CHWs should include: Sustainable, dedicated budget lines within national and subnational health financing systems Formal job classification within the health workforce structure Standardised training, accreditation, and career progression pathways Regular supervision and integration into multidisciplinary care teams Fair remuneration to reduce attrition and ensure workforce stability When properly supported, CHWs improve preventive care uptake, enhance treatment adherence for chronic conditions, and strengthen trust in health systems. They also play a key role in addressing social determinants of health by linking households to essential services such as nutrition support, maternal care, and social protection programs.</a:t>
            </a:r>
          </a:p>
          <a:p>
            <a:pPr marL="228600" indent="-228600">
              <a:buAutoNum type="arabicPeriod"/>
            </a:pPr>
            <a:r>
              <a:rPr lang="en-GB" dirty="0"/>
              <a:t>Grants for Community–Clinical Initiatives. Short- and medium-term grant mechanisms are important catalytic tools for establishing and scaling innovative community–clinical partnerships. These funding streams enable experimentation and early-stage implementation in integrated care models that may not yet be supported through routine reimbursement systems. Such grants may include Seed funding for pilot integrated care programmes, Innovation grants for digital health or community referral systems, Hospital community-benefit investments targeting upstream prevention, Multi-sector collaboration funds involving NGOs, schools, and local governments. These financial mechanisms help bridge the gap between health services and community-based organisations, allowing for the development of referral pathways, shared care plans, and coordinated outreach programmes. Over time, successful initiatives funded through grants can be transitioned into sustainable, reimbursed components of the health system.</a:t>
            </a:r>
          </a:p>
          <a:p>
            <a:pPr marL="228600" indent="-228600">
              <a:buAutoNum type="arabicPeriod"/>
            </a:pPr>
            <a:r>
              <a:rPr lang="en-GB" dirty="0"/>
              <a:t>Health Equity Frameworks: Embedding health equity into policy and financing structures ensures that prevention strategies explicitly address disparities in access, outcomes, and underlying social determinants of health. Without an equity lens, preventive programmes risk disproportionately benefiting already well-served populations. Key components of health equity frameworks include: Targeted funding allocations for underserved and high-burden communities Equity-based performance indicators and accountability mechanisms Mandatory outreach requirements for vulnerable populations Integration of “Health in All Policies” approaches across sectors such as housing, education, transport, and employment Data disaggregation by socioeconomic status, geography, gender, and ethnicity to identify </a:t>
            </a:r>
            <a:r>
              <a:rPr lang="en-GB" dirty="0" err="1"/>
              <a:t>inequitiesThese</a:t>
            </a:r>
            <a:r>
              <a:rPr lang="en-GB" dirty="0"/>
              <a:t> frameworks align with global commitments to universal health coverage and are reinforced by WHO guidance on reducing inequities through primary health care strengthening. By embedding equity into financing and governance, health systems can move beyond equal provision of services toward proportionate universalism, where resources are distributed according to level of need.</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14</a:t>
            </a:fld>
            <a:endParaRPr lang="en-ZA"/>
          </a:p>
        </p:txBody>
      </p:sp>
    </p:spTree>
    <p:extLst>
      <p:ext uri="{BB962C8B-B14F-4D97-AF65-F5344CB8AC3E}">
        <p14:creationId xmlns:p14="http://schemas.microsoft.com/office/powerpoint/2010/main" val="27532929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Key Implementation Actions</a:t>
            </a:r>
          </a:p>
          <a:p>
            <a:pPr>
              <a:buNone/>
            </a:pPr>
            <a:r>
              <a:rPr lang="en-GB" b="1" dirty="0"/>
              <a:t>✔ Conduct community needs assessments</a:t>
            </a:r>
            <a:br>
              <a:rPr lang="en-GB" dirty="0"/>
            </a:br>
            <a:r>
              <a:rPr lang="en-GB" dirty="0"/>
              <a:t>Healthcare providers should systematically assess the health risks, disease burden, social determinants, and service gaps affecting the populations they serve. This involves using epidemiological data, screening trends, hospitalization patterns, and community input to identify priority needs such as hypertension, diabetes, mental health concerns, or maternal-child health risks. Community needs assessments help ensure that prevention strategies are </a:t>
            </a:r>
            <a:r>
              <a:rPr lang="en-GB" b="1" dirty="0"/>
              <a:t>locally relevant, equity-focused, and responsive to population realities rather than generic clinical assumptions</a:t>
            </a:r>
            <a:r>
              <a:rPr lang="en-GB" dirty="0"/>
              <a:t>. They also support risk stratification and better resource targeting. </a:t>
            </a:r>
          </a:p>
          <a:p>
            <a:pPr>
              <a:buNone/>
            </a:pPr>
            <a:r>
              <a:rPr lang="en-GB" b="1" dirty="0"/>
              <a:t>✔ Build partnerships with local organizations</a:t>
            </a:r>
            <a:br>
              <a:rPr lang="en-GB" dirty="0"/>
            </a:br>
            <a:r>
              <a:rPr lang="en-GB" dirty="0"/>
              <a:t>Providers should establish formal and informal collaborations with community-based organizations, schools, faith-based groups, NGOs, local government, and social service agencies. These partnerships expand the reach of prevention beyond the clinic by connecting patients to nutrition support, physical activity programs, health education, housing assistance, social prescribing, and psychosocial services. Strong cross-sector partnerships improve referral pathways, strengthen trust within communities, and create a </a:t>
            </a:r>
            <a:r>
              <a:rPr lang="en-GB" b="1" dirty="0"/>
              <a:t>more holistic ecosystem of care that addresses both clinical and non-clinical drivers of health outcomes</a:t>
            </a:r>
            <a:r>
              <a:rPr lang="en-GB" dirty="0"/>
              <a:t>. </a:t>
            </a:r>
          </a:p>
          <a:p>
            <a:pPr>
              <a:buNone/>
            </a:pPr>
            <a:r>
              <a:rPr lang="en-GB" b="1" dirty="0"/>
              <a:t>✔ Embed prevention in care plans</a:t>
            </a:r>
            <a:br>
              <a:rPr lang="en-GB" dirty="0"/>
            </a:br>
            <a:r>
              <a:rPr lang="en-GB" dirty="0"/>
              <a:t>Preventive interventions should be integrated directly into individualized care plans rather than treated as separate public health activities. Providers can incorporate lifestyle counselling, risk screening, vaccination reminders, medication adherence support, early warning signs, and community referrals into routine chronic disease management plans. This ensures prevention becomes part of every patient interaction, strengthening continuity of care and supporting long-term self-management. Embedding prevention within care pathways also aligns treatment goals with population health priorities and promotes person-centred integrated care. </a:t>
            </a:r>
          </a:p>
          <a:p>
            <a:pPr>
              <a:buNone/>
            </a:pPr>
            <a:r>
              <a:rPr lang="en-GB" b="1" dirty="0"/>
              <a:t>✔ Track outcomes and adjust strategies</a:t>
            </a:r>
            <a:br>
              <a:rPr lang="en-GB" dirty="0"/>
            </a:br>
            <a:r>
              <a:rPr lang="en-GB" dirty="0"/>
              <a:t>Providers should continuously monitor both clinical and community-level outcomes to evaluate whether prevention interventions are achieving desired results. Relevant indicators may include screening uptake, referral completion, reduced emergency visits, medication adherence, improved biometric markers, and patient-reported quality of life. Continuous performance review enables teams to identify what is working, where disparities persist, and which interventions require redesign. This creates a </a:t>
            </a:r>
            <a:r>
              <a:rPr lang="en-GB" b="1" dirty="0"/>
              <a:t>learning health system approach</a:t>
            </a:r>
            <a:r>
              <a:rPr lang="en-GB" dirty="0"/>
              <a:t>, where data-driven feedback loops support ongoing quality improvement and adaptive prevention strategies. </a:t>
            </a:r>
          </a:p>
          <a:p>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15</a:t>
            </a:fld>
            <a:endParaRPr lang="en-ZA"/>
          </a:p>
        </p:txBody>
      </p:sp>
    </p:spTree>
    <p:extLst>
      <p:ext uri="{BB962C8B-B14F-4D97-AF65-F5344CB8AC3E}">
        <p14:creationId xmlns:p14="http://schemas.microsoft.com/office/powerpoint/2010/main" val="568732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Improves health outcomes:</a:t>
            </a:r>
            <a:br>
              <a:rPr lang="en-GB" dirty="0"/>
            </a:br>
            <a:r>
              <a:rPr lang="en-GB" dirty="0"/>
              <a:t>Integrating community-based prevention into clinical care enables earlier identification of risk factors, strengthens chronic disease prevention, and supports sustained </a:t>
            </a:r>
            <a:r>
              <a:rPr lang="en-GB" dirty="0" err="1"/>
              <a:t>behavior</a:t>
            </a:r>
            <a:r>
              <a:rPr lang="en-GB" dirty="0"/>
              <a:t> change through culturally relevant interventions delivered in real-life settings. By linking clinical screening with community programs such as nutrition education, physical activity groups, smoking cessation support, and home-based follow-up, patients are more likely to adopt healthy lifestyles and adhere to treatment plans. This leads to reduced morbidity, better disease control, improved quality of life, and lower rates of preventable complications. Evidence shows that clinical and community interventions are most effective when implemented synergistically rather than as isolated efforts. </a:t>
            </a:r>
          </a:p>
          <a:p>
            <a:r>
              <a:rPr lang="en-GB" b="1" dirty="0"/>
              <a:t>Reduces system costs:</a:t>
            </a:r>
            <a:br>
              <a:rPr lang="en-GB" dirty="0"/>
            </a:br>
            <a:r>
              <a:rPr lang="en-GB" dirty="0"/>
              <a:t>Community-based prevention helps lower healthcare expenditure by reducing avoidable emergency visits, hospital admissions, and complications associated with unmanaged chronic conditions. Preventive interventions such as community health worker support, risk-reduction education, and early referral systems address health issues before they escalate into costly acute episodes. Over time, this shifts health systems from expensive reactive care toward more cost-effective proactive population health management, improving both efficiency and sustainability. </a:t>
            </a:r>
          </a:p>
          <a:p>
            <a:r>
              <a:rPr lang="en-GB" b="1" dirty="0"/>
              <a:t>Strengthens community partnerships:</a:t>
            </a:r>
            <a:br>
              <a:rPr lang="en-GB" dirty="0"/>
            </a:br>
            <a:r>
              <a:rPr lang="en-GB" dirty="0"/>
              <a:t>Integration fosters stronger collaboration between healthcare providers, public health agencies, schools, faith-based organizations, non-governmental organizations, and local leaders. These partnerships improve referral pathways, enhance trust between communities and health systems, and enable coordinated delivery of preventive services. Strong community-clinical linkages also improve service reach, especially for vulnerable and underserved populations, by leveraging the credibility and local knowledge of community organizations.</a:t>
            </a:r>
          </a:p>
          <a:p>
            <a:r>
              <a:rPr lang="en-GB" dirty="0"/>
              <a:t> </a:t>
            </a:r>
            <a:r>
              <a:rPr lang="en-GB" b="1" dirty="0"/>
              <a:t>Addresses root causes of disease:</a:t>
            </a:r>
            <a:br>
              <a:rPr lang="en-GB" dirty="0"/>
            </a:br>
            <a:r>
              <a:rPr lang="en-GB" dirty="0"/>
              <a:t>A major advantage of community-based prevention is its ability to address the </a:t>
            </a:r>
            <a:r>
              <a:rPr lang="en-GB" b="1" dirty="0"/>
              <a:t>social determinants of health</a:t>
            </a:r>
            <a:r>
              <a:rPr lang="en-GB" dirty="0"/>
              <a:t>, including poverty, food insecurity, unsafe housing, unemployment, limited education, and poor access to safe recreational spaces. These structural and environmental factors are often the underlying drivers of chronic illness and health inequities. By integrating clinical care with community resources that target these upstream determinants, health systems can move beyond symptom treatment to tackling the fundamental causes of disease, thereby promoting long-term health equity and population well-being.</a:t>
            </a:r>
            <a:endParaRPr lang="en-ZA" dirty="0"/>
          </a:p>
        </p:txBody>
      </p:sp>
      <p:sp>
        <p:nvSpPr>
          <p:cNvPr id="4" name="Slide Number Placeholder 3"/>
          <p:cNvSpPr>
            <a:spLocks noGrp="1"/>
          </p:cNvSpPr>
          <p:nvPr>
            <p:ph type="sldNum" sz="quarter" idx="5"/>
          </p:nvPr>
        </p:nvSpPr>
        <p:spPr/>
        <p:txBody>
          <a:bodyPr/>
          <a:lstStyle/>
          <a:p>
            <a:fld id="{F1F7BD10-833A-4686-A1AA-DE1FDCB7B2BA}" type="slidenum">
              <a:rPr lang="en-ZA" smtClean="0"/>
              <a:t>16</a:t>
            </a:fld>
            <a:endParaRPr lang="en-ZA"/>
          </a:p>
        </p:txBody>
      </p:sp>
    </p:spTree>
    <p:extLst>
      <p:ext uri="{BB962C8B-B14F-4D97-AF65-F5344CB8AC3E}">
        <p14:creationId xmlns:p14="http://schemas.microsoft.com/office/powerpoint/2010/main" val="27267259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2C05669-CB44-4CD9-BCDD-1C6F63BBDD31}" type="datetimeFigureOut">
              <a:rPr lang="en-ZA" smtClean="0"/>
              <a:t>2026/04/15</a:t>
            </a:fld>
            <a:endParaRPr lang="en-ZA"/>
          </a:p>
        </p:txBody>
      </p:sp>
      <p:sp>
        <p:nvSpPr>
          <p:cNvPr id="5" name="Footer Placeholder 4"/>
          <p:cNvSpPr>
            <a:spLocks noGrp="1"/>
          </p:cNvSpPr>
          <p:nvPr>
            <p:ph type="ftr" sz="quarter" idx="11"/>
          </p:nvPr>
        </p:nvSpPr>
        <p:spPr>
          <a:xfrm>
            <a:off x="1876424" y="5410201"/>
            <a:ext cx="5124886" cy="365125"/>
          </a:xfrm>
        </p:spPr>
        <p:txBody>
          <a:bodyPr/>
          <a:lstStyle/>
          <a:p>
            <a:endParaRPr lang="en-ZA"/>
          </a:p>
        </p:txBody>
      </p:sp>
      <p:sp>
        <p:nvSpPr>
          <p:cNvPr id="6" name="Slide Number Placeholder 5"/>
          <p:cNvSpPr>
            <a:spLocks noGrp="1"/>
          </p:cNvSpPr>
          <p:nvPr>
            <p:ph type="sldNum" sz="quarter" idx="12"/>
          </p:nvPr>
        </p:nvSpPr>
        <p:spPr>
          <a:xfrm>
            <a:off x="9896911" y="5410199"/>
            <a:ext cx="771089" cy="365125"/>
          </a:xfrm>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179131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C05669-CB44-4CD9-BCDD-1C6F63BBDD31}" type="datetimeFigureOut">
              <a:rPr lang="en-ZA" smtClean="0"/>
              <a:t>2026/04/15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1200803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C05669-CB44-4CD9-BCDD-1C6F63BBDD31}" type="datetimeFigureOut">
              <a:rPr lang="en-ZA" smtClean="0"/>
              <a:t>2026/04/15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3439091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932820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C05669-CB44-4CD9-BCDD-1C6F63BBDD31}" type="datetimeFigureOut">
              <a:rPr lang="en-ZA" smtClean="0"/>
              <a:t>2026/04/15</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2259068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C05669-CB44-4CD9-BCDD-1C6F63BBDD31}" type="datetimeFigureOut">
              <a:rPr lang="en-ZA" smtClean="0"/>
              <a:t>2026/04/15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2584313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C05669-CB44-4CD9-BCDD-1C6F63BBDD31}" type="datetimeFigureOut">
              <a:rPr lang="en-ZA" smtClean="0"/>
              <a:t>2026/04/15</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2073024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761387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3434696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2660480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32984258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048496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2C05669-CB44-4CD9-BCDD-1C6F63BBDD31}" type="datetimeFigureOut">
              <a:rPr lang="en-ZA" smtClean="0"/>
              <a:t>2026/04/15</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41242502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C05669-CB44-4CD9-BCDD-1C6F63BBDD31}" type="datetimeFigureOut">
              <a:rPr lang="en-ZA" smtClean="0"/>
              <a:t>2026/04/15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882229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2C05669-CB44-4CD9-BCDD-1C6F63BBDD31}" type="datetimeFigureOut">
              <a:rPr lang="en-ZA" smtClean="0"/>
              <a:t>2026/04/15</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74481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C05669-CB44-4CD9-BCDD-1C6F63BBDD31}" type="datetimeFigureOut">
              <a:rPr lang="en-ZA" smtClean="0"/>
              <a:t>2026/04/15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4199362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C05669-CB44-4CD9-BCDD-1C6F63BBDD31}" type="datetimeFigureOut">
              <a:rPr lang="en-ZA" smtClean="0"/>
              <a:t>2026/04/15</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2FDF15BD-17B6-416B-A398-287BE45133FA}" type="slidenum">
              <a:rPr lang="en-ZA" smtClean="0"/>
              <a:t>‹#›</a:t>
            </a:fld>
            <a:endParaRPr lang="en-ZA"/>
          </a:p>
        </p:txBody>
      </p:sp>
    </p:spTree>
    <p:extLst>
      <p:ext uri="{BB962C8B-B14F-4D97-AF65-F5344CB8AC3E}">
        <p14:creationId xmlns:p14="http://schemas.microsoft.com/office/powerpoint/2010/main" val="535558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ZA"/>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ZA"/>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ZA"/>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2C05669-CB44-4CD9-BCDD-1C6F63BBDD31}" type="datetimeFigureOut">
              <a:rPr lang="en-ZA" smtClean="0"/>
              <a:t>2026/04/15</a:t>
            </a:fld>
            <a:endParaRPr lang="en-ZA"/>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FDF15BD-17B6-416B-A398-287BE45133FA}" type="slidenum">
              <a:rPr lang="en-ZA" smtClean="0"/>
              <a:t>‹#›</a:t>
            </a:fld>
            <a:endParaRPr lang="en-ZA"/>
          </a:p>
        </p:txBody>
      </p:sp>
    </p:spTree>
    <p:extLst>
      <p:ext uri="{BB962C8B-B14F-4D97-AF65-F5344CB8AC3E}">
        <p14:creationId xmlns:p14="http://schemas.microsoft.com/office/powerpoint/2010/main" val="36590161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861F7-2BDF-9E24-F0E2-87BEC036A1CA}"/>
              </a:ext>
            </a:extLst>
          </p:cNvPr>
          <p:cNvSpPr>
            <a:spLocks noGrp="1"/>
          </p:cNvSpPr>
          <p:nvPr>
            <p:ph type="ctrTitle"/>
          </p:nvPr>
        </p:nvSpPr>
        <p:spPr>
          <a:xfrm>
            <a:off x="3502731" y="1542402"/>
            <a:ext cx="5186842" cy="2387918"/>
          </a:xfrm>
        </p:spPr>
        <p:txBody>
          <a:bodyPr anchor="b">
            <a:normAutofit fontScale="90000"/>
          </a:bodyPr>
          <a:lstStyle/>
          <a:p>
            <a:r>
              <a:rPr lang="en-ZA" sz="4000" dirty="0">
                <a:solidFill>
                  <a:schemeClr val="tx2"/>
                </a:solidFill>
              </a:rPr>
              <a:t>Integrating community-based preventative strategies into clinical care models</a:t>
            </a:r>
          </a:p>
        </p:txBody>
      </p:sp>
      <p:sp>
        <p:nvSpPr>
          <p:cNvPr id="3" name="Subtitle 2">
            <a:extLst>
              <a:ext uri="{FF2B5EF4-FFF2-40B4-BE49-F238E27FC236}">
                <a16:creationId xmlns:a16="http://schemas.microsoft.com/office/drawing/2014/main" id="{7C754EEE-7A89-285A-05FB-07F760CD01DD}"/>
              </a:ext>
            </a:extLst>
          </p:cNvPr>
          <p:cNvSpPr>
            <a:spLocks noGrp="1"/>
          </p:cNvSpPr>
          <p:nvPr>
            <p:ph type="subTitle" idx="1"/>
          </p:nvPr>
        </p:nvSpPr>
        <p:spPr>
          <a:xfrm>
            <a:off x="3502135" y="4001587"/>
            <a:ext cx="5188034" cy="682079"/>
          </a:xfrm>
        </p:spPr>
        <p:txBody>
          <a:bodyPr>
            <a:normAutofit/>
          </a:bodyPr>
          <a:lstStyle/>
          <a:p>
            <a:r>
              <a:rPr lang="en-ZA" dirty="0">
                <a:solidFill>
                  <a:schemeClr val="tx2"/>
                </a:solidFill>
              </a:rPr>
              <a:t>Dr Sereme</a:t>
            </a:r>
          </a:p>
        </p:txBody>
      </p:sp>
    </p:spTree>
    <p:extLst>
      <p:ext uri="{BB962C8B-B14F-4D97-AF65-F5344CB8AC3E}">
        <p14:creationId xmlns:p14="http://schemas.microsoft.com/office/powerpoint/2010/main" val="4121544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ZA"/>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ZA"/>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ZA"/>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ZA"/>
            </a:p>
          </p:txBody>
        </p:sp>
      </p:grpSp>
      <p:sp>
        <p:nvSpPr>
          <p:cNvPr id="2" name="Title 1">
            <a:extLst>
              <a:ext uri="{FF2B5EF4-FFF2-40B4-BE49-F238E27FC236}">
                <a16:creationId xmlns:a16="http://schemas.microsoft.com/office/drawing/2014/main" id="{F6CE4CC4-EE53-7D35-D603-F32791B99E13}"/>
              </a:ext>
            </a:extLst>
          </p:cNvPr>
          <p:cNvSpPr>
            <a:spLocks noGrp="1"/>
          </p:cNvSpPr>
          <p:nvPr>
            <p:ph type="title"/>
          </p:nvPr>
        </p:nvSpPr>
        <p:spPr>
          <a:xfrm>
            <a:off x="1019015" y="1093787"/>
            <a:ext cx="3059969" cy="4697413"/>
          </a:xfrm>
        </p:spPr>
        <p:txBody>
          <a:bodyPr>
            <a:normAutofit/>
          </a:bodyPr>
          <a:lstStyle/>
          <a:p>
            <a:r>
              <a:rPr lang="en-ZA">
                <a:latin typeface="Arial" panose="020B0604020202020204" pitchFamily="34" charset="0"/>
                <a:cs typeface="Arial" panose="020B0604020202020204" pitchFamily="34" charset="0"/>
              </a:rPr>
              <a:t>Overview </a:t>
            </a:r>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858472-3B42-23B6-705C-E40AD4F025EE}"/>
              </a:ext>
            </a:extLst>
          </p:cNvPr>
          <p:cNvSpPr>
            <a:spLocks noGrp="1"/>
          </p:cNvSpPr>
          <p:nvPr>
            <p:ph idx="1"/>
          </p:nvPr>
        </p:nvSpPr>
        <p:spPr>
          <a:xfrm>
            <a:off x="5215467" y="1093788"/>
            <a:ext cx="5831944" cy="4697413"/>
          </a:xfrm>
        </p:spPr>
        <p:txBody>
          <a:bodyPr>
            <a:normAutofit/>
          </a:bodyPr>
          <a:lstStyle/>
          <a:p>
            <a:pPr>
              <a:lnSpc>
                <a:spcPct val="110000"/>
              </a:lnSpc>
            </a:pPr>
            <a:r>
              <a:rPr lang="en-ZA" sz="2000" dirty="0">
                <a:latin typeface="Arial" panose="020B0604020202020204" pitchFamily="34" charset="0"/>
                <a:cs typeface="Arial" panose="020B0604020202020204" pitchFamily="34" charset="0"/>
              </a:rPr>
              <a:t>Why community-based prevention matters</a:t>
            </a:r>
          </a:p>
          <a:p>
            <a:pPr>
              <a:lnSpc>
                <a:spcPct val="110000"/>
              </a:lnSpc>
            </a:pPr>
            <a:r>
              <a:rPr lang="en-ZA" sz="2000" dirty="0">
                <a:latin typeface="Arial" panose="020B0604020202020204" pitchFamily="34" charset="0"/>
                <a:cs typeface="Arial" panose="020B0604020202020204" pitchFamily="34" charset="0"/>
              </a:rPr>
              <a:t> Definition of clinical and community integration</a:t>
            </a:r>
          </a:p>
          <a:p>
            <a:pPr>
              <a:lnSpc>
                <a:spcPct val="110000"/>
              </a:lnSpc>
            </a:pPr>
            <a:r>
              <a:rPr lang="en-ZA" sz="2000" dirty="0">
                <a:latin typeface="Arial" panose="020B0604020202020204" pitchFamily="34" charset="0"/>
                <a:cs typeface="Arial" panose="020B0604020202020204" pitchFamily="34" charset="0"/>
              </a:rPr>
              <a:t>Traditional clinical models</a:t>
            </a:r>
          </a:p>
          <a:p>
            <a:pPr>
              <a:lnSpc>
                <a:spcPct val="110000"/>
              </a:lnSpc>
            </a:pPr>
            <a:r>
              <a:rPr lang="en-ZA" sz="2000" dirty="0">
                <a:latin typeface="Arial" panose="020B0604020202020204" pitchFamily="34" charset="0"/>
                <a:cs typeface="Arial" panose="020B0604020202020204" pitchFamily="34" charset="0"/>
              </a:rPr>
              <a:t>Reasons to integrate</a:t>
            </a:r>
          </a:p>
          <a:p>
            <a:pPr>
              <a:lnSpc>
                <a:spcPct val="110000"/>
              </a:lnSpc>
            </a:pPr>
            <a:r>
              <a:rPr lang="en-ZA" sz="2000" dirty="0">
                <a:latin typeface="Arial" panose="020B0604020202020204" pitchFamily="34" charset="0"/>
                <a:cs typeface="Arial" panose="020B0604020202020204" pitchFamily="34" charset="0"/>
              </a:rPr>
              <a:t>Framework for integration</a:t>
            </a:r>
          </a:p>
          <a:p>
            <a:pPr>
              <a:lnSpc>
                <a:spcPct val="110000"/>
              </a:lnSpc>
            </a:pPr>
            <a:r>
              <a:rPr lang="en-ZA" sz="2000" dirty="0">
                <a:latin typeface="Arial" panose="020B0604020202020204" pitchFamily="34" charset="0"/>
                <a:cs typeface="Arial" panose="020B0604020202020204" pitchFamily="34" charset="0"/>
              </a:rPr>
              <a:t>Strategies in action</a:t>
            </a:r>
          </a:p>
          <a:p>
            <a:pPr>
              <a:lnSpc>
                <a:spcPct val="110000"/>
              </a:lnSpc>
            </a:pPr>
            <a:r>
              <a:rPr lang="en-ZA" sz="2000" dirty="0">
                <a:latin typeface="Arial" panose="020B0604020202020204" pitchFamily="34" charset="0"/>
                <a:cs typeface="Arial" panose="020B0604020202020204" pitchFamily="34" charset="0"/>
              </a:rPr>
              <a:t>Barriers to integration</a:t>
            </a:r>
          </a:p>
          <a:p>
            <a:pPr>
              <a:lnSpc>
                <a:spcPct val="110000"/>
              </a:lnSpc>
            </a:pPr>
            <a:r>
              <a:rPr lang="en-ZA" sz="2000" dirty="0">
                <a:latin typeface="Arial" panose="020B0604020202020204" pitchFamily="34" charset="0"/>
                <a:cs typeface="Arial" panose="020B0604020202020204" pitchFamily="34" charset="0"/>
              </a:rPr>
              <a:t>Solutions</a:t>
            </a:r>
          </a:p>
          <a:p>
            <a:pPr>
              <a:lnSpc>
                <a:spcPct val="110000"/>
              </a:lnSpc>
            </a:pPr>
            <a:r>
              <a:rPr lang="en-ZA" sz="2000" dirty="0">
                <a:latin typeface="Arial" panose="020B0604020202020204" pitchFamily="34" charset="0"/>
                <a:cs typeface="Arial" panose="020B0604020202020204" pitchFamily="34" charset="0"/>
              </a:rPr>
              <a:t> Policy and funding</a:t>
            </a:r>
          </a:p>
          <a:p>
            <a:pPr>
              <a:lnSpc>
                <a:spcPct val="110000"/>
              </a:lnSpc>
            </a:pPr>
            <a:endParaRPr lang="en-ZA" sz="2000" dirty="0">
              <a:latin typeface="Arial" panose="020B0604020202020204" pitchFamily="34" charset="0"/>
              <a:cs typeface="Arial" panose="020B0604020202020204" pitchFamily="34" charset="0"/>
            </a:endParaRPr>
          </a:p>
          <a:p>
            <a:pPr>
              <a:lnSpc>
                <a:spcPct val="110000"/>
              </a:lnSpc>
            </a:pPr>
            <a:endParaRPr lang="en-ZA" sz="2000" dirty="0">
              <a:latin typeface="Arial" panose="020B0604020202020204" pitchFamily="34" charset="0"/>
              <a:cs typeface="Arial" panose="020B0604020202020204" pitchFamily="34" charset="0"/>
            </a:endParaRPr>
          </a:p>
          <a:p>
            <a:pPr>
              <a:lnSpc>
                <a:spcPct val="110000"/>
              </a:lnSpc>
            </a:pPr>
            <a:endParaRPr lang="en-Z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9236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BB221-093A-C8B6-221A-463A4509EEC8}"/>
              </a:ext>
            </a:extLst>
          </p:cNvPr>
          <p:cNvSpPr>
            <a:spLocks noGrp="1"/>
          </p:cNvSpPr>
          <p:nvPr>
            <p:ph type="title"/>
          </p:nvPr>
        </p:nvSpPr>
        <p:spPr>
          <a:xfrm>
            <a:off x="1141413" y="618518"/>
            <a:ext cx="9905998" cy="1239780"/>
          </a:xfrm>
        </p:spPr>
        <p:txBody>
          <a:bodyPr>
            <a:normAutofit/>
          </a:bodyPr>
          <a:lstStyle/>
          <a:p>
            <a:r>
              <a:rPr lang="en-ZA" sz="3200" dirty="0">
                <a:latin typeface="Arial" panose="020B0604020202020204" pitchFamily="34" charset="0"/>
                <a:cs typeface="Arial" panose="020B0604020202020204" pitchFamily="34" charset="0"/>
              </a:rPr>
              <a:t>Why community- based prevention matters</a:t>
            </a:r>
          </a:p>
        </p:txBody>
      </p:sp>
      <p:sp>
        <p:nvSpPr>
          <p:cNvPr id="3" name="Content Placeholder 2">
            <a:extLst>
              <a:ext uri="{FF2B5EF4-FFF2-40B4-BE49-F238E27FC236}">
                <a16:creationId xmlns:a16="http://schemas.microsoft.com/office/drawing/2014/main" id="{DDBB5C4C-CC83-BFCE-DF4B-88562A0DDC8E}"/>
              </a:ext>
            </a:extLst>
          </p:cNvPr>
          <p:cNvSpPr>
            <a:spLocks noGrp="1"/>
          </p:cNvSpPr>
          <p:nvPr>
            <p:ph idx="1"/>
          </p:nvPr>
        </p:nvSpPr>
        <p:spPr>
          <a:xfrm>
            <a:off x="1141412" y="1858298"/>
            <a:ext cx="9905999" cy="4699818"/>
          </a:xfrm>
        </p:spPr>
        <p:txBody>
          <a:bodyPr>
            <a:normAutofit fontScale="92500" lnSpcReduction="20000"/>
          </a:bodyPr>
          <a:lstStyle/>
          <a:p>
            <a:r>
              <a:rPr lang="en-ZA" sz="2100" dirty="0">
                <a:latin typeface="Arial" panose="020B0604020202020204" pitchFamily="34" charset="0"/>
                <a:cs typeface="Arial" panose="020B0604020202020204" pitchFamily="34" charset="0"/>
              </a:rPr>
              <a:t>Growing recognition of the important role that the individual’s social and environmental conditions play in their health</a:t>
            </a:r>
          </a:p>
          <a:p>
            <a:r>
              <a:rPr lang="en-ZA" sz="2100" dirty="0">
                <a:latin typeface="Arial" panose="020B0604020202020204" pitchFamily="34" charset="0"/>
                <a:cs typeface="Arial" panose="020B0604020202020204" pitchFamily="34" charset="0"/>
              </a:rPr>
              <a:t>Spotlight on the interaction between clinical providers and the community</a:t>
            </a:r>
          </a:p>
          <a:p>
            <a:r>
              <a:rPr lang="en-ZA" sz="2100" dirty="0">
                <a:latin typeface="Arial" panose="020B0604020202020204" pitchFamily="34" charset="0"/>
                <a:cs typeface="Arial" panose="020B0604020202020204" pitchFamily="34" charset="0"/>
              </a:rPr>
              <a:t>The global burden of disease is continually rising </a:t>
            </a:r>
          </a:p>
          <a:p>
            <a:r>
              <a:rPr lang="en-ZA" sz="2100" dirty="0">
                <a:latin typeface="Arial" panose="020B0604020202020204" pitchFamily="34" charset="0"/>
                <a:cs typeface="Arial" panose="020B0604020202020204" pitchFamily="34" charset="0"/>
              </a:rPr>
              <a:t>Noncommunicable diseases account for approximately 75% of deaths globally</a:t>
            </a:r>
          </a:p>
          <a:p>
            <a:r>
              <a:rPr lang="en-ZA" sz="2100" dirty="0">
                <a:latin typeface="Arial" panose="020B0604020202020204" pitchFamily="34" charset="0"/>
                <a:cs typeface="Arial" panose="020B0604020202020204" pitchFamily="34" charset="0"/>
              </a:rPr>
              <a:t>Acute and episodic clinical care on its own is no longer enough</a:t>
            </a:r>
          </a:p>
          <a:p>
            <a:r>
              <a:rPr lang="en-ZA" sz="2100" dirty="0">
                <a:latin typeface="Arial" panose="020B0604020202020204" pitchFamily="34" charset="0"/>
                <a:cs typeface="Arial" panose="020B0604020202020204" pitchFamily="34" charset="0"/>
              </a:rPr>
              <a:t>It often addresses disease after onset rather than targeting risk factors and early intervention</a:t>
            </a:r>
          </a:p>
          <a:p>
            <a:r>
              <a:rPr lang="en-ZA" sz="2100" dirty="0">
                <a:latin typeface="Arial" panose="020B0604020202020204" pitchFamily="34" charset="0"/>
                <a:cs typeface="Arial" panose="020B0604020202020204" pitchFamily="34" charset="0"/>
              </a:rPr>
              <a:t> Preventive strategies reduce morbidity, premature mortality, and long-term healthcare costs</a:t>
            </a:r>
          </a:p>
          <a:p>
            <a:r>
              <a:rPr lang="en-ZA" sz="2100" dirty="0">
                <a:latin typeface="Arial" panose="020B0604020202020204" pitchFamily="34" charset="0"/>
                <a:cs typeface="Arial" panose="020B0604020202020204" pitchFamily="34" charset="0"/>
              </a:rPr>
              <a:t>Addressing social determinants of health is essential for sustained health improvement and reduction of inequities</a:t>
            </a:r>
          </a:p>
          <a:p>
            <a:pPr marL="0" indent="0">
              <a:buNone/>
            </a:pPr>
            <a:endParaRPr lang="en-ZA" sz="1800" dirty="0"/>
          </a:p>
          <a:p>
            <a:endParaRPr lang="en-ZA" sz="1800" dirty="0"/>
          </a:p>
        </p:txBody>
      </p:sp>
    </p:spTree>
    <p:extLst>
      <p:ext uri="{BB962C8B-B14F-4D97-AF65-F5344CB8AC3E}">
        <p14:creationId xmlns:p14="http://schemas.microsoft.com/office/powerpoint/2010/main" val="365194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97235-6114-2F04-2C95-28E6F7906C73}"/>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What are community-based preventative strategies</a:t>
            </a:r>
          </a:p>
        </p:txBody>
      </p:sp>
      <p:sp>
        <p:nvSpPr>
          <p:cNvPr id="3" name="Content Placeholder 2">
            <a:extLst>
              <a:ext uri="{FF2B5EF4-FFF2-40B4-BE49-F238E27FC236}">
                <a16:creationId xmlns:a16="http://schemas.microsoft.com/office/drawing/2014/main" id="{71D8B897-0999-6A3C-F9CD-CC435729F7F5}"/>
              </a:ext>
            </a:extLst>
          </p:cNvPr>
          <p:cNvSpPr>
            <a:spLocks noGrp="1"/>
          </p:cNvSpPr>
          <p:nvPr>
            <p:ph idx="1"/>
          </p:nvPr>
        </p:nvSpPr>
        <p:spPr>
          <a:xfrm>
            <a:off x="1141412" y="2249486"/>
            <a:ext cx="9905999" cy="4161145"/>
          </a:xfrm>
        </p:spPr>
        <p:txBody>
          <a:bodyPr>
            <a:normAutofit lnSpcReduction="10000"/>
          </a:bodyPr>
          <a:lstStyle/>
          <a:p>
            <a:r>
              <a:rPr lang="en-ZA" sz="1900" dirty="0">
                <a:latin typeface="Arial" panose="020B0604020202020204" pitchFamily="34" charset="0"/>
                <a:cs typeface="Arial" panose="020B0604020202020204" pitchFamily="34" charset="0"/>
              </a:rPr>
              <a:t>Organised strategies that are delivered outside the traditional clinical settings</a:t>
            </a:r>
          </a:p>
          <a:p>
            <a:r>
              <a:rPr lang="en-ZA" sz="1900" dirty="0">
                <a:latin typeface="Arial" panose="020B0604020202020204" pitchFamily="34" charset="0"/>
                <a:cs typeface="Arial" panose="020B0604020202020204" pitchFamily="34" charset="0"/>
              </a:rPr>
              <a:t> The aim is to target identified risk factors at the household, school, and places of employment</a:t>
            </a:r>
          </a:p>
          <a:p>
            <a:r>
              <a:rPr lang="en-ZA" sz="1900" dirty="0">
                <a:latin typeface="Arial" panose="020B0604020202020204" pitchFamily="34" charset="0"/>
                <a:cs typeface="Arial" panose="020B0604020202020204" pitchFamily="34" charset="0"/>
              </a:rPr>
              <a:t>Focus shifts from treating illness in hospitals to preventing disease where people live and work</a:t>
            </a:r>
          </a:p>
          <a:p>
            <a:r>
              <a:rPr lang="en-ZA" sz="1900" dirty="0">
                <a:latin typeface="Arial" panose="020B0604020202020204" pitchFamily="34" charset="0"/>
                <a:cs typeface="Arial" panose="020B0604020202020204" pitchFamily="34" charset="0"/>
              </a:rPr>
              <a:t>Emphasis on health promotion, disease prevention, and empowering the community</a:t>
            </a:r>
          </a:p>
          <a:p>
            <a:r>
              <a:rPr lang="en-ZA" sz="1900" dirty="0">
                <a:latin typeface="Arial" panose="020B0604020202020204" pitchFamily="34" charset="0"/>
                <a:cs typeface="Arial" panose="020B0604020202020204" pitchFamily="34" charset="0"/>
              </a:rPr>
              <a:t>Promote healthy behaviours</a:t>
            </a:r>
          </a:p>
          <a:p>
            <a:r>
              <a:rPr lang="en-ZA" sz="1900" dirty="0">
                <a:latin typeface="Arial" panose="020B0604020202020204" pitchFamily="34" charset="0"/>
                <a:cs typeface="Arial" panose="020B0604020202020204" pitchFamily="34" charset="0"/>
              </a:rPr>
              <a:t>Prevention of the onset of diseases</a:t>
            </a:r>
          </a:p>
          <a:p>
            <a:r>
              <a:rPr lang="en-ZA" sz="1900" dirty="0">
                <a:latin typeface="Arial" panose="020B0604020202020204" pitchFamily="34" charset="0"/>
                <a:cs typeface="Arial" panose="020B0604020202020204" pitchFamily="34" charset="0"/>
              </a:rPr>
              <a:t>Build local capacity – strengthening families, peer groups, and community health workers </a:t>
            </a:r>
          </a:p>
          <a:p>
            <a:endParaRPr lang="en-ZA" sz="1800" dirty="0"/>
          </a:p>
        </p:txBody>
      </p:sp>
    </p:spTree>
    <p:extLst>
      <p:ext uri="{BB962C8B-B14F-4D97-AF65-F5344CB8AC3E}">
        <p14:creationId xmlns:p14="http://schemas.microsoft.com/office/powerpoint/2010/main" val="428543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F0CA8-50ED-AC04-D5C3-E7FD347A77BA}"/>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Traditional clinical care models</a:t>
            </a:r>
          </a:p>
        </p:txBody>
      </p:sp>
      <p:sp>
        <p:nvSpPr>
          <p:cNvPr id="3" name="Content Placeholder 2">
            <a:extLst>
              <a:ext uri="{FF2B5EF4-FFF2-40B4-BE49-F238E27FC236}">
                <a16:creationId xmlns:a16="http://schemas.microsoft.com/office/drawing/2014/main" id="{27A5A64F-59F0-821F-F7C0-40975C7C8EB5}"/>
              </a:ext>
            </a:extLst>
          </p:cNvPr>
          <p:cNvSpPr>
            <a:spLocks noGrp="1"/>
          </p:cNvSpPr>
          <p:nvPr>
            <p:ph idx="1"/>
          </p:nvPr>
        </p:nvSpPr>
        <p:spPr>
          <a:xfrm>
            <a:off x="1141412" y="2249487"/>
            <a:ext cx="9905999" cy="4475778"/>
          </a:xfrm>
        </p:spPr>
        <p:txBody>
          <a:bodyPr>
            <a:normAutofit fontScale="70000" lnSpcReduction="20000"/>
          </a:bodyPr>
          <a:lstStyle/>
          <a:p>
            <a:r>
              <a:rPr lang="en-ZA" sz="2600" dirty="0">
                <a:latin typeface="Arial" panose="020B0604020202020204" pitchFamily="34" charset="0"/>
                <a:cs typeface="Arial" panose="020B0604020202020204" pitchFamily="34" charset="0"/>
              </a:rPr>
              <a:t>Primarily biomedical and facility-</a:t>
            </a:r>
            <a:r>
              <a:rPr lang="en-ZA" sz="2600" dirty="0" err="1">
                <a:latin typeface="Arial" panose="020B0604020202020204" pitchFamily="34" charset="0"/>
                <a:cs typeface="Arial" panose="020B0604020202020204" pitchFamily="34" charset="0"/>
              </a:rPr>
              <a:t>centered</a:t>
            </a:r>
            <a:r>
              <a:rPr lang="en-ZA" sz="2600" dirty="0">
                <a:latin typeface="Arial" panose="020B0604020202020204" pitchFamily="34" charset="0"/>
                <a:cs typeface="Arial" panose="020B0604020202020204" pitchFamily="34" charset="0"/>
              </a:rPr>
              <a:t> –(</a:t>
            </a:r>
            <a:r>
              <a:rPr lang="en-ZA" sz="2600" dirty="0" err="1">
                <a:latin typeface="Arial" panose="020B0604020202020204" pitchFamily="34" charset="0"/>
                <a:cs typeface="Arial" panose="020B0604020202020204" pitchFamily="34" charset="0"/>
              </a:rPr>
              <a:t>hospicentric</a:t>
            </a:r>
            <a:r>
              <a:rPr lang="en-ZA" sz="2600" dirty="0">
                <a:latin typeface="Arial" panose="020B0604020202020204" pitchFamily="34" charset="0"/>
                <a:cs typeface="Arial" panose="020B0604020202020204" pitchFamily="34" charset="0"/>
              </a:rPr>
              <a:t>)</a:t>
            </a:r>
          </a:p>
          <a:p>
            <a:r>
              <a:rPr lang="en-ZA" sz="2600" dirty="0">
                <a:latin typeface="Arial" panose="020B0604020202020204" pitchFamily="34" charset="0"/>
                <a:cs typeface="Arial" panose="020B0604020202020204" pitchFamily="34" charset="0"/>
              </a:rPr>
              <a:t>Focuses on the management of illnesses after symptoms appear</a:t>
            </a:r>
          </a:p>
          <a:p>
            <a:r>
              <a:rPr lang="en-ZA" sz="2600" dirty="0">
                <a:latin typeface="Arial" panose="020B0604020202020204" pitchFamily="34" charset="0"/>
                <a:cs typeface="Arial" panose="020B0604020202020204" pitchFamily="34" charset="0"/>
              </a:rPr>
              <a:t>Core components include: - Diagnosis, treatment and rehabilitation</a:t>
            </a:r>
          </a:p>
          <a:p>
            <a:pPr marL="0" indent="0">
              <a:buNone/>
            </a:pPr>
            <a:r>
              <a:rPr lang="en-ZA" sz="2600" dirty="0">
                <a:latin typeface="Arial" panose="020B0604020202020204" pitchFamily="34" charset="0"/>
                <a:cs typeface="Arial" panose="020B0604020202020204" pitchFamily="34" charset="0"/>
              </a:rPr>
              <a:t>			        - facility-based service delivery</a:t>
            </a:r>
          </a:p>
          <a:p>
            <a:pPr marL="0" indent="0">
              <a:buNone/>
            </a:pPr>
            <a:r>
              <a:rPr lang="en-ZA" sz="2600" dirty="0">
                <a:latin typeface="Arial" panose="020B0604020202020204" pitchFamily="34" charset="0"/>
                <a:cs typeface="Arial" panose="020B0604020202020204" pitchFamily="34" charset="0"/>
              </a:rPr>
              <a:t>			    - episodic care and reactive system</a:t>
            </a:r>
          </a:p>
          <a:p>
            <a:pPr marL="0" indent="0">
              <a:buNone/>
            </a:pPr>
            <a:r>
              <a:rPr lang="en-ZA" sz="2600" b="1" dirty="0">
                <a:latin typeface="Arial" panose="020B0604020202020204" pitchFamily="34" charset="0"/>
                <a:cs typeface="Arial" panose="020B0604020202020204" pitchFamily="34" charset="0"/>
              </a:rPr>
              <a:t>Limitations</a:t>
            </a:r>
            <a:r>
              <a:rPr lang="en-ZA" sz="2600" dirty="0">
                <a:latin typeface="Arial" panose="020B0604020202020204" pitchFamily="34" charset="0"/>
                <a:cs typeface="Arial" panose="020B0604020202020204" pitchFamily="34" charset="0"/>
              </a:rPr>
              <a:t> </a:t>
            </a:r>
          </a:p>
          <a:p>
            <a:r>
              <a:rPr lang="en-ZA" sz="2600" dirty="0">
                <a:latin typeface="Arial" panose="020B0604020202020204" pitchFamily="34" charset="0"/>
                <a:cs typeface="Arial" panose="020B0604020202020204" pitchFamily="34" charset="0"/>
              </a:rPr>
              <a:t>Less emphasis on early prevention and health promotion</a:t>
            </a:r>
          </a:p>
          <a:p>
            <a:r>
              <a:rPr lang="en-ZA" sz="2600" dirty="0">
                <a:latin typeface="Arial" panose="020B0604020202020204" pitchFamily="34" charset="0"/>
                <a:cs typeface="Arial" panose="020B0604020202020204" pitchFamily="34" charset="0"/>
              </a:rPr>
              <a:t>Limited community engagement and outreach</a:t>
            </a:r>
          </a:p>
          <a:p>
            <a:r>
              <a:rPr lang="en-ZA" sz="2600" dirty="0">
                <a:latin typeface="Arial" panose="020B0604020202020204" pitchFamily="34" charset="0"/>
                <a:cs typeface="Arial" panose="020B0604020202020204" pitchFamily="34" charset="0"/>
              </a:rPr>
              <a:t>Poor integration of social determinants of health (SDOH)</a:t>
            </a:r>
          </a:p>
          <a:p>
            <a:r>
              <a:rPr lang="en-ZA" sz="2600" dirty="0">
                <a:latin typeface="Arial" panose="020B0604020202020204" pitchFamily="34" charset="0"/>
                <a:cs typeface="Arial" panose="020B0604020202020204" pitchFamily="34" charset="0"/>
              </a:rPr>
              <a:t>Fragmented continuity of care for chronic conditions</a:t>
            </a:r>
          </a:p>
          <a:p>
            <a:r>
              <a:rPr lang="en-ZA" sz="2600" dirty="0">
                <a:latin typeface="Arial" panose="020B0604020202020204" pitchFamily="34" charset="0"/>
                <a:cs typeface="Arial" panose="020B0604020202020204" pitchFamily="34" charset="0"/>
              </a:rPr>
              <a:t>Reduced focus on population-level wellness</a:t>
            </a:r>
          </a:p>
          <a:p>
            <a:endParaRPr lang="en-ZA" sz="1800" dirty="0"/>
          </a:p>
        </p:txBody>
      </p:sp>
    </p:spTree>
    <p:extLst>
      <p:ext uri="{BB962C8B-B14F-4D97-AF65-F5344CB8AC3E}">
        <p14:creationId xmlns:p14="http://schemas.microsoft.com/office/powerpoint/2010/main" val="128952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DAC1A-93F9-12A8-F527-CAEA3AE91A6A}"/>
              </a:ext>
            </a:extLst>
          </p:cNvPr>
          <p:cNvSpPr>
            <a:spLocks noGrp="1"/>
          </p:cNvSpPr>
          <p:nvPr>
            <p:ph type="title"/>
          </p:nvPr>
        </p:nvSpPr>
        <p:spPr>
          <a:xfrm>
            <a:off x="1141413" y="152402"/>
            <a:ext cx="9905998" cy="1273276"/>
          </a:xfrm>
        </p:spPr>
        <p:txBody>
          <a:bodyPr>
            <a:normAutofit/>
          </a:bodyPr>
          <a:lstStyle/>
          <a:p>
            <a:r>
              <a:rPr lang="en-ZA" sz="3200" dirty="0">
                <a:latin typeface="Arial" panose="020B0604020202020204" pitchFamily="34" charset="0"/>
                <a:cs typeface="Arial" panose="020B0604020202020204" pitchFamily="34" charset="0"/>
              </a:rPr>
              <a:t>Reason to integrate</a:t>
            </a:r>
          </a:p>
        </p:txBody>
      </p:sp>
      <p:sp>
        <p:nvSpPr>
          <p:cNvPr id="3" name="Content Placeholder 2">
            <a:extLst>
              <a:ext uri="{FF2B5EF4-FFF2-40B4-BE49-F238E27FC236}">
                <a16:creationId xmlns:a16="http://schemas.microsoft.com/office/drawing/2014/main" id="{2AAAAF2E-D0CE-653A-58F7-4CBE7543B7D5}"/>
              </a:ext>
            </a:extLst>
          </p:cNvPr>
          <p:cNvSpPr>
            <a:spLocks noGrp="1"/>
          </p:cNvSpPr>
          <p:nvPr>
            <p:ph idx="1"/>
          </p:nvPr>
        </p:nvSpPr>
        <p:spPr>
          <a:xfrm>
            <a:off x="1141412" y="1612490"/>
            <a:ext cx="9905999" cy="5093109"/>
          </a:xfrm>
        </p:spPr>
        <p:txBody>
          <a:bodyPr>
            <a:normAutofit fontScale="77500" lnSpcReduction="20000"/>
          </a:bodyPr>
          <a:lstStyle/>
          <a:p>
            <a:r>
              <a:rPr lang="en-ZA" sz="2600" dirty="0">
                <a:latin typeface="Arial" panose="020B0604020202020204" pitchFamily="34" charset="0"/>
                <a:cs typeface="Arial" panose="020B0604020202020204" pitchFamily="34" charset="0"/>
              </a:rPr>
              <a:t>Integrating community-based preventative strategies into clinical care creates:</a:t>
            </a:r>
          </a:p>
          <a:p>
            <a:pPr>
              <a:buFont typeface="Wingdings" panose="05000000000000000000" pitchFamily="2" charset="2"/>
              <a:buChar char="Ø"/>
            </a:pPr>
            <a:r>
              <a:rPr lang="en-ZA" sz="2600" dirty="0">
                <a:latin typeface="Arial" panose="020B0604020202020204" pitchFamily="34" charset="0"/>
                <a:cs typeface="Arial" panose="020B0604020202020204" pitchFamily="34" charset="0"/>
              </a:rPr>
              <a:t>More proactive</a:t>
            </a:r>
          </a:p>
          <a:p>
            <a:pPr>
              <a:buFont typeface="Wingdings" panose="05000000000000000000" pitchFamily="2" charset="2"/>
              <a:buChar char="Ø"/>
            </a:pPr>
            <a:r>
              <a:rPr lang="en-ZA" sz="2600" dirty="0">
                <a:latin typeface="Arial" panose="020B0604020202020204" pitchFamily="34" charset="0"/>
                <a:cs typeface="Arial" panose="020B0604020202020204" pitchFamily="34" charset="0"/>
              </a:rPr>
              <a:t> Person-</a:t>
            </a:r>
            <a:r>
              <a:rPr lang="en-ZA" sz="2600" dirty="0" err="1">
                <a:latin typeface="Arial" panose="020B0604020202020204" pitchFamily="34" charset="0"/>
                <a:cs typeface="Arial" panose="020B0604020202020204" pitchFamily="34" charset="0"/>
              </a:rPr>
              <a:t>centered</a:t>
            </a:r>
            <a:endParaRPr lang="en-ZA" sz="26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ZA" sz="2600" dirty="0">
                <a:latin typeface="Arial" panose="020B0604020202020204" pitchFamily="34" charset="0"/>
                <a:cs typeface="Arial" panose="020B0604020202020204" pitchFamily="34" charset="0"/>
              </a:rPr>
              <a:t>Equitable health system</a:t>
            </a:r>
          </a:p>
          <a:p>
            <a:r>
              <a:rPr lang="en-ZA" sz="2600" dirty="0">
                <a:latin typeface="Arial" panose="020B0604020202020204" pitchFamily="34" charset="0"/>
                <a:cs typeface="Arial" panose="020B0604020202020204" pitchFamily="34" charset="0"/>
              </a:rPr>
              <a:t>Links medical care with social and community resources</a:t>
            </a:r>
          </a:p>
          <a:p>
            <a:pPr marL="0" indent="0">
              <a:buNone/>
            </a:pPr>
            <a:r>
              <a:rPr lang="en-ZA" sz="2600" b="1" dirty="0">
                <a:latin typeface="Arial" panose="020B0604020202020204" pitchFamily="34" charset="0"/>
                <a:cs typeface="Arial" panose="020B0604020202020204" pitchFamily="34" charset="0"/>
              </a:rPr>
              <a:t>Benefits:</a:t>
            </a:r>
          </a:p>
          <a:p>
            <a:r>
              <a:rPr lang="en-ZA" sz="2600" dirty="0">
                <a:latin typeface="Arial" panose="020B0604020202020204" pitchFamily="34" charset="0"/>
                <a:cs typeface="Arial" panose="020B0604020202020204" pitchFamily="34" charset="0"/>
              </a:rPr>
              <a:t>Early identification of risk</a:t>
            </a:r>
          </a:p>
          <a:p>
            <a:r>
              <a:rPr lang="en-ZA" sz="2600" dirty="0">
                <a:latin typeface="Arial" panose="020B0604020202020204" pitchFamily="34" charset="0"/>
                <a:cs typeface="Arial" panose="020B0604020202020204" pitchFamily="34" charset="0"/>
              </a:rPr>
              <a:t>Better patient engagement and self-management support</a:t>
            </a:r>
          </a:p>
          <a:p>
            <a:r>
              <a:rPr lang="en-GB" sz="2600" dirty="0">
                <a:latin typeface="Arial" panose="020B0604020202020204" pitchFamily="34" charset="0"/>
                <a:cs typeface="Arial" panose="020B0604020202020204" pitchFamily="34" charset="0"/>
              </a:rPr>
              <a:t>Addressing social determinants of health (SDOH</a:t>
            </a:r>
          </a:p>
          <a:p>
            <a:r>
              <a:rPr lang="en-ZA" sz="2600" dirty="0">
                <a:latin typeface="Arial" panose="020B0604020202020204" pitchFamily="34" charset="0"/>
                <a:cs typeface="Arial" panose="020B0604020202020204" pitchFamily="34" charset="0"/>
              </a:rPr>
              <a:t>Reduced health disparities </a:t>
            </a:r>
          </a:p>
          <a:p>
            <a:r>
              <a:rPr lang="en-ZA" sz="2600" dirty="0">
                <a:latin typeface="Arial" panose="020B0604020202020204" pitchFamily="34" charset="0"/>
                <a:cs typeface="Arial" panose="020B0604020202020204" pitchFamily="34" charset="0"/>
              </a:rPr>
              <a:t>Lower long-term healthcare costs</a:t>
            </a:r>
            <a:br>
              <a:rPr lang="en-ZA" sz="1800" b="1" dirty="0"/>
            </a:br>
            <a:endParaRPr lang="en-ZA" sz="1800" b="1" dirty="0"/>
          </a:p>
          <a:p>
            <a:endParaRPr lang="en-ZA" sz="1800" dirty="0"/>
          </a:p>
        </p:txBody>
      </p:sp>
    </p:spTree>
    <p:extLst>
      <p:ext uri="{BB962C8B-B14F-4D97-AF65-F5344CB8AC3E}">
        <p14:creationId xmlns:p14="http://schemas.microsoft.com/office/powerpoint/2010/main" val="3356788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1EA6-3C6B-DAE6-6DBF-1F1C9FF73F1A}"/>
              </a:ext>
            </a:extLst>
          </p:cNvPr>
          <p:cNvSpPr>
            <a:spLocks noGrp="1"/>
          </p:cNvSpPr>
          <p:nvPr>
            <p:ph type="title"/>
          </p:nvPr>
        </p:nvSpPr>
        <p:spPr>
          <a:xfrm>
            <a:off x="1141413" y="98323"/>
            <a:ext cx="9905998" cy="1189703"/>
          </a:xfrm>
        </p:spPr>
        <p:txBody>
          <a:bodyPr>
            <a:normAutofit/>
          </a:bodyPr>
          <a:lstStyle/>
          <a:p>
            <a:r>
              <a:rPr lang="en-ZA" sz="3200" dirty="0">
                <a:latin typeface="Arial" panose="020B0604020202020204" pitchFamily="34" charset="0"/>
                <a:cs typeface="Arial" panose="020B0604020202020204" pitchFamily="34" charset="0"/>
              </a:rPr>
              <a:t>Framework for integration</a:t>
            </a:r>
          </a:p>
        </p:txBody>
      </p:sp>
      <p:graphicFrame>
        <p:nvGraphicFramePr>
          <p:cNvPr id="4" name="Content Placeholder 3">
            <a:extLst>
              <a:ext uri="{FF2B5EF4-FFF2-40B4-BE49-F238E27FC236}">
                <a16:creationId xmlns:a16="http://schemas.microsoft.com/office/drawing/2014/main" id="{66DBD946-C737-FEE3-AF6E-CF61C08AA621}"/>
              </a:ext>
            </a:extLst>
          </p:cNvPr>
          <p:cNvGraphicFramePr>
            <a:graphicFrameLocks noGrp="1" noChangeAspect="1"/>
          </p:cNvGraphicFramePr>
          <p:nvPr>
            <p:ph idx="1"/>
            <p:extLst>
              <p:ext uri="{D42A27DB-BD31-4B8C-83A1-F6EECF244321}">
                <p14:modId xmlns:p14="http://schemas.microsoft.com/office/powerpoint/2010/main" val="1363579283"/>
              </p:ext>
            </p:extLst>
          </p:nvPr>
        </p:nvGraphicFramePr>
        <p:xfrm>
          <a:off x="3979863" y="1400175"/>
          <a:ext cx="3624262" cy="5235575"/>
        </p:xfrm>
        <a:graphic>
          <a:graphicData uri="http://schemas.openxmlformats.org/presentationml/2006/ole">
            <mc:AlternateContent xmlns:mc="http://schemas.openxmlformats.org/markup-compatibility/2006">
              <mc:Choice xmlns:v="urn:schemas-microsoft-com:vml" Requires="v">
                <p:oleObj name="Acrobat Document" r:id="rId3" imgW="4114800" imgH="5943553" progId="Acrobat.Document.DC">
                  <p:embed/>
                </p:oleObj>
              </mc:Choice>
              <mc:Fallback>
                <p:oleObj name="Acrobat Document" r:id="rId3" imgW="4114800" imgH="5943553" progId="Acrobat.Document.DC">
                  <p:embed/>
                  <p:pic>
                    <p:nvPicPr>
                      <p:cNvPr id="4" name="Content Placeholder 3">
                        <a:extLst>
                          <a:ext uri="{FF2B5EF4-FFF2-40B4-BE49-F238E27FC236}">
                            <a16:creationId xmlns:a16="http://schemas.microsoft.com/office/drawing/2014/main" id="{66DBD946-C737-FEE3-AF6E-CF61C08AA621}"/>
                          </a:ext>
                        </a:extLst>
                      </p:cNvPr>
                      <p:cNvPicPr/>
                      <p:nvPr/>
                    </p:nvPicPr>
                    <p:blipFill>
                      <a:blip r:embed="rId4"/>
                      <a:stretch>
                        <a:fillRect/>
                      </a:stretch>
                    </p:blipFill>
                    <p:spPr>
                      <a:xfrm>
                        <a:off x="3979863" y="1400175"/>
                        <a:ext cx="3624262" cy="5235575"/>
                      </a:xfrm>
                      <a:prstGeom prst="rect">
                        <a:avLst/>
                      </a:prstGeom>
                    </p:spPr>
                  </p:pic>
                </p:oleObj>
              </mc:Fallback>
            </mc:AlternateContent>
          </a:graphicData>
        </a:graphic>
      </p:graphicFrame>
    </p:spTree>
    <p:extLst>
      <p:ext uri="{BB962C8B-B14F-4D97-AF65-F5344CB8AC3E}">
        <p14:creationId xmlns:p14="http://schemas.microsoft.com/office/powerpoint/2010/main" val="1658572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A0AF8-F415-D689-5C4D-1D5B854E8AFE}"/>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Framework for integration</a:t>
            </a:r>
          </a:p>
        </p:txBody>
      </p:sp>
      <p:sp>
        <p:nvSpPr>
          <p:cNvPr id="3" name="Content Placeholder 2">
            <a:extLst>
              <a:ext uri="{FF2B5EF4-FFF2-40B4-BE49-F238E27FC236}">
                <a16:creationId xmlns:a16="http://schemas.microsoft.com/office/drawing/2014/main" id="{507CFB21-EA2A-E1B4-5464-A65AC2FDFB92}"/>
              </a:ext>
            </a:extLst>
          </p:cNvPr>
          <p:cNvSpPr>
            <a:spLocks noGrp="1"/>
          </p:cNvSpPr>
          <p:nvPr>
            <p:ph idx="1"/>
          </p:nvPr>
        </p:nvSpPr>
        <p:spPr/>
        <p:txBody>
          <a:bodyPr>
            <a:normAutofit/>
          </a:bodyPr>
          <a:lstStyle/>
          <a:p>
            <a:r>
              <a:rPr lang="en-ZA" sz="1800" dirty="0">
                <a:latin typeface="Arial" panose="020B0604020202020204" pitchFamily="34" charset="0"/>
                <a:cs typeface="Arial" panose="020B0604020202020204" pitchFamily="34" charset="0"/>
              </a:rPr>
              <a:t>Partnerships – collaboration between the clinics, NGO,s, schools, community organisations, and cultural and faith-based organisations</a:t>
            </a:r>
          </a:p>
          <a:p>
            <a:r>
              <a:rPr lang="en-ZA" sz="1800" dirty="0">
                <a:latin typeface="Arial" panose="020B0604020202020204" pitchFamily="34" charset="0"/>
                <a:cs typeface="Arial" panose="020B0604020202020204" pitchFamily="34" charset="0"/>
              </a:rPr>
              <a:t>Shared data and tracking systems – to support continuity of care</a:t>
            </a:r>
          </a:p>
          <a:p>
            <a:r>
              <a:rPr lang="en-ZA" sz="1800" dirty="0">
                <a:latin typeface="Arial" panose="020B0604020202020204" pitchFamily="34" charset="0"/>
                <a:cs typeface="Arial" panose="020B0604020202020204" pitchFamily="34" charset="0"/>
              </a:rPr>
              <a:t>Training – establishment and training of multidisciplinary teams in prevention, outreach and care coordination</a:t>
            </a:r>
          </a:p>
          <a:p>
            <a:r>
              <a:rPr lang="en-ZA" sz="1800" dirty="0">
                <a:latin typeface="Arial" panose="020B0604020202020204" pitchFamily="34" charset="0"/>
                <a:cs typeface="Arial" panose="020B0604020202020204" pitchFamily="34" charset="0"/>
              </a:rPr>
              <a:t>Finances – sustained financing that targets prevention and not necessarily episodic care</a:t>
            </a:r>
          </a:p>
          <a:p>
            <a:r>
              <a:rPr lang="en-ZA" sz="1800" dirty="0">
                <a:latin typeface="Arial" panose="020B0604020202020204" pitchFamily="34" charset="0"/>
                <a:cs typeface="Arial" panose="020B0604020202020204" pitchFamily="34" charset="0"/>
              </a:rPr>
              <a:t>Policy – national primary healthcare policies that institutionalise integrated people-centred care</a:t>
            </a:r>
          </a:p>
        </p:txBody>
      </p:sp>
    </p:spTree>
    <p:extLst>
      <p:ext uri="{BB962C8B-B14F-4D97-AF65-F5344CB8AC3E}">
        <p14:creationId xmlns:p14="http://schemas.microsoft.com/office/powerpoint/2010/main" val="2513969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582B1-1B77-326F-94C1-509D5832DCF8}"/>
              </a:ext>
            </a:extLst>
          </p:cNvPr>
          <p:cNvSpPr>
            <a:spLocks noGrp="1"/>
          </p:cNvSpPr>
          <p:nvPr>
            <p:ph type="title"/>
          </p:nvPr>
        </p:nvSpPr>
        <p:spPr>
          <a:xfrm>
            <a:off x="1141413" y="0"/>
            <a:ext cx="9905998" cy="1066799"/>
          </a:xfrm>
        </p:spPr>
        <p:txBody>
          <a:bodyPr>
            <a:normAutofit/>
          </a:bodyPr>
          <a:lstStyle/>
          <a:p>
            <a:r>
              <a:rPr lang="en-ZA" sz="3200" dirty="0">
                <a:latin typeface="Arial" panose="020B0604020202020204" pitchFamily="34" charset="0"/>
                <a:cs typeface="Arial" panose="020B0604020202020204" pitchFamily="34" charset="0"/>
              </a:rPr>
              <a:t>Key models of integration</a:t>
            </a:r>
          </a:p>
        </p:txBody>
      </p:sp>
      <p:sp>
        <p:nvSpPr>
          <p:cNvPr id="3" name="Content Placeholder 2">
            <a:extLst>
              <a:ext uri="{FF2B5EF4-FFF2-40B4-BE49-F238E27FC236}">
                <a16:creationId xmlns:a16="http://schemas.microsoft.com/office/drawing/2014/main" id="{96F036EF-60DE-A2D1-D240-622D83E1F0A2}"/>
              </a:ext>
            </a:extLst>
          </p:cNvPr>
          <p:cNvSpPr>
            <a:spLocks noGrp="1"/>
          </p:cNvSpPr>
          <p:nvPr>
            <p:ph idx="1"/>
          </p:nvPr>
        </p:nvSpPr>
        <p:spPr>
          <a:xfrm>
            <a:off x="1141412" y="1066798"/>
            <a:ext cx="9905999" cy="5569975"/>
          </a:xfrm>
        </p:spPr>
        <p:txBody>
          <a:bodyPr>
            <a:noAutofit/>
          </a:bodyPr>
          <a:lstStyle/>
          <a:p>
            <a:r>
              <a:rPr lang="en-GB" sz="1800" dirty="0">
                <a:latin typeface="Arial" panose="020B0604020202020204" pitchFamily="34" charset="0"/>
                <a:cs typeface="Arial" panose="020B0604020202020204" pitchFamily="34" charset="0"/>
              </a:rPr>
              <a:t>Patient-</a:t>
            </a:r>
            <a:r>
              <a:rPr lang="en-GB" sz="1800" dirty="0" err="1">
                <a:latin typeface="Arial" panose="020B0604020202020204" pitchFamily="34" charset="0"/>
                <a:cs typeface="Arial" panose="020B0604020202020204" pitchFamily="34" charset="0"/>
              </a:rPr>
              <a:t>Centered</a:t>
            </a:r>
            <a:r>
              <a:rPr lang="en-GB" sz="1800" dirty="0">
                <a:latin typeface="Arial" panose="020B0604020202020204" pitchFamily="34" charset="0"/>
                <a:cs typeface="Arial" panose="020B0604020202020204" pitchFamily="34" charset="0"/>
              </a:rPr>
              <a:t> Medical Home (PCMH) - A team-based primary care model that delivers comprehensive, coordinated, and continuous care, while connecting patients to community prevention resources, behavioural health services, and social support systems. This model is effective for chronic disease prevention and continuity of care.</a:t>
            </a:r>
          </a:p>
          <a:p>
            <a:r>
              <a:rPr lang="en-GB" sz="1800" dirty="0">
                <a:latin typeface="Arial" panose="020B0604020202020204" pitchFamily="34" charset="0"/>
                <a:cs typeface="Arial" panose="020B0604020202020204" pitchFamily="34" charset="0"/>
              </a:rPr>
              <a:t>Accountable Care Organizations (ACOs) - ACOs are value-based care models that integrate hospitals, clinics, specialists, and community partners to improve population health outcomes, reduce costs, and coordinate preventive care. This model promotes early intervention and incentivizes the reduction of avoidable hospital admissions.</a:t>
            </a:r>
          </a:p>
          <a:p>
            <a:r>
              <a:rPr lang="en-GB" sz="1800" dirty="0">
                <a:latin typeface="Arial" panose="020B0604020202020204" pitchFamily="34" charset="0"/>
                <a:cs typeface="Arial" panose="020B0604020202020204" pitchFamily="34" charset="0"/>
              </a:rPr>
              <a:t>Community Health Teams: These are multidisciplinary teams comprising nurses, social workers, pharmacists, and community health workers who serve as a bridge between clinical services and home and community services. This  strengthens prevention, follow-up, and patient navigation</a:t>
            </a:r>
          </a:p>
          <a:p>
            <a:r>
              <a:rPr lang="en-GB" sz="1800" dirty="0">
                <a:latin typeface="Arial" panose="020B0604020202020204" pitchFamily="34" charset="0"/>
                <a:cs typeface="Arial" panose="020B0604020202020204" pitchFamily="34" charset="0"/>
              </a:rPr>
              <a:t>Social Prescribing: A model in which clinicians refer patients to non-medical community services such as exercise groups, nutrition programs, housing support, peer groups, and social clubs to address SDOH and long-term wellbeing.</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862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ABA1E-5107-6237-8AF3-35C39CF47159}"/>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Strategies in action</a:t>
            </a:r>
          </a:p>
        </p:txBody>
      </p:sp>
      <p:graphicFrame>
        <p:nvGraphicFramePr>
          <p:cNvPr id="4" name="Content Placeholder 3">
            <a:extLst>
              <a:ext uri="{FF2B5EF4-FFF2-40B4-BE49-F238E27FC236}">
                <a16:creationId xmlns:a16="http://schemas.microsoft.com/office/drawing/2014/main" id="{941799CF-765C-B3D6-C266-655218933B2F}"/>
              </a:ext>
            </a:extLst>
          </p:cNvPr>
          <p:cNvGraphicFramePr>
            <a:graphicFrameLocks noGrp="1"/>
          </p:cNvGraphicFramePr>
          <p:nvPr>
            <p:ph idx="1"/>
            <p:extLst>
              <p:ext uri="{D42A27DB-BD31-4B8C-83A1-F6EECF244321}">
                <p14:modId xmlns:p14="http://schemas.microsoft.com/office/powerpoint/2010/main" val="1376513885"/>
              </p:ext>
            </p:extLst>
          </p:nvPr>
        </p:nvGraphicFramePr>
        <p:xfrm>
          <a:off x="1141413" y="2249488"/>
          <a:ext cx="9905997" cy="3662680"/>
        </p:xfrm>
        <a:graphic>
          <a:graphicData uri="http://schemas.openxmlformats.org/drawingml/2006/table">
            <a:tbl>
              <a:tblPr firstRow="1" bandRow="1">
                <a:tableStyleId>{5C22544A-7EE6-4342-B048-85BDC9FD1C3A}</a:tableStyleId>
              </a:tblPr>
              <a:tblGrid>
                <a:gridCol w="3301999">
                  <a:extLst>
                    <a:ext uri="{9D8B030D-6E8A-4147-A177-3AD203B41FA5}">
                      <a16:colId xmlns:a16="http://schemas.microsoft.com/office/drawing/2014/main" val="3547383575"/>
                    </a:ext>
                  </a:extLst>
                </a:gridCol>
                <a:gridCol w="3301999">
                  <a:extLst>
                    <a:ext uri="{9D8B030D-6E8A-4147-A177-3AD203B41FA5}">
                      <a16:colId xmlns:a16="http://schemas.microsoft.com/office/drawing/2014/main" val="388436638"/>
                    </a:ext>
                  </a:extLst>
                </a:gridCol>
                <a:gridCol w="3301999">
                  <a:extLst>
                    <a:ext uri="{9D8B030D-6E8A-4147-A177-3AD203B41FA5}">
                      <a16:colId xmlns:a16="http://schemas.microsoft.com/office/drawing/2014/main" val="2869313156"/>
                    </a:ext>
                  </a:extLst>
                </a:gridCol>
              </a:tblGrid>
              <a:tr h="370840">
                <a:tc>
                  <a:txBody>
                    <a:bodyPr/>
                    <a:lstStyle/>
                    <a:p>
                      <a:r>
                        <a:rPr lang="en-ZA" dirty="0"/>
                        <a:t>Strategy </a:t>
                      </a:r>
                    </a:p>
                  </a:txBody>
                  <a:tcPr marL="86139" marR="86139"/>
                </a:tc>
                <a:tc>
                  <a:txBody>
                    <a:bodyPr/>
                    <a:lstStyle/>
                    <a:p>
                      <a:r>
                        <a:rPr lang="en-ZA" dirty="0"/>
                        <a:t>Function </a:t>
                      </a:r>
                    </a:p>
                  </a:txBody>
                  <a:tcPr marL="86139" marR="86139"/>
                </a:tc>
                <a:tc>
                  <a:txBody>
                    <a:bodyPr/>
                    <a:lstStyle/>
                    <a:p>
                      <a:r>
                        <a:rPr lang="en-ZA" dirty="0"/>
                        <a:t>Clinical benefit </a:t>
                      </a:r>
                    </a:p>
                  </a:txBody>
                  <a:tcPr marL="86139" marR="86139"/>
                </a:tc>
                <a:extLst>
                  <a:ext uri="{0D108BD9-81ED-4DB2-BD59-A6C34878D82A}">
                    <a16:rowId xmlns:a16="http://schemas.microsoft.com/office/drawing/2014/main" val="1617310028"/>
                  </a:ext>
                </a:extLst>
              </a:tr>
              <a:tr h="370840">
                <a:tc>
                  <a:txBody>
                    <a:bodyPr/>
                    <a:lstStyle/>
                    <a:p>
                      <a:r>
                        <a:rPr lang="en-ZA" dirty="0">
                          <a:latin typeface="Arial" panose="020B0604020202020204" pitchFamily="34" charset="0"/>
                          <a:cs typeface="Arial" panose="020B0604020202020204" pitchFamily="34" charset="0"/>
                        </a:rPr>
                        <a:t>Community health workers</a:t>
                      </a:r>
                    </a:p>
                  </a:txBody>
                  <a:tcPr marL="86139" marR="86139"/>
                </a:tc>
                <a:tc>
                  <a:txBody>
                    <a:bodyPr/>
                    <a:lstStyle/>
                    <a:p>
                      <a:r>
                        <a:rPr lang="en-ZA" dirty="0">
                          <a:latin typeface="Arial" panose="020B0604020202020204" pitchFamily="34" charset="0"/>
                          <a:cs typeface="Arial" panose="020B0604020202020204" pitchFamily="34" charset="0"/>
                        </a:rPr>
                        <a:t>Link between households, community, and the primary health care centres.</a:t>
                      </a:r>
                    </a:p>
                  </a:txBody>
                  <a:tcPr marL="86139" marR="86139"/>
                </a:tc>
                <a:tc>
                  <a:txBody>
                    <a:bodyPr/>
                    <a:lstStyle/>
                    <a:p>
                      <a:r>
                        <a:rPr lang="en-ZA" dirty="0">
                          <a:latin typeface="Arial" panose="020B0604020202020204" pitchFamily="34" charset="0"/>
                          <a:cs typeface="Arial" panose="020B0604020202020204" pitchFamily="34" charset="0"/>
                        </a:rPr>
                        <a:t>Improved disease control, reduction in inpatient management, and improved trust in the health system among patients</a:t>
                      </a:r>
                    </a:p>
                  </a:txBody>
                  <a:tcPr marL="86139" marR="86139"/>
                </a:tc>
                <a:extLst>
                  <a:ext uri="{0D108BD9-81ED-4DB2-BD59-A6C34878D82A}">
                    <a16:rowId xmlns:a16="http://schemas.microsoft.com/office/drawing/2014/main" val="4150907051"/>
                  </a:ext>
                </a:extLst>
              </a:tr>
              <a:tr h="370840">
                <a:tc>
                  <a:txBody>
                    <a:bodyPr/>
                    <a:lstStyle/>
                    <a:p>
                      <a:r>
                        <a:rPr lang="en-ZA" dirty="0">
                          <a:latin typeface="Arial" panose="020B0604020202020204" pitchFamily="34" charset="0"/>
                          <a:cs typeface="Arial" panose="020B0604020202020204" pitchFamily="34" charset="0"/>
                        </a:rPr>
                        <a:t>Mobile clinics</a:t>
                      </a:r>
                    </a:p>
                  </a:txBody>
                  <a:tcPr marL="86139" marR="86139"/>
                </a:tc>
                <a:tc>
                  <a:txBody>
                    <a:bodyPr/>
                    <a:lstStyle/>
                    <a:p>
                      <a:r>
                        <a:rPr lang="en-ZA" dirty="0">
                          <a:latin typeface="Arial" panose="020B0604020202020204" pitchFamily="34" charset="0"/>
                          <a:cs typeface="Arial" panose="020B0604020202020204" pitchFamily="34" charset="0"/>
                        </a:rPr>
                        <a:t>Early screening</a:t>
                      </a:r>
                    </a:p>
                  </a:txBody>
                  <a:tcPr marL="86139" marR="86139"/>
                </a:tc>
                <a:tc>
                  <a:txBody>
                    <a:bodyPr/>
                    <a:lstStyle/>
                    <a:p>
                      <a:r>
                        <a:rPr lang="en-ZA" dirty="0">
                          <a:latin typeface="Arial" panose="020B0604020202020204" pitchFamily="34" charset="0"/>
                          <a:cs typeface="Arial" panose="020B0604020202020204" pitchFamily="34" charset="0"/>
                        </a:rPr>
                        <a:t>Increase in screening uptake</a:t>
                      </a:r>
                    </a:p>
                    <a:p>
                      <a:r>
                        <a:rPr lang="en-ZA" dirty="0">
                          <a:latin typeface="Arial" panose="020B0604020202020204" pitchFamily="34" charset="0"/>
                          <a:cs typeface="Arial" panose="020B0604020202020204" pitchFamily="34" charset="0"/>
                        </a:rPr>
                        <a:t>Early referral for treatment</a:t>
                      </a:r>
                    </a:p>
                  </a:txBody>
                  <a:tcPr marL="86139" marR="86139"/>
                </a:tc>
                <a:extLst>
                  <a:ext uri="{0D108BD9-81ED-4DB2-BD59-A6C34878D82A}">
                    <a16:rowId xmlns:a16="http://schemas.microsoft.com/office/drawing/2014/main" val="2560623414"/>
                  </a:ext>
                </a:extLst>
              </a:tr>
              <a:tr h="370840">
                <a:tc>
                  <a:txBody>
                    <a:bodyPr/>
                    <a:lstStyle/>
                    <a:p>
                      <a:r>
                        <a:rPr lang="en-ZA" dirty="0">
                          <a:latin typeface="Arial" panose="020B0604020202020204" pitchFamily="34" charset="0"/>
                          <a:cs typeface="Arial" panose="020B0604020202020204" pitchFamily="34" charset="0"/>
                        </a:rPr>
                        <a:t>Health education workshops</a:t>
                      </a:r>
                    </a:p>
                  </a:txBody>
                  <a:tcPr marL="86139" marR="86139"/>
                </a:tc>
                <a:tc>
                  <a:txBody>
                    <a:bodyPr/>
                    <a:lstStyle/>
                    <a:p>
                      <a:r>
                        <a:rPr lang="en-ZA" dirty="0">
                          <a:latin typeface="Arial" panose="020B0604020202020204" pitchFamily="34" charset="0"/>
                          <a:cs typeface="Arial" panose="020B0604020202020204" pitchFamily="34" charset="0"/>
                        </a:rPr>
                        <a:t>Promotion of lifestyle modification, self-management, and risk awareness for NCD’s</a:t>
                      </a:r>
                    </a:p>
                  </a:txBody>
                  <a:tcPr marL="86139" marR="86139"/>
                </a:tc>
                <a:tc>
                  <a:txBody>
                    <a:bodyPr/>
                    <a:lstStyle/>
                    <a:p>
                      <a:r>
                        <a:rPr lang="en-ZA" dirty="0">
                          <a:latin typeface="Arial" panose="020B0604020202020204" pitchFamily="34" charset="0"/>
                          <a:cs typeface="Arial" panose="020B0604020202020204" pitchFamily="34" charset="0"/>
                        </a:rPr>
                        <a:t>Lifestyle changes</a:t>
                      </a:r>
                    </a:p>
                  </a:txBody>
                  <a:tcPr marL="86139" marR="86139"/>
                </a:tc>
                <a:extLst>
                  <a:ext uri="{0D108BD9-81ED-4DB2-BD59-A6C34878D82A}">
                    <a16:rowId xmlns:a16="http://schemas.microsoft.com/office/drawing/2014/main" val="267084919"/>
                  </a:ext>
                </a:extLst>
              </a:tr>
            </a:tbl>
          </a:graphicData>
        </a:graphic>
      </p:graphicFrame>
    </p:spTree>
    <p:extLst>
      <p:ext uri="{BB962C8B-B14F-4D97-AF65-F5344CB8AC3E}">
        <p14:creationId xmlns:p14="http://schemas.microsoft.com/office/powerpoint/2010/main" val="1447121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EC8CE-147E-CDA4-FC7C-5BCC04B7B0F8}"/>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Strategies in action</a:t>
            </a:r>
          </a:p>
        </p:txBody>
      </p:sp>
      <p:sp>
        <p:nvSpPr>
          <p:cNvPr id="3" name="Content Placeholder 2">
            <a:extLst>
              <a:ext uri="{FF2B5EF4-FFF2-40B4-BE49-F238E27FC236}">
                <a16:creationId xmlns:a16="http://schemas.microsoft.com/office/drawing/2014/main" id="{1F7CA80C-7127-8DBB-BD42-5C73103228CC}"/>
              </a:ext>
            </a:extLst>
          </p:cNvPr>
          <p:cNvSpPr>
            <a:spLocks noGrp="1"/>
          </p:cNvSpPr>
          <p:nvPr>
            <p:ph idx="1"/>
          </p:nvPr>
        </p:nvSpPr>
        <p:spPr>
          <a:xfrm>
            <a:off x="1141412" y="2249486"/>
            <a:ext cx="9905999" cy="3989995"/>
          </a:xfrm>
        </p:spPr>
        <p:txBody>
          <a:bodyPr>
            <a:normAutofit/>
          </a:bodyPr>
          <a:lstStyle/>
          <a:p>
            <a:pPr marL="0" indent="0">
              <a:buNone/>
            </a:pPr>
            <a:r>
              <a:rPr lang="en-ZA" sz="1800" b="1" dirty="0">
                <a:latin typeface="Arial" panose="020B0604020202020204" pitchFamily="34" charset="0"/>
                <a:cs typeface="Arial" panose="020B0604020202020204" pitchFamily="34" charset="0"/>
              </a:rPr>
              <a:t>Impact on clinical integration</a:t>
            </a:r>
          </a:p>
          <a:p>
            <a:r>
              <a:rPr lang="en-GB" sz="1800" dirty="0">
                <a:latin typeface="Arial" panose="020B0604020202020204" pitchFamily="34" charset="0"/>
                <a:cs typeface="Arial" panose="020B0604020202020204" pitchFamily="34" charset="0"/>
              </a:rPr>
              <a:t>Improving early risk detection</a:t>
            </a:r>
          </a:p>
          <a:p>
            <a:r>
              <a:rPr lang="en-GB" sz="1800" dirty="0">
                <a:latin typeface="Arial" panose="020B0604020202020204" pitchFamily="34" charset="0"/>
                <a:cs typeface="Arial" panose="020B0604020202020204" pitchFamily="34" charset="0"/>
              </a:rPr>
              <a:t>Increasing referral completion</a:t>
            </a:r>
          </a:p>
          <a:p>
            <a:r>
              <a:rPr lang="en-GB" sz="1800" dirty="0">
                <a:latin typeface="Arial" panose="020B0604020202020204" pitchFamily="34" charset="0"/>
                <a:cs typeface="Arial" panose="020B0604020202020204" pitchFamily="34" charset="0"/>
              </a:rPr>
              <a:t>Supporting self-management and adherence</a:t>
            </a:r>
          </a:p>
          <a:p>
            <a:r>
              <a:rPr lang="en-GB" sz="1800" dirty="0">
                <a:latin typeface="Arial" panose="020B0604020202020204" pitchFamily="34" charset="0"/>
                <a:cs typeface="Arial" panose="020B0604020202020204" pitchFamily="34" charset="0"/>
              </a:rPr>
              <a:t>Reducing preventable admissions</a:t>
            </a:r>
          </a:p>
          <a:p>
            <a:r>
              <a:rPr lang="en-GB" sz="1800" dirty="0">
                <a:latin typeface="Arial" panose="020B0604020202020204" pitchFamily="34" charset="0"/>
                <a:cs typeface="Arial" panose="020B0604020202020204" pitchFamily="34" charset="0"/>
              </a:rPr>
              <a:t>Enhancing continuity between community and facility care</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2175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46258-A912-1A96-EC87-C3E6E502EC3A}"/>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Barriers to integration</a:t>
            </a:r>
          </a:p>
        </p:txBody>
      </p:sp>
      <p:sp>
        <p:nvSpPr>
          <p:cNvPr id="3" name="Content Placeholder 2">
            <a:extLst>
              <a:ext uri="{FF2B5EF4-FFF2-40B4-BE49-F238E27FC236}">
                <a16:creationId xmlns:a16="http://schemas.microsoft.com/office/drawing/2014/main" id="{923E8A53-879F-1346-E90D-91B289B40E4F}"/>
              </a:ext>
            </a:extLst>
          </p:cNvPr>
          <p:cNvSpPr>
            <a:spLocks noGrp="1"/>
          </p:cNvSpPr>
          <p:nvPr>
            <p:ph idx="1"/>
          </p:nvPr>
        </p:nvSpPr>
        <p:spPr>
          <a:xfrm>
            <a:off x="1141412" y="2249486"/>
            <a:ext cx="9905999" cy="4446281"/>
          </a:xfrm>
        </p:spPr>
        <p:txBody>
          <a:bodyPr>
            <a:noAutofit/>
          </a:bodyPr>
          <a:lstStyle/>
          <a:p>
            <a:r>
              <a:rPr lang="en-GB" sz="1800" dirty="0">
                <a:latin typeface="Arial" panose="020B0604020202020204" pitchFamily="34" charset="0"/>
                <a:cs typeface="Arial" panose="020B0604020202020204" pitchFamily="34" charset="0"/>
              </a:rPr>
              <a:t>Fragmented systems — poor coordination between hospitals, primary care, public health, and community organizations leads to duplicated services and weak referral pathways</a:t>
            </a:r>
          </a:p>
          <a:p>
            <a:r>
              <a:rPr lang="en-GB" sz="1800" dirty="0">
                <a:latin typeface="Arial" panose="020B0604020202020204" pitchFamily="34" charset="0"/>
                <a:cs typeface="Arial" panose="020B0604020202020204" pitchFamily="34" charset="0"/>
              </a:rPr>
              <a:t>Funding limitations — short-term grants, lack of reimbursement for prevention, and insecure financing threaten the sustainability of community-based programs.</a:t>
            </a:r>
          </a:p>
          <a:p>
            <a:r>
              <a:rPr lang="en-GB" sz="1800" dirty="0">
                <a:latin typeface="Arial" panose="020B0604020202020204" pitchFamily="34" charset="0"/>
                <a:cs typeface="Arial" panose="020B0604020202020204" pitchFamily="34" charset="0"/>
              </a:rPr>
              <a:t>Data-sharing constraints — non-interoperable health information systems, privacy concerns, and weak feedback loops limit continuity of care and outcome monitoring.</a:t>
            </a:r>
          </a:p>
          <a:p>
            <a:r>
              <a:rPr lang="en-GB" sz="1800" dirty="0">
                <a:latin typeface="Arial" panose="020B0604020202020204" pitchFamily="34" charset="0"/>
                <a:cs typeface="Arial" panose="020B0604020202020204" pitchFamily="34" charset="0"/>
              </a:rPr>
              <a:t>Staff shortages — insufficient numbers of trained clinicians, community health workers, and social care staff contribute to burnout and weak service coverage.</a:t>
            </a:r>
          </a:p>
          <a:p>
            <a:r>
              <a:rPr lang="en-GB" sz="1800" dirty="0">
                <a:latin typeface="Arial" panose="020B0604020202020204" pitchFamily="34" charset="0"/>
                <a:cs typeface="Arial" panose="020B0604020202020204" pitchFamily="34" charset="0"/>
              </a:rPr>
              <a:t>Cultural barriers — mistrust, low health literacy, stigma, language barriers, and differing beliefs about illness may reduce uptake of preventive services.</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7363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B368E-0978-414C-EE7F-F9A30E7756BF}"/>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Solutions </a:t>
            </a:r>
          </a:p>
        </p:txBody>
      </p:sp>
      <p:sp>
        <p:nvSpPr>
          <p:cNvPr id="3" name="Content Placeholder 2">
            <a:extLst>
              <a:ext uri="{FF2B5EF4-FFF2-40B4-BE49-F238E27FC236}">
                <a16:creationId xmlns:a16="http://schemas.microsoft.com/office/drawing/2014/main" id="{8F283DF6-A198-A3F7-28ED-CEC4418EA985}"/>
              </a:ext>
            </a:extLst>
          </p:cNvPr>
          <p:cNvSpPr>
            <a:spLocks noGrp="1"/>
          </p:cNvSpPr>
          <p:nvPr>
            <p:ph idx="1"/>
          </p:nvPr>
        </p:nvSpPr>
        <p:spPr>
          <a:xfrm>
            <a:off x="1141412" y="2249486"/>
            <a:ext cx="9905999" cy="4465945"/>
          </a:xfrm>
        </p:spPr>
        <p:txBody>
          <a:bodyPr>
            <a:noAutofit/>
          </a:bodyPr>
          <a:lstStyle/>
          <a:p>
            <a:r>
              <a:rPr lang="en-GB" sz="1800" dirty="0">
                <a:latin typeface="Arial" panose="020B0604020202020204" pitchFamily="34" charset="0"/>
                <a:cs typeface="Arial" panose="020B0604020202020204" pitchFamily="34" charset="0"/>
              </a:rPr>
              <a:t>Multi-sector collaboration — partnerships across healthcare, public health, education, social services, NGOs, and community leaders improve coordination and shared accountability.</a:t>
            </a:r>
          </a:p>
          <a:p>
            <a:r>
              <a:rPr lang="en-GB" sz="1800" dirty="0">
                <a:latin typeface="Arial" panose="020B0604020202020204" pitchFamily="34" charset="0"/>
                <a:cs typeface="Arial" panose="020B0604020202020204" pitchFamily="34" charset="0"/>
              </a:rPr>
              <a:t>Value-based payment models — reimbursement systems that reward prevention, continuity, and outcomes rather than episodic treatment improve sustainability.</a:t>
            </a:r>
          </a:p>
          <a:p>
            <a:r>
              <a:rPr lang="en-GB" sz="1800" dirty="0">
                <a:latin typeface="Arial" panose="020B0604020202020204" pitchFamily="34" charset="0"/>
                <a:cs typeface="Arial" panose="020B0604020202020204" pitchFamily="34" charset="0"/>
              </a:rPr>
              <a:t>Shared health IT platforms — interoperable electronic health records, referral dashboards, and population health tools improve data continuity and evaluation.</a:t>
            </a:r>
          </a:p>
          <a:p>
            <a:r>
              <a:rPr lang="en-GB" sz="1800" dirty="0">
                <a:latin typeface="Arial" panose="020B0604020202020204" pitchFamily="34" charset="0"/>
                <a:cs typeface="Arial" panose="020B0604020202020204" pitchFamily="34" charset="0"/>
              </a:rPr>
              <a:t>Training and workforce support — continuous professional development, CHW integration, task-sharing, and interprofessional education strengthen delivery capacity.</a:t>
            </a:r>
          </a:p>
          <a:p>
            <a:r>
              <a:rPr lang="en-GB" sz="1800" dirty="0">
                <a:latin typeface="Arial" panose="020B0604020202020204" pitchFamily="34" charset="0"/>
                <a:cs typeface="Arial" panose="020B0604020202020204" pitchFamily="34" charset="0"/>
              </a:rPr>
              <a:t>Policy incentives — supportive governance, national PHC reforms, financing mandates, and community health policies institutionalize integration.</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11561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2E9A-C2D7-9030-78F4-38B8919090F4}"/>
              </a:ext>
            </a:extLst>
          </p:cNvPr>
          <p:cNvSpPr>
            <a:spLocks noGrp="1"/>
          </p:cNvSpPr>
          <p:nvPr>
            <p:ph type="title"/>
          </p:nvPr>
        </p:nvSpPr>
        <p:spPr>
          <a:xfrm>
            <a:off x="1141413" y="167148"/>
            <a:ext cx="9905998" cy="1120878"/>
          </a:xfrm>
        </p:spPr>
        <p:txBody>
          <a:bodyPr>
            <a:normAutofit/>
          </a:bodyPr>
          <a:lstStyle/>
          <a:p>
            <a:r>
              <a:rPr lang="en-ZA" sz="3200" dirty="0">
                <a:latin typeface="Arial" panose="020B0604020202020204" pitchFamily="34" charset="0"/>
                <a:cs typeface="Arial" panose="020B0604020202020204" pitchFamily="34" charset="0"/>
              </a:rPr>
              <a:t>Policy and funding</a:t>
            </a:r>
          </a:p>
        </p:txBody>
      </p:sp>
      <p:sp>
        <p:nvSpPr>
          <p:cNvPr id="3" name="Content Placeholder 2">
            <a:extLst>
              <a:ext uri="{FF2B5EF4-FFF2-40B4-BE49-F238E27FC236}">
                <a16:creationId xmlns:a16="http://schemas.microsoft.com/office/drawing/2014/main" id="{161E7952-3469-484D-A4F3-3B558B2E0F34}"/>
              </a:ext>
            </a:extLst>
          </p:cNvPr>
          <p:cNvSpPr>
            <a:spLocks noGrp="1"/>
          </p:cNvSpPr>
          <p:nvPr>
            <p:ph idx="1"/>
          </p:nvPr>
        </p:nvSpPr>
        <p:spPr>
          <a:xfrm>
            <a:off x="1141412" y="1288026"/>
            <a:ext cx="9905999" cy="5402826"/>
          </a:xfrm>
        </p:spPr>
        <p:txBody>
          <a:bodyPr>
            <a:noAutofit/>
          </a:bodyPr>
          <a:lstStyle/>
          <a:p>
            <a:pPr marL="0" indent="0">
              <a:buNone/>
            </a:pPr>
            <a:r>
              <a:rPr lang="en-ZA" sz="1800" dirty="0">
                <a:latin typeface="Arial" panose="020B0604020202020204" pitchFamily="34" charset="0"/>
                <a:cs typeface="Arial" panose="020B0604020202020204" pitchFamily="34" charset="0"/>
              </a:rPr>
              <a:t>Critical drivers include:</a:t>
            </a:r>
          </a:p>
          <a:p>
            <a:r>
              <a:rPr lang="en-GB" sz="1800" dirty="0">
                <a:latin typeface="Arial" panose="020B0604020202020204" pitchFamily="34" charset="0"/>
                <a:cs typeface="Arial" panose="020B0604020202020204" pitchFamily="34" charset="0"/>
              </a:rPr>
              <a:t>Reimbursement for preventive services — payment systems should reward screening, health education, chronic disease risk reduction, and care coordination rather than only episodic treatment. WHO’s PHC framework specifically highlights purchasing and payment systems as core levers for integrated care.</a:t>
            </a:r>
          </a:p>
          <a:p>
            <a:r>
              <a:rPr lang="en-GB" sz="1800" dirty="0">
                <a:latin typeface="Arial" panose="020B0604020202020204" pitchFamily="34" charset="0"/>
                <a:cs typeface="Arial" panose="020B0604020202020204" pitchFamily="34" charset="0"/>
              </a:rPr>
              <a:t>Support for Community Health Workers  — dedicated financing, formal role recognition, supervision, and compensation structures improve workforce retention and strengthen community–clinical linkages</a:t>
            </a:r>
          </a:p>
          <a:p>
            <a:r>
              <a:rPr lang="en-GB" sz="1800" dirty="0">
                <a:latin typeface="Arial" panose="020B0604020202020204" pitchFamily="34" charset="0"/>
                <a:cs typeface="Arial" panose="020B0604020202020204" pitchFamily="34" charset="0"/>
              </a:rPr>
              <a:t> Community grants–clinical initiatives — seed funding, innovation grants, and hospital community-benefit funds help launch partnerships between clinics, NGOs, schools, and local governments.</a:t>
            </a:r>
          </a:p>
          <a:p>
            <a:r>
              <a:rPr lang="en-GB" sz="1800" dirty="0">
                <a:latin typeface="Arial" panose="020B0604020202020204" pitchFamily="34" charset="0"/>
                <a:cs typeface="Arial" panose="020B0604020202020204" pitchFamily="34" charset="0"/>
              </a:rPr>
              <a:t>Health equity frameworks — embedding equity targets, underserved outreach mandates, and “health in all policies” approaches ensure prevention strategies prioritize vulnerable populations.</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0159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FDB39-E821-770C-78FB-BCB3F6D81DAB}"/>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Action steps </a:t>
            </a:r>
          </a:p>
        </p:txBody>
      </p:sp>
      <p:sp>
        <p:nvSpPr>
          <p:cNvPr id="3" name="Content Placeholder 2">
            <a:extLst>
              <a:ext uri="{FF2B5EF4-FFF2-40B4-BE49-F238E27FC236}">
                <a16:creationId xmlns:a16="http://schemas.microsoft.com/office/drawing/2014/main" id="{F0754D77-369B-8725-0773-1213E5BD84C8}"/>
              </a:ext>
            </a:extLst>
          </p:cNvPr>
          <p:cNvSpPr>
            <a:spLocks noGrp="1"/>
          </p:cNvSpPr>
          <p:nvPr>
            <p:ph idx="1"/>
          </p:nvPr>
        </p:nvSpPr>
        <p:spPr/>
        <p:txBody>
          <a:bodyPr>
            <a:normAutofit/>
          </a:bodyPr>
          <a:lstStyle/>
          <a:p>
            <a:pPr marL="0" indent="0">
              <a:buNone/>
            </a:pPr>
            <a:r>
              <a:rPr lang="en-GB" sz="1800" dirty="0">
                <a:latin typeface="Arial" panose="020B0604020202020204" pitchFamily="34" charset="0"/>
                <a:cs typeface="Arial" panose="020B0604020202020204" pitchFamily="34" charset="0"/>
              </a:rPr>
              <a:t>For Providers</a:t>
            </a:r>
          </a:p>
          <a:p>
            <a:r>
              <a:rPr lang="en-GB" sz="1800" dirty="0">
                <a:latin typeface="Arial" panose="020B0604020202020204" pitchFamily="34" charset="0"/>
                <a:cs typeface="Arial" panose="020B0604020202020204" pitchFamily="34" charset="0"/>
              </a:rPr>
              <a:t> Conduct community needs assessments</a:t>
            </a:r>
          </a:p>
          <a:p>
            <a:r>
              <a:rPr lang="en-GB" sz="1800" dirty="0">
                <a:latin typeface="Arial" panose="020B0604020202020204" pitchFamily="34" charset="0"/>
                <a:cs typeface="Arial" panose="020B0604020202020204" pitchFamily="34" charset="0"/>
              </a:rPr>
              <a:t> Build partnerships with local organizations</a:t>
            </a:r>
          </a:p>
          <a:p>
            <a:r>
              <a:rPr lang="en-GB" sz="1800" dirty="0">
                <a:latin typeface="Arial" panose="020B0604020202020204" pitchFamily="34" charset="0"/>
                <a:cs typeface="Arial" panose="020B0604020202020204" pitchFamily="34" charset="0"/>
              </a:rPr>
              <a:t> Embed prevention in care plans</a:t>
            </a:r>
          </a:p>
          <a:p>
            <a:r>
              <a:rPr lang="en-GB" sz="1800" dirty="0">
                <a:latin typeface="Arial" panose="020B0604020202020204" pitchFamily="34" charset="0"/>
                <a:cs typeface="Arial" panose="020B0604020202020204" pitchFamily="34" charset="0"/>
              </a:rPr>
              <a:t> Track outcomes and adjust strategies</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0762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B0DD5-CD53-38FD-2C86-B46234E598DA}"/>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B45FBCFC-755D-943A-150C-5D0242D9471D}"/>
              </a:ext>
            </a:extLst>
          </p:cNvPr>
          <p:cNvSpPr>
            <a:spLocks noGrp="1"/>
          </p:cNvSpPr>
          <p:nvPr>
            <p:ph idx="1"/>
          </p:nvPr>
        </p:nvSpPr>
        <p:spPr/>
        <p:txBody>
          <a:bodyPr>
            <a:normAutofit/>
          </a:bodyPr>
          <a:lstStyle/>
          <a:p>
            <a:pPr marL="0" indent="0">
              <a:buNone/>
            </a:pPr>
            <a:r>
              <a:rPr lang="en-ZA" sz="1800" dirty="0">
                <a:latin typeface="Arial" panose="020B0604020202020204" pitchFamily="34" charset="0"/>
                <a:cs typeface="Arial" panose="020B0604020202020204" pitchFamily="34" charset="0"/>
              </a:rPr>
              <a:t>Takeaway message</a:t>
            </a:r>
          </a:p>
          <a:p>
            <a:r>
              <a:rPr lang="en-GB" sz="1800" dirty="0">
                <a:latin typeface="Arial" panose="020B0604020202020204" pitchFamily="34" charset="0"/>
                <a:cs typeface="Arial" panose="020B0604020202020204" pitchFamily="34" charset="0"/>
              </a:rPr>
              <a:t>Integrating community-based preventative strategies into clinical care:</a:t>
            </a:r>
          </a:p>
          <a:p>
            <a:r>
              <a:rPr lang="en-GB" sz="1800" dirty="0">
                <a:latin typeface="Arial" panose="020B0604020202020204" pitchFamily="34" charset="0"/>
                <a:cs typeface="Arial" panose="020B0604020202020204" pitchFamily="34" charset="0"/>
              </a:rPr>
              <a:t>Improves health outcomes</a:t>
            </a:r>
          </a:p>
          <a:p>
            <a:r>
              <a:rPr lang="en-GB" sz="1800" dirty="0">
                <a:latin typeface="Arial" panose="020B0604020202020204" pitchFamily="34" charset="0"/>
                <a:cs typeface="Arial" panose="020B0604020202020204" pitchFamily="34" charset="0"/>
              </a:rPr>
              <a:t>Reduces system costs</a:t>
            </a:r>
          </a:p>
          <a:p>
            <a:r>
              <a:rPr lang="en-GB" sz="1800" dirty="0">
                <a:latin typeface="Arial" panose="020B0604020202020204" pitchFamily="34" charset="0"/>
                <a:cs typeface="Arial" panose="020B0604020202020204" pitchFamily="34" charset="0"/>
              </a:rPr>
              <a:t>Strengthens community partnerships</a:t>
            </a:r>
          </a:p>
          <a:p>
            <a:r>
              <a:rPr lang="en-GB" sz="1800" dirty="0">
                <a:latin typeface="Arial" panose="020B0604020202020204" pitchFamily="34" charset="0"/>
                <a:cs typeface="Arial" panose="020B0604020202020204" pitchFamily="34" charset="0"/>
              </a:rPr>
              <a:t>Addresses root causes of disease</a:t>
            </a:r>
            <a:endParaRPr lang="en-ZA"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8465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6F990-3C89-FCFC-5FAB-9C478F488DB3}"/>
              </a:ext>
            </a:extLst>
          </p:cNvPr>
          <p:cNvSpPr>
            <a:spLocks noGrp="1"/>
          </p:cNvSpPr>
          <p:nvPr>
            <p:ph type="title"/>
          </p:nvPr>
        </p:nvSpPr>
        <p:spPr/>
        <p:txBody>
          <a:bodyPr>
            <a:normAutofit/>
          </a:bodyPr>
          <a:lstStyle/>
          <a:p>
            <a:r>
              <a:rPr lang="en-ZA" sz="3200" dirty="0">
                <a:latin typeface="Arial" panose="020B0604020202020204" pitchFamily="34" charset="0"/>
                <a:cs typeface="Arial" panose="020B0604020202020204" pitchFamily="34" charset="0"/>
              </a:rPr>
              <a:t>References </a:t>
            </a:r>
          </a:p>
        </p:txBody>
      </p:sp>
      <p:sp>
        <p:nvSpPr>
          <p:cNvPr id="3" name="Content Placeholder 2">
            <a:extLst>
              <a:ext uri="{FF2B5EF4-FFF2-40B4-BE49-F238E27FC236}">
                <a16:creationId xmlns:a16="http://schemas.microsoft.com/office/drawing/2014/main" id="{2F350F43-BD14-430F-9460-20BD3A4ABCA4}"/>
              </a:ext>
            </a:extLst>
          </p:cNvPr>
          <p:cNvSpPr>
            <a:spLocks noGrp="1"/>
          </p:cNvSpPr>
          <p:nvPr>
            <p:ph idx="1"/>
          </p:nvPr>
        </p:nvSpPr>
        <p:spPr/>
        <p:txBody>
          <a:bodyPr>
            <a:normAutofit fontScale="85000" lnSpcReduction="20000"/>
          </a:bodyPr>
          <a:lstStyle/>
          <a:p>
            <a:r>
              <a:rPr lang="en-GB" sz="1800" dirty="0"/>
              <a:t>1. Lachance LL, Milanovich ARF, Garrity AN. Clinic and community: the road to integration. Am. J. Prev. Med. 2016; 51(6):1072–8. </a:t>
            </a:r>
          </a:p>
          <a:p>
            <a:r>
              <a:rPr lang="en-GB" sz="1800" dirty="0"/>
              <a:t>2. Restored C. Supporting Communities to Address Social Determinants of Health2024. Available from: https://www.restoredcdc.org/www.cdc.gov/addressing-sdoh-chronic-disease/about/index.html.</a:t>
            </a:r>
          </a:p>
          <a:p>
            <a:r>
              <a:rPr lang="en-GB" sz="1800" dirty="0"/>
              <a:t>3. Organization WH. Noncommunicable diseases2025. Available from: https://www.who.int/news-room/fact-sheets/detail/noncommunicable-diseases.</a:t>
            </a:r>
          </a:p>
          <a:p>
            <a:r>
              <a:rPr lang="en-GB" sz="1800" dirty="0"/>
              <a:t>4. Health </a:t>
            </a:r>
            <a:r>
              <a:rPr lang="en-GB" sz="1800" dirty="0" err="1"/>
              <a:t>BoP</a:t>
            </a:r>
            <a:r>
              <a:rPr lang="en-GB" sz="1800" dirty="0"/>
              <a:t>, Practice PH, Community-Based CoV, Policies N-CP, Strategies W. An integrated framework for assessing the value of community-based prevention. 2012;  </a:t>
            </a:r>
          </a:p>
          <a:p>
            <a:r>
              <a:rPr lang="en-GB" sz="1800" dirty="0"/>
              <a:t>5. Botswana Go. National Guideline </a:t>
            </a:r>
            <a:r>
              <a:rPr lang="en-GB" sz="1800" dirty="0" err="1"/>
              <a:t>fo</a:t>
            </a:r>
            <a:r>
              <a:rPr lang="en-GB" sz="1800" dirty="0"/>
              <a:t> Implementation of Integrated Community-based Health Services. In: Wellness </a:t>
            </a:r>
            <a:r>
              <a:rPr lang="en-GB" sz="1800" dirty="0" err="1"/>
              <a:t>MoHa</a:t>
            </a:r>
            <a:r>
              <a:rPr lang="en-GB" sz="1800" dirty="0"/>
              <a:t>, editor. 2020.</a:t>
            </a:r>
          </a:p>
          <a:p>
            <a:r>
              <a:rPr lang="en-GB" sz="1800" dirty="0"/>
              <a:t>6. Franz BA, Murphy JW. The Patient-</a:t>
            </a:r>
            <a:r>
              <a:rPr lang="en-GB" sz="1800" dirty="0" err="1"/>
              <a:t>Centered</a:t>
            </a:r>
            <a:r>
              <a:rPr lang="en-GB" sz="1800" dirty="0"/>
              <a:t> Medical Home as a Community-based Strategy. Permanente journal. 2017; 21(3) </a:t>
            </a:r>
          </a:p>
          <a:p>
            <a:endParaRPr lang="en-ZA" sz="1800" dirty="0"/>
          </a:p>
        </p:txBody>
      </p:sp>
    </p:spTree>
    <p:extLst>
      <p:ext uri="{BB962C8B-B14F-4D97-AF65-F5344CB8AC3E}">
        <p14:creationId xmlns:p14="http://schemas.microsoft.com/office/powerpoint/2010/main" val="668309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9CA6B-3B5A-4AAC-3971-DAE054B53BC0}"/>
              </a:ext>
            </a:extLst>
          </p:cNvPr>
          <p:cNvSpPr>
            <a:spLocks noGrp="1"/>
          </p:cNvSpPr>
          <p:nvPr>
            <p:ph type="title"/>
          </p:nvPr>
        </p:nvSpPr>
        <p:spPr/>
        <p:txBody>
          <a:bodyPr/>
          <a:lstStyle/>
          <a:p>
            <a:endParaRPr lang="en-ZA"/>
          </a:p>
        </p:txBody>
      </p:sp>
      <p:sp>
        <p:nvSpPr>
          <p:cNvPr id="3" name="Content Placeholder 2">
            <a:extLst>
              <a:ext uri="{FF2B5EF4-FFF2-40B4-BE49-F238E27FC236}">
                <a16:creationId xmlns:a16="http://schemas.microsoft.com/office/drawing/2014/main" id="{EDDF7782-7906-55AB-D68F-22E389CB16D8}"/>
              </a:ext>
            </a:extLst>
          </p:cNvPr>
          <p:cNvSpPr>
            <a:spLocks noGrp="1"/>
          </p:cNvSpPr>
          <p:nvPr>
            <p:ph idx="1"/>
          </p:nvPr>
        </p:nvSpPr>
        <p:spPr/>
        <p:txBody>
          <a:bodyPr/>
          <a:lstStyle/>
          <a:p>
            <a:endParaRPr lang="en-ZA" dirty="0"/>
          </a:p>
          <a:p>
            <a:endParaRPr lang="en-ZA" dirty="0"/>
          </a:p>
          <a:p>
            <a:pPr marL="0" indent="0">
              <a:buNone/>
            </a:pPr>
            <a:endParaRPr lang="en-ZA" dirty="0"/>
          </a:p>
          <a:p>
            <a:pPr marL="3200400" lvl="7" indent="0">
              <a:buNone/>
            </a:pPr>
            <a:r>
              <a:rPr lang="en-ZA" sz="9600" dirty="0">
                <a:latin typeface="Bradley Hand ITC" panose="03070402050302030203" pitchFamily="66" charset="0"/>
              </a:rPr>
              <a:t>Thank you</a:t>
            </a:r>
          </a:p>
        </p:txBody>
      </p:sp>
    </p:spTree>
    <p:extLst>
      <p:ext uri="{BB962C8B-B14F-4D97-AF65-F5344CB8AC3E}">
        <p14:creationId xmlns:p14="http://schemas.microsoft.com/office/powerpoint/2010/main" val="32647438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03f7489-c006-4532-90f3-d1feadc0d1af}" enabled="0" method="" siteId="{003f7489-c006-4532-90f3-d1feadc0d1af}" removed="1"/>
</clbl:labelList>
</file>

<file path=docProps/app.xml><?xml version="1.0" encoding="utf-8"?>
<Properties xmlns="http://schemas.openxmlformats.org/officeDocument/2006/extended-properties" xmlns:vt="http://schemas.openxmlformats.org/officeDocument/2006/docPropsVTypes">
  <Template>TM04033919[[fn=Circuit]]</Template>
  <TotalTime>5741</TotalTime>
  <Words>6061</Words>
  <Application>Microsoft Office PowerPoint</Application>
  <PresentationFormat>Widescreen</PresentationFormat>
  <Paragraphs>248</Paragraphs>
  <Slides>18</Slides>
  <Notes>14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5" baseType="lpstr">
      <vt:lpstr>Aptos</vt:lpstr>
      <vt:lpstr>Arial</vt:lpstr>
      <vt:lpstr>Bradley Hand ITC</vt:lpstr>
      <vt:lpstr>Tw Cen MT</vt:lpstr>
      <vt:lpstr>Wingdings</vt:lpstr>
      <vt:lpstr>Circuit</vt:lpstr>
      <vt:lpstr>Acrobat Document</vt:lpstr>
      <vt:lpstr>Integrating community-based preventative strategies into clinical care models</vt:lpstr>
      <vt:lpstr>Overview </vt:lpstr>
      <vt:lpstr>Why community- based prevention matters</vt:lpstr>
      <vt:lpstr>What are community-based preventative strategies</vt:lpstr>
      <vt:lpstr>Traditional clinical care models</vt:lpstr>
      <vt:lpstr>Reason to integrate</vt:lpstr>
      <vt:lpstr>Framework for integration</vt:lpstr>
      <vt:lpstr>Framework for integration</vt:lpstr>
      <vt:lpstr>Key models of integration</vt:lpstr>
      <vt:lpstr>Strategies in action</vt:lpstr>
      <vt:lpstr>Strategies in action</vt:lpstr>
      <vt:lpstr>Barriers to integration</vt:lpstr>
      <vt:lpstr>Solutions </vt:lpstr>
      <vt:lpstr>Policy and funding</vt:lpstr>
      <vt:lpstr>Action steps </vt:lpstr>
      <vt:lpstr>Summary</vt:lpstr>
      <vt:lpstr>References </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Mamokate, Sereme (GPHealth)</dc:creator>
  <cp:lastModifiedBy>Mamokate, Sereme (GPHealth)</cp:lastModifiedBy>
  <cp:revision>1</cp:revision>
  <dcterms:created xsi:type="dcterms:W3CDTF">2026-03-24T08:56:25Z</dcterms:created>
  <dcterms:modified xsi:type="dcterms:W3CDTF">2026-04-15T18:48:40Z</dcterms:modified>
</cp:coreProperties>
</file>