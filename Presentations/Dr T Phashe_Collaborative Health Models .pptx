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70" r:id="rId4"/>
    <p:sldId id="271" r:id="rId5"/>
    <p:sldId id="272" r:id="rId6"/>
    <p:sldId id="259" r:id="rId7"/>
    <p:sldId id="261" r:id="rId8"/>
    <p:sldId id="273" r:id="rId9"/>
    <p:sldId id="264" r:id="rId10"/>
    <p:sldId id="274" r:id="rId11"/>
    <p:sldId id="268" r:id="rId12"/>
    <p:sldId id="267" r:id="rId13"/>
    <p:sldId id="269" r:id="rId14"/>
    <p:sldId id="27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193"/>
    <a:srgbClr val="929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770"/>
    <p:restoredTop sz="82258"/>
  </p:normalViewPr>
  <p:slideViewPr>
    <p:cSldViewPr snapToGrid="0">
      <p:cViewPr>
        <p:scale>
          <a:sx n="100" d="100"/>
          <a:sy n="100" d="100"/>
        </p:scale>
        <p:origin x="624" y="2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3423C43-2A43-4CEC-B340-8C44EA43A98E}"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340A2D55-A5BB-486B-9422-47CA81BFD38C}">
      <dgm:prSet/>
      <dgm:spPr/>
      <dgm:t>
        <a:bodyPr/>
        <a:lstStyle/>
        <a:p>
          <a:pPr>
            <a:lnSpc>
              <a:spcPct val="100000"/>
            </a:lnSpc>
          </a:pPr>
          <a:r>
            <a:rPr lang="en-US" b="1" dirty="0"/>
            <a:t>Definition</a:t>
          </a:r>
          <a:r>
            <a:rPr lang="en-US" dirty="0"/>
            <a:t>: A structured, coordinated flow of care that begins before disease onset and continues through treatment, recovery, and long-term support</a:t>
          </a:r>
        </a:p>
      </dgm:t>
    </dgm:pt>
    <dgm:pt modelId="{229B5580-BB5B-4151-9ACE-46B18A039CF5}" type="parTrans" cxnId="{9A957B99-875F-4D10-A1D0-3F888362C8F5}">
      <dgm:prSet/>
      <dgm:spPr/>
      <dgm:t>
        <a:bodyPr/>
        <a:lstStyle/>
        <a:p>
          <a:endParaRPr lang="en-US"/>
        </a:p>
      </dgm:t>
    </dgm:pt>
    <dgm:pt modelId="{E01BDE48-061B-4067-A5BC-9883D9194BC2}" type="sibTrans" cxnId="{9A957B99-875F-4D10-A1D0-3F888362C8F5}">
      <dgm:prSet/>
      <dgm:spPr/>
      <dgm:t>
        <a:bodyPr/>
        <a:lstStyle/>
        <a:p>
          <a:endParaRPr lang="en-US"/>
        </a:p>
      </dgm:t>
    </dgm:pt>
    <dgm:pt modelId="{24ADADB4-E8BD-4340-95F2-AAC05FB499E6}">
      <dgm:prSet/>
      <dgm:spPr/>
      <dgm:t>
        <a:bodyPr/>
        <a:lstStyle/>
        <a:p>
          <a:pPr>
            <a:lnSpc>
              <a:spcPct val="100000"/>
            </a:lnSpc>
          </a:pPr>
          <a:r>
            <a:rPr lang="en-US"/>
            <a:t>It spans:</a:t>
          </a:r>
        </a:p>
      </dgm:t>
    </dgm:pt>
    <dgm:pt modelId="{59909734-A115-4F8C-B875-FA0E70488EB4}" type="parTrans" cxnId="{E75964BC-E8F2-4230-BDA6-5997033AFC26}">
      <dgm:prSet/>
      <dgm:spPr/>
      <dgm:t>
        <a:bodyPr/>
        <a:lstStyle/>
        <a:p>
          <a:endParaRPr lang="en-US"/>
        </a:p>
      </dgm:t>
    </dgm:pt>
    <dgm:pt modelId="{011D649A-8313-4C39-8C21-67221F7EBB59}" type="sibTrans" cxnId="{E75964BC-E8F2-4230-BDA6-5997033AFC26}">
      <dgm:prSet/>
      <dgm:spPr/>
      <dgm:t>
        <a:bodyPr/>
        <a:lstStyle/>
        <a:p>
          <a:endParaRPr lang="en-US"/>
        </a:p>
      </dgm:t>
    </dgm:pt>
    <dgm:pt modelId="{8500A8CA-C3AC-4A4D-94DF-715E27164CC4}">
      <dgm:prSet custT="1"/>
      <dgm:spPr/>
      <dgm:t>
        <a:bodyPr/>
        <a:lstStyle/>
        <a:p>
          <a:pPr>
            <a:lnSpc>
              <a:spcPct val="100000"/>
            </a:lnSpc>
            <a:buFont typeface="Courier New" panose="02070309020205020404" pitchFamily="49" charset="0"/>
            <a:buNone/>
          </a:pPr>
          <a:r>
            <a:rPr lang="en-US" sz="1800" dirty="0"/>
            <a:t>- Health promotion and primary prevention</a:t>
          </a:r>
        </a:p>
      </dgm:t>
    </dgm:pt>
    <dgm:pt modelId="{609F18A6-2832-4A92-B389-92E8F6997FAD}" type="parTrans" cxnId="{1BC63906-DAAC-48B7-9FA7-2636D94CF1F3}">
      <dgm:prSet/>
      <dgm:spPr/>
      <dgm:t>
        <a:bodyPr/>
        <a:lstStyle/>
        <a:p>
          <a:endParaRPr lang="en-US"/>
        </a:p>
      </dgm:t>
    </dgm:pt>
    <dgm:pt modelId="{66C5B5A5-519A-4EA7-9018-DB6C46705802}" type="sibTrans" cxnId="{1BC63906-DAAC-48B7-9FA7-2636D94CF1F3}">
      <dgm:prSet/>
      <dgm:spPr/>
      <dgm:t>
        <a:bodyPr/>
        <a:lstStyle/>
        <a:p>
          <a:endParaRPr lang="en-US"/>
        </a:p>
      </dgm:t>
    </dgm:pt>
    <dgm:pt modelId="{1F9A8DA1-0AAD-4EFF-AB59-557088715FBE}">
      <dgm:prSet custT="1"/>
      <dgm:spPr/>
      <dgm:t>
        <a:bodyPr/>
        <a:lstStyle/>
        <a:p>
          <a:pPr>
            <a:lnSpc>
              <a:spcPct val="100000"/>
            </a:lnSpc>
            <a:buFont typeface="Courier New" panose="02070309020205020404" pitchFamily="49" charset="0"/>
            <a:buNone/>
          </a:pPr>
          <a:r>
            <a:rPr lang="en-US" sz="1800" dirty="0"/>
            <a:t>- Clinical management</a:t>
          </a:r>
        </a:p>
      </dgm:t>
    </dgm:pt>
    <dgm:pt modelId="{80EF93C2-A7E3-47C5-BB2F-59ABA2418098}" type="parTrans" cxnId="{D8857506-CD65-4461-9AB0-90671920945E}">
      <dgm:prSet/>
      <dgm:spPr/>
      <dgm:t>
        <a:bodyPr/>
        <a:lstStyle/>
        <a:p>
          <a:endParaRPr lang="en-US"/>
        </a:p>
      </dgm:t>
    </dgm:pt>
    <dgm:pt modelId="{008FE3A0-D860-4A30-B021-10523D8C220D}" type="sibTrans" cxnId="{D8857506-CD65-4461-9AB0-90671920945E}">
      <dgm:prSet/>
      <dgm:spPr/>
      <dgm:t>
        <a:bodyPr/>
        <a:lstStyle/>
        <a:p>
          <a:endParaRPr lang="en-US"/>
        </a:p>
      </dgm:t>
    </dgm:pt>
    <dgm:pt modelId="{DA0ABDD1-B4A7-4AE6-88AA-64EA37912264}">
      <dgm:prSet custT="1"/>
      <dgm:spPr/>
      <dgm:t>
        <a:bodyPr/>
        <a:lstStyle/>
        <a:p>
          <a:pPr>
            <a:lnSpc>
              <a:spcPct val="100000"/>
            </a:lnSpc>
            <a:buFont typeface="Courier New" panose="02070309020205020404" pitchFamily="49" charset="0"/>
            <a:buNone/>
          </a:pPr>
          <a:r>
            <a:rPr lang="en-US" sz="1800" dirty="0"/>
            <a:t>- Rehabilitation and community follow-up</a:t>
          </a:r>
        </a:p>
      </dgm:t>
    </dgm:pt>
    <dgm:pt modelId="{4C58C52E-4F65-4D1E-914F-415FA3F564CC}" type="parTrans" cxnId="{BB49FEE7-C84B-43DC-83D2-FC96D19306FD}">
      <dgm:prSet/>
      <dgm:spPr/>
      <dgm:t>
        <a:bodyPr/>
        <a:lstStyle/>
        <a:p>
          <a:endParaRPr lang="en-US"/>
        </a:p>
      </dgm:t>
    </dgm:pt>
    <dgm:pt modelId="{2514B551-361F-4738-922D-D0D71061F9EA}" type="sibTrans" cxnId="{BB49FEE7-C84B-43DC-83D2-FC96D19306FD}">
      <dgm:prSet/>
      <dgm:spPr/>
      <dgm:t>
        <a:bodyPr/>
        <a:lstStyle/>
        <a:p>
          <a:endParaRPr lang="en-US"/>
        </a:p>
      </dgm:t>
    </dgm:pt>
    <dgm:pt modelId="{897ABC06-B235-497C-88A5-31FC3F44BB67}">
      <dgm:prSet custT="1"/>
      <dgm:spPr/>
      <dgm:t>
        <a:bodyPr/>
        <a:lstStyle/>
        <a:p>
          <a:pPr>
            <a:lnSpc>
              <a:spcPct val="100000"/>
            </a:lnSpc>
            <a:buFont typeface="Courier New" panose="02070309020205020404" pitchFamily="49" charset="0"/>
            <a:buNone/>
          </a:pPr>
          <a:r>
            <a:rPr lang="en-US" sz="1800" dirty="0"/>
            <a:t>- Early detection and diagnosis</a:t>
          </a:r>
        </a:p>
      </dgm:t>
    </dgm:pt>
    <dgm:pt modelId="{F22C3A35-0441-4AD8-9615-2445C998FFF3}" type="parTrans" cxnId="{12C67798-0786-4FDB-8BAC-F188E7F43D15}">
      <dgm:prSet/>
      <dgm:spPr/>
      <dgm:t>
        <a:bodyPr/>
        <a:lstStyle/>
        <a:p>
          <a:endParaRPr lang="en-US"/>
        </a:p>
      </dgm:t>
    </dgm:pt>
    <dgm:pt modelId="{27CF3B86-F58E-4959-A984-54D682311CB6}" type="sibTrans" cxnId="{12C67798-0786-4FDB-8BAC-F188E7F43D15}">
      <dgm:prSet/>
      <dgm:spPr/>
      <dgm:t>
        <a:bodyPr/>
        <a:lstStyle/>
        <a:p>
          <a:endParaRPr lang="en-US"/>
        </a:p>
      </dgm:t>
    </dgm:pt>
    <dgm:pt modelId="{0254DE1F-F3E0-4D42-A0CF-417BF9930945}">
      <dgm:prSet/>
      <dgm:spPr/>
      <dgm:t>
        <a:bodyPr/>
        <a:lstStyle/>
        <a:p>
          <a:pPr>
            <a:lnSpc>
              <a:spcPct val="100000"/>
            </a:lnSpc>
          </a:pPr>
          <a:r>
            <a:rPr lang="en-US" dirty="0"/>
            <a:t>This is not a new program - it is a design logic.</a:t>
          </a:r>
        </a:p>
      </dgm:t>
    </dgm:pt>
    <dgm:pt modelId="{09579234-90A0-495C-BAD3-784B00F8203F}" type="parTrans" cxnId="{6EFFD633-5ABA-4438-9371-B46BA665F10D}">
      <dgm:prSet/>
      <dgm:spPr/>
      <dgm:t>
        <a:bodyPr/>
        <a:lstStyle/>
        <a:p>
          <a:endParaRPr lang="en-US"/>
        </a:p>
      </dgm:t>
    </dgm:pt>
    <dgm:pt modelId="{8C14F690-CAE3-4978-A9FF-ECB4CFC89F1B}" type="sibTrans" cxnId="{6EFFD633-5ABA-4438-9371-B46BA665F10D}">
      <dgm:prSet/>
      <dgm:spPr/>
      <dgm:t>
        <a:bodyPr/>
        <a:lstStyle/>
        <a:p>
          <a:endParaRPr lang="en-US"/>
        </a:p>
      </dgm:t>
    </dgm:pt>
    <dgm:pt modelId="{EDFC355E-ABEA-4181-BBD8-3DDA2A4092B7}" type="pres">
      <dgm:prSet presAssocID="{F3423C43-2A43-4CEC-B340-8C44EA43A98E}" presName="root" presStyleCnt="0">
        <dgm:presLayoutVars>
          <dgm:dir/>
          <dgm:resizeHandles val="exact"/>
        </dgm:presLayoutVars>
      </dgm:prSet>
      <dgm:spPr/>
    </dgm:pt>
    <dgm:pt modelId="{376CCE74-1665-4558-8FB8-F726B1DA0E0C}" type="pres">
      <dgm:prSet presAssocID="{340A2D55-A5BB-486B-9422-47CA81BFD38C}" presName="compNode" presStyleCnt="0"/>
      <dgm:spPr/>
    </dgm:pt>
    <dgm:pt modelId="{2C1B319C-F167-4F54-B14C-8139AE0B7EE5}" type="pres">
      <dgm:prSet presAssocID="{340A2D55-A5BB-486B-9422-47CA81BFD38C}" presName="bgRect" presStyleLbl="bgShp" presStyleIdx="0" presStyleCnt="3"/>
      <dgm:spPr/>
    </dgm:pt>
    <dgm:pt modelId="{EF9EB231-1658-4B05-AE4A-DEB133F12632}" type="pres">
      <dgm:prSet presAssocID="{340A2D55-A5BB-486B-9422-47CA81BFD38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Arrow Circle"/>
        </a:ext>
      </dgm:extLst>
    </dgm:pt>
    <dgm:pt modelId="{013FEFC8-4F4C-4C77-A5DF-870572B6C8F7}" type="pres">
      <dgm:prSet presAssocID="{340A2D55-A5BB-486B-9422-47CA81BFD38C}" presName="spaceRect" presStyleCnt="0"/>
      <dgm:spPr/>
    </dgm:pt>
    <dgm:pt modelId="{C85ED50C-3C57-452E-887F-7A52412F358B}" type="pres">
      <dgm:prSet presAssocID="{340A2D55-A5BB-486B-9422-47CA81BFD38C}" presName="parTx" presStyleLbl="revTx" presStyleIdx="0" presStyleCnt="4">
        <dgm:presLayoutVars>
          <dgm:chMax val="0"/>
          <dgm:chPref val="0"/>
        </dgm:presLayoutVars>
      </dgm:prSet>
      <dgm:spPr/>
    </dgm:pt>
    <dgm:pt modelId="{C6D58129-C135-44D8-B674-6FC11CB4B2A3}" type="pres">
      <dgm:prSet presAssocID="{E01BDE48-061B-4067-A5BC-9883D9194BC2}" presName="sibTrans" presStyleCnt="0"/>
      <dgm:spPr/>
    </dgm:pt>
    <dgm:pt modelId="{D93CEEE8-78BB-4331-857B-C43C7294A605}" type="pres">
      <dgm:prSet presAssocID="{24ADADB4-E8BD-4340-95F2-AAC05FB499E6}" presName="compNode" presStyleCnt="0"/>
      <dgm:spPr/>
    </dgm:pt>
    <dgm:pt modelId="{03C6E747-1C85-43B4-AC3F-F86B31E67508}" type="pres">
      <dgm:prSet presAssocID="{24ADADB4-E8BD-4340-95F2-AAC05FB499E6}" presName="bgRect" presStyleLbl="bgShp" presStyleIdx="1" presStyleCnt="3" custScaleY="150998"/>
      <dgm:spPr/>
    </dgm:pt>
    <dgm:pt modelId="{309EB73C-BD64-4F60-9252-05A0B1DFFF83}" type="pres">
      <dgm:prSet presAssocID="{24ADADB4-E8BD-4340-95F2-AAC05FB499E6}"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Hospital"/>
        </a:ext>
      </dgm:extLst>
    </dgm:pt>
    <dgm:pt modelId="{73399029-B995-4B33-B307-4FC08A3013A9}" type="pres">
      <dgm:prSet presAssocID="{24ADADB4-E8BD-4340-95F2-AAC05FB499E6}" presName="spaceRect" presStyleCnt="0"/>
      <dgm:spPr/>
    </dgm:pt>
    <dgm:pt modelId="{B165302B-AC12-48B3-85A1-EC9BDBD28F91}" type="pres">
      <dgm:prSet presAssocID="{24ADADB4-E8BD-4340-95F2-AAC05FB499E6}" presName="parTx" presStyleLbl="revTx" presStyleIdx="1" presStyleCnt="4">
        <dgm:presLayoutVars>
          <dgm:chMax val="0"/>
          <dgm:chPref val="0"/>
        </dgm:presLayoutVars>
      </dgm:prSet>
      <dgm:spPr/>
    </dgm:pt>
    <dgm:pt modelId="{804BB0A6-16D9-4F07-9E58-87FB2723A542}" type="pres">
      <dgm:prSet presAssocID="{24ADADB4-E8BD-4340-95F2-AAC05FB499E6}" presName="desTx" presStyleLbl="revTx" presStyleIdx="2" presStyleCnt="4" custScaleX="141030" custScaleY="117918" custLinFactNeighborX="-22418" custLinFactNeighborY="-4300">
        <dgm:presLayoutVars/>
      </dgm:prSet>
      <dgm:spPr/>
    </dgm:pt>
    <dgm:pt modelId="{AB6BA711-BF5B-491E-ACA4-3FCB343183C4}" type="pres">
      <dgm:prSet presAssocID="{011D649A-8313-4C39-8C21-67221F7EBB59}" presName="sibTrans" presStyleCnt="0"/>
      <dgm:spPr/>
    </dgm:pt>
    <dgm:pt modelId="{BD88E101-3628-4FD8-936D-F53EEF44DFCE}" type="pres">
      <dgm:prSet presAssocID="{0254DE1F-F3E0-4D42-A0CF-417BF9930945}" presName="compNode" presStyleCnt="0"/>
      <dgm:spPr/>
    </dgm:pt>
    <dgm:pt modelId="{E2FECBE1-F98D-42B5-9CCE-86F364C8E74B}" type="pres">
      <dgm:prSet presAssocID="{0254DE1F-F3E0-4D42-A0CF-417BF9930945}" presName="bgRect" presStyleLbl="bgShp" presStyleIdx="2" presStyleCnt="3" custScaleY="83234"/>
      <dgm:spPr/>
    </dgm:pt>
    <dgm:pt modelId="{3156D69A-DA7C-4778-BC22-97EF338ABDC7}" type="pres">
      <dgm:prSet presAssocID="{0254DE1F-F3E0-4D42-A0CF-417BF993094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Programmer"/>
        </a:ext>
      </dgm:extLst>
    </dgm:pt>
    <dgm:pt modelId="{EDDEFEE6-EABC-4E76-82A5-E8AD49A51A8E}" type="pres">
      <dgm:prSet presAssocID="{0254DE1F-F3E0-4D42-A0CF-417BF9930945}" presName="spaceRect" presStyleCnt="0"/>
      <dgm:spPr/>
    </dgm:pt>
    <dgm:pt modelId="{38B31A44-710C-4879-8572-3C600E17831E}" type="pres">
      <dgm:prSet presAssocID="{0254DE1F-F3E0-4D42-A0CF-417BF9930945}" presName="parTx" presStyleLbl="revTx" presStyleIdx="3" presStyleCnt="4" custScaleY="73712" custLinFactNeighborX="243" custLinFactNeighborY="-1481">
        <dgm:presLayoutVars>
          <dgm:chMax val="0"/>
          <dgm:chPref val="0"/>
        </dgm:presLayoutVars>
      </dgm:prSet>
      <dgm:spPr/>
    </dgm:pt>
  </dgm:ptLst>
  <dgm:cxnLst>
    <dgm:cxn modelId="{1BC63906-DAAC-48B7-9FA7-2636D94CF1F3}" srcId="{24ADADB4-E8BD-4340-95F2-AAC05FB499E6}" destId="{8500A8CA-C3AC-4A4D-94DF-715E27164CC4}" srcOrd="0" destOrd="0" parTransId="{609F18A6-2832-4A92-B389-92E8F6997FAD}" sibTransId="{66C5B5A5-519A-4EA7-9018-DB6C46705802}"/>
    <dgm:cxn modelId="{D8857506-CD65-4461-9AB0-90671920945E}" srcId="{24ADADB4-E8BD-4340-95F2-AAC05FB499E6}" destId="{1F9A8DA1-0AAD-4EFF-AB59-557088715FBE}" srcOrd="1" destOrd="0" parTransId="{80EF93C2-A7E3-47C5-BB2F-59ABA2418098}" sibTransId="{008FE3A0-D860-4A30-B021-10523D8C220D}"/>
    <dgm:cxn modelId="{62F38417-C183-4677-BABC-2AE4EFB3F756}" type="presOf" srcId="{8500A8CA-C3AC-4A4D-94DF-715E27164CC4}" destId="{804BB0A6-16D9-4F07-9E58-87FB2723A542}" srcOrd="0" destOrd="0" presId="urn:microsoft.com/office/officeart/2018/2/layout/IconVerticalSolidList"/>
    <dgm:cxn modelId="{9AD4EC19-97D3-4175-B2C9-42F83E6F8E0B}" type="presOf" srcId="{24ADADB4-E8BD-4340-95F2-AAC05FB499E6}" destId="{B165302B-AC12-48B3-85A1-EC9BDBD28F91}" srcOrd="0" destOrd="0" presId="urn:microsoft.com/office/officeart/2018/2/layout/IconVerticalSolidList"/>
    <dgm:cxn modelId="{6EFFD633-5ABA-4438-9371-B46BA665F10D}" srcId="{F3423C43-2A43-4CEC-B340-8C44EA43A98E}" destId="{0254DE1F-F3E0-4D42-A0CF-417BF9930945}" srcOrd="2" destOrd="0" parTransId="{09579234-90A0-495C-BAD3-784B00F8203F}" sibTransId="{8C14F690-CAE3-4978-A9FF-ECB4CFC89F1B}"/>
    <dgm:cxn modelId="{6E963672-0C55-4BC5-85D6-48728155C654}" type="presOf" srcId="{F3423C43-2A43-4CEC-B340-8C44EA43A98E}" destId="{EDFC355E-ABEA-4181-BBD8-3DDA2A4092B7}" srcOrd="0" destOrd="0" presId="urn:microsoft.com/office/officeart/2018/2/layout/IconVerticalSolidList"/>
    <dgm:cxn modelId="{CB066577-CC2A-493C-B96C-B98C246FBA17}" type="presOf" srcId="{897ABC06-B235-497C-88A5-31FC3F44BB67}" destId="{804BB0A6-16D9-4F07-9E58-87FB2723A542}" srcOrd="0" destOrd="3" presId="urn:microsoft.com/office/officeart/2018/2/layout/IconVerticalSolidList"/>
    <dgm:cxn modelId="{12C67798-0786-4FDB-8BAC-F188E7F43D15}" srcId="{24ADADB4-E8BD-4340-95F2-AAC05FB499E6}" destId="{897ABC06-B235-497C-88A5-31FC3F44BB67}" srcOrd="3" destOrd="0" parTransId="{F22C3A35-0441-4AD8-9615-2445C998FFF3}" sibTransId="{27CF3B86-F58E-4959-A984-54D682311CB6}"/>
    <dgm:cxn modelId="{9A957B99-875F-4D10-A1D0-3F888362C8F5}" srcId="{F3423C43-2A43-4CEC-B340-8C44EA43A98E}" destId="{340A2D55-A5BB-486B-9422-47CA81BFD38C}" srcOrd="0" destOrd="0" parTransId="{229B5580-BB5B-4151-9ACE-46B18A039CF5}" sibTransId="{E01BDE48-061B-4067-A5BC-9883D9194BC2}"/>
    <dgm:cxn modelId="{E99F3EA6-E893-4857-851D-314CEFEDB562}" type="presOf" srcId="{0254DE1F-F3E0-4D42-A0CF-417BF9930945}" destId="{38B31A44-710C-4879-8572-3C600E17831E}" srcOrd="0" destOrd="0" presId="urn:microsoft.com/office/officeart/2018/2/layout/IconVerticalSolidList"/>
    <dgm:cxn modelId="{3D1139B1-C02F-48F9-84C8-FEABCA94844F}" type="presOf" srcId="{340A2D55-A5BB-486B-9422-47CA81BFD38C}" destId="{C85ED50C-3C57-452E-887F-7A52412F358B}" srcOrd="0" destOrd="0" presId="urn:microsoft.com/office/officeart/2018/2/layout/IconVerticalSolidList"/>
    <dgm:cxn modelId="{E75964BC-E8F2-4230-BDA6-5997033AFC26}" srcId="{F3423C43-2A43-4CEC-B340-8C44EA43A98E}" destId="{24ADADB4-E8BD-4340-95F2-AAC05FB499E6}" srcOrd="1" destOrd="0" parTransId="{59909734-A115-4F8C-B875-FA0E70488EB4}" sibTransId="{011D649A-8313-4C39-8C21-67221F7EBB59}"/>
    <dgm:cxn modelId="{213A5FC5-37E9-4B4F-9C3A-1F98EAAF7DC9}" type="presOf" srcId="{1F9A8DA1-0AAD-4EFF-AB59-557088715FBE}" destId="{804BB0A6-16D9-4F07-9E58-87FB2723A542}" srcOrd="0" destOrd="1" presId="urn:microsoft.com/office/officeart/2018/2/layout/IconVerticalSolidList"/>
    <dgm:cxn modelId="{BB49FEE7-C84B-43DC-83D2-FC96D19306FD}" srcId="{24ADADB4-E8BD-4340-95F2-AAC05FB499E6}" destId="{DA0ABDD1-B4A7-4AE6-88AA-64EA37912264}" srcOrd="2" destOrd="0" parTransId="{4C58C52E-4F65-4D1E-914F-415FA3F564CC}" sibTransId="{2514B551-361F-4738-922D-D0D71061F9EA}"/>
    <dgm:cxn modelId="{0EB7A1F5-B887-43DD-A323-01E4648BAA68}" type="presOf" srcId="{DA0ABDD1-B4A7-4AE6-88AA-64EA37912264}" destId="{804BB0A6-16D9-4F07-9E58-87FB2723A542}" srcOrd="0" destOrd="2" presId="urn:microsoft.com/office/officeart/2018/2/layout/IconVerticalSolidList"/>
    <dgm:cxn modelId="{37E81AB9-877B-44B9-A290-136947B7172A}" type="presParOf" srcId="{EDFC355E-ABEA-4181-BBD8-3DDA2A4092B7}" destId="{376CCE74-1665-4558-8FB8-F726B1DA0E0C}" srcOrd="0" destOrd="0" presId="urn:microsoft.com/office/officeart/2018/2/layout/IconVerticalSolidList"/>
    <dgm:cxn modelId="{B4456AB5-57A1-4462-9B38-F36F2BE208E4}" type="presParOf" srcId="{376CCE74-1665-4558-8FB8-F726B1DA0E0C}" destId="{2C1B319C-F167-4F54-B14C-8139AE0B7EE5}" srcOrd="0" destOrd="0" presId="urn:microsoft.com/office/officeart/2018/2/layout/IconVerticalSolidList"/>
    <dgm:cxn modelId="{487764D7-6E8B-4EC4-A2F6-9828DC7920ED}" type="presParOf" srcId="{376CCE74-1665-4558-8FB8-F726B1DA0E0C}" destId="{EF9EB231-1658-4B05-AE4A-DEB133F12632}" srcOrd="1" destOrd="0" presId="urn:microsoft.com/office/officeart/2018/2/layout/IconVerticalSolidList"/>
    <dgm:cxn modelId="{9B84BFD4-2A72-43F1-A670-3B8FE3023C91}" type="presParOf" srcId="{376CCE74-1665-4558-8FB8-F726B1DA0E0C}" destId="{013FEFC8-4F4C-4C77-A5DF-870572B6C8F7}" srcOrd="2" destOrd="0" presId="urn:microsoft.com/office/officeart/2018/2/layout/IconVerticalSolidList"/>
    <dgm:cxn modelId="{E312A2A2-F7B5-4074-8E09-534100A75CB2}" type="presParOf" srcId="{376CCE74-1665-4558-8FB8-F726B1DA0E0C}" destId="{C85ED50C-3C57-452E-887F-7A52412F358B}" srcOrd="3" destOrd="0" presId="urn:microsoft.com/office/officeart/2018/2/layout/IconVerticalSolidList"/>
    <dgm:cxn modelId="{8ACA3011-798D-4B73-A019-3C045EDAB819}" type="presParOf" srcId="{EDFC355E-ABEA-4181-BBD8-3DDA2A4092B7}" destId="{C6D58129-C135-44D8-B674-6FC11CB4B2A3}" srcOrd="1" destOrd="0" presId="urn:microsoft.com/office/officeart/2018/2/layout/IconVerticalSolidList"/>
    <dgm:cxn modelId="{BB567934-B8E3-4AF4-8C15-B3E22CC0E127}" type="presParOf" srcId="{EDFC355E-ABEA-4181-BBD8-3DDA2A4092B7}" destId="{D93CEEE8-78BB-4331-857B-C43C7294A605}" srcOrd="2" destOrd="0" presId="urn:microsoft.com/office/officeart/2018/2/layout/IconVerticalSolidList"/>
    <dgm:cxn modelId="{BB001F62-F702-4D88-BAD4-DA5FF82835A1}" type="presParOf" srcId="{D93CEEE8-78BB-4331-857B-C43C7294A605}" destId="{03C6E747-1C85-43B4-AC3F-F86B31E67508}" srcOrd="0" destOrd="0" presId="urn:microsoft.com/office/officeart/2018/2/layout/IconVerticalSolidList"/>
    <dgm:cxn modelId="{15ACF941-9B04-43BC-AA95-DB9986DEE08E}" type="presParOf" srcId="{D93CEEE8-78BB-4331-857B-C43C7294A605}" destId="{309EB73C-BD64-4F60-9252-05A0B1DFFF83}" srcOrd="1" destOrd="0" presId="urn:microsoft.com/office/officeart/2018/2/layout/IconVerticalSolidList"/>
    <dgm:cxn modelId="{37296514-81DE-4F7E-9803-1CC58CCBB32A}" type="presParOf" srcId="{D93CEEE8-78BB-4331-857B-C43C7294A605}" destId="{73399029-B995-4B33-B307-4FC08A3013A9}" srcOrd="2" destOrd="0" presId="urn:microsoft.com/office/officeart/2018/2/layout/IconVerticalSolidList"/>
    <dgm:cxn modelId="{C277E87F-BD78-4468-9D0F-DC4424FBD356}" type="presParOf" srcId="{D93CEEE8-78BB-4331-857B-C43C7294A605}" destId="{B165302B-AC12-48B3-85A1-EC9BDBD28F91}" srcOrd="3" destOrd="0" presId="urn:microsoft.com/office/officeart/2018/2/layout/IconVerticalSolidList"/>
    <dgm:cxn modelId="{08512025-D5C6-4F35-9793-1EDD2AF57131}" type="presParOf" srcId="{D93CEEE8-78BB-4331-857B-C43C7294A605}" destId="{804BB0A6-16D9-4F07-9E58-87FB2723A542}" srcOrd="4" destOrd="0" presId="urn:microsoft.com/office/officeart/2018/2/layout/IconVerticalSolidList"/>
    <dgm:cxn modelId="{0BE9E221-9537-42C4-9472-8859ED84C61A}" type="presParOf" srcId="{EDFC355E-ABEA-4181-BBD8-3DDA2A4092B7}" destId="{AB6BA711-BF5B-491E-ACA4-3FCB343183C4}" srcOrd="3" destOrd="0" presId="urn:microsoft.com/office/officeart/2018/2/layout/IconVerticalSolidList"/>
    <dgm:cxn modelId="{8DEB3E5A-96DB-46FE-921E-6313E4D0C64B}" type="presParOf" srcId="{EDFC355E-ABEA-4181-BBD8-3DDA2A4092B7}" destId="{BD88E101-3628-4FD8-936D-F53EEF44DFCE}" srcOrd="4" destOrd="0" presId="urn:microsoft.com/office/officeart/2018/2/layout/IconVerticalSolidList"/>
    <dgm:cxn modelId="{E88970D4-2771-4F9C-A9DA-F809D67AB181}" type="presParOf" srcId="{BD88E101-3628-4FD8-936D-F53EEF44DFCE}" destId="{E2FECBE1-F98D-42B5-9CCE-86F364C8E74B}" srcOrd="0" destOrd="0" presId="urn:microsoft.com/office/officeart/2018/2/layout/IconVerticalSolidList"/>
    <dgm:cxn modelId="{845760CA-37A7-4C73-8AAB-EEF3F143090B}" type="presParOf" srcId="{BD88E101-3628-4FD8-936D-F53EEF44DFCE}" destId="{3156D69A-DA7C-4778-BC22-97EF338ABDC7}" srcOrd="1" destOrd="0" presId="urn:microsoft.com/office/officeart/2018/2/layout/IconVerticalSolidList"/>
    <dgm:cxn modelId="{90E15FFC-CF1E-4AB4-B12B-32C421DAF7AA}" type="presParOf" srcId="{BD88E101-3628-4FD8-936D-F53EEF44DFCE}" destId="{EDDEFEE6-EABC-4E76-82A5-E8AD49A51A8E}" srcOrd="2" destOrd="0" presId="urn:microsoft.com/office/officeart/2018/2/layout/IconVerticalSolidList"/>
    <dgm:cxn modelId="{2B198B7E-D50E-4639-9F67-DEA6577C8940}" type="presParOf" srcId="{BD88E101-3628-4FD8-936D-F53EEF44DFCE}" destId="{38B31A44-710C-4879-8572-3C600E17831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D29A842-EA24-431E-96A6-BBF5F60C7CD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34A5D350-D07C-491A-B5D5-075CF5CD35AA}">
      <dgm:prSet/>
      <dgm:spPr/>
      <dgm:t>
        <a:bodyPr/>
        <a:lstStyle/>
        <a:p>
          <a:r>
            <a:rPr lang="en-US"/>
            <a:t>Key enablers:</a:t>
          </a:r>
        </a:p>
      </dgm:t>
    </dgm:pt>
    <dgm:pt modelId="{1FF9BA9A-D405-48A0-8B5C-46D6301391CE}" type="parTrans" cxnId="{28123BDA-8724-48E6-838C-876FD013CF1C}">
      <dgm:prSet/>
      <dgm:spPr/>
      <dgm:t>
        <a:bodyPr/>
        <a:lstStyle/>
        <a:p>
          <a:endParaRPr lang="en-US"/>
        </a:p>
      </dgm:t>
    </dgm:pt>
    <dgm:pt modelId="{5B42925E-C63B-4859-AD5B-8994CA76C145}" type="sibTrans" cxnId="{28123BDA-8724-48E6-838C-876FD013CF1C}">
      <dgm:prSet/>
      <dgm:spPr/>
      <dgm:t>
        <a:bodyPr/>
        <a:lstStyle/>
        <a:p>
          <a:endParaRPr lang="en-US"/>
        </a:p>
      </dgm:t>
    </dgm:pt>
    <dgm:pt modelId="{E7DF3028-803A-4B16-936F-76BF1A1CBFD0}">
      <dgm:prSet/>
      <dgm:spPr/>
      <dgm:t>
        <a:bodyPr/>
        <a:lstStyle/>
        <a:p>
          <a:r>
            <a:rPr lang="en-US" dirty="0"/>
            <a:t>Clear referral protocols</a:t>
          </a:r>
        </a:p>
      </dgm:t>
    </dgm:pt>
    <dgm:pt modelId="{0FE9F091-6E81-422C-B397-DDABE3640051}" type="parTrans" cxnId="{5B374976-9D59-402E-8ADB-E3CE39C03CF9}">
      <dgm:prSet/>
      <dgm:spPr/>
      <dgm:t>
        <a:bodyPr/>
        <a:lstStyle/>
        <a:p>
          <a:endParaRPr lang="en-US"/>
        </a:p>
      </dgm:t>
    </dgm:pt>
    <dgm:pt modelId="{D1D545A1-EB6F-4938-9536-B31DE9449869}" type="sibTrans" cxnId="{5B374976-9D59-402E-8ADB-E3CE39C03CF9}">
      <dgm:prSet/>
      <dgm:spPr/>
      <dgm:t>
        <a:bodyPr/>
        <a:lstStyle/>
        <a:p>
          <a:endParaRPr lang="en-US"/>
        </a:p>
      </dgm:t>
    </dgm:pt>
    <dgm:pt modelId="{F39A39AD-4BC4-4527-9484-D27246CAD890}">
      <dgm:prSet/>
      <dgm:spPr/>
      <dgm:t>
        <a:bodyPr/>
        <a:lstStyle/>
        <a:p>
          <a:r>
            <a:rPr lang="en-US" dirty="0"/>
            <a:t>Integrated data systems</a:t>
          </a:r>
        </a:p>
      </dgm:t>
    </dgm:pt>
    <dgm:pt modelId="{99AD1B99-6388-4333-B498-1FB7D473E4DC}" type="parTrans" cxnId="{06CF2008-F9F5-4F40-8FFA-EC7A2C952E20}">
      <dgm:prSet/>
      <dgm:spPr/>
      <dgm:t>
        <a:bodyPr/>
        <a:lstStyle/>
        <a:p>
          <a:endParaRPr lang="en-US"/>
        </a:p>
      </dgm:t>
    </dgm:pt>
    <dgm:pt modelId="{C625D413-2B72-4643-B0C9-0C9D33914346}" type="sibTrans" cxnId="{06CF2008-F9F5-4F40-8FFA-EC7A2C952E20}">
      <dgm:prSet/>
      <dgm:spPr/>
      <dgm:t>
        <a:bodyPr/>
        <a:lstStyle/>
        <a:p>
          <a:endParaRPr lang="en-US"/>
        </a:p>
      </dgm:t>
    </dgm:pt>
    <dgm:pt modelId="{5D096375-7548-4181-A440-4FAF0DA8F15C}">
      <dgm:prSet/>
      <dgm:spPr/>
      <dgm:t>
        <a:bodyPr/>
        <a:lstStyle/>
        <a:p>
          <a:r>
            <a:rPr lang="en-US" dirty="0"/>
            <a:t>Data should:</a:t>
          </a:r>
        </a:p>
      </dgm:t>
    </dgm:pt>
    <dgm:pt modelId="{7D3AF468-82E8-4CA8-8F02-89612A497080}" type="parTrans" cxnId="{3ACC9FEA-B2F3-45AA-9C28-16838F5738DF}">
      <dgm:prSet/>
      <dgm:spPr/>
      <dgm:t>
        <a:bodyPr/>
        <a:lstStyle/>
        <a:p>
          <a:endParaRPr lang="en-US"/>
        </a:p>
      </dgm:t>
    </dgm:pt>
    <dgm:pt modelId="{75344BF2-DFB6-45BA-8999-91F8C205C604}" type="sibTrans" cxnId="{3ACC9FEA-B2F3-45AA-9C28-16838F5738DF}">
      <dgm:prSet/>
      <dgm:spPr/>
      <dgm:t>
        <a:bodyPr/>
        <a:lstStyle/>
        <a:p>
          <a:endParaRPr lang="en-US"/>
        </a:p>
      </dgm:t>
    </dgm:pt>
    <dgm:pt modelId="{3F3FF253-0830-42D2-8DC9-AB1FE013D3DF}">
      <dgm:prSet/>
      <dgm:spPr/>
      <dgm:t>
        <a:bodyPr/>
        <a:lstStyle/>
        <a:p>
          <a:r>
            <a:rPr lang="en-US" dirty="0"/>
            <a:t>Follow the patient</a:t>
          </a:r>
        </a:p>
      </dgm:t>
    </dgm:pt>
    <dgm:pt modelId="{7E475648-898B-4475-9688-74FFCD810DD3}" type="parTrans" cxnId="{DA4DC746-38BC-418C-B978-33255CFDAD89}">
      <dgm:prSet/>
      <dgm:spPr/>
      <dgm:t>
        <a:bodyPr/>
        <a:lstStyle/>
        <a:p>
          <a:endParaRPr lang="en-US"/>
        </a:p>
      </dgm:t>
    </dgm:pt>
    <dgm:pt modelId="{9C9B406D-BF0A-484E-9073-579C30123BBD}" type="sibTrans" cxnId="{DA4DC746-38BC-418C-B978-33255CFDAD89}">
      <dgm:prSet/>
      <dgm:spPr/>
      <dgm:t>
        <a:bodyPr/>
        <a:lstStyle/>
        <a:p>
          <a:endParaRPr lang="en-US"/>
        </a:p>
      </dgm:t>
    </dgm:pt>
    <dgm:pt modelId="{35498CC3-B89B-4476-AF58-DC60BD8A3D0C}">
      <dgm:prSet/>
      <dgm:spPr/>
      <dgm:t>
        <a:bodyPr/>
        <a:lstStyle/>
        <a:p>
          <a:r>
            <a:rPr lang="en-ZA" dirty="0"/>
            <a:t>Regular </a:t>
          </a:r>
          <a:r>
            <a:rPr lang="en-US" dirty="0"/>
            <a:t>multidisciplinary case reviews</a:t>
          </a:r>
        </a:p>
      </dgm:t>
    </dgm:pt>
    <dgm:pt modelId="{8DDBDF79-6C93-45BF-BC52-670D6DDAAD90}" type="parTrans" cxnId="{D2A0FA30-208C-4119-8E66-9980D45EAE0B}">
      <dgm:prSet/>
      <dgm:spPr/>
      <dgm:t>
        <a:bodyPr/>
        <a:lstStyle/>
        <a:p>
          <a:endParaRPr lang="en-US"/>
        </a:p>
      </dgm:t>
    </dgm:pt>
    <dgm:pt modelId="{1236E695-FAFE-40CA-A466-5E31AE542182}" type="sibTrans" cxnId="{D2A0FA30-208C-4119-8E66-9980D45EAE0B}">
      <dgm:prSet/>
      <dgm:spPr/>
      <dgm:t>
        <a:bodyPr/>
        <a:lstStyle/>
        <a:p>
          <a:endParaRPr lang="en-US"/>
        </a:p>
      </dgm:t>
    </dgm:pt>
    <dgm:pt modelId="{66005735-2560-4964-A14A-5F558EF3C84C}">
      <dgm:prSet/>
      <dgm:spPr/>
      <dgm:t>
        <a:bodyPr/>
        <a:lstStyle/>
        <a:p>
          <a:r>
            <a:rPr lang="en-US" dirty="0"/>
            <a:t>Supportive and enabling management cultures</a:t>
          </a:r>
        </a:p>
      </dgm:t>
    </dgm:pt>
    <dgm:pt modelId="{D8445793-2850-4CDF-98F8-94942AB1B47F}" type="parTrans" cxnId="{246E2901-FE0C-4C63-9D35-A73A6ED87E29}">
      <dgm:prSet/>
      <dgm:spPr/>
      <dgm:t>
        <a:bodyPr/>
        <a:lstStyle/>
        <a:p>
          <a:endParaRPr lang="en-US"/>
        </a:p>
      </dgm:t>
    </dgm:pt>
    <dgm:pt modelId="{EE9C8E49-A7B0-4955-8A38-BA82CBAD9CCF}" type="sibTrans" cxnId="{246E2901-FE0C-4C63-9D35-A73A6ED87E29}">
      <dgm:prSet/>
      <dgm:spPr/>
      <dgm:t>
        <a:bodyPr/>
        <a:lstStyle/>
        <a:p>
          <a:endParaRPr lang="en-US"/>
        </a:p>
      </dgm:t>
    </dgm:pt>
    <dgm:pt modelId="{3B1B9ADC-AFB8-4568-857A-51BB1A4F780C}">
      <dgm:prSet/>
      <dgm:spPr/>
      <dgm:t>
        <a:bodyPr/>
        <a:lstStyle/>
        <a:p>
          <a:r>
            <a:rPr lang="en-US" dirty="0"/>
            <a:t>Collaboration fails when leadership rewards silos</a:t>
          </a:r>
        </a:p>
      </dgm:t>
    </dgm:pt>
    <dgm:pt modelId="{068CF940-211A-4A23-A825-819853DCBC88}" type="parTrans" cxnId="{BFCF75C7-DB64-42B5-9A2B-3C6DCB5F4E95}">
      <dgm:prSet/>
      <dgm:spPr/>
      <dgm:t>
        <a:bodyPr/>
        <a:lstStyle/>
        <a:p>
          <a:endParaRPr lang="en-US"/>
        </a:p>
      </dgm:t>
    </dgm:pt>
    <dgm:pt modelId="{551AEEC9-942E-43D8-AD4C-8522468190A5}" type="sibTrans" cxnId="{BFCF75C7-DB64-42B5-9A2B-3C6DCB5F4E95}">
      <dgm:prSet/>
      <dgm:spPr/>
      <dgm:t>
        <a:bodyPr/>
        <a:lstStyle/>
        <a:p>
          <a:endParaRPr lang="en-US"/>
        </a:p>
      </dgm:t>
    </dgm:pt>
    <dgm:pt modelId="{DBDC1DA2-159D-4D7E-BB46-D3BBB6A0D463}">
      <dgm:prSet/>
      <dgm:spPr/>
      <dgm:t>
        <a:bodyPr/>
        <a:lstStyle/>
        <a:p>
          <a:r>
            <a:rPr lang="en-US" dirty="0"/>
            <a:t>Feed back into service redesign</a:t>
          </a:r>
        </a:p>
      </dgm:t>
    </dgm:pt>
    <dgm:pt modelId="{D3F15E72-03D2-422D-B67E-26B2130A0E86}" type="sibTrans" cxnId="{83680805-BAC2-4462-940D-3E35B3A9D141}">
      <dgm:prSet/>
      <dgm:spPr/>
      <dgm:t>
        <a:bodyPr/>
        <a:lstStyle/>
        <a:p>
          <a:endParaRPr lang="en-US"/>
        </a:p>
      </dgm:t>
    </dgm:pt>
    <dgm:pt modelId="{EAAE2931-7330-4E15-81AB-4406F02412A5}" type="parTrans" cxnId="{83680805-BAC2-4462-940D-3E35B3A9D141}">
      <dgm:prSet/>
      <dgm:spPr/>
      <dgm:t>
        <a:bodyPr/>
        <a:lstStyle/>
        <a:p>
          <a:endParaRPr lang="en-US"/>
        </a:p>
      </dgm:t>
    </dgm:pt>
    <dgm:pt modelId="{433B7804-15A7-7B4C-8FB5-2851194EA10B}">
      <dgm:prSet/>
      <dgm:spPr/>
      <dgm:t>
        <a:bodyPr/>
        <a:lstStyle/>
        <a:p>
          <a:r>
            <a:rPr lang="en-US" dirty="0"/>
            <a:t>Inform prevention strategies</a:t>
          </a:r>
        </a:p>
      </dgm:t>
    </dgm:pt>
    <dgm:pt modelId="{941A2639-3FA1-C44F-8A33-9A02DB2AAD69}" type="parTrans" cxnId="{481F12BA-F1F9-E94D-9029-746B17BD3CCA}">
      <dgm:prSet/>
      <dgm:spPr/>
      <dgm:t>
        <a:bodyPr/>
        <a:lstStyle/>
        <a:p>
          <a:endParaRPr lang="en-GB"/>
        </a:p>
      </dgm:t>
    </dgm:pt>
    <dgm:pt modelId="{CD15BCCD-218D-E243-A1CC-A0E78596D47D}" type="sibTrans" cxnId="{481F12BA-F1F9-E94D-9029-746B17BD3CCA}">
      <dgm:prSet/>
      <dgm:spPr/>
      <dgm:t>
        <a:bodyPr/>
        <a:lstStyle/>
        <a:p>
          <a:endParaRPr lang="en-GB"/>
        </a:p>
      </dgm:t>
    </dgm:pt>
    <dgm:pt modelId="{6BC68EBD-B490-AF47-9A06-C0644A9514D0}">
      <dgm:prSet/>
      <dgm:spPr/>
      <dgm:t>
        <a:bodyPr/>
        <a:lstStyle/>
        <a:p>
          <a:endParaRPr lang="en-US" dirty="0"/>
        </a:p>
      </dgm:t>
    </dgm:pt>
    <dgm:pt modelId="{848CAE5C-C585-3B4C-A8C1-9CAD4C28B846}" type="parTrans" cxnId="{59CE5EC8-586F-A845-A8EF-45F259E2990A}">
      <dgm:prSet/>
      <dgm:spPr/>
      <dgm:t>
        <a:bodyPr/>
        <a:lstStyle/>
        <a:p>
          <a:endParaRPr lang="en-GB"/>
        </a:p>
      </dgm:t>
    </dgm:pt>
    <dgm:pt modelId="{539E8DBF-05AD-8C42-AB17-F96708ACED8C}" type="sibTrans" cxnId="{59CE5EC8-586F-A845-A8EF-45F259E2990A}">
      <dgm:prSet/>
      <dgm:spPr/>
      <dgm:t>
        <a:bodyPr/>
        <a:lstStyle/>
        <a:p>
          <a:endParaRPr lang="en-GB"/>
        </a:p>
      </dgm:t>
    </dgm:pt>
    <dgm:pt modelId="{4E884B7F-6FA6-6744-9B9A-357B815A0B9D}">
      <dgm:prSet/>
      <dgm:spPr/>
      <dgm:t>
        <a:bodyPr/>
        <a:lstStyle/>
        <a:p>
          <a:endParaRPr lang="en-US" dirty="0"/>
        </a:p>
      </dgm:t>
    </dgm:pt>
    <dgm:pt modelId="{08D74BB8-4834-8143-BC8A-E4CF0F52F445}" type="parTrans" cxnId="{8E99E988-73E9-6241-A5F9-3D1B92BE0A01}">
      <dgm:prSet/>
      <dgm:spPr/>
      <dgm:t>
        <a:bodyPr/>
        <a:lstStyle/>
        <a:p>
          <a:endParaRPr lang="en-GB"/>
        </a:p>
      </dgm:t>
    </dgm:pt>
    <dgm:pt modelId="{5D6696BF-12E2-A543-A19D-FF74DCF798E7}" type="sibTrans" cxnId="{8E99E988-73E9-6241-A5F9-3D1B92BE0A01}">
      <dgm:prSet/>
      <dgm:spPr/>
      <dgm:t>
        <a:bodyPr/>
        <a:lstStyle/>
        <a:p>
          <a:endParaRPr lang="en-GB"/>
        </a:p>
      </dgm:t>
    </dgm:pt>
    <dgm:pt modelId="{7E025B7F-9296-E243-B402-D1A2D81EC16B}">
      <dgm:prSet/>
      <dgm:spPr/>
      <dgm:t>
        <a:bodyPr/>
        <a:lstStyle/>
        <a:p>
          <a:endParaRPr lang="en-US" dirty="0"/>
        </a:p>
      </dgm:t>
    </dgm:pt>
    <dgm:pt modelId="{2E9CE5CD-8DFC-9940-8CF4-95ECD8B54DC6}" type="parTrans" cxnId="{5415CEE4-BC58-304F-B101-3C7260D5424E}">
      <dgm:prSet/>
      <dgm:spPr/>
      <dgm:t>
        <a:bodyPr/>
        <a:lstStyle/>
        <a:p>
          <a:endParaRPr lang="en-GB"/>
        </a:p>
      </dgm:t>
    </dgm:pt>
    <dgm:pt modelId="{87C0E4C7-1B75-BB41-9897-E29BD95AC65C}" type="sibTrans" cxnId="{5415CEE4-BC58-304F-B101-3C7260D5424E}">
      <dgm:prSet/>
      <dgm:spPr/>
      <dgm:t>
        <a:bodyPr/>
        <a:lstStyle/>
        <a:p>
          <a:endParaRPr lang="en-GB"/>
        </a:p>
      </dgm:t>
    </dgm:pt>
    <dgm:pt modelId="{B83067F3-17D4-3E4A-9096-C153D58CAB0B}">
      <dgm:prSet/>
      <dgm:spPr/>
      <dgm:t>
        <a:bodyPr/>
        <a:lstStyle/>
        <a:p>
          <a:endParaRPr lang="en-US" dirty="0"/>
        </a:p>
      </dgm:t>
    </dgm:pt>
    <dgm:pt modelId="{22D80902-C71C-7341-81EC-8DD1ECF05930}" type="parTrans" cxnId="{FDD2C7E8-021D-4648-BC4F-0040489CDE41}">
      <dgm:prSet/>
      <dgm:spPr/>
      <dgm:t>
        <a:bodyPr/>
        <a:lstStyle/>
        <a:p>
          <a:endParaRPr lang="en-GB"/>
        </a:p>
      </dgm:t>
    </dgm:pt>
    <dgm:pt modelId="{5C175DFC-3BBA-ED44-8CDE-0A389A272B47}" type="sibTrans" cxnId="{FDD2C7E8-021D-4648-BC4F-0040489CDE41}">
      <dgm:prSet/>
      <dgm:spPr/>
      <dgm:t>
        <a:bodyPr/>
        <a:lstStyle/>
        <a:p>
          <a:endParaRPr lang="en-GB"/>
        </a:p>
      </dgm:t>
    </dgm:pt>
    <dgm:pt modelId="{78B5F12F-9696-FF49-82AC-501AC206C2E5}">
      <dgm:prSet/>
      <dgm:spPr/>
      <dgm:t>
        <a:bodyPr/>
        <a:lstStyle/>
        <a:p>
          <a:endParaRPr lang="en-US" dirty="0"/>
        </a:p>
      </dgm:t>
    </dgm:pt>
    <dgm:pt modelId="{FF20F25C-0567-D44E-AC27-D3882A70FF70}" type="parTrans" cxnId="{53DD4C67-4471-514E-9683-82E60B5C6BBC}">
      <dgm:prSet/>
      <dgm:spPr/>
      <dgm:t>
        <a:bodyPr/>
        <a:lstStyle/>
        <a:p>
          <a:endParaRPr lang="en-GB"/>
        </a:p>
      </dgm:t>
    </dgm:pt>
    <dgm:pt modelId="{AD31DF45-3788-9043-959B-3E8FCCDA3764}" type="sibTrans" cxnId="{53DD4C67-4471-514E-9683-82E60B5C6BBC}">
      <dgm:prSet/>
      <dgm:spPr/>
      <dgm:t>
        <a:bodyPr/>
        <a:lstStyle/>
        <a:p>
          <a:endParaRPr lang="en-GB"/>
        </a:p>
      </dgm:t>
    </dgm:pt>
    <dgm:pt modelId="{A639F0F2-A6E2-C44D-B2C0-EF2B4EB0F351}" type="pres">
      <dgm:prSet presAssocID="{2D29A842-EA24-431E-96A6-BBF5F60C7CDC}" presName="linear" presStyleCnt="0">
        <dgm:presLayoutVars>
          <dgm:animLvl val="lvl"/>
          <dgm:resizeHandles val="exact"/>
        </dgm:presLayoutVars>
      </dgm:prSet>
      <dgm:spPr/>
    </dgm:pt>
    <dgm:pt modelId="{AFDD8305-5392-B448-8EC6-4575166CF659}" type="pres">
      <dgm:prSet presAssocID="{34A5D350-D07C-491A-B5D5-075CF5CD35AA}" presName="parentText" presStyleLbl="node1" presStyleIdx="0" presStyleCnt="2">
        <dgm:presLayoutVars>
          <dgm:chMax val="0"/>
          <dgm:bulletEnabled val="1"/>
        </dgm:presLayoutVars>
      </dgm:prSet>
      <dgm:spPr/>
    </dgm:pt>
    <dgm:pt modelId="{50B48251-32F7-E548-AC74-2587E25B9A23}" type="pres">
      <dgm:prSet presAssocID="{34A5D350-D07C-491A-B5D5-075CF5CD35AA}" presName="childText" presStyleLbl="revTx" presStyleIdx="0" presStyleCnt="1">
        <dgm:presLayoutVars>
          <dgm:bulletEnabled val="1"/>
        </dgm:presLayoutVars>
      </dgm:prSet>
      <dgm:spPr/>
    </dgm:pt>
    <dgm:pt modelId="{F6ED1B21-0398-E542-94D3-95AB6FA56180}" type="pres">
      <dgm:prSet presAssocID="{3B1B9ADC-AFB8-4568-857A-51BB1A4F780C}" presName="parentText" presStyleLbl="node1" presStyleIdx="1" presStyleCnt="2" custLinFactNeighborX="343" custLinFactNeighborY="10346">
        <dgm:presLayoutVars>
          <dgm:chMax val="0"/>
          <dgm:bulletEnabled val="1"/>
        </dgm:presLayoutVars>
      </dgm:prSet>
      <dgm:spPr/>
    </dgm:pt>
  </dgm:ptLst>
  <dgm:cxnLst>
    <dgm:cxn modelId="{246E2901-FE0C-4C63-9D35-A73A6ED87E29}" srcId="{34A5D350-D07C-491A-B5D5-075CF5CD35AA}" destId="{66005735-2560-4964-A14A-5F558EF3C84C}" srcOrd="7" destOrd="0" parTransId="{D8445793-2850-4CDF-98F8-94942AB1B47F}" sibTransId="{EE9C8E49-A7B0-4955-8A38-BA82CBAD9CCF}"/>
    <dgm:cxn modelId="{1D14A603-1B8E-2C4D-90CA-DE8505F07944}" type="presOf" srcId="{6BC68EBD-B490-AF47-9A06-C0644A9514D0}" destId="{50B48251-32F7-E548-AC74-2587E25B9A23}" srcOrd="0" destOrd="11" presId="urn:microsoft.com/office/officeart/2005/8/layout/vList2"/>
    <dgm:cxn modelId="{83680805-BAC2-4462-940D-3E35B3A9D141}" srcId="{5D096375-7548-4181-A440-4FAF0DA8F15C}" destId="{DBDC1DA2-159D-4D7E-BB46-D3BBB6A0D463}" srcOrd="2" destOrd="0" parTransId="{EAAE2931-7330-4E15-81AB-4406F02412A5}" sibTransId="{D3F15E72-03D2-422D-B67E-26B2130A0E86}"/>
    <dgm:cxn modelId="{06CF2008-F9F5-4F40-8FFA-EC7A2C952E20}" srcId="{34A5D350-D07C-491A-B5D5-075CF5CD35AA}" destId="{F39A39AD-4BC4-4527-9484-D27246CAD890}" srcOrd="3" destOrd="0" parTransId="{99AD1B99-6388-4333-B498-1FB7D473E4DC}" sibTransId="{C625D413-2B72-4643-B0C9-0C9D33914346}"/>
    <dgm:cxn modelId="{D2A0FA30-208C-4119-8E66-9980D45EAE0B}" srcId="{34A5D350-D07C-491A-B5D5-075CF5CD35AA}" destId="{35498CC3-B89B-4476-AF58-DC60BD8A3D0C}" srcOrd="5" destOrd="0" parTransId="{8DDBDF79-6C93-45BF-BC52-670D6DDAAD90}" sibTransId="{1236E695-FAFE-40CA-A466-5E31AE542182}"/>
    <dgm:cxn modelId="{49EA7637-D4BF-1645-A44B-8C7BD60D0AD7}" type="presOf" srcId="{E7DF3028-803A-4B16-936F-76BF1A1CBFD0}" destId="{50B48251-32F7-E548-AC74-2587E25B9A23}" srcOrd="0" destOrd="1" presId="urn:microsoft.com/office/officeart/2005/8/layout/vList2"/>
    <dgm:cxn modelId="{3E5F5543-4652-E244-A2A1-6AFBAC8B079D}" type="presOf" srcId="{66005735-2560-4964-A14A-5F558EF3C84C}" destId="{50B48251-32F7-E548-AC74-2587E25B9A23}" srcOrd="0" destOrd="12" presId="urn:microsoft.com/office/officeart/2005/8/layout/vList2"/>
    <dgm:cxn modelId="{DA4DC746-38BC-418C-B978-33255CFDAD89}" srcId="{5D096375-7548-4181-A440-4FAF0DA8F15C}" destId="{3F3FF253-0830-42D2-8DC9-AB1FE013D3DF}" srcOrd="0" destOrd="0" parTransId="{7E475648-898B-4475-9688-74FFCD810DD3}" sibTransId="{9C9B406D-BF0A-484E-9073-579C30123BBD}"/>
    <dgm:cxn modelId="{70FCC25F-FD49-3E4C-84D8-5DEEF8A5EDF8}" type="presOf" srcId="{2D29A842-EA24-431E-96A6-BBF5F60C7CDC}" destId="{A639F0F2-A6E2-C44D-B2C0-EF2B4EB0F351}" srcOrd="0" destOrd="0" presId="urn:microsoft.com/office/officeart/2005/8/layout/vList2"/>
    <dgm:cxn modelId="{53DD4C67-4471-514E-9683-82E60B5C6BBC}" srcId="{34A5D350-D07C-491A-B5D5-075CF5CD35AA}" destId="{78B5F12F-9696-FF49-82AC-501AC206C2E5}" srcOrd="0" destOrd="0" parTransId="{FF20F25C-0567-D44E-AC27-D3882A70FF70}" sibTransId="{AD31DF45-3788-9043-959B-3E8FCCDA3764}"/>
    <dgm:cxn modelId="{5B374976-9D59-402E-8ADB-E3CE39C03CF9}" srcId="{34A5D350-D07C-491A-B5D5-075CF5CD35AA}" destId="{E7DF3028-803A-4B16-936F-76BF1A1CBFD0}" srcOrd="1" destOrd="0" parTransId="{0FE9F091-6E81-422C-B397-DDABE3640051}" sibTransId="{D1D545A1-EB6F-4938-9536-B31DE9449869}"/>
    <dgm:cxn modelId="{B3B53881-7C61-F044-9561-30FE7EC9045B}" type="presOf" srcId="{5D096375-7548-4181-A440-4FAF0DA8F15C}" destId="{50B48251-32F7-E548-AC74-2587E25B9A23}" srcOrd="0" destOrd="5" presId="urn:microsoft.com/office/officeart/2005/8/layout/vList2"/>
    <dgm:cxn modelId="{EAB20586-8CA7-B947-B2B1-88A30DC53369}" type="presOf" srcId="{35498CC3-B89B-4476-AF58-DC60BD8A3D0C}" destId="{50B48251-32F7-E548-AC74-2587E25B9A23}" srcOrd="0" destOrd="10" presId="urn:microsoft.com/office/officeart/2005/8/layout/vList2"/>
    <dgm:cxn modelId="{8E99E988-73E9-6241-A5F9-3D1B92BE0A01}" srcId="{34A5D350-D07C-491A-B5D5-075CF5CD35AA}" destId="{4E884B7F-6FA6-6744-9B9A-357B815A0B9D}" srcOrd="4" destOrd="0" parTransId="{08D74BB8-4834-8143-BC8A-E4CF0F52F445}" sibTransId="{5D6696BF-12E2-A543-A19D-FF74DCF798E7}"/>
    <dgm:cxn modelId="{3C49448C-1001-E04C-A745-06E8AEFEDC5F}" type="presOf" srcId="{3B1B9ADC-AFB8-4568-857A-51BB1A4F780C}" destId="{F6ED1B21-0398-E542-94D3-95AB6FA56180}" srcOrd="0" destOrd="0" presId="urn:microsoft.com/office/officeart/2005/8/layout/vList2"/>
    <dgm:cxn modelId="{EA7AEA90-9CE5-E843-9F61-05AEE19326C6}" type="presOf" srcId="{34A5D350-D07C-491A-B5D5-075CF5CD35AA}" destId="{AFDD8305-5392-B448-8EC6-4575166CF659}" srcOrd="0" destOrd="0" presId="urn:microsoft.com/office/officeart/2005/8/layout/vList2"/>
    <dgm:cxn modelId="{62F2E895-BC70-7641-B828-1C5AB597B427}" type="presOf" srcId="{4E884B7F-6FA6-6744-9B9A-357B815A0B9D}" destId="{50B48251-32F7-E548-AC74-2587E25B9A23}" srcOrd="0" destOrd="9" presId="urn:microsoft.com/office/officeart/2005/8/layout/vList2"/>
    <dgm:cxn modelId="{05EA55A7-5F6C-824B-9614-7BA79E378BFC}" type="presOf" srcId="{7E025B7F-9296-E243-B402-D1A2D81EC16B}" destId="{50B48251-32F7-E548-AC74-2587E25B9A23}" srcOrd="0" destOrd="4" presId="urn:microsoft.com/office/officeart/2005/8/layout/vList2"/>
    <dgm:cxn modelId="{D09C19A8-B641-3E49-8AEF-519565472C9E}" type="presOf" srcId="{433B7804-15A7-7B4C-8FB5-2851194EA10B}" destId="{50B48251-32F7-E548-AC74-2587E25B9A23}" srcOrd="0" destOrd="7" presId="urn:microsoft.com/office/officeart/2005/8/layout/vList2"/>
    <dgm:cxn modelId="{481F12BA-F1F9-E94D-9029-746B17BD3CCA}" srcId="{5D096375-7548-4181-A440-4FAF0DA8F15C}" destId="{433B7804-15A7-7B4C-8FB5-2851194EA10B}" srcOrd="1" destOrd="0" parTransId="{941A2639-3FA1-C44F-8A33-9A02DB2AAD69}" sibTransId="{CD15BCCD-218D-E243-A1CC-A0E78596D47D}"/>
    <dgm:cxn modelId="{BFCF75C7-DB64-42B5-9A2B-3C6DCB5F4E95}" srcId="{2D29A842-EA24-431E-96A6-BBF5F60C7CDC}" destId="{3B1B9ADC-AFB8-4568-857A-51BB1A4F780C}" srcOrd="1" destOrd="0" parTransId="{068CF940-211A-4A23-A825-819853DCBC88}" sibTransId="{551AEEC9-942E-43D8-AD4C-8522468190A5}"/>
    <dgm:cxn modelId="{59CE5EC8-586F-A845-A8EF-45F259E2990A}" srcId="{34A5D350-D07C-491A-B5D5-075CF5CD35AA}" destId="{6BC68EBD-B490-AF47-9A06-C0644A9514D0}" srcOrd="6" destOrd="0" parTransId="{848CAE5C-C585-3B4C-A8C1-9CAD4C28B846}" sibTransId="{539E8DBF-05AD-8C42-AB17-F96708ACED8C}"/>
    <dgm:cxn modelId="{28123BDA-8724-48E6-838C-876FD013CF1C}" srcId="{2D29A842-EA24-431E-96A6-BBF5F60C7CDC}" destId="{34A5D350-D07C-491A-B5D5-075CF5CD35AA}" srcOrd="0" destOrd="0" parTransId="{1FF9BA9A-D405-48A0-8B5C-46D6301391CE}" sibTransId="{5B42925E-C63B-4859-AD5B-8994CA76C145}"/>
    <dgm:cxn modelId="{5415CEE4-BC58-304F-B101-3C7260D5424E}" srcId="{F39A39AD-4BC4-4527-9484-D27246CAD890}" destId="{7E025B7F-9296-E243-B402-D1A2D81EC16B}" srcOrd="0" destOrd="0" parTransId="{2E9CE5CD-8DFC-9940-8CF4-95ECD8B54DC6}" sibTransId="{87C0E4C7-1B75-BB41-9897-E29BD95AC65C}"/>
    <dgm:cxn modelId="{07FD34E6-9C66-7B41-852C-70EB771695C7}" type="presOf" srcId="{DBDC1DA2-159D-4D7E-BB46-D3BBB6A0D463}" destId="{50B48251-32F7-E548-AC74-2587E25B9A23}" srcOrd="0" destOrd="8" presId="urn:microsoft.com/office/officeart/2005/8/layout/vList2"/>
    <dgm:cxn modelId="{FDD2C7E8-021D-4648-BC4F-0040489CDE41}" srcId="{34A5D350-D07C-491A-B5D5-075CF5CD35AA}" destId="{B83067F3-17D4-3E4A-9096-C153D58CAB0B}" srcOrd="2" destOrd="0" parTransId="{22D80902-C71C-7341-81EC-8DD1ECF05930}" sibTransId="{5C175DFC-3BBA-ED44-8CDE-0A389A272B47}"/>
    <dgm:cxn modelId="{E09D1FEA-B42C-5C42-AE47-7A96806D15F2}" type="presOf" srcId="{F39A39AD-4BC4-4527-9484-D27246CAD890}" destId="{50B48251-32F7-E548-AC74-2587E25B9A23}" srcOrd="0" destOrd="3" presId="urn:microsoft.com/office/officeart/2005/8/layout/vList2"/>
    <dgm:cxn modelId="{3ACC9FEA-B2F3-45AA-9C28-16838F5738DF}" srcId="{F39A39AD-4BC4-4527-9484-D27246CAD890}" destId="{5D096375-7548-4181-A440-4FAF0DA8F15C}" srcOrd="1" destOrd="0" parTransId="{7D3AF468-82E8-4CA8-8F02-89612A497080}" sibTransId="{75344BF2-DFB6-45BA-8999-91F8C205C604}"/>
    <dgm:cxn modelId="{2A8252EB-B24B-BE4D-8D1A-35D2AEB2E04E}" type="presOf" srcId="{3F3FF253-0830-42D2-8DC9-AB1FE013D3DF}" destId="{50B48251-32F7-E548-AC74-2587E25B9A23}" srcOrd="0" destOrd="6" presId="urn:microsoft.com/office/officeart/2005/8/layout/vList2"/>
    <dgm:cxn modelId="{546436F1-9682-1C4B-A312-0145396CA0FC}" type="presOf" srcId="{B83067F3-17D4-3E4A-9096-C153D58CAB0B}" destId="{50B48251-32F7-E548-AC74-2587E25B9A23}" srcOrd="0" destOrd="2" presId="urn:microsoft.com/office/officeart/2005/8/layout/vList2"/>
    <dgm:cxn modelId="{705AF2FA-F948-5F49-88A9-4EE29DE28E00}" type="presOf" srcId="{78B5F12F-9696-FF49-82AC-501AC206C2E5}" destId="{50B48251-32F7-E548-AC74-2587E25B9A23}" srcOrd="0" destOrd="0" presId="urn:microsoft.com/office/officeart/2005/8/layout/vList2"/>
    <dgm:cxn modelId="{5BDCC2CA-98FF-6449-95CE-8D0E86846C64}" type="presParOf" srcId="{A639F0F2-A6E2-C44D-B2C0-EF2B4EB0F351}" destId="{AFDD8305-5392-B448-8EC6-4575166CF659}" srcOrd="0" destOrd="0" presId="urn:microsoft.com/office/officeart/2005/8/layout/vList2"/>
    <dgm:cxn modelId="{EE28A73F-FD43-784B-858B-DF268645ED18}" type="presParOf" srcId="{A639F0F2-A6E2-C44D-B2C0-EF2B4EB0F351}" destId="{50B48251-32F7-E548-AC74-2587E25B9A23}" srcOrd="1" destOrd="0" presId="urn:microsoft.com/office/officeart/2005/8/layout/vList2"/>
    <dgm:cxn modelId="{151155DC-9AD9-484C-9C09-73D8F712BA9E}" type="presParOf" srcId="{A639F0F2-A6E2-C44D-B2C0-EF2B4EB0F351}" destId="{F6ED1B21-0398-E542-94D3-95AB6FA56180}"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1B319C-F167-4F54-B14C-8139AE0B7EE5}">
      <dsp:nvSpPr>
        <dsp:cNvPr id="0" name=""/>
        <dsp:cNvSpPr/>
      </dsp:nvSpPr>
      <dsp:spPr>
        <a:xfrm>
          <a:off x="-442173" y="7113"/>
          <a:ext cx="10205614" cy="111477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F9EB231-1658-4B05-AE4A-DEB133F12632}">
      <dsp:nvSpPr>
        <dsp:cNvPr id="0" name=""/>
        <dsp:cNvSpPr/>
      </dsp:nvSpPr>
      <dsp:spPr>
        <a:xfrm>
          <a:off x="-104954" y="257937"/>
          <a:ext cx="613125" cy="61312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85ED50C-3C57-452E-887F-7A52412F358B}">
      <dsp:nvSpPr>
        <dsp:cNvPr id="0" name=""/>
        <dsp:cNvSpPr/>
      </dsp:nvSpPr>
      <dsp:spPr>
        <a:xfrm>
          <a:off x="845390" y="7113"/>
          <a:ext cx="8915531" cy="11147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980" tIns="117980" rIns="117980" bIns="117980" numCol="1" spcCol="1270" anchor="ctr" anchorCtr="0">
          <a:noAutofit/>
        </a:bodyPr>
        <a:lstStyle/>
        <a:p>
          <a:pPr marL="0" lvl="0" indent="0" algn="l" defTabSz="889000">
            <a:lnSpc>
              <a:spcPct val="100000"/>
            </a:lnSpc>
            <a:spcBef>
              <a:spcPct val="0"/>
            </a:spcBef>
            <a:spcAft>
              <a:spcPct val="35000"/>
            </a:spcAft>
            <a:buNone/>
          </a:pPr>
          <a:r>
            <a:rPr lang="en-US" sz="2000" b="1" kern="1200" dirty="0"/>
            <a:t>Definition</a:t>
          </a:r>
          <a:r>
            <a:rPr lang="en-US" sz="2000" kern="1200" dirty="0"/>
            <a:t>: A structured, coordinated flow of care that begins before disease onset and continues through treatment, recovery, and long-term support</a:t>
          </a:r>
        </a:p>
      </dsp:txBody>
      <dsp:txXfrm>
        <a:off x="845390" y="7113"/>
        <a:ext cx="8915531" cy="1114773"/>
      </dsp:txXfrm>
    </dsp:sp>
    <dsp:sp modelId="{03C6E747-1C85-43B4-AC3F-F86B31E67508}">
      <dsp:nvSpPr>
        <dsp:cNvPr id="0" name=""/>
        <dsp:cNvSpPr/>
      </dsp:nvSpPr>
      <dsp:spPr>
        <a:xfrm>
          <a:off x="-442173" y="1400580"/>
          <a:ext cx="10205614" cy="168328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9EB73C-BD64-4F60-9252-05A0B1DFFF83}">
      <dsp:nvSpPr>
        <dsp:cNvPr id="0" name=""/>
        <dsp:cNvSpPr/>
      </dsp:nvSpPr>
      <dsp:spPr>
        <a:xfrm>
          <a:off x="-104954" y="1935660"/>
          <a:ext cx="613125" cy="61312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165302B-AC12-48B3-85A1-EC9BDBD28F91}">
      <dsp:nvSpPr>
        <dsp:cNvPr id="0" name=""/>
        <dsp:cNvSpPr/>
      </dsp:nvSpPr>
      <dsp:spPr>
        <a:xfrm>
          <a:off x="845390" y="1684836"/>
          <a:ext cx="4592526" cy="11147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980" tIns="117980" rIns="117980" bIns="117980" numCol="1" spcCol="1270" anchor="ctr" anchorCtr="0">
          <a:noAutofit/>
        </a:bodyPr>
        <a:lstStyle/>
        <a:p>
          <a:pPr marL="0" lvl="0" indent="0" algn="l" defTabSz="889000">
            <a:lnSpc>
              <a:spcPct val="100000"/>
            </a:lnSpc>
            <a:spcBef>
              <a:spcPct val="0"/>
            </a:spcBef>
            <a:spcAft>
              <a:spcPct val="35000"/>
            </a:spcAft>
            <a:buNone/>
          </a:pPr>
          <a:r>
            <a:rPr lang="en-US" sz="2000" kern="1200"/>
            <a:t>It spans:</a:t>
          </a:r>
        </a:p>
      </dsp:txBody>
      <dsp:txXfrm>
        <a:off x="845390" y="1684836"/>
        <a:ext cx="4592526" cy="1114773"/>
      </dsp:txXfrm>
    </dsp:sp>
    <dsp:sp modelId="{804BB0A6-16D9-4F07-9E58-87FB2723A542}">
      <dsp:nvSpPr>
        <dsp:cNvPr id="0" name=""/>
        <dsp:cNvSpPr/>
      </dsp:nvSpPr>
      <dsp:spPr>
        <a:xfrm>
          <a:off x="3581920" y="1537028"/>
          <a:ext cx="6096734" cy="13145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980" tIns="117980" rIns="117980" bIns="117980" numCol="1" spcCol="1270" anchor="ctr" anchorCtr="0">
          <a:noAutofit/>
        </a:bodyPr>
        <a:lstStyle/>
        <a:p>
          <a:pPr marL="0" lvl="0" indent="0" algn="l" defTabSz="800100">
            <a:lnSpc>
              <a:spcPct val="100000"/>
            </a:lnSpc>
            <a:spcBef>
              <a:spcPct val="0"/>
            </a:spcBef>
            <a:spcAft>
              <a:spcPct val="35000"/>
            </a:spcAft>
            <a:buFont typeface="Courier New" panose="02070309020205020404" pitchFamily="49" charset="0"/>
            <a:buNone/>
          </a:pPr>
          <a:r>
            <a:rPr lang="en-US" sz="1800" kern="1200" dirty="0"/>
            <a:t>- Health promotion and primary prevention</a:t>
          </a:r>
        </a:p>
        <a:p>
          <a:pPr marL="0" lvl="0" indent="0" algn="l" defTabSz="800100">
            <a:lnSpc>
              <a:spcPct val="100000"/>
            </a:lnSpc>
            <a:spcBef>
              <a:spcPct val="0"/>
            </a:spcBef>
            <a:spcAft>
              <a:spcPct val="35000"/>
            </a:spcAft>
            <a:buFont typeface="Courier New" panose="02070309020205020404" pitchFamily="49" charset="0"/>
            <a:buNone/>
          </a:pPr>
          <a:r>
            <a:rPr lang="en-US" sz="1800" kern="1200" dirty="0"/>
            <a:t>- Clinical management</a:t>
          </a:r>
        </a:p>
        <a:p>
          <a:pPr marL="0" lvl="0" indent="0" algn="l" defTabSz="800100">
            <a:lnSpc>
              <a:spcPct val="100000"/>
            </a:lnSpc>
            <a:spcBef>
              <a:spcPct val="0"/>
            </a:spcBef>
            <a:spcAft>
              <a:spcPct val="35000"/>
            </a:spcAft>
            <a:buFont typeface="Courier New" panose="02070309020205020404" pitchFamily="49" charset="0"/>
            <a:buNone/>
          </a:pPr>
          <a:r>
            <a:rPr lang="en-US" sz="1800" kern="1200" dirty="0"/>
            <a:t>- Rehabilitation and community follow-up</a:t>
          </a:r>
        </a:p>
        <a:p>
          <a:pPr marL="0" lvl="0" indent="0" algn="l" defTabSz="800100">
            <a:lnSpc>
              <a:spcPct val="100000"/>
            </a:lnSpc>
            <a:spcBef>
              <a:spcPct val="0"/>
            </a:spcBef>
            <a:spcAft>
              <a:spcPct val="35000"/>
            </a:spcAft>
            <a:buFont typeface="Courier New" panose="02070309020205020404" pitchFamily="49" charset="0"/>
            <a:buNone/>
          </a:pPr>
          <a:r>
            <a:rPr lang="en-US" sz="1800" kern="1200" dirty="0"/>
            <a:t>- Early detection and diagnosis</a:t>
          </a:r>
        </a:p>
      </dsp:txBody>
      <dsp:txXfrm>
        <a:off x="3581920" y="1537028"/>
        <a:ext cx="6096734" cy="1314518"/>
      </dsp:txXfrm>
    </dsp:sp>
    <dsp:sp modelId="{E2FECBE1-F98D-42B5-9CCE-86F364C8E74B}">
      <dsp:nvSpPr>
        <dsp:cNvPr id="0" name=""/>
        <dsp:cNvSpPr/>
      </dsp:nvSpPr>
      <dsp:spPr>
        <a:xfrm>
          <a:off x="-442173" y="3440494"/>
          <a:ext cx="10205614" cy="77381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56D69A-DA7C-4778-BC22-97EF338ABDC7}">
      <dsp:nvSpPr>
        <dsp:cNvPr id="0" name=""/>
        <dsp:cNvSpPr/>
      </dsp:nvSpPr>
      <dsp:spPr>
        <a:xfrm>
          <a:off x="-104954" y="3520839"/>
          <a:ext cx="613125" cy="61312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8B31A44-710C-4879-8572-3C600E17831E}">
      <dsp:nvSpPr>
        <dsp:cNvPr id="0" name=""/>
        <dsp:cNvSpPr/>
      </dsp:nvSpPr>
      <dsp:spPr>
        <a:xfrm>
          <a:off x="867055" y="3458584"/>
          <a:ext cx="8915531" cy="6068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136" tIns="87136" rIns="87136" bIns="87136" numCol="1" spcCol="1270" anchor="ctr" anchorCtr="0">
          <a:noAutofit/>
        </a:bodyPr>
        <a:lstStyle/>
        <a:p>
          <a:pPr marL="0" lvl="0" indent="0" algn="l" defTabSz="889000">
            <a:lnSpc>
              <a:spcPct val="100000"/>
            </a:lnSpc>
            <a:spcBef>
              <a:spcPct val="0"/>
            </a:spcBef>
            <a:spcAft>
              <a:spcPct val="35000"/>
            </a:spcAft>
            <a:buNone/>
          </a:pPr>
          <a:r>
            <a:rPr lang="en-US" sz="2000" kern="1200" dirty="0"/>
            <a:t>This is not a new program - it is a design logic.</a:t>
          </a:r>
        </a:p>
      </dsp:txBody>
      <dsp:txXfrm>
        <a:off x="867055" y="3458584"/>
        <a:ext cx="8915531" cy="6068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DD8305-5392-B448-8EC6-4575166CF659}">
      <dsp:nvSpPr>
        <dsp:cNvPr id="0" name=""/>
        <dsp:cNvSpPr/>
      </dsp:nvSpPr>
      <dsp:spPr>
        <a:xfrm>
          <a:off x="0" y="78416"/>
          <a:ext cx="7607808" cy="58967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Key enablers:</a:t>
          </a:r>
        </a:p>
      </dsp:txBody>
      <dsp:txXfrm>
        <a:off x="28786" y="107202"/>
        <a:ext cx="7550236" cy="532107"/>
      </dsp:txXfrm>
    </dsp:sp>
    <dsp:sp modelId="{50B48251-32F7-E548-AC74-2587E25B9A23}">
      <dsp:nvSpPr>
        <dsp:cNvPr id="0" name=""/>
        <dsp:cNvSpPr/>
      </dsp:nvSpPr>
      <dsp:spPr>
        <a:xfrm>
          <a:off x="0" y="668096"/>
          <a:ext cx="7607808" cy="4272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1548" tIns="30480" rIns="170688" bIns="30480" numCol="1" spcCol="1270" anchor="t" anchorCtr="0">
          <a:noAutofit/>
        </a:bodyPr>
        <a:lstStyle/>
        <a:p>
          <a:pPr marL="171450" lvl="1" indent="-171450" algn="l" defTabSz="844550">
            <a:lnSpc>
              <a:spcPct val="90000"/>
            </a:lnSpc>
            <a:spcBef>
              <a:spcPct val="0"/>
            </a:spcBef>
            <a:spcAft>
              <a:spcPct val="20000"/>
            </a:spcAft>
            <a:buChar char="•"/>
          </a:pPr>
          <a:endParaRPr lang="en-US" sz="1900" kern="1200" dirty="0"/>
        </a:p>
        <a:p>
          <a:pPr marL="171450" lvl="1" indent="-171450" algn="l" defTabSz="844550">
            <a:lnSpc>
              <a:spcPct val="90000"/>
            </a:lnSpc>
            <a:spcBef>
              <a:spcPct val="0"/>
            </a:spcBef>
            <a:spcAft>
              <a:spcPct val="20000"/>
            </a:spcAft>
            <a:buChar char="•"/>
          </a:pPr>
          <a:r>
            <a:rPr lang="en-US" sz="1900" kern="1200" dirty="0"/>
            <a:t>Clear referral protocols</a:t>
          </a:r>
        </a:p>
        <a:p>
          <a:pPr marL="171450" lvl="1" indent="-171450" algn="l" defTabSz="844550">
            <a:lnSpc>
              <a:spcPct val="90000"/>
            </a:lnSpc>
            <a:spcBef>
              <a:spcPct val="0"/>
            </a:spcBef>
            <a:spcAft>
              <a:spcPct val="20000"/>
            </a:spcAft>
            <a:buChar char="•"/>
          </a:pPr>
          <a:endParaRPr lang="en-US" sz="1900" kern="1200" dirty="0"/>
        </a:p>
        <a:p>
          <a:pPr marL="171450" lvl="1" indent="-171450" algn="l" defTabSz="844550">
            <a:lnSpc>
              <a:spcPct val="90000"/>
            </a:lnSpc>
            <a:spcBef>
              <a:spcPct val="0"/>
            </a:spcBef>
            <a:spcAft>
              <a:spcPct val="20000"/>
            </a:spcAft>
            <a:buChar char="•"/>
          </a:pPr>
          <a:r>
            <a:rPr lang="en-US" sz="1900" kern="1200" dirty="0"/>
            <a:t>Integrated data systems</a:t>
          </a:r>
        </a:p>
        <a:p>
          <a:pPr marL="342900" lvl="2" indent="-171450" algn="l" defTabSz="844550">
            <a:lnSpc>
              <a:spcPct val="90000"/>
            </a:lnSpc>
            <a:spcBef>
              <a:spcPct val="0"/>
            </a:spcBef>
            <a:spcAft>
              <a:spcPct val="20000"/>
            </a:spcAft>
            <a:buChar char="•"/>
          </a:pPr>
          <a:endParaRPr lang="en-US" sz="1900" kern="1200" dirty="0"/>
        </a:p>
        <a:p>
          <a:pPr marL="342900" lvl="2" indent="-171450" algn="l" defTabSz="844550">
            <a:lnSpc>
              <a:spcPct val="90000"/>
            </a:lnSpc>
            <a:spcBef>
              <a:spcPct val="0"/>
            </a:spcBef>
            <a:spcAft>
              <a:spcPct val="20000"/>
            </a:spcAft>
            <a:buChar char="•"/>
          </a:pPr>
          <a:r>
            <a:rPr lang="en-US" sz="1900" kern="1200" dirty="0"/>
            <a:t>Data should:</a:t>
          </a:r>
        </a:p>
        <a:p>
          <a:pPr marL="514350" lvl="3" indent="-171450" algn="l" defTabSz="844550">
            <a:lnSpc>
              <a:spcPct val="90000"/>
            </a:lnSpc>
            <a:spcBef>
              <a:spcPct val="0"/>
            </a:spcBef>
            <a:spcAft>
              <a:spcPct val="20000"/>
            </a:spcAft>
            <a:buChar char="•"/>
          </a:pPr>
          <a:r>
            <a:rPr lang="en-US" sz="1900" kern="1200" dirty="0"/>
            <a:t>Follow the patient</a:t>
          </a:r>
        </a:p>
        <a:p>
          <a:pPr marL="514350" lvl="3" indent="-171450" algn="l" defTabSz="844550">
            <a:lnSpc>
              <a:spcPct val="90000"/>
            </a:lnSpc>
            <a:spcBef>
              <a:spcPct val="0"/>
            </a:spcBef>
            <a:spcAft>
              <a:spcPct val="20000"/>
            </a:spcAft>
            <a:buChar char="•"/>
          </a:pPr>
          <a:r>
            <a:rPr lang="en-US" sz="1900" kern="1200" dirty="0"/>
            <a:t>Inform prevention strategies</a:t>
          </a:r>
        </a:p>
        <a:p>
          <a:pPr marL="514350" lvl="3" indent="-171450" algn="l" defTabSz="844550">
            <a:lnSpc>
              <a:spcPct val="90000"/>
            </a:lnSpc>
            <a:spcBef>
              <a:spcPct val="0"/>
            </a:spcBef>
            <a:spcAft>
              <a:spcPct val="20000"/>
            </a:spcAft>
            <a:buChar char="•"/>
          </a:pPr>
          <a:r>
            <a:rPr lang="en-US" sz="1900" kern="1200" dirty="0"/>
            <a:t>Feed back into service redesign</a:t>
          </a:r>
        </a:p>
        <a:p>
          <a:pPr marL="171450" lvl="1" indent="-171450" algn="l" defTabSz="844550">
            <a:lnSpc>
              <a:spcPct val="90000"/>
            </a:lnSpc>
            <a:spcBef>
              <a:spcPct val="0"/>
            </a:spcBef>
            <a:spcAft>
              <a:spcPct val="20000"/>
            </a:spcAft>
            <a:buChar char="•"/>
          </a:pPr>
          <a:endParaRPr lang="en-US" sz="1900" kern="1200" dirty="0"/>
        </a:p>
        <a:p>
          <a:pPr marL="171450" lvl="1" indent="-171450" algn="l" defTabSz="844550">
            <a:lnSpc>
              <a:spcPct val="90000"/>
            </a:lnSpc>
            <a:spcBef>
              <a:spcPct val="0"/>
            </a:spcBef>
            <a:spcAft>
              <a:spcPct val="20000"/>
            </a:spcAft>
            <a:buChar char="•"/>
          </a:pPr>
          <a:r>
            <a:rPr lang="en-ZA" sz="1900" kern="1200" dirty="0"/>
            <a:t>Regular </a:t>
          </a:r>
          <a:r>
            <a:rPr lang="en-US" sz="1900" kern="1200" dirty="0"/>
            <a:t>multidisciplinary case reviews</a:t>
          </a:r>
        </a:p>
        <a:p>
          <a:pPr marL="171450" lvl="1" indent="-171450" algn="l" defTabSz="844550">
            <a:lnSpc>
              <a:spcPct val="90000"/>
            </a:lnSpc>
            <a:spcBef>
              <a:spcPct val="0"/>
            </a:spcBef>
            <a:spcAft>
              <a:spcPct val="20000"/>
            </a:spcAft>
            <a:buChar char="•"/>
          </a:pPr>
          <a:endParaRPr lang="en-US" sz="1900" kern="1200" dirty="0"/>
        </a:p>
        <a:p>
          <a:pPr marL="171450" lvl="1" indent="-171450" algn="l" defTabSz="844550">
            <a:lnSpc>
              <a:spcPct val="90000"/>
            </a:lnSpc>
            <a:spcBef>
              <a:spcPct val="0"/>
            </a:spcBef>
            <a:spcAft>
              <a:spcPct val="20000"/>
            </a:spcAft>
            <a:buChar char="•"/>
          </a:pPr>
          <a:r>
            <a:rPr lang="en-US" sz="1900" kern="1200" dirty="0"/>
            <a:t>Supportive and enabling management cultures</a:t>
          </a:r>
        </a:p>
      </dsp:txBody>
      <dsp:txXfrm>
        <a:off x="0" y="668096"/>
        <a:ext cx="7607808" cy="4272480"/>
      </dsp:txXfrm>
    </dsp:sp>
    <dsp:sp modelId="{F6ED1B21-0398-E542-94D3-95AB6FA56180}">
      <dsp:nvSpPr>
        <dsp:cNvPr id="0" name=""/>
        <dsp:cNvSpPr/>
      </dsp:nvSpPr>
      <dsp:spPr>
        <a:xfrm>
          <a:off x="0" y="5018993"/>
          <a:ext cx="7607808" cy="58967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Collaboration fails when leadership rewards silos</a:t>
          </a:r>
        </a:p>
      </dsp:txBody>
      <dsp:txXfrm>
        <a:off x="28786" y="5047779"/>
        <a:ext cx="7550236" cy="53210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DDC41A-A345-E244-BDEC-C4773F2119D7}" type="datetimeFigureOut">
              <a:rPr lang="en-US" smtClean="0"/>
              <a:t>12/15/25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2A4A75-8C23-FF43-863C-FF77CCF47911}" type="slidenum">
              <a:rPr lang="en-US" smtClean="0"/>
              <a:t>‹#›</a:t>
            </a:fld>
            <a:endParaRPr lang="en-US"/>
          </a:p>
        </p:txBody>
      </p:sp>
    </p:spTree>
    <p:extLst>
      <p:ext uri="{BB962C8B-B14F-4D97-AF65-F5344CB8AC3E}">
        <p14:creationId xmlns:p14="http://schemas.microsoft.com/office/powerpoint/2010/main" val="19068579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900" dirty="0"/>
              <a:t>The four interlinked burdens are:</a:t>
            </a:r>
          </a:p>
          <a:p>
            <a:pPr lvl="1"/>
            <a:r>
              <a:rPr lang="en-US" sz="2900" dirty="0"/>
              <a:t>Communicable, maternal, neonatal and nutritional conditions</a:t>
            </a:r>
          </a:p>
          <a:p>
            <a:pPr lvl="1"/>
            <a:r>
              <a:rPr lang="en-US" sz="2900" dirty="0"/>
              <a:t>HIV and tuberculosis</a:t>
            </a:r>
          </a:p>
          <a:p>
            <a:pPr lvl="1"/>
            <a:r>
              <a:rPr lang="en-US" sz="2900" dirty="0"/>
              <a:t>Non-communicable diseases including mental health conditions</a:t>
            </a:r>
          </a:p>
          <a:p>
            <a:pPr lvl="1"/>
            <a:r>
              <a:rPr lang="en-US" sz="2900" dirty="0"/>
              <a:t>Injuries and violence, including road traffic injuries and interpersonal violence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We do not have a resource problem only; we have a design problem</a:t>
            </a:r>
          </a:p>
          <a:p>
            <a:endParaRPr lang="en-US" dirty="0"/>
          </a:p>
        </p:txBody>
      </p:sp>
      <p:sp>
        <p:nvSpPr>
          <p:cNvPr id="4" name="Slide Number Placeholder 3"/>
          <p:cNvSpPr>
            <a:spLocks noGrp="1"/>
          </p:cNvSpPr>
          <p:nvPr>
            <p:ph type="sldNum" sz="quarter" idx="5"/>
          </p:nvPr>
        </p:nvSpPr>
        <p:spPr/>
        <p:txBody>
          <a:bodyPr/>
          <a:lstStyle/>
          <a:p>
            <a:fld id="{B82A4A75-8C23-FF43-863C-FF77CCF47911}" type="slidenum">
              <a:rPr lang="en-US" smtClean="0"/>
              <a:t>2</a:t>
            </a:fld>
            <a:endParaRPr lang="en-US"/>
          </a:p>
        </p:txBody>
      </p:sp>
    </p:spTree>
    <p:extLst>
      <p:ext uri="{BB962C8B-B14F-4D97-AF65-F5344CB8AC3E}">
        <p14:creationId xmlns:p14="http://schemas.microsoft.com/office/powerpoint/2010/main" val="25944349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48377-A9D1-DA02-443D-14FA7AB316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359811-C5DA-72C7-7427-61B10358DA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09DDA5-6FCD-9928-A4E7-250FFDD7FC2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endParaRPr lang="en-US" dirty="0"/>
          </a:p>
        </p:txBody>
      </p:sp>
      <p:sp>
        <p:nvSpPr>
          <p:cNvPr id="4" name="Slide Number Placeholder 3">
            <a:extLst>
              <a:ext uri="{FF2B5EF4-FFF2-40B4-BE49-F238E27FC236}">
                <a16:creationId xmlns:a16="http://schemas.microsoft.com/office/drawing/2014/main" id="{BA8891F9-8EED-D8EE-739A-EEA86537A185}"/>
              </a:ext>
            </a:extLst>
          </p:cNvPr>
          <p:cNvSpPr>
            <a:spLocks noGrp="1"/>
          </p:cNvSpPr>
          <p:nvPr>
            <p:ph type="sldNum" sz="quarter" idx="5"/>
          </p:nvPr>
        </p:nvSpPr>
        <p:spPr/>
        <p:txBody>
          <a:bodyPr/>
          <a:lstStyle/>
          <a:p>
            <a:fld id="{B82A4A75-8C23-FF43-863C-FF77CCF47911}" type="slidenum">
              <a:rPr lang="en-US" smtClean="0"/>
              <a:t>3</a:t>
            </a:fld>
            <a:endParaRPr lang="en-US"/>
          </a:p>
        </p:txBody>
      </p:sp>
    </p:spTree>
    <p:extLst>
      <p:ext uri="{BB962C8B-B14F-4D97-AF65-F5344CB8AC3E}">
        <p14:creationId xmlns:p14="http://schemas.microsoft.com/office/powerpoint/2010/main" val="8836251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9D195D-A0C7-5324-4E7A-C8178D41F9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7A0B56-0B83-5CA5-1708-E60585067B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21EAC6-5C53-6630-5B94-27BF97AF3529}"/>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dirty="0"/>
              <a:t>Why, despite strong preventive and curative programmes, do we still struggle to integrate them in practice?</a:t>
            </a:r>
            <a:endParaRPr lang="en-US" sz="120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Disease specific models were designed for a time when we dealt with one dominant condition. The reality now is multimorbidity. People live with clusters of conditions that interact with each other and with social determinants. A model that only looks at one disease at a time is simply not fit for this level of complexity.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dirty="0"/>
              <a:t>Health promotion and prevention activities are often planned in one unit; treatment and clinical services in another; rehabilitation and long term support in another. Their budgets, staff plans and performance indicators are not aligned to the same patient journey.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Having many disciplines in the same clinic is not the same as having an integrated model. Without a shared pathway, each professional does good work in isolation, but the patient experience is fragmented. Without shared accountability for outcomes, there is no real incentive to coordinate.</a:t>
            </a:r>
          </a:p>
          <a:p>
            <a:endParaRPr lang="en-US" dirty="0"/>
          </a:p>
        </p:txBody>
      </p:sp>
      <p:sp>
        <p:nvSpPr>
          <p:cNvPr id="4" name="Slide Number Placeholder 3">
            <a:extLst>
              <a:ext uri="{FF2B5EF4-FFF2-40B4-BE49-F238E27FC236}">
                <a16:creationId xmlns:a16="http://schemas.microsoft.com/office/drawing/2014/main" id="{B849BC12-04BF-F623-56C9-477BFE00C627}"/>
              </a:ext>
            </a:extLst>
          </p:cNvPr>
          <p:cNvSpPr>
            <a:spLocks noGrp="1"/>
          </p:cNvSpPr>
          <p:nvPr>
            <p:ph type="sldNum" sz="quarter" idx="5"/>
          </p:nvPr>
        </p:nvSpPr>
        <p:spPr/>
        <p:txBody>
          <a:bodyPr/>
          <a:lstStyle/>
          <a:p>
            <a:fld id="{B82A4A75-8C23-FF43-863C-FF77CCF47911}" type="slidenum">
              <a:rPr lang="en-US" smtClean="0"/>
              <a:t>4</a:t>
            </a:fld>
            <a:endParaRPr lang="en-US"/>
          </a:p>
        </p:txBody>
      </p:sp>
    </p:spTree>
    <p:extLst>
      <p:ext uri="{BB962C8B-B14F-4D97-AF65-F5344CB8AC3E}">
        <p14:creationId xmlns:p14="http://schemas.microsoft.com/office/powerpoint/2010/main" val="39950435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AD487-BE3C-F7D6-ED05-9E469AB637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AC937F-307F-4C3C-2BF9-01F342AB69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CDCA1E-F6B2-D8CE-966E-0754C9745CC2}"/>
              </a:ext>
            </a:extLst>
          </p:cNvPr>
          <p:cNvSpPr>
            <a:spLocks noGrp="1"/>
          </p:cNvSpPr>
          <p:nvPr>
            <p:ph type="body" idx="1"/>
          </p:nvPr>
        </p:nvSpPr>
        <p:spPr/>
        <p:txBody>
          <a:bodyPr/>
          <a:lstStyle/>
          <a:p>
            <a:pPr marL="171450" indent="-171450">
              <a:buFont typeface="Arial" panose="020B0604020202020204" pitchFamily="34" charset="0"/>
              <a:buChar char="•"/>
            </a:pPr>
            <a:r>
              <a:rPr lang="en-US" dirty="0"/>
              <a:t>In most health systems, prevention and treatment exist as separate programs, not as parts of one continuous journey. </a:t>
            </a:r>
          </a:p>
          <a:p>
            <a:pPr marL="171450" indent="-171450">
              <a:buFont typeface="Arial" panose="020B0604020202020204" pitchFamily="34" charset="0"/>
              <a:buChar char="•"/>
            </a:pPr>
            <a:r>
              <a:rPr lang="en-US" dirty="0"/>
              <a:t>Prevention is often delivered through outreach, health promotion, screening campaigns, or environmental health interventions. </a:t>
            </a:r>
          </a:p>
          <a:p>
            <a:pPr marL="171450" indent="-171450">
              <a:buFont typeface="Arial" panose="020B0604020202020204" pitchFamily="34" charset="0"/>
              <a:buChar char="•"/>
            </a:pPr>
            <a:r>
              <a:rPr lang="en-US" dirty="0"/>
              <a:t>Curative care begins when the patient arrives at a clinic or hospital. </a:t>
            </a:r>
          </a:p>
          <a:p>
            <a:pPr marL="171450" indent="-171450">
              <a:buFont typeface="Arial" panose="020B0604020202020204" pitchFamily="34" charset="0"/>
              <a:buChar char="•"/>
            </a:pPr>
            <a:r>
              <a:rPr lang="en-US" dirty="0"/>
              <a:t>What is missing is a designed connection between these phases.</a:t>
            </a:r>
          </a:p>
          <a:p>
            <a:pPr marL="171450" indent="-171450">
              <a:buFont typeface="Arial" panose="020B0604020202020204" pitchFamily="34" charset="0"/>
              <a:buChar char="•"/>
            </a:pPr>
            <a:r>
              <a:rPr lang="en-US" dirty="0"/>
              <a:t>A continuum would ensure that every preventive action has a clear clinical follow-up, and every episode of treatment feeds back into ongoing prevention.</a:t>
            </a:r>
          </a:p>
          <a:p>
            <a:pPr marL="171450" indent="-171450">
              <a:buFont typeface="Arial" panose="020B0604020202020204" pitchFamily="34" charset="0"/>
              <a:buChar char="•"/>
            </a:pPr>
            <a:r>
              <a:rPr lang="en-US" dirty="0"/>
              <a:t>We often say we need better collaboration, but collaboration cannot rely on goodwill alone. If it is not built into planning, governance, data systems, and performance measures, it will always be fragile. </a:t>
            </a:r>
          </a:p>
          <a:p>
            <a:pPr marL="171450" indent="-171450">
              <a:buFont typeface="Arial" panose="020B0604020202020204" pitchFamily="34" charset="0"/>
              <a:buChar char="•"/>
            </a:pPr>
            <a:r>
              <a:rPr lang="en-US" dirty="0"/>
              <a:t>True integration requires collaboration by design, not by chance.</a:t>
            </a:r>
          </a:p>
          <a:p>
            <a:pPr marL="171450" indent="-171450">
              <a:buFont typeface="Arial" panose="020B0604020202020204" pitchFamily="34" charset="0"/>
              <a:buChar char="•"/>
            </a:pPr>
            <a:r>
              <a:rPr lang="en-US" dirty="0"/>
              <a:t>When pathways are not defined, multidisciplinary care becomes a series of isolated interventions rather than a coordinated journey. </a:t>
            </a:r>
          </a:p>
          <a:p>
            <a:pPr marL="171450" indent="-171450">
              <a:buFont typeface="Arial" panose="020B0604020202020204" pitchFamily="34" charset="0"/>
              <a:buChar char="•"/>
            </a:pPr>
            <a:r>
              <a:rPr lang="en-US" dirty="0"/>
              <a:t>An intentional pathway clarifies who does what, when, and how information flows. Without that, patients move between professionals, but the care itself does not move forward coherently</a:t>
            </a:r>
          </a:p>
        </p:txBody>
      </p:sp>
      <p:sp>
        <p:nvSpPr>
          <p:cNvPr id="4" name="Slide Number Placeholder 3">
            <a:extLst>
              <a:ext uri="{FF2B5EF4-FFF2-40B4-BE49-F238E27FC236}">
                <a16:creationId xmlns:a16="http://schemas.microsoft.com/office/drawing/2014/main" id="{1EE8223C-DB3B-BEDA-8A27-7B1CC8580668}"/>
              </a:ext>
            </a:extLst>
          </p:cNvPr>
          <p:cNvSpPr>
            <a:spLocks noGrp="1"/>
          </p:cNvSpPr>
          <p:nvPr>
            <p:ph type="sldNum" sz="quarter" idx="5"/>
          </p:nvPr>
        </p:nvSpPr>
        <p:spPr/>
        <p:txBody>
          <a:bodyPr/>
          <a:lstStyle/>
          <a:p>
            <a:fld id="{B82A4A75-8C23-FF43-863C-FF77CCF47911}" type="slidenum">
              <a:rPr lang="en-US" smtClean="0"/>
              <a:t>5</a:t>
            </a:fld>
            <a:endParaRPr lang="en-US"/>
          </a:p>
        </p:txBody>
      </p:sp>
    </p:spTree>
    <p:extLst>
      <p:ext uri="{BB962C8B-B14F-4D97-AF65-F5344CB8AC3E}">
        <p14:creationId xmlns:p14="http://schemas.microsoft.com/office/powerpoint/2010/main" val="30041254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82A4A75-8C23-FF43-863C-FF77CCF47911}" type="slidenum">
              <a:rPr lang="en-US" smtClean="0"/>
              <a:t>6</a:t>
            </a:fld>
            <a:endParaRPr lang="en-US"/>
          </a:p>
        </p:txBody>
      </p:sp>
    </p:spTree>
    <p:extLst>
      <p:ext uri="{BB962C8B-B14F-4D97-AF65-F5344CB8AC3E}">
        <p14:creationId xmlns:p14="http://schemas.microsoft.com/office/powerpoint/2010/main" val="8629959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If collaboration depends on goodwill alone, it will collapse under pressure</a:t>
            </a:r>
          </a:p>
          <a:p>
            <a:endParaRPr lang="en-GB" dirty="0"/>
          </a:p>
          <a:p>
            <a:endParaRPr lang="en-GB" dirty="0"/>
          </a:p>
        </p:txBody>
      </p:sp>
      <p:sp>
        <p:nvSpPr>
          <p:cNvPr id="4" name="Slide Number Placeholder 3"/>
          <p:cNvSpPr>
            <a:spLocks noGrp="1"/>
          </p:cNvSpPr>
          <p:nvPr>
            <p:ph type="sldNum" sz="quarter" idx="5"/>
          </p:nvPr>
        </p:nvSpPr>
        <p:spPr/>
        <p:txBody>
          <a:bodyPr/>
          <a:lstStyle/>
          <a:p>
            <a:fld id="{B82A4A75-8C23-FF43-863C-FF77CCF47911}" type="slidenum">
              <a:rPr lang="en-US" smtClean="0"/>
              <a:t>7</a:t>
            </a:fld>
            <a:endParaRPr lang="en-US"/>
          </a:p>
        </p:txBody>
      </p:sp>
    </p:spTree>
    <p:extLst>
      <p:ext uri="{BB962C8B-B14F-4D97-AF65-F5344CB8AC3E}">
        <p14:creationId xmlns:p14="http://schemas.microsoft.com/office/powerpoint/2010/main" val="13786941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82A4A75-8C23-FF43-863C-FF77CCF47911}" type="slidenum">
              <a:rPr lang="en-US" smtClean="0"/>
              <a:t>8</a:t>
            </a:fld>
            <a:endParaRPr lang="en-US"/>
          </a:p>
        </p:txBody>
      </p:sp>
    </p:spTree>
    <p:extLst>
      <p:ext uri="{BB962C8B-B14F-4D97-AF65-F5344CB8AC3E}">
        <p14:creationId xmlns:p14="http://schemas.microsoft.com/office/powerpoint/2010/main" val="35183304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a:t>
            </a:r>
          </a:p>
          <a:p>
            <a:r>
              <a:rPr lang="en-US" dirty="0"/>
              <a:t>Surveillance data</a:t>
            </a:r>
          </a:p>
          <a:p>
            <a:r>
              <a:rPr lang="en-US" dirty="0"/>
              <a:t>Clinic </a:t>
            </a:r>
            <a:r>
              <a:rPr lang="en-US" dirty="0" err="1"/>
              <a:t>utilisation</a:t>
            </a:r>
            <a:r>
              <a:rPr lang="en-US" dirty="0"/>
              <a:t> patterns</a:t>
            </a:r>
          </a:p>
          <a:p>
            <a:r>
              <a:rPr lang="en-US" dirty="0"/>
              <a:t>Missed follow-ups</a:t>
            </a:r>
            <a:endParaRPr lang="en-GB" dirty="0"/>
          </a:p>
        </p:txBody>
      </p:sp>
      <p:sp>
        <p:nvSpPr>
          <p:cNvPr id="4" name="Slide Number Placeholder 3"/>
          <p:cNvSpPr>
            <a:spLocks noGrp="1"/>
          </p:cNvSpPr>
          <p:nvPr>
            <p:ph type="sldNum" sz="quarter" idx="5"/>
          </p:nvPr>
        </p:nvSpPr>
        <p:spPr/>
        <p:txBody>
          <a:bodyPr/>
          <a:lstStyle/>
          <a:p>
            <a:fld id="{B82A4A75-8C23-FF43-863C-FF77CCF47911}" type="slidenum">
              <a:rPr lang="en-US" smtClean="0"/>
              <a:t>9</a:t>
            </a:fld>
            <a:endParaRPr lang="en-US"/>
          </a:p>
        </p:txBody>
      </p:sp>
    </p:spTree>
    <p:extLst>
      <p:ext uri="{BB962C8B-B14F-4D97-AF65-F5344CB8AC3E}">
        <p14:creationId xmlns:p14="http://schemas.microsoft.com/office/powerpoint/2010/main" val="24107754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8CDFB-4F3B-0E22-96A7-AEBE0D4194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DC96FE-48E8-CE5C-548C-164391E4FD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391E23-53E0-CA11-F626-BAFF61FFFD10}"/>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8669533-A077-28E7-D1B8-5A911ED90B8D}"/>
              </a:ext>
            </a:extLst>
          </p:cNvPr>
          <p:cNvSpPr>
            <a:spLocks noGrp="1"/>
          </p:cNvSpPr>
          <p:nvPr>
            <p:ph type="sldNum" sz="quarter" idx="5"/>
          </p:nvPr>
        </p:nvSpPr>
        <p:spPr/>
        <p:txBody>
          <a:bodyPr/>
          <a:lstStyle/>
          <a:p>
            <a:fld id="{B82A4A75-8C23-FF43-863C-FF77CCF47911}" type="slidenum">
              <a:rPr lang="en-US" smtClean="0"/>
              <a:t>10</a:t>
            </a:fld>
            <a:endParaRPr lang="en-US"/>
          </a:p>
        </p:txBody>
      </p:sp>
    </p:spTree>
    <p:extLst>
      <p:ext uri="{BB962C8B-B14F-4D97-AF65-F5344CB8AC3E}">
        <p14:creationId xmlns:p14="http://schemas.microsoft.com/office/powerpoint/2010/main" val="29900839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ECDDC-848A-59FD-FA47-DE7BBCB316D6}"/>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80E8220-0B27-6341-AE4E-35D895DB72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BCF29B5A-0829-DD6C-1790-A846B3C6A44B}"/>
              </a:ext>
            </a:extLst>
          </p:cNvPr>
          <p:cNvSpPr>
            <a:spLocks noGrp="1"/>
          </p:cNvSpPr>
          <p:nvPr>
            <p:ph type="dt" sz="half" idx="10"/>
          </p:nvPr>
        </p:nvSpPr>
        <p:spPr/>
        <p:txBody>
          <a:bodyPr/>
          <a:lstStyle/>
          <a:p>
            <a:fld id="{AB6E7CCF-48D4-5A42-87B5-F0FBFA848FC5}" type="datetimeFigureOut">
              <a:rPr lang="en-US" smtClean="0"/>
              <a:t>12/15/25</a:t>
            </a:fld>
            <a:endParaRPr lang="en-US"/>
          </a:p>
        </p:txBody>
      </p:sp>
      <p:sp>
        <p:nvSpPr>
          <p:cNvPr id="5" name="Footer Placeholder 4">
            <a:extLst>
              <a:ext uri="{FF2B5EF4-FFF2-40B4-BE49-F238E27FC236}">
                <a16:creationId xmlns:a16="http://schemas.microsoft.com/office/drawing/2014/main" id="{40B557FD-134D-0C5C-36E6-9046ED61B3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EF53C0-29F6-8A56-F26F-5EE1A9C55E41}"/>
              </a:ext>
            </a:extLst>
          </p:cNvPr>
          <p:cNvSpPr>
            <a:spLocks noGrp="1"/>
          </p:cNvSpPr>
          <p:nvPr>
            <p:ph type="sldNum" sz="quarter" idx="12"/>
          </p:nvPr>
        </p:nvSpPr>
        <p:spPr/>
        <p:txBody>
          <a:bodyPr/>
          <a:lstStyle/>
          <a:p>
            <a:fld id="{FA787F5B-C146-F44A-870A-578258E19B3E}" type="slidenum">
              <a:rPr lang="en-US" smtClean="0"/>
              <a:t>‹#›</a:t>
            </a:fld>
            <a:endParaRPr lang="en-US"/>
          </a:p>
        </p:txBody>
      </p:sp>
    </p:spTree>
    <p:extLst>
      <p:ext uri="{BB962C8B-B14F-4D97-AF65-F5344CB8AC3E}">
        <p14:creationId xmlns:p14="http://schemas.microsoft.com/office/powerpoint/2010/main" val="16381064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2348D-3BDD-3EE5-6C48-CA7C3DABD30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2BA6F32-063D-219D-FB7B-BD8FCBC0E20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A3B92EE-DB2D-37C9-7287-7E02ED4E0B4B}"/>
              </a:ext>
            </a:extLst>
          </p:cNvPr>
          <p:cNvSpPr>
            <a:spLocks noGrp="1"/>
          </p:cNvSpPr>
          <p:nvPr>
            <p:ph type="dt" sz="half" idx="10"/>
          </p:nvPr>
        </p:nvSpPr>
        <p:spPr/>
        <p:txBody>
          <a:bodyPr/>
          <a:lstStyle/>
          <a:p>
            <a:fld id="{AB6E7CCF-48D4-5A42-87B5-F0FBFA848FC5}" type="datetimeFigureOut">
              <a:rPr lang="en-US" smtClean="0"/>
              <a:t>12/15/25</a:t>
            </a:fld>
            <a:endParaRPr lang="en-US"/>
          </a:p>
        </p:txBody>
      </p:sp>
      <p:sp>
        <p:nvSpPr>
          <p:cNvPr id="5" name="Footer Placeholder 4">
            <a:extLst>
              <a:ext uri="{FF2B5EF4-FFF2-40B4-BE49-F238E27FC236}">
                <a16:creationId xmlns:a16="http://schemas.microsoft.com/office/drawing/2014/main" id="{DADE4A7E-09B9-5F13-BA3E-141EF9C2CB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66527E-EEE7-FEC3-200F-F909FCE01B23}"/>
              </a:ext>
            </a:extLst>
          </p:cNvPr>
          <p:cNvSpPr>
            <a:spLocks noGrp="1"/>
          </p:cNvSpPr>
          <p:nvPr>
            <p:ph type="sldNum" sz="quarter" idx="12"/>
          </p:nvPr>
        </p:nvSpPr>
        <p:spPr/>
        <p:txBody>
          <a:bodyPr/>
          <a:lstStyle/>
          <a:p>
            <a:fld id="{FA787F5B-C146-F44A-870A-578258E19B3E}" type="slidenum">
              <a:rPr lang="en-US" smtClean="0"/>
              <a:t>‹#›</a:t>
            </a:fld>
            <a:endParaRPr lang="en-US"/>
          </a:p>
        </p:txBody>
      </p:sp>
    </p:spTree>
    <p:extLst>
      <p:ext uri="{BB962C8B-B14F-4D97-AF65-F5344CB8AC3E}">
        <p14:creationId xmlns:p14="http://schemas.microsoft.com/office/powerpoint/2010/main" val="10976479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DD47D-B51C-9BC9-5979-B0D88290A9B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26A2CCFA-237E-604E-31CC-FB56CF541DE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6EB4171C-2BF8-5CA2-E14D-4C2042E1EE0C}"/>
              </a:ext>
            </a:extLst>
          </p:cNvPr>
          <p:cNvSpPr>
            <a:spLocks noGrp="1"/>
          </p:cNvSpPr>
          <p:nvPr>
            <p:ph type="dt" sz="half" idx="10"/>
          </p:nvPr>
        </p:nvSpPr>
        <p:spPr/>
        <p:txBody>
          <a:bodyPr/>
          <a:lstStyle/>
          <a:p>
            <a:fld id="{AB6E7CCF-48D4-5A42-87B5-F0FBFA848FC5}" type="datetimeFigureOut">
              <a:rPr lang="en-US" smtClean="0"/>
              <a:t>12/15/25</a:t>
            </a:fld>
            <a:endParaRPr lang="en-US"/>
          </a:p>
        </p:txBody>
      </p:sp>
      <p:sp>
        <p:nvSpPr>
          <p:cNvPr id="5" name="Footer Placeholder 4">
            <a:extLst>
              <a:ext uri="{FF2B5EF4-FFF2-40B4-BE49-F238E27FC236}">
                <a16:creationId xmlns:a16="http://schemas.microsoft.com/office/drawing/2014/main" id="{FE64E6D9-C131-C520-1796-8A4B5736EB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5E527B-5B48-537B-D8A0-52948D64CA11}"/>
              </a:ext>
            </a:extLst>
          </p:cNvPr>
          <p:cNvSpPr>
            <a:spLocks noGrp="1"/>
          </p:cNvSpPr>
          <p:nvPr>
            <p:ph type="sldNum" sz="quarter" idx="12"/>
          </p:nvPr>
        </p:nvSpPr>
        <p:spPr/>
        <p:txBody>
          <a:bodyPr/>
          <a:lstStyle/>
          <a:p>
            <a:fld id="{FA787F5B-C146-F44A-870A-578258E19B3E}" type="slidenum">
              <a:rPr lang="en-US" smtClean="0"/>
              <a:t>‹#›</a:t>
            </a:fld>
            <a:endParaRPr lang="en-US"/>
          </a:p>
        </p:txBody>
      </p:sp>
    </p:spTree>
    <p:extLst>
      <p:ext uri="{BB962C8B-B14F-4D97-AF65-F5344CB8AC3E}">
        <p14:creationId xmlns:p14="http://schemas.microsoft.com/office/powerpoint/2010/main" val="25107926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E83D9-03E9-8EE1-A7E6-1981B17B82E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781DA75-3E4C-C9F6-DE87-7EBCF6E152F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F0452875-DC59-2285-E6ED-ED1A02EC9838}"/>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C0B0569C-2D99-22CF-7F33-F99C5F252914}"/>
              </a:ext>
            </a:extLst>
          </p:cNvPr>
          <p:cNvSpPr>
            <a:spLocks noGrp="1"/>
          </p:cNvSpPr>
          <p:nvPr>
            <p:ph type="dt" sz="half" idx="10"/>
          </p:nvPr>
        </p:nvSpPr>
        <p:spPr/>
        <p:txBody>
          <a:bodyPr/>
          <a:lstStyle/>
          <a:p>
            <a:fld id="{AB6E7CCF-48D4-5A42-87B5-F0FBFA848FC5}" type="datetimeFigureOut">
              <a:rPr lang="en-US" smtClean="0"/>
              <a:t>12/15/25</a:t>
            </a:fld>
            <a:endParaRPr lang="en-US"/>
          </a:p>
        </p:txBody>
      </p:sp>
      <p:sp>
        <p:nvSpPr>
          <p:cNvPr id="6" name="Footer Placeholder 5">
            <a:extLst>
              <a:ext uri="{FF2B5EF4-FFF2-40B4-BE49-F238E27FC236}">
                <a16:creationId xmlns:a16="http://schemas.microsoft.com/office/drawing/2014/main" id="{6A0224A6-9813-7A49-93B4-DFF537E0E0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C0A323D-88F6-1CA2-8D76-6D058C81B65F}"/>
              </a:ext>
            </a:extLst>
          </p:cNvPr>
          <p:cNvSpPr>
            <a:spLocks noGrp="1"/>
          </p:cNvSpPr>
          <p:nvPr>
            <p:ph type="sldNum" sz="quarter" idx="12"/>
          </p:nvPr>
        </p:nvSpPr>
        <p:spPr/>
        <p:txBody>
          <a:bodyPr/>
          <a:lstStyle/>
          <a:p>
            <a:fld id="{FA787F5B-C146-F44A-870A-578258E19B3E}" type="slidenum">
              <a:rPr lang="en-US" smtClean="0"/>
              <a:t>‹#›</a:t>
            </a:fld>
            <a:endParaRPr lang="en-US"/>
          </a:p>
        </p:txBody>
      </p:sp>
    </p:spTree>
    <p:extLst>
      <p:ext uri="{BB962C8B-B14F-4D97-AF65-F5344CB8AC3E}">
        <p14:creationId xmlns:p14="http://schemas.microsoft.com/office/powerpoint/2010/main" val="13914823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FFB63-D12B-E86D-5599-F1A7F9803FA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5E8846A-C096-26C3-D485-F5603D86B4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D606FF0-AEAF-18B3-C4BD-148A5B89909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5F4A410A-7469-F073-5E26-0F9814E263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34427CD-022E-96A7-17DD-DCC15EBF793E}"/>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F96E4ACD-385D-3CB2-BC87-0FDA27F3AF52}"/>
              </a:ext>
            </a:extLst>
          </p:cNvPr>
          <p:cNvSpPr>
            <a:spLocks noGrp="1"/>
          </p:cNvSpPr>
          <p:nvPr>
            <p:ph type="dt" sz="half" idx="10"/>
          </p:nvPr>
        </p:nvSpPr>
        <p:spPr/>
        <p:txBody>
          <a:bodyPr/>
          <a:lstStyle/>
          <a:p>
            <a:fld id="{AB6E7CCF-48D4-5A42-87B5-F0FBFA848FC5}" type="datetimeFigureOut">
              <a:rPr lang="en-US" smtClean="0"/>
              <a:t>12/15/25</a:t>
            </a:fld>
            <a:endParaRPr lang="en-US"/>
          </a:p>
        </p:txBody>
      </p:sp>
      <p:sp>
        <p:nvSpPr>
          <p:cNvPr id="8" name="Footer Placeholder 7">
            <a:extLst>
              <a:ext uri="{FF2B5EF4-FFF2-40B4-BE49-F238E27FC236}">
                <a16:creationId xmlns:a16="http://schemas.microsoft.com/office/drawing/2014/main" id="{7E171B25-AE5D-7B67-DC9C-F7859E33D1D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02ADFB2-E50E-6CC4-5A0F-D09E48A1EC80}"/>
              </a:ext>
            </a:extLst>
          </p:cNvPr>
          <p:cNvSpPr>
            <a:spLocks noGrp="1"/>
          </p:cNvSpPr>
          <p:nvPr>
            <p:ph type="sldNum" sz="quarter" idx="12"/>
          </p:nvPr>
        </p:nvSpPr>
        <p:spPr/>
        <p:txBody>
          <a:bodyPr/>
          <a:lstStyle/>
          <a:p>
            <a:fld id="{FA787F5B-C146-F44A-870A-578258E19B3E}" type="slidenum">
              <a:rPr lang="en-US" smtClean="0"/>
              <a:t>‹#›</a:t>
            </a:fld>
            <a:endParaRPr lang="en-US"/>
          </a:p>
        </p:txBody>
      </p:sp>
    </p:spTree>
    <p:extLst>
      <p:ext uri="{BB962C8B-B14F-4D97-AF65-F5344CB8AC3E}">
        <p14:creationId xmlns:p14="http://schemas.microsoft.com/office/powerpoint/2010/main" val="31889729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847C5-B5EA-315F-6730-70FB5CFA8C5D}"/>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304EF98B-D6FD-47C7-4142-0B2478E07AF4}"/>
              </a:ext>
            </a:extLst>
          </p:cNvPr>
          <p:cNvSpPr>
            <a:spLocks noGrp="1"/>
          </p:cNvSpPr>
          <p:nvPr>
            <p:ph type="dt" sz="half" idx="10"/>
          </p:nvPr>
        </p:nvSpPr>
        <p:spPr/>
        <p:txBody>
          <a:bodyPr/>
          <a:lstStyle/>
          <a:p>
            <a:fld id="{AB6E7CCF-48D4-5A42-87B5-F0FBFA848FC5}" type="datetimeFigureOut">
              <a:rPr lang="en-US" smtClean="0"/>
              <a:t>12/15/25</a:t>
            </a:fld>
            <a:endParaRPr lang="en-US"/>
          </a:p>
        </p:txBody>
      </p:sp>
      <p:sp>
        <p:nvSpPr>
          <p:cNvPr id="4" name="Footer Placeholder 3">
            <a:extLst>
              <a:ext uri="{FF2B5EF4-FFF2-40B4-BE49-F238E27FC236}">
                <a16:creationId xmlns:a16="http://schemas.microsoft.com/office/drawing/2014/main" id="{A33775CD-6F6D-765E-1A9F-C09AE07F401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EA820F2-C394-0CA4-32E7-F8611E34A5A4}"/>
              </a:ext>
            </a:extLst>
          </p:cNvPr>
          <p:cNvSpPr>
            <a:spLocks noGrp="1"/>
          </p:cNvSpPr>
          <p:nvPr>
            <p:ph type="sldNum" sz="quarter" idx="12"/>
          </p:nvPr>
        </p:nvSpPr>
        <p:spPr/>
        <p:txBody>
          <a:bodyPr/>
          <a:lstStyle/>
          <a:p>
            <a:fld id="{FA787F5B-C146-F44A-870A-578258E19B3E}" type="slidenum">
              <a:rPr lang="en-US" smtClean="0"/>
              <a:t>‹#›</a:t>
            </a:fld>
            <a:endParaRPr lang="en-US"/>
          </a:p>
        </p:txBody>
      </p:sp>
    </p:spTree>
    <p:extLst>
      <p:ext uri="{BB962C8B-B14F-4D97-AF65-F5344CB8AC3E}">
        <p14:creationId xmlns:p14="http://schemas.microsoft.com/office/powerpoint/2010/main" val="31528408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97DFB1-9CEB-56A2-5978-4C07FC491215}"/>
              </a:ext>
            </a:extLst>
          </p:cNvPr>
          <p:cNvSpPr>
            <a:spLocks noGrp="1"/>
          </p:cNvSpPr>
          <p:nvPr>
            <p:ph type="dt" sz="half" idx="10"/>
          </p:nvPr>
        </p:nvSpPr>
        <p:spPr/>
        <p:txBody>
          <a:bodyPr/>
          <a:lstStyle/>
          <a:p>
            <a:fld id="{AB6E7CCF-48D4-5A42-87B5-F0FBFA848FC5}" type="datetimeFigureOut">
              <a:rPr lang="en-US" smtClean="0"/>
              <a:t>12/15/25</a:t>
            </a:fld>
            <a:endParaRPr lang="en-US"/>
          </a:p>
        </p:txBody>
      </p:sp>
      <p:sp>
        <p:nvSpPr>
          <p:cNvPr id="3" name="Footer Placeholder 2">
            <a:extLst>
              <a:ext uri="{FF2B5EF4-FFF2-40B4-BE49-F238E27FC236}">
                <a16:creationId xmlns:a16="http://schemas.microsoft.com/office/drawing/2014/main" id="{B2D6159D-DF0D-8C3D-5A78-57D01F9866A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51B3C47-58DC-811C-1A4B-F3661AF77F84}"/>
              </a:ext>
            </a:extLst>
          </p:cNvPr>
          <p:cNvSpPr>
            <a:spLocks noGrp="1"/>
          </p:cNvSpPr>
          <p:nvPr>
            <p:ph type="sldNum" sz="quarter" idx="12"/>
          </p:nvPr>
        </p:nvSpPr>
        <p:spPr/>
        <p:txBody>
          <a:bodyPr/>
          <a:lstStyle/>
          <a:p>
            <a:fld id="{FA787F5B-C146-F44A-870A-578258E19B3E}" type="slidenum">
              <a:rPr lang="en-US" smtClean="0"/>
              <a:t>‹#›</a:t>
            </a:fld>
            <a:endParaRPr lang="en-US"/>
          </a:p>
        </p:txBody>
      </p:sp>
    </p:spTree>
    <p:extLst>
      <p:ext uri="{BB962C8B-B14F-4D97-AF65-F5344CB8AC3E}">
        <p14:creationId xmlns:p14="http://schemas.microsoft.com/office/powerpoint/2010/main" val="35816812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CD67-2208-7850-B4F2-62737C2A43F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CC7213FF-8571-0F71-6168-8CD71797D1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7296FBA-0D98-2E27-12BA-9579503F24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029AAA5-CA0F-9D06-3150-1D1AA4B74683}"/>
              </a:ext>
            </a:extLst>
          </p:cNvPr>
          <p:cNvSpPr>
            <a:spLocks noGrp="1"/>
          </p:cNvSpPr>
          <p:nvPr>
            <p:ph type="dt" sz="half" idx="10"/>
          </p:nvPr>
        </p:nvSpPr>
        <p:spPr/>
        <p:txBody>
          <a:bodyPr/>
          <a:lstStyle/>
          <a:p>
            <a:fld id="{AB6E7CCF-48D4-5A42-87B5-F0FBFA848FC5}" type="datetimeFigureOut">
              <a:rPr lang="en-US" smtClean="0"/>
              <a:t>12/15/25</a:t>
            </a:fld>
            <a:endParaRPr lang="en-US"/>
          </a:p>
        </p:txBody>
      </p:sp>
      <p:sp>
        <p:nvSpPr>
          <p:cNvPr id="6" name="Footer Placeholder 5">
            <a:extLst>
              <a:ext uri="{FF2B5EF4-FFF2-40B4-BE49-F238E27FC236}">
                <a16:creationId xmlns:a16="http://schemas.microsoft.com/office/drawing/2014/main" id="{E7088C35-C57E-2F7E-DA97-54D8AC26D4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ABCEBC-979A-5E3C-44BB-9840B2362477}"/>
              </a:ext>
            </a:extLst>
          </p:cNvPr>
          <p:cNvSpPr>
            <a:spLocks noGrp="1"/>
          </p:cNvSpPr>
          <p:nvPr>
            <p:ph type="sldNum" sz="quarter" idx="12"/>
          </p:nvPr>
        </p:nvSpPr>
        <p:spPr/>
        <p:txBody>
          <a:bodyPr/>
          <a:lstStyle/>
          <a:p>
            <a:fld id="{FA787F5B-C146-F44A-870A-578258E19B3E}" type="slidenum">
              <a:rPr lang="en-US" smtClean="0"/>
              <a:t>‹#›</a:t>
            </a:fld>
            <a:endParaRPr lang="en-US"/>
          </a:p>
        </p:txBody>
      </p:sp>
    </p:spTree>
    <p:extLst>
      <p:ext uri="{BB962C8B-B14F-4D97-AF65-F5344CB8AC3E}">
        <p14:creationId xmlns:p14="http://schemas.microsoft.com/office/powerpoint/2010/main" val="24644654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83BBE-7351-C27B-4DD7-2CFE96F00E7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77DDFBD4-08A7-3F40-4CDF-27497F1F469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A4D429E-2F8F-1A5F-C8ED-20529F1CE7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D484535-DAC3-ED7F-57C3-5AEBF6AE781D}"/>
              </a:ext>
            </a:extLst>
          </p:cNvPr>
          <p:cNvSpPr>
            <a:spLocks noGrp="1"/>
          </p:cNvSpPr>
          <p:nvPr>
            <p:ph type="dt" sz="half" idx="10"/>
          </p:nvPr>
        </p:nvSpPr>
        <p:spPr/>
        <p:txBody>
          <a:bodyPr/>
          <a:lstStyle/>
          <a:p>
            <a:fld id="{AB6E7CCF-48D4-5A42-87B5-F0FBFA848FC5}" type="datetimeFigureOut">
              <a:rPr lang="en-US" smtClean="0"/>
              <a:t>12/15/25</a:t>
            </a:fld>
            <a:endParaRPr lang="en-US"/>
          </a:p>
        </p:txBody>
      </p:sp>
      <p:sp>
        <p:nvSpPr>
          <p:cNvPr id="6" name="Footer Placeholder 5">
            <a:extLst>
              <a:ext uri="{FF2B5EF4-FFF2-40B4-BE49-F238E27FC236}">
                <a16:creationId xmlns:a16="http://schemas.microsoft.com/office/drawing/2014/main" id="{49A43FF7-6AA5-AA92-0761-BAB15B2102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704243-E5A4-CE77-BABA-EB85568562EC}"/>
              </a:ext>
            </a:extLst>
          </p:cNvPr>
          <p:cNvSpPr>
            <a:spLocks noGrp="1"/>
          </p:cNvSpPr>
          <p:nvPr>
            <p:ph type="sldNum" sz="quarter" idx="12"/>
          </p:nvPr>
        </p:nvSpPr>
        <p:spPr/>
        <p:txBody>
          <a:bodyPr/>
          <a:lstStyle/>
          <a:p>
            <a:fld id="{FA787F5B-C146-F44A-870A-578258E19B3E}" type="slidenum">
              <a:rPr lang="en-US" smtClean="0"/>
              <a:t>‹#›</a:t>
            </a:fld>
            <a:endParaRPr lang="en-US"/>
          </a:p>
        </p:txBody>
      </p:sp>
    </p:spTree>
    <p:extLst>
      <p:ext uri="{BB962C8B-B14F-4D97-AF65-F5344CB8AC3E}">
        <p14:creationId xmlns:p14="http://schemas.microsoft.com/office/powerpoint/2010/main" val="33632021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A8065-D405-6191-DCF7-A915C3934A9C}"/>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52F5020-6581-172A-B8B3-0D74E185622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E8C325B-8229-2085-BB8A-39EB2D5ADEEF}"/>
              </a:ext>
            </a:extLst>
          </p:cNvPr>
          <p:cNvSpPr>
            <a:spLocks noGrp="1"/>
          </p:cNvSpPr>
          <p:nvPr>
            <p:ph type="dt" sz="half" idx="10"/>
          </p:nvPr>
        </p:nvSpPr>
        <p:spPr/>
        <p:txBody>
          <a:bodyPr/>
          <a:lstStyle/>
          <a:p>
            <a:fld id="{AB6E7CCF-48D4-5A42-87B5-F0FBFA848FC5}" type="datetimeFigureOut">
              <a:rPr lang="en-US" smtClean="0"/>
              <a:t>12/15/25</a:t>
            </a:fld>
            <a:endParaRPr lang="en-US"/>
          </a:p>
        </p:txBody>
      </p:sp>
      <p:sp>
        <p:nvSpPr>
          <p:cNvPr id="5" name="Footer Placeholder 4">
            <a:extLst>
              <a:ext uri="{FF2B5EF4-FFF2-40B4-BE49-F238E27FC236}">
                <a16:creationId xmlns:a16="http://schemas.microsoft.com/office/drawing/2014/main" id="{7C00CBCB-44DA-4990-9DDE-3253598A87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60A175-229E-53B4-45A5-AFF7BA4A7F2B}"/>
              </a:ext>
            </a:extLst>
          </p:cNvPr>
          <p:cNvSpPr>
            <a:spLocks noGrp="1"/>
          </p:cNvSpPr>
          <p:nvPr>
            <p:ph type="sldNum" sz="quarter" idx="12"/>
          </p:nvPr>
        </p:nvSpPr>
        <p:spPr/>
        <p:txBody>
          <a:bodyPr/>
          <a:lstStyle/>
          <a:p>
            <a:fld id="{FA787F5B-C146-F44A-870A-578258E19B3E}" type="slidenum">
              <a:rPr lang="en-US" smtClean="0"/>
              <a:t>‹#›</a:t>
            </a:fld>
            <a:endParaRPr lang="en-US"/>
          </a:p>
        </p:txBody>
      </p:sp>
    </p:spTree>
    <p:extLst>
      <p:ext uri="{BB962C8B-B14F-4D97-AF65-F5344CB8AC3E}">
        <p14:creationId xmlns:p14="http://schemas.microsoft.com/office/powerpoint/2010/main" val="8754008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0945E0E-58D8-6BFA-47A6-9BBA887B87E6}"/>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B0AD782-CCFA-9D52-15D0-EBF9913EF26D}"/>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1A8B2C1-4AC0-55EC-8068-3F8DD6D83862}"/>
              </a:ext>
            </a:extLst>
          </p:cNvPr>
          <p:cNvSpPr>
            <a:spLocks noGrp="1"/>
          </p:cNvSpPr>
          <p:nvPr>
            <p:ph type="dt" sz="half" idx="10"/>
          </p:nvPr>
        </p:nvSpPr>
        <p:spPr/>
        <p:txBody>
          <a:bodyPr/>
          <a:lstStyle/>
          <a:p>
            <a:fld id="{AB6E7CCF-48D4-5A42-87B5-F0FBFA848FC5}" type="datetimeFigureOut">
              <a:rPr lang="en-US" smtClean="0"/>
              <a:t>12/15/25</a:t>
            </a:fld>
            <a:endParaRPr lang="en-US"/>
          </a:p>
        </p:txBody>
      </p:sp>
      <p:sp>
        <p:nvSpPr>
          <p:cNvPr id="5" name="Footer Placeholder 4">
            <a:extLst>
              <a:ext uri="{FF2B5EF4-FFF2-40B4-BE49-F238E27FC236}">
                <a16:creationId xmlns:a16="http://schemas.microsoft.com/office/drawing/2014/main" id="{7F4F45A8-CBB4-9723-E4FA-88AC76F0F5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7D5A7D-D202-3711-325A-B023F8968046}"/>
              </a:ext>
            </a:extLst>
          </p:cNvPr>
          <p:cNvSpPr>
            <a:spLocks noGrp="1"/>
          </p:cNvSpPr>
          <p:nvPr>
            <p:ph type="sldNum" sz="quarter" idx="12"/>
          </p:nvPr>
        </p:nvSpPr>
        <p:spPr/>
        <p:txBody>
          <a:bodyPr/>
          <a:lstStyle/>
          <a:p>
            <a:fld id="{FA787F5B-C146-F44A-870A-578258E19B3E}" type="slidenum">
              <a:rPr lang="en-US" smtClean="0"/>
              <a:t>‹#›</a:t>
            </a:fld>
            <a:endParaRPr lang="en-US"/>
          </a:p>
        </p:txBody>
      </p:sp>
    </p:spTree>
    <p:extLst>
      <p:ext uri="{BB962C8B-B14F-4D97-AF65-F5344CB8AC3E}">
        <p14:creationId xmlns:p14="http://schemas.microsoft.com/office/powerpoint/2010/main" val="28397742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CCD04D9-24CF-7B10-C733-BF948D2D62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214CAFD-A7E2-E4C8-806D-D1C8AB0032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366DB81-DEDC-52EF-3003-EDE3D8047B9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B6E7CCF-48D4-5A42-87B5-F0FBFA848FC5}" type="datetimeFigureOut">
              <a:rPr lang="en-US" smtClean="0"/>
              <a:t>12/15/25</a:t>
            </a:fld>
            <a:endParaRPr lang="en-US"/>
          </a:p>
        </p:txBody>
      </p:sp>
      <p:sp>
        <p:nvSpPr>
          <p:cNvPr id="5" name="Footer Placeholder 4">
            <a:extLst>
              <a:ext uri="{FF2B5EF4-FFF2-40B4-BE49-F238E27FC236}">
                <a16:creationId xmlns:a16="http://schemas.microsoft.com/office/drawing/2014/main" id="{63B795FE-C5C7-0464-2E19-0FF9EED37D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B09A23E-E6C1-A6D7-D8C3-6B5802D3AF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A787F5B-C146-F44A-870A-578258E19B3E}" type="slidenum">
              <a:rPr lang="en-US" smtClean="0"/>
              <a:t>‹#›</a:t>
            </a:fld>
            <a:endParaRPr lang="en-US"/>
          </a:p>
        </p:txBody>
      </p:sp>
    </p:spTree>
    <p:extLst>
      <p:ext uri="{BB962C8B-B14F-4D97-AF65-F5344CB8AC3E}">
        <p14:creationId xmlns:p14="http://schemas.microsoft.com/office/powerpoint/2010/main" val="1162242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4.svg"/><Relationship Id="rId13" Type="http://schemas.openxmlformats.org/officeDocument/2006/relationships/image" Target="../media/image19.png"/><Relationship Id="rId18" Type="http://schemas.openxmlformats.org/officeDocument/2006/relationships/image" Target="../media/image24.sv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svg"/><Relationship Id="rId17" Type="http://schemas.openxmlformats.org/officeDocument/2006/relationships/image" Target="../media/image23.png"/><Relationship Id="rId2" Type="http://schemas.openxmlformats.org/officeDocument/2006/relationships/notesSlide" Target="../notesSlides/notesSlide7.xml"/><Relationship Id="rId16" Type="http://schemas.openxmlformats.org/officeDocument/2006/relationships/image" Target="../media/image22.svg"/><Relationship Id="rId1" Type="http://schemas.openxmlformats.org/officeDocument/2006/relationships/slideLayout" Target="../slideLayouts/slideLayout2.xml"/><Relationship Id="rId6" Type="http://schemas.openxmlformats.org/officeDocument/2006/relationships/image" Target="../media/image12.svg"/><Relationship Id="rId11" Type="http://schemas.openxmlformats.org/officeDocument/2006/relationships/image" Target="../media/image17.png"/><Relationship Id="rId5" Type="http://schemas.openxmlformats.org/officeDocument/2006/relationships/image" Target="../media/image11.png"/><Relationship Id="rId15" Type="http://schemas.openxmlformats.org/officeDocument/2006/relationships/image" Target="../media/image2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 Id="rId14" Type="http://schemas.openxmlformats.org/officeDocument/2006/relationships/image" Target="../media/image20.svg"/></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slides/_rels/slide11.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thebluediamondgallery.com/typewriter/t/thank-you.html" TargetMode="External"/><Relationship Id="rId2" Type="http://schemas.openxmlformats.org/officeDocument/2006/relationships/image" Target="../media/image33.jpg"/><Relationship Id="rId1" Type="http://schemas.openxmlformats.org/officeDocument/2006/relationships/slideLayout" Target="../slideLayouts/slideLayout2.xml"/><Relationship Id="rId4" Type="http://schemas.openxmlformats.org/officeDocument/2006/relationships/hyperlink" Target="https://creativecommons.org/licenses/by-sa/3.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4468A5-B8DA-5F88-4F6C-90F1639F2DA4}"/>
              </a:ext>
            </a:extLst>
          </p:cNvPr>
          <p:cNvSpPr>
            <a:spLocks noGrp="1"/>
          </p:cNvSpPr>
          <p:nvPr>
            <p:ph type="ctrTitle"/>
          </p:nvPr>
        </p:nvSpPr>
        <p:spPr>
          <a:xfrm>
            <a:off x="345534" y="1324245"/>
            <a:ext cx="5750465" cy="2635993"/>
          </a:xfrm>
        </p:spPr>
        <p:txBody>
          <a:bodyPr anchor="b">
            <a:normAutofit fontScale="90000"/>
          </a:bodyPr>
          <a:lstStyle/>
          <a:p>
            <a:pPr algn="l"/>
            <a:br>
              <a:rPr lang="en-ZA" sz="1600" b="1" dirty="0"/>
            </a:br>
            <a:br>
              <a:rPr lang="en-ZA" sz="1600" b="1" dirty="0"/>
            </a:br>
            <a:br>
              <a:rPr lang="en-ZA" sz="1600" b="1" dirty="0"/>
            </a:br>
            <a:br>
              <a:rPr lang="en-ZA" sz="1600" b="1" dirty="0"/>
            </a:br>
            <a:br>
              <a:rPr lang="en-ZA" sz="1600" b="1" dirty="0"/>
            </a:br>
            <a:br>
              <a:rPr lang="en-ZA" sz="1600" b="1" dirty="0"/>
            </a:br>
            <a:br>
              <a:rPr lang="en-ZA" sz="1600" b="1" dirty="0"/>
            </a:br>
            <a:br>
              <a:rPr lang="en-ZA" sz="1600" b="1" dirty="0"/>
            </a:br>
            <a:r>
              <a:rPr lang="en-ZA" sz="4900" b="1" dirty="0"/>
              <a:t>Designing Collaborative Health Models</a:t>
            </a:r>
            <a:br>
              <a:rPr lang="en-ZA" sz="4000" dirty="0"/>
            </a:br>
            <a:br>
              <a:rPr lang="en-ZA" sz="4000" dirty="0"/>
            </a:br>
            <a:r>
              <a:rPr lang="en-ZA" sz="4000" dirty="0"/>
              <a:t>Preventive to Curative Pathways</a:t>
            </a:r>
            <a:br>
              <a:rPr lang="en-ZA" sz="1600" dirty="0"/>
            </a:br>
            <a:endParaRPr lang="en-US" sz="1600" dirty="0"/>
          </a:p>
        </p:txBody>
      </p:sp>
      <p:sp>
        <p:nvSpPr>
          <p:cNvPr id="20" name="Rectangle 19">
            <a:extLst>
              <a:ext uri="{FF2B5EF4-FFF2-40B4-BE49-F238E27FC236}">
                <a16:creationId xmlns:a16="http://schemas.microsoft.com/office/drawing/2014/main" id="{BC05CA36-AD6A-4ABF-9A05-52E5A143D2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4022214"/>
            <a:ext cx="12192000" cy="2835786"/>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D4331EE8-85A4-4588-8D9E-70E534D477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4022220"/>
            <a:ext cx="8153398" cy="2835780"/>
          </a:xfrm>
          <a:prstGeom prst="rect">
            <a:avLst/>
          </a:prstGeom>
          <a:gradFill>
            <a:gsLst>
              <a:gs pos="0">
                <a:srgbClr val="000000">
                  <a:alpha val="63000"/>
                </a:srgbClr>
              </a:gs>
              <a:gs pos="100000">
                <a:schemeClr val="accent1">
                  <a:lumMod val="7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49D6C862-61CC-4B46-8080-96583D653B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4022219"/>
            <a:ext cx="12253472" cy="2835781"/>
          </a:xfrm>
          <a:prstGeom prst="rect">
            <a:avLst/>
          </a:prstGeom>
          <a:gradFill>
            <a:gsLst>
              <a:gs pos="39000">
                <a:schemeClr val="accent1">
                  <a:lumMod val="50000"/>
                  <a:alpha val="0"/>
                </a:schemeClr>
              </a:gs>
              <a:gs pos="100000">
                <a:srgbClr val="000000">
                  <a:alpha val="72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ubtitle 2">
            <a:extLst>
              <a:ext uri="{FF2B5EF4-FFF2-40B4-BE49-F238E27FC236}">
                <a16:creationId xmlns:a16="http://schemas.microsoft.com/office/drawing/2014/main" id="{F850B13A-9153-7031-7EFC-33E1E30CA03C}"/>
              </a:ext>
            </a:extLst>
          </p:cNvPr>
          <p:cNvSpPr>
            <a:spLocks noGrp="1"/>
          </p:cNvSpPr>
          <p:nvPr>
            <p:ph type="subTitle" idx="1"/>
          </p:nvPr>
        </p:nvSpPr>
        <p:spPr>
          <a:xfrm>
            <a:off x="823442" y="4541263"/>
            <a:ext cx="5023566" cy="1550444"/>
          </a:xfrm>
        </p:spPr>
        <p:txBody>
          <a:bodyPr anchor="t">
            <a:noAutofit/>
          </a:bodyPr>
          <a:lstStyle/>
          <a:p>
            <a:pPr algn="l"/>
            <a:br>
              <a:rPr lang="en-ZA" sz="2000" dirty="0">
                <a:solidFill>
                  <a:srgbClr val="FFFFFF"/>
                </a:solidFill>
              </a:rPr>
            </a:br>
            <a:r>
              <a:rPr lang="en-ZA" sz="2000" dirty="0">
                <a:solidFill>
                  <a:srgbClr val="FFFFFF"/>
                </a:solidFill>
              </a:rPr>
              <a:t>Public Health Academy Symposium</a:t>
            </a:r>
          </a:p>
          <a:p>
            <a:pPr algn="l"/>
            <a:endParaRPr lang="en-ZA" sz="2000" dirty="0">
              <a:solidFill>
                <a:srgbClr val="FFFFFF"/>
              </a:solidFill>
            </a:endParaRPr>
          </a:p>
          <a:p>
            <a:pPr algn="l"/>
            <a:r>
              <a:rPr lang="en-ZA" sz="2000" dirty="0">
                <a:solidFill>
                  <a:srgbClr val="FFFFFF"/>
                </a:solidFill>
              </a:rPr>
              <a:t>Dr T. Phashe | Senior Lecturer</a:t>
            </a:r>
            <a:endParaRPr lang="en-US" sz="2000" dirty="0">
              <a:solidFill>
                <a:srgbClr val="FFFFFF"/>
              </a:solidFill>
            </a:endParaRPr>
          </a:p>
        </p:txBody>
      </p:sp>
      <p:pic>
        <p:nvPicPr>
          <p:cNvPr id="5" name="Video 4" descr="People Discussing">
            <a:extLst>
              <a:ext uri="{FF2B5EF4-FFF2-40B4-BE49-F238E27FC236}">
                <a16:creationId xmlns:a16="http://schemas.microsoft.com/office/drawing/2014/main" id="{DE4A3AF5-CCDA-418F-3FE4-6E043FFC8359}"/>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t="284" r="-1" b="-1"/>
          <a:stretch>
            <a:fillRect/>
          </a:stretch>
        </p:blipFill>
        <p:spPr>
          <a:xfrm>
            <a:off x="6096000" y="1162050"/>
            <a:ext cx="5640929" cy="3525927"/>
          </a:xfrm>
          <a:prstGeom prst="rect">
            <a:avLst/>
          </a:prstGeom>
        </p:spPr>
      </p:pic>
      <p:sp>
        <p:nvSpPr>
          <p:cNvPr id="26" name="Rectangle 25">
            <a:extLst>
              <a:ext uri="{FF2B5EF4-FFF2-40B4-BE49-F238E27FC236}">
                <a16:creationId xmlns:a16="http://schemas.microsoft.com/office/drawing/2014/main" id="{E37EECFC-A684-4391-AE85-4CDAF5565F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0797"/>
            <a:ext cx="12191998" cy="457203"/>
          </a:xfrm>
          <a:prstGeom prst="rect">
            <a:avLst/>
          </a:prstGeom>
          <a:gradFill>
            <a:gsLst>
              <a:gs pos="0">
                <a:srgbClr val="000000">
                  <a:alpha val="43000"/>
                </a:srgbClr>
              </a:gs>
              <a:gs pos="79000">
                <a:schemeClr val="accent1">
                  <a:lumMod val="75000"/>
                  <a:alpha val="2200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20699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08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mute="1">
                <p:cTn id="12" repeatCount="indefinite" fill="hold" display="0">
                  <p:stCondLst>
                    <p:cond delay="indefinite"/>
                  </p:stCondLst>
                </p:cTn>
                <p:tgtEl>
                  <p:spTgt spid="5"/>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Freeform: Shape 34">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7" name="Rectangle 36">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2E4690-B977-3255-AA23-B9204DE71F87}"/>
              </a:ext>
            </a:extLst>
          </p:cNvPr>
          <p:cNvSpPr>
            <a:spLocks noGrp="1"/>
          </p:cNvSpPr>
          <p:nvPr>
            <p:ph type="title"/>
          </p:nvPr>
        </p:nvSpPr>
        <p:spPr>
          <a:xfrm>
            <a:off x="574286" y="1906842"/>
            <a:ext cx="3115265" cy="2396359"/>
          </a:xfrm>
        </p:spPr>
        <p:txBody>
          <a:bodyPr anchor="ctr">
            <a:normAutofit fontScale="90000"/>
          </a:bodyPr>
          <a:lstStyle/>
          <a:p>
            <a:pPr algn="r"/>
            <a:br>
              <a:rPr lang="en-US" sz="4000" dirty="0">
                <a:solidFill>
                  <a:srgbClr val="FFFFFF"/>
                </a:solidFill>
              </a:rPr>
            </a:br>
            <a:br>
              <a:rPr lang="en-US" sz="4000" dirty="0">
                <a:solidFill>
                  <a:srgbClr val="FFFFFF"/>
                </a:solidFill>
              </a:rPr>
            </a:br>
            <a:br>
              <a:rPr lang="en-US" sz="4000" dirty="0">
                <a:solidFill>
                  <a:srgbClr val="FFFFFF"/>
                </a:solidFill>
              </a:rPr>
            </a:br>
            <a:br>
              <a:rPr lang="en-US" sz="4000" dirty="0">
                <a:solidFill>
                  <a:srgbClr val="FFFFFF"/>
                </a:solidFill>
              </a:rPr>
            </a:br>
            <a:r>
              <a:rPr lang="en-US" sz="4000" dirty="0">
                <a:solidFill>
                  <a:srgbClr val="FFFFFF"/>
                </a:solidFill>
              </a:rPr>
              <a:t>Designing Collaborative Health Models </a:t>
            </a:r>
            <a:br>
              <a:rPr lang="en-US" sz="4000" dirty="0">
                <a:solidFill>
                  <a:srgbClr val="FFFFFF"/>
                </a:solidFill>
              </a:rPr>
            </a:br>
            <a:br>
              <a:rPr lang="en-US" sz="4000" dirty="0">
                <a:solidFill>
                  <a:srgbClr val="FFFFFF"/>
                </a:solidFill>
              </a:rPr>
            </a:br>
            <a:endParaRPr lang="en-US" sz="4000" dirty="0">
              <a:solidFill>
                <a:srgbClr val="FFFFFF"/>
              </a:solidFill>
            </a:endParaRPr>
          </a:p>
        </p:txBody>
      </p:sp>
      <p:sp>
        <p:nvSpPr>
          <p:cNvPr id="5" name="Title 1">
            <a:extLst>
              <a:ext uri="{FF2B5EF4-FFF2-40B4-BE49-F238E27FC236}">
                <a16:creationId xmlns:a16="http://schemas.microsoft.com/office/drawing/2014/main" id="{A3902C28-6B31-EDA6-4E72-11CAEFDEEE9B}"/>
              </a:ext>
            </a:extLst>
          </p:cNvPr>
          <p:cNvSpPr txBox="1">
            <a:spLocks/>
          </p:cNvSpPr>
          <p:nvPr/>
        </p:nvSpPr>
        <p:spPr>
          <a:xfrm>
            <a:off x="4623540" y="296313"/>
            <a:ext cx="7132320" cy="690156"/>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Why This Conversation Matters</a:t>
            </a:r>
          </a:p>
        </p:txBody>
      </p:sp>
      <p:cxnSp>
        <p:nvCxnSpPr>
          <p:cNvPr id="7" name="Straight Connector 6">
            <a:extLst>
              <a:ext uri="{FF2B5EF4-FFF2-40B4-BE49-F238E27FC236}">
                <a16:creationId xmlns:a16="http://schemas.microsoft.com/office/drawing/2014/main" id="{C9302FAC-1D6A-D18E-CC38-8675AE5B2BEE}"/>
              </a:ext>
            </a:extLst>
          </p:cNvPr>
          <p:cNvCxnSpPr/>
          <p:nvPr/>
        </p:nvCxnSpPr>
        <p:spPr>
          <a:xfrm>
            <a:off x="4746573" y="1009770"/>
            <a:ext cx="6886254" cy="0"/>
          </a:xfrm>
          <a:prstGeom prst="line">
            <a:avLst/>
          </a:prstGeom>
        </p:spPr>
        <p:style>
          <a:lnRef idx="2">
            <a:schemeClr val="accent1"/>
          </a:lnRef>
          <a:fillRef idx="0">
            <a:schemeClr val="accent1"/>
          </a:fillRef>
          <a:effectRef idx="1">
            <a:schemeClr val="accent1"/>
          </a:effectRef>
          <a:fontRef idx="minor">
            <a:schemeClr val="tx1"/>
          </a:fontRef>
        </p:style>
      </p:cxnSp>
      <p:sp>
        <p:nvSpPr>
          <p:cNvPr id="15" name="Content Placeholder 14">
            <a:extLst>
              <a:ext uri="{FF2B5EF4-FFF2-40B4-BE49-F238E27FC236}">
                <a16:creationId xmlns:a16="http://schemas.microsoft.com/office/drawing/2014/main" id="{A471C370-4E77-A50A-E6E4-9B2A804610F9}"/>
              </a:ext>
            </a:extLst>
          </p:cNvPr>
          <p:cNvSpPr>
            <a:spLocks noGrp="1"/>
          </p:cNvSpPr>
          <p:nvPr>
            <p:ph idx="1"/>
          </p:nvPr>
        </p:nvSpPr>
        <p:spPr>
          <a:xfrm>
            <a:off x="4643959" y="1734914"/>
            <a:ext cx="7267625" cy="4351338"/>
          </a:xfrm>
        </p:spPr>
        <p:txBody>
          <a:bodyPr>
            <a:normAutofit/>
          </a:bodyPr>
          <a:lstStyle/>
          <a:p>
            <a:r>
              <a:rPr lang="en-US" dirty="0"/>
              <a:t>South Africa faces a quadruple burden of disease with overlapping health needs</a:t>
            </a:r>
          </a:p>
          <a:p>
            <a:pPr marL="0" indent="0">
              <a:buNone/>
            </a:pPr>
            <a:endParaRPr lang="en-US" dirty="0"/>
          </a:p>
          <a:p>
            <a:r>
              <a:rPr lang="en-US" dirty="0"/>
              <a:t>These burdens interact across the life course and within individuals</a:t>
            </a:r>
          </a:p>
          <a:p>
            <a:pPr marL="0" indent="0">
              <a:buNone/>
            </a:pPr>
            <a:endParaRPr lang="en-US" dirty="0"/>
          </a:p>
          <a:p>
            <a:r>
              <a:rPr lang="en-US" dirty="0"/>
              <a:t>Health systems must respond to complexity, not single conditions</a:t>
            </a:r>
          </a:p>
          <a:p>
            <a:endParaRPr lang="en-US" dirty="0"/>
          </a:p>
          <a:p>
            <a:endParaRPr lang="en-US" dirty="0"/>
          </a:p>
        </p:txBody>
      </p:sp>
    </p:spTree>
    <p:extLst>
      <p:ext uri="{BB962C8B-B14F-4D97-AF65-F5344CB8AC3E}">
        <p14:creationId xmlns:p14="http://schemas.microsoft.com/office/powerpoint/2010/main" val="41815626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A727036-BB75-0086-AE25-2A0515962702}"/>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9125DFBA-A8F8-2C6F-DA88-07153BC739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A72993E-5AD9-217E-7BFB-6F911EC847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8F5AECA4-FF0C-408C-AED3-4685201783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CAB6D5D8-6A55-E46A-8A4B-D4897FE804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Freeform: Shape 34">
            <a:extLst>
              <a:ext uri="{FF2B5EF4-FFF2-40B4-BE49-F238E27FC236}">
                <a16:creationId xmlns:a16="http://schemas.microsoft.com/office/drawing/2014/main" id="{2089A512-D62D-CF86-D40E-53FA7D514A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7" name="Rectangle 36">
            <a:extLst>
              <a:ext uri="{FF2B5EF4-FFF2-40B4-BE49-F238E27FC236}">
                <a16:creationId xmlns:a16="http://schemas.microsoft.com/office/drawing/2014/main" id="{87C9F79D-5ADB-6997-450E-85D302AD3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DC4DE7-BC49-48D8-6B4E-365D98F521E0}"/>
              </a:ext>
            </a:extLst>
          </p:cNvPr>
          <p:cNvSpPr>
            <a:spLocks noGrp="1"/>
          </p:cNvSpPr>
          <p:nvPr>
            <p:ph type="title"/>
          </p:nvPr>
        </p:nvSpPr>
        <p:spPr>
          <a:xfrm>
            <a:off x="574286" y="1906842"/>
            <a:ext cx="3115265" cy="2396359"/>
          </a:xfrm>
        </p:spPr>
        <p:txBody>
          <a:bodyPr anchor="ctr">
            <a:normAutofit fontScale="90000"/>
          </a:bodyPr>
          <a:lstStyle/>
          <a:p>
            <a:pPr algn="r"/>
            <a:br>
              <a:rPr lang="en-US" sz="4000" dirty="0">
                <a:solidFill>
                  <a:srgbClr val="FFFFFF"/>
                </a:solidFill>
              </a:rPr>
            </a:br>
            <a:br>
              <a:rPr lang="en-US" sz="4000" dirty="0">
                <a:solidFill>
                  <a:srgbClr val="FFFFFF"/>
                </a:solidFill>
              </a:rPr>
            </a:br>
            <a:br>
              <a:rPr lang="en-US" sz="4000" dirty="0">
                <a:solidFill>
                  <a:srgbClr val="FFFFFF"/>
                </a:solidFill>
              </a:rPr>
            </a:br>
            <a:br>
              <a:rPr lang="en-US" sz="4000" dirty="0">
                <a:solidFill>
                  <a:srgbClr val="FFFFFF"/>
                </a:solidFill>
              </a:rPr>
            </a:br>
            <a:r>
              <a:rPr lang="en-US" sz="4000" dirty="0">
                <a:solidFill>
                  <a:srgbClr val="FFFFFF"/>
                </a:solidFill>
              </a:rPr>
              <a:t>What is going wrong?  </a:t>
            </a:r>
            <a:br>
              <a:rPr lang="en-US" sz="4000" dirty="0">
                <a:solidFill>
                  <a:srgbClr val="FFFFFF"/>
                </a:solidFill>
              </a:rPr>
            </a:br>
            <a:endParaRPr lang="en-US" sz="4000" dirty="0">
              <a:solidFill>
                <a:srgbClr val="FFFFFF"/>
              </a:solidFill>
            </a:endParaRPr>
          </a:p>
        </p:txBody>
      </p:sp>
      <p:sp>
        <p:nvSpPr>
          <p:cNvPr id="5" name="Title 1">
            <a:extLst>
              <a:ext uri="{FF2B5EF4-FFF2-40B4-BE49-F238E27FC236}">
                <a16:creationId xmlns:a16="http://schemas.microsoft.com/office/drawing/2014/main" id="{E0541E6E-97E3-CE69-2EE7-B91A36478BA7}"/>
              </a:ext>
            </a:extLst>
          </p:cNvPr>
          <p:cNvSpPr txBox="1">
            <a:spLocks/>
          </p:cNvSpPr>
          <p:nvPr/>
        </p:nvSpPr>
        <p:spPr>
          <a:xfrm>
            <a:off x="4623540" y="296313"/>
            <a:ext cx="7132320" cy="690156"/>
          </a:xfrm>
          <a:prstGeom prst="rect">
            <a:avLst/>
          </a:prstGeom>
        </p:spPr>
        <p:txBody>
          <a:bodyPr vert="horz" lIns="91440" tIns="45720" rIns="91440" bIns="45720" rtlCol="0" anchor="ctr">
            <a:normAutofit fontScale="6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Fragmentation of Care Across the Continuum</a:t>
            </a:r>
          </a:p>
        </p:txBody>
      </p:sp>
      <p:cxnSp>
        <p:nvCxnSpPr>
          <p:cNvPr id="7" name="Straight Connector 6">
            <a:extLst>
              <a:ext uri="{FF2B5EF4-FFF2-40B4-BE49-F238E27FC236}">
                <a16:creationId xmlns:a16="http://schemas.microsoft.com/office/drawing/2014/main" id="{40245B5D-16DF-4C78-1711-F83CE1ABEFFD}"/>
              </a:ext>
            </a:extLst>
          </p:cNvPr>
          <p:cNvCxnSpPr/>
          <p:nvPr/>
        </p:nvCxnSpPr>
        <p:spPr>
          <a:xfrm>
            <a:off x="4746573" y="1009770"/>
            <a:ext cx="6886254" cy="0"/>
          </a:xfrm>
          <a:prstGeom prst="line">
            <a:avLst/>
          </a:prstGeom>
        </p:spPr>
        <p:style>
          <a:lnRef idx="2">
            <a:schemeClr val="accent1"/>
          </a:lnRef>
          <a:fillRef idx="0">
            <a:schemeClr val="accent1"/>
          </a:fillRef>
          <a:effectRef idx="1">
            <a:schemeClr val="accent1"/>
          </a:effectRef>
          <a:fontRef idx="minor">
            <a:schemeClr val="tx1"/>
          </a:fontRef>
        </p:style>
      </p:cxnSp>
      <p:sp>
        <p:nvSpPr>
          <p:cNvPr id="15" name="Content Placeholder 14">
            <a:extLst>
              <a:ext uri="{FF2B5EF4-FFF2-40B4-BE49-F238E27FC236}">
                <a16:creationId xmlns:a16="http://schemas.microsoft.com/office/drawing/2014/main" id="{2E2FB034-CF6C-1387-E993-EA9C9D704654}"/>
              </a:ext>
            </a:extLst>
          </p:cNvPr>
          <p:cNvSpPr>
            <a:spLocks noGrp="1"/>
          </p:cNvSpPr>
          <p:nvPr>
            <p:ph idx="1"/>
          </p:nvPr>
        </p:nvSpPr>
        <p:spPr>
          <a:xfrm>
            <a:off x="4623541" y="1282782"/>
            <a:ext cx="7390658" cy="5278905"/>
          </a:xfrm>
        </p:spPr>
        <p:txBody>
          <a:bodyPr anchor="ctr">
            <a:normAutofit/>
          </a:bodyPr>
          <a:lstStyle/>
          <a:p>
            <a:pPr>
              <a:spcBef>
                <a:spcPts val="2200"/>
              </a:spcBef>
            </a:pPr>
            <a:r>
              <a:rPr lang="en-US" dirty="0"/>
              <a:t>We do not have a resource problem only; we have a design problem</a:t>
            </a:r>
          </a:p>
          <a:p>
            <a:pPr>
              <a:spcBef>
                <a:spcPts val="2200"/>
              </a:spcBef>
            </a:pPr>
            <a:r>
              <a:rPr lang="en-US" dirty="0"/>
              <a:t>Preventive and curative services function in parallel rather than as a continuum</a:t>
            </a:r>
          </a:p>
          <a:p>
            <a:pPr>
              <a:spcBef>
                <a:spcPts val="2200"/>
              </a:spcBef>
            </a:pPr>
            <a:r>
              <a:rPr lang="en-US" dirty="0"/>
              <a:t>Weak coordination across community, primary, and hospital services</a:t>
            </a:r>
          </a:p>
          <a:p>
            <a:pPr>
              <a:spcBef>
                <a:spcPts val="2200"/>
              </a:spcBef>
            </a:pPr>
            <a:r>
              <a:rPr lang="en-US" dirty="0"/>
              <a:t>Patients experience fragmentation of care across services</a:t>
            </a:r>
          </a:p>
          <a:p>
            <a:pPr>
              <a:spcBef>
                <a:spcPts val="2200"/>
              </a:spcBef>
            </a:pPr>
            <a:endParaRPr lang="en-US" dirty="0"/>
          </a:p>
        </p:txBody>
      </p:sp>
    </p:spTree>
    <p:extLst>
      <p:ext uri="{BB962C8B-B14F-4D97-AF65-F5344CB8AC3E}">
        <p14:creationId xmlns:p14="http://schemas.microsoft.com/office/powerpoint/2010/main" val="13238715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036E8C0-E3CE-87C3-CFE0-CBB60488AC0F}"/>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CAF7789A-EEDF-FAB3-177E-054CA806F4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C7872D68-DB4C-2DE5-2036-2A1F8DE047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BD6D71EC-1907-BD3C-ACC9-D9A240E941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763945A2-E8CA-90B1-0B38-57C52F255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Freeform: Shape 34">
            <a:extLst>
              <a:ext uri="{FF2B5EF4-FFF2-40B4-BE49-F238E27FC236}">
                <a16:creationId xmlns:a16="http://schemas.microsoft.com/office/drawing/2014/main" id="{10D2C57B-4A32-5B78-B6C3-DD9FB857E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7" name="Rectangle 36">
            <a:extLst>
              <a:ext uri="{FF2B5EF4-FFF2-40B4-BE49-F238E27FC236}">
                <a16:creationId xmlns:a16="http://schemas.microsoft.com/office/drawing/2014/main" id="{D3A1FB0A-F01C-4F21-F4A1-EB845B5E3D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B91713-D631-C9CB-0FF6-89878E5ABCE4}"/>
              </a:ext>
            </a:extLst>
          </p:cNvPr>
          <p:cNvSpPr>
            <a:spLocks noGrp="1"/>
          </p:cNvSpPr>
          <p:nvPr>
            <p:ph type="title"/>
          </p:nvPr>
        </p:nvSpPr>
        <p:spPr>
          <a:xfrm>
            <a:off x="574286" y="1906842"/>
            <a:ext cx="3115265" cy="2396359"/>
          </a:xfrm>
        </p:spPr>
        <p:txBody>
          <a:bodyPr anchor="ctr">
            <a:normAutofit fontScale="90000"/>
          </a:bodyPr>
          <a:lstStyle/>
          <a:p>
            <a:pPr algn="r"/>
            <a:br>
              <a:rPr lang="en-US" sz="4000" dirty="0">
                <a:solidFill>
                  <a:srgbClr val="FFFFFF"/>
                </a:solidFill>
              </a:rPr>
            </a:br>
            <a:br>
              <a:rPr lang="en-US" sz="4000" dirty="0">
                <a:solidFill>
                  <a:srgbClr val="FFFFFF"/>
                </a:solidFill>
              </a:rPr>
            </a:br>
            <a:br>
              <a:rPr lang="en-US" sz="4000" dirty="0">
                <a:solidFill>
                  <a:srgbClr val="FFFFFF"/>
                </a:solidFill>
              </a:rPr>
            </a:br>
            <a:br>
              <a:rPr lang="en-US" sz="4000" dirty="0">
                <a:solidFill>
                  <a:srgbClr val="FFFFFF"/>
                </a:solidFill>
              </a:rPr>
            </a:br>
            <a:r>
              <a:rPr lang="en-US" sz="4000" dirty="0">
                <a:solidFill>
                  <a:srgbClr val="FFFFFF"/>
                </a:solidFill>
              </a:rPr>
              <a:t>Why does this keep happening?</a:t>
            </a:r>
            <a:br>
              <a:rPr lang="en-US" sz="4000" dirty="0">
                <a:solidFill>
                  <a:srgbClr val="FFFFFF"/>
                </a:solidFill>
              </a:rPr>
            </a:br>
            <a:endParaRPr lang="en-US" sz="4000" dirty="0">
              <a:solidFill>
                <a:srgbClr val="FFFFFF"/>
              </a:solidFill>
            </a:endParaRPr>
          </a:p>
        </p:txBody>
      </p:sp>
      <p:sp>
        <p:nvSpPr>
          <p:cNvPr id="5" name="Title 1">
            <a:extLst>
              <a:ext uri="{FF2B5EF4-FFF2-40B4-BE49-F238E27FC236}">
                <a16:creationId xmlns:a16="http://schemas.microsoft.com/office/drawing/2014/main" id="{59AD7490-29CB-C612-84BA-C6E2E47130B5}"/>
              </a:ext>
            </a:extLst>
          </p:cNvPr>
          <p:cNvSpPr txBox="1">
            <a:spLocks/>
          </p:cNvSpPr>
          <p:nvPr/>
        </p:nvSpPr>
        <p:spPr>
          <a:xfrm>
            <a:off x="4623540" y="296313"/>
            <a:ext cx="7132320" cy="690156"/>
          </a:xfrm>
          <a:prstGeom prst="rect">
            <a:avLst/>
          </a:prstGeom>
        </p:spPr>
        <p:txBody>
          <a:bodyPr vert="horz" lIns="91440" tIns="45720" rIns="91440" bIns="45720" rtlCol="0" anchor="ctr">
            <a:normAutofit fontScale="6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Traditional Models Fall Short of Integrated Care</a:t>
            </a:r>
          </a:p>
        </p:txBody>
      </p:sp>
      <p:cxnSp>
        <p:nvCxnSpPr>
          <p:cNvPr id="7" name="Straight Connector 6">
            <a:extLst>
              <a:ext uri="{FF2B5EF4-FFF2-40B4-BE49-F238E27FC236}">
                <a16:creationId xmlns:a16="http://schemas.microsoft.com/office/drawing/2014/main" id="{08806234-6F1B-DBD4-5230-6B8D60FD8E3A}"/>
              </a:ext>
            </a:extLst>
          </p:cNvPr>
          <p:cNvCxnSpPr/>
          <p:nvPr/>
        </p:nvCxnSpPr>
        <p:spPr>
          <a:xfrm>
            <a:off x="4746573" y="1009770"/>
            <a:ext cx="6886254" cy="0"/>
          </a:xfrm>
          <a:prstGeom prst="line">
            <a:avLst/>
          </a:prstGeom>
        </p:spPr>
        <p:style>
          <a:lnRef idx="2">
            <a:schemeClr val="accent1"/>
          </a:lnRef>
          <a:fillRef idx="0">
            <a:schemeClr val="accent1"/>
          </a:fillRef>
          <a:effectRef idx="1">
            <a:schemeClr val="accent1"/>
          </a:effectRef>
          <a:fontRef idx="minor">
            <a:schemeClr val="tx1"/>
          </a:fontRef>
        </p:style>
      </p:cxnSp>
      <p:sp>
        <p:nvSpPr>
          <p:cNvPr id="15" name="Content Placeholder 14">
            <a:extLst>
              <a:ext uri="{FF2B5EF4-FFF2-40B4-BE49-F238E27FC236}">
                <a16:creationId xmlns:a16="http://schemas.microsoft.com/office/drawing/2014/main" id="{D9B21DA1-A11C-127F-7E73-5A180B5B4E70}"/>
              </a:ext>
            </a:extLst>
          </p:cNvPr>
          <p:cNvSpPr>
            <a:spLocks noGrp="1"/>
          </p:cNvSpPr>
          <p:nvPr>
            <p:ph idx="1"/>
          </p:nvPr>
        </p:nvSpPr>
        <p:spPr>
          <a:xfrm>
            <a:off x="4623541" y="1282782"/>
            <a:ext cx="7390658" cy="5278905"/>
          </a:xfrm>
        </p:spPr>
        <p:txBody>
          <a:bodyPr anchor="ctr">
            <a:normAutofit/>
          </a:bodyPr>
          <a:lstStyle/>
          <a:p>
            <a:pPr>
              <a:spcBef>
                <a:spcPts val="2200"/>
              </a:spcBef>
            </a:pPr>
            <a:r>
              <a:rPr lang="en-US" dirty="0"/>
              <a:t>Disease-specific models are poorly suited to overlapping health needs</a:t>
            </a:r>
          </a:p>
          <a:p>
            <a:pPr>
              <a:spcBef>
                <a:spcPts val="2200"/>
              </a:spcBef>
            </a:pPr>
            <a:endParaRPr lang="en-US" dirty="0"/>
          </a:p>
          <a:p>
            <a:pPr>
              <a:spcBef>
                <a:spcPts val="2200"/>
              </a:spcBef>
            </a:pPr>
            <a:r>
              <a:rPr lang="en-US" dirty="0"/>
              <a:t>Preventive, curative, and rehabilitative care are planned separately</a:t>
            </a:r>
          </a:p>
          <a:p>
            <a:pPr>
              <a:spcBef>
                <a:spcPts val="2200"/>
              </a:spcBef>
            </a:pPr>
            <a:endParaRPr lang="en-US" dirty="0"/>
          </a:p>
          <a:p>
            <a:pPr>
              <a:spcBef>
                <a:spcPts val="2200"/>
              </a:spcBef>
            </a:pPr>
            <a:r>
              <a:rPr lang="en-US" dirty="0"/>
              <a:t>Multidisciplinary practice lacks shared pathways and accountability</a:t>
            </a:r>
          </a:p>
        </p:txBody>
      </p:sp>
    </p:spTree>
    <p:extLst>
      <p:ext uri="{BB962C8B-B14F-4D97-AF65-F5344CB8AC3E}">
        <p14:creationId xmlns:p14="http://schemas.microsoft.com/office/powerpoint/2010/main" val="13436324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93893F0-9A59-C03A-FC37-0AEF7CE323E2}"/>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8E3C753D-A25C-C1FD-26E9-F38764C18A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605EB9C8-A7E8-623A-B150-DA3A4E446F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5B50824D-6D89-35DC-F56E-BC1A874B15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064E980B-C017-5F6E-4AB3-1A2BA25298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Freeform: Shape 34">
            <a:extLst>
              <a:ext uri="{FF2B5EF4-FFF2-40B4-BE49-F238E27FC236}">
                <a16:creationId xmlns:a16="http://schemas.microsoft.com/office/drawing/2014/main" id="{52F055F8-3896-A0F3-12EB-A05340B4D4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7" name="Rectangle 36">
            <a:extLst>
              <a:ext uri="{FF2B5EF4-FFF2-40B4-BE49-F238E27FC236}">
                <a16:creationId xmlns:a16="http://schemas.microsoft.com/office/drawing/2014/main" id="{A06CBFAF-DA59-4279-4144-C66C5BF622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4FA53D5-680B-A812-27CD-D04D350FBA1F}"/>
              </a:ext>
            </a:extLst>
          </p:cNvPr>
          <p:cNvSpPr>
            <a:spLocks noGrp="1"/>
          </p:cNvSpPr>
          <p:nvPr>
            <p:ph type="title"/>
          </p:nvPr>
        </p:nvSpPr>
        <p:spPr>
          <a:xfrm>
            <a:off x="574286" y="1906842"/>
            <a:ext cx="3115265" cy="2396359"/>
          </a:xfrm>
        </p:spPr>
        <p:txBody>
          <a:bodyPr anchor="ctr">
            <a:normAutofit/>
          </a:bodyPr>
          <a:lstStyle/>
          <a:p>
            <a:pPr algn="r"/>
            <a:r>
              <a:rPr lang="en-US" sz="4000" dirty="0">
                <a:solidFill>
                  <a:srgbClr val="FFFFFF"/>
                </a:solidFill>
              </a:rPr>
              <a:t>What is missing?</a:t>
            </a:r>
          </a:p>
        </p:txBody>
      </p:sp>
      <p:sp>
        <p:nvSpPr>
          <p:cNvPr id="5" name="Title 1">
            <a:extLst>
              <a:ext uri="{FF2B5EF4-FFF2-40B4-BE49-F238E27FC236}">
                <a16:creationId xmlns:a16="http://schemas.microsoft.com/office/drawing/2014/main" id="{D6A6E125-E73A-6769-41CA-33E8BC05F30D}"/>
              </a:ext>
            </a:extLst>
          </p:cNvPr>
          <p:cNvSpPr txBox="1">
            <a:spLocks/>
          </p:cNvSpPr>
          <p:nvPr/>
        </p:nvSpPr>
        <p:spPr>
          <a:xfrm>
            <a:off x="4623540" y="296313"/>
            <a:ext cx="7132320" cy="690156"/>
          </a:xfrm>
          <a:prstGeom prst="rect">
            <a:avLst/>
          </a:prstGeom>
        </p:spPr>
        <p:txBody>
          <a:bodyPr vert="horz" lIns="91440" tIns="45720" rIns="91440" bIns="45720" rtlCol="0" anchor="ctr">
            <a:normAutofit fontScale="6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The Missing Link in Preventive–Curative Care</a:t>
            </a:r>
          </a:p>
        </p:txBody>
      </p:sp>
      <p:cxnSp>
        <p:nvCxnSpPr>
          <p:cNvPr id="7" name="Straight Connector 6">
            <a:extLst>
              <a:ext uri="{FF2B5EF4-FFF2-40B4-BE49-F238E27FC236}">
                <a16:creationId xmlns:a16="http://schemas.microsoft.com/office/drawing/2014/main" id="{6F62732A-90AB-9948-B00A-19667EBB9432}"/>
              </a:ext>
            </a:extLst>
          </p:cNvPr>
          <p:cNvCxnSpPr/>
          <p:nvPr/>
        </p:nvCxnSpPr>
        <p:spPr>
          <a:xfrm>
            <a:off x="4746573" y="1009770"/>
            <a:ext cx="6886254" cy="0"/>
          </a:xfrm>
          <a:prstGeom prst="line">
            <a:avLst/>
          </a:prstGeom>
        </p:spPr>
        <p:style>
          <a:lnRef idx="2">
            <a:schemeClr val="accent1"/>
          </a:lnRef>
          <a:fillRef idx="0">
            <a:schemeClr val="accent1"/>
          </a:fillRef>
          <a:effectRef idx="1">
            <a:schemeClr val="accent1"/>
          </a:effectRef>
          <a:fontRef idx="minor">
            <a:schemeClr val="tx1"/>
          </a:fontRef>
        </p:style>
      </p:cxnSp>
      <p:sp>
        <p:nvSpPr>
          <p:cNvPr id="15" name="Content Placeholder 14">
            <a:extLst>
              <a:ext uri="{FF2B5EF4-FFF2-40B4-BE49-F238E27FC236}">
                <a16:creationId xmlns:a16="http://schemas.microsoft.com/office/drawing/2014/main" id="{859BE34D-2D39-C0DC-C299-91D92EFE0ABC}"/>
              </a:ext>
            </a:extLst>
          </p:cNvPr>
          <p:cNvSpPr>
            <a:spLocks noGrp="1"/>
          </p:cNvSpPr>
          <p:nvPr>
            <p:ph idx="1"/>
          </p:nvPr>
        </p:nvSpPr>
        <p:spPr>
          <a:xfrm>
            <a:off x="4623541" y="1282782"/>
            <a:ext cx="7390658" cy="5278905"/>
          </a:xfrm>
        </p:spPr>
        <p:txBody>
          <a:bodyPr anchor="ctr">
            <a:normAutofit fontScale="92500" lnSpcReduction="20000"/>
          </a:bodyPr>
          <a:lstStyle/>
          <a:p>
            <a:pPr>
              <a:spcBef>
                <a:spcPts val="2200"/>
              </a:spcBef>
            </a:pPr>
            <a:r>
              <a:rPr lang="en-US" dirty="0"/>
              <a:t>Care is not </a:t>
            </a:r>
            <a:r>
              <a:rPr lang="en-US" dirty="0" err="1"/>
              <a:t>organised</a:t>
            </a:r>
            <a:r>
              <a:rPr lang="en-US" dirty="0"/>
              <a:t> along a preventive–curative continuum</a:t>
            </a:r>
          </a:p>
          <a:p>
            <a:pPr lvl="1">
              <a:spcBef>
                <a:spcPts val="2200"/>
              </a:spcBef>
            </a:pPr>
            <a:r>
              <a:rPr lang="en-US" b="1" dirty="0">
                <a:solidFill>
                  <a:schemeClr val="tx2">
                    <a:lumMod val="75000"/>
                    <a:lumOff val="25000"/>
                  </a:schemeClr>
                </a:solidFill>
              </a:rPr>
              <a:t>Need pathways that connect prevention, treatment, and recovery</a:t>
            </a:r>
          </a:p>
          <a:p>
            <a:pPr>
              <a:spcBef>
                <a:spcPts val="2200"/>
              </a:spcBef>
            </a:pPr>
            <a:endParaRPr lang="en-US" dirty="0"/>
          </a:p>
          <a:p>
            <a:pPr>
              <a:spcBef>
                <a:spcPts val="2200"/>
              </a:spcBef>
            </a:pPr>
            <a:r>
              <a:rPr lang="en-US" dirty="0"/>
              <a:t>Collaboration is not embedded into system design</a:t>
            </a:r>
          </a:p>
          <a:p>
            <a:pPr lvl="1">
              <a:spcBef>
                <a:spcPts val="2200"/>
              </a:spcBef>
            </a:pPr>
            <a:r>
              <a:rPr lang="en-US" b="1" dirty="0">
                <a:solidFill>
                  <a:schemeClr val="tx2">
                    <a:lumMod val="75000"/>
                    <a:lumOff val="25000"/>
                  </a:schemeClr>
                </a:solidFill>
              </a:rPr>
              <a:t>Multidisciplinary roles must align along the same patient journey</a:t>
            </a:r>
          </a:p>
          <a:p>
            <a:pPr>
              <a:spcBef>
                <a:spcPts val="2200"/>
              </a:spcBef>
            </a:pPr>
            <a:endParaRPr lang="en-US" dirty="0"/>
          </a:p>
          <a:p>
            <a:pPr>
              <a:spcBef>
                <a:spcPts val="2200"/>
              </a:spcBef>
            </a:pPr>
            <a:r>
              <a:rPr lang="en-US" dirty="0"/>
              <a:t>Pathways are not intentionally defined across disciplines</a:t>
            </a:r>
          </a:p>
        </p:txBody>
      </p:sp>
    </p:spTree>
    <p:extLst>
      <p:ext uri="{BB962C8B-B14F-4D97-AF65-F5344CB8AC3E}">
        <p14:creationId xmlns:p14="http://schemas.microsoft.com/office/powerpoint/2010/main" val="24056851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4EA331-34ED-AE8D-12BF-F3FCA35FCC16}"/>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What Is a Preventive–Curative Pathway?</a:t>
            </a:r>
          </a:p>
        </p:txBody>
      </p:sp>
      <p:graphicFrame>
        <p:nvGraphicFramePr>
          <p:cNvPr id="18" name="Content Placeholder 2">
            <a:extLst>
              <a:ext uri="{FF2B5EF4-FFF2-40B4-BE49-F238E27FC236}">
                <a16:creationId xmlns:a16="http://schemas.microsoft.com/office/drawing/2014/main" id="{45823846-21E7-4C7E-F82C-71A0EA8CE5D7}"/>
              </a:ext>
            </a:extLst>
          </p:cNvPr>
          <p:cNvGraphicFramePr>
            <a:graphicFrameLocks noGrp="1"/>
          </p:cNvGraphicFramePr>
          <p:nvPr>
            <p:ph idx="1"/>
            <p:extLst>
              <p:ext uri="{D42A27DB-BD31-4B8C-83A1-F6EECF244321}">
                <p14:modId xmlns:p14="http://schemas.microsoft.com/office/powerpoint/2010/main" val="814818616"/>
              </p:ext>
            </p:extLst>
          </p:nvPr>
        </p:nvGraphicFramePr>
        <p:xfrm>
          <a:off x="1484991" y="1891970"/>
          <a:ext cx="10205614" cy="44844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785484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6" name="Rectangle 55">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descr="A person reaching for a paper on a table full of paper and sticky notes">
            <a:extLst>
              <a:ext uri="{FF2B5EF4-FFF2-40B4-BE49-F238E27FC236}">
                <a16:creationId xmlns:a16="http://schemas.microsoft.com/office/drawing/2014/main" id="{03B9E4C1-C689-33FF-C489-5919459F9BBC}"/>
              </a:ext>
            </a:extLst>
          </p:cNvPr>
          <p:cNvPicPr>
            <a:picLocks noChangeAspect="1"/>
          </p:cNvPicPr>
          <p:nvPr/>
        </p:nvPicPr>
        <p:blipFill>
          <a:blip r:embed="rId3"/>
          <a:srcRect l="2446" r="3437" b="-1"/>
          <a:stretch>
            <a:fillRect/>
          </a:stretch>
        </p:blipFill>
        <p:spPr>
          <a:xfrm>
            <a:off x="3998977" y="0"/>
            <a:ext cx="8189974" cy="6857990"/>
          </a:xfrm>
          <a:prstGeom prst="rect">
            <a:avLst/>
          </a:prstGeom>
        </p:spPr>
      </p:pic>
      <p:sp>
        <p:nvSpPr>
          <p:cNvPr id="58" name="Rectangle 57">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D59A9C8-EC8E-6910-EDF2-261DBE388674}"/>
              </a:ext>
            </a:extLst>
          </p:cNvPr>
          <p:cNvSpPr>
            <a:spLocks noGrp="1"/>
          </p:cNvSpPr>
          <p:nvPr>
            <p:ph type="title"/>
          </p:nvPr>
        </p:nvSpPr>
        <p:spPr>
          <a:xfrm>
            <a:off x="247092" y="121285"/>
            <a:ext cx="4547479" cy="1670939"/>
          </a:xfrm>
        </p:spPr>
        <p:txBody>
          <a:bodyPr>
            <a:normAutofit/>
          </a:bodyPr>
          <a:lstStyle/>
          <a:p>
            <a:r>
              <a:rPr lang="en-US" sz="3100" dirty="0"/>
              <a:t>Designing Collaboration Intentionally</a:t>
            </a:r>
            <a:br>
              <a:rPr lang="en-US" sz="3100" dirty="0"/>
            </a:br>
            <a:endParaRPr lang="en-US" sz="3100" dirty="0"/>
          </a:p>
        </p:txBody>
      </p:sp>
      <p:sp>
        <p:nvSpPr>
          <p:cNvPr id="3" name="Content Placeholder 2">
            <a:extLst>
              <a:ext uri="{FF2B5EF4-FFF2-40B4-BE49-F238E27FC236}">
                <a16:creationId xmlns:a16="http://schemas.microsoft.com/office/drawing/2014/main" id="{4D13DD0C-79CD-3936-6332-977568A12933}"/>
              </a:ext>
            </a:extLst>
          </p:cNvPr>
          <p:cNvSpPr>
            <a:spLocks noGrp="1"/>
          </p:cNvSpPr>
          <p:nvPr>
            <p:ph idx="1"/>
          </p:nvPr>
        </p:nvSpPr>
        <p:spPr>
          <a:xfrm>
            <a:off x="303112" y="1423507"/>
            <a:ext cx="4435438" cy="3742762"/>
          </a:xfrm>
        </p:spPr>
        <p:txBody>
          <a:bodyPr>
            <a:noAutofit/>
          </a:bodyPr>
          <a:lstStyle/>
          <a:p>
            <a:endParaRPr lang="en-US" sz="2000" dirty="0"/>
          </a:p>
          <a:p>
            <a:r>
              <a:rPr lang="en-US" sz="2000" b="1" dirty="0"/>
              <a:t>Three design principles:</a:t>
            </a:r>
          </a:p>
          <a:p>
            <a:endParaRPr lang="en-US" sz="2000" dirty="0"/>
          </a:p>
          <a:p>
            <a:pPr lvl="1"/>
            <a:r>
              <a:rPr lang="en-US" sz="2000" dirty="0"/>
              <a:t>Shared goals rather than discipline-specific outputs</a:t>
            </a:r>
          </a:p>
          <a:p>
            <a:endParaRPr lang="en-US" sz="2000" dirty="0"/>
          </a:p>
          <a:p>
            <a:pPr lvl="1"/>
            <a:r>
              <a:rPr lang="en-US" sz="2000" dirty="0"/>
              <a:t>Defined handovers rather than informal referrals</a:t>
            </a:r>
          </a:p>
          <a:p>
            <a:endParaRPr lang="en-US" sz="2000" dirty="0"/>
          </a:p>
          <a:p>
            <a:pPr lvl="1"/>
            <a:r>
              <a:rPr lang="en-US" sz="2000" dirty="0"/>
              <a:t>Feedback loops between prevention and treatment teams</a:t>
            </a:r>
          </a:p>
          <a:p>
            <a:endParaRPr lang="en-US" sz="2000" dirty="0"/>
          </a:p>
          <a:p>
            <a:r>
              <a:rPr lang="en-US" sz="2000" dirty="0"/>
              <a:t>Collaboration is not about meetings - it is about shared accountability for outcomes</a:t>
            </a:r>
          </a:p>
          <a:p>
            <a:endParaRPr lang="en-US" sz="2000" dirty="0"/>
          </a:p>
          <a:p>
            <a:endParaRPr lang="en-US" sz="2000" dirty="0"/>
          </a:p>
        </p:txBody>
      </p:sp>
    </p:spTree>
    <p:extLst>
      <p:ext uri="{BB962C8B-B14F-4D97-AF65-F5344CB8AC3E}">
        <p14:creationId xmlns:p14="http://schemas.microsoft.com/office/powerpoint/2010/main" val="23902886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88E24-ED76-FAAD-06B4-2528E3288C67}"/>
              </a:ext>
            </a:extLst>
          </p:cNvPr>
          <p:cNvSpPr>
            <a:spLocks noGrp="1"/>
          </p:cNvSpPr>
          <p:nvPr>
            <p:ph type="title"/>
          </p:nvPr>
        </p:nvSpPr>
        <p:spPr>
          <a:xfrm>
            <a:off x="699507" y="195463"/>
            <a:ext cx="10515600" cy="1088971"/>
          </a:xfrm>
        </p:spPr>
        <p:txBody>
          <a:bodyPr>
            <a:normAutofit fontScale="90000"/>
          </a:bodyPr>
          <a:lstStyle/>
          <a:p>
            <a:pPr algn="ctr"/>
            <a:r>
              <a:rPr lang="en-GB" b="1" dirty="0"/>
              <a:t>Designing Collaborative Health Models</a:t>
            </a:r>
            <a:br>
              <a:rPr lang="en-GB" dirty="0"/>
            </a:br>
            <a:r>
              <a:rPr lang="en-GB" sz="3200" dirty="0"/>
              <a:t>From Prevention to Curative Pathways</a:t>
            </a:r>
          </a:p>
        </p:txBody>
      </p:sp>
      <p:sp>
        <p:nvSpPr>
          <p:cNvPr id="7" name="TextBox 6">
            <a:extLst>
              <a:ext uri="{FF2B5EF4-FFF2-40B4-BE49-F238E27FC236}">
                <a16:creationId xmlns:a16="http://schemas.microsoft.com/office/drawing/2014/main" id="{30FF8E5D-74AB-E7DB-FFE7-024B3A5CC09E}"/>
              </a:ext>
            </a:extLst>
          </p:cNvPr>
          <p:cNvSpPr txBox="1"/>
          <p:nvPr/>
        </p:nvSpPr>
        <p:spPr>
          <a:xfrm>
            <a:off x="164032" y="1603248"/>
            <a:ext cx="2100072" cy="3970318"/>
          </a:xfrm>
          <a:prstGeom prst="rect">
            <a:avLst/>
          </a:prstGeom>
          <a:noFill/>
          <a:ln w="38100" cap="rnd">
            <a:solidFill>
              <a:schemeClr val="accent1">
                <a:lumMod val="75000"/>
              </a:schemeClr>
            </a:solidFill>
          </a:ln>
        </p:spPr>
        <p:txBody>
          <a:bodyPr wrap="square" rtlCol="0">
            <a:spAutoFit/>
          </a:bodyPr>
          <a:lstStyle/>
          <a:p>
            <a:r>
              <a:rPr lang="en-GB" b="1" dirty="0"/>
              <a:t>Primary</a:t>
            </a:r>
          </a:p>
          <a:p>
            <a:r>
              <a:rPr lang="en-GB" b="1" dirty="0"/>
              <a:t>Prevention </a:t>
            </a:r>
            <a:r>
              <a:rPr lang="en-GB" dirty="0"/>
              <a:t>(Community &amp;</a:t>
            </a:r>
          </a:p>
          <a:p>
            <a:r>
              <a:rPr lang="en-GB" dirty="0"/>
              <a:t>Environmental)</a:t>
            </a:r>
          </a:p>
          <a:p>
            <a:endParaRPr lang="en-GB" dirty="0"/>
          </a:p>
          <a:p>
            <a:pPr marL="285750" indent="-285750">
              <a:buFont typeface="Arial" panose="020B0604020202020204" pitchFamily="34" charset="0"/>
              <a:buChar char="•"/>
            </a:pPr>
            <a:r>
              <a:rPr lang="en-GB" dirty="0"/>
              <a:t>Health promotion &amp; behaviour change</a:t>
            </a:r>
          </a:p>
          <a:p>
            <a:pPr marL="285750" indent="-285750">
              <a:buFont typeface="Arial" panose="020B0604020202020204" pitchFamily="34" charset="0"/>
              <a:buChar char="•"/>
            </a:pPr>
            <a:r>
              <a:rPr lang="en-GB" dirty="0"/>
              <a:t>Environmental health protection</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p:txBody>
      </p:sp>
      <p:sp>
        <p:nvSpPr>
          <p:cNvPr id="8" name="TextBox 7">
            <a:extLst>
              <a:ext uri="{FF2B5EF4-FFF2-40B4-BE49-F238E27FC236}">
                <a16:creationId xmlns:a16="http://schemas.microsoft.com/office/drawing/2014/main" id="{97F21AC4-91C1-D064-B0FE-27F4AE11293F}"/>
              </a:ext>
            </a:extLst>
          </p:cNvPr>
          <p:cNvSpPr txBox="1"/>
          <p:nvPr/>
        </p:nvSpPr>
        <p:spPr>
          <a:xfrm>
            <a:off x="4992860" y="1611687"/>
            <a:ext cx="2100072" cy="3970318"/>
          </a:xfrm>
          <a:prstGeom prst="rect">
            <a:avLst/>
          </a:prstGeom>
          <a:ln w="38100"/>
        </p:spPr>
        <p:style>
          <a:lnRef idx="2">
            <a:schemeClr val="dk1"/>
          </a:lnRef>
          <a:fillRef idx="1">
            <a:schemeClr val="lt1"/>
          </a:fillRef>
          <a:effectRef idx="0">
            <a:schemeClr val="dk1"/>
          </a:effectRef>
          <a:fontRef idx="minor">
            <a:schemeClr val="dk1"/>
          </a:fontRef>
        </p:style>
        <p:txBody>
          <a:bodyPr wrap="square" rtlCol="0">
            <a:spAutoFit/>
          </a:bodyPr>
          <a:lstStyle/>
          <a:p>
            <a:r>
              <a:rPr lang="en-GB" b="1" dirty="0"/>
              <a:t>Curative</a:t>
            </a:r>
          </a:p>
          <a:p>
            <a:r>
              <a:rPr lang="en-GB" b="1" dirty="0"/>
              <a:t>Care </a:t>
            </a:r>
            <a:r>
              <a:rPr lang="en-GB" dirty="0"/>
              <a:t>(Clinical &amp;</a:t>
            </a:r>
          </a:p>
          <a:p>
            <a:r>
              <a:rPr lang="en-GB" dirty="0"/>
              <a:t>Facility-Based)</a:t>
            </a:r>
          </a:p>
          <a:p>
            <a:endParaRPr lang="en-GB" dirty="0"/>
          </a:p>
          <a:p>
            <a:pPr marL="285750" indent="-285750">
              <a:buFont typeface="Arial" panose="020B0604020202020204" pitchFamily="34" charset="0"/>
              <a:buChar char="•"/>
            </a:pPr>
            <a:r>
              <a:rPr lang="en-GB" dirty="0"/>
              <a:t>Acute &amp; chronic disease management</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Safe healthcare environments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p:txBody>
      </p:sp>
      <p:sp>
        <p:nvSpPr>
          <p:cNvPr id="9" name="TextBox 8">
            <a:extLst>
              <a:ext uri="{FF2B5EF4-FFF2-40B4-BE49-F238E27FC236}">
                <a16:creationId xmlns:a16="http://schemas.microsoft.com/office/drawing/2014/main" id="{FCF6466A-2900-74A1-1878-3C28F598997A}"/>
              </a:ext>
            </a:extLst>
          </p:cNvPr>
          <p:cNvSpPr txBox="1"/>
          <p:nvPr/>
        </p:nvSpPr>
        <p:spPr>
          <a:xfrm>
            <a:off x="2568499" y="1603248"/>
            <a:ext cx="2100072" cy="3970318"/>
          </a:xfrm>
          <a:prstGeom prst="rect">
            <a:avLst/>
          </a:prstGeom>
          <a:noFill/>
          <a:ln w="38100">
            <a:solidFill>
              <a:schemeClr val="accent1">
                <a:lumMod val="50000"/>
              </a:schemeClr>
            </a:solidFill>
          </a:ln>
        </p:spPr>
        <p:txBody>
          <a:bodyPr wrap="square" rtlCol="0">
            <a:spAutoFit/>
          </a:bodyPr>
          <a:lstStyle/>
          <a:p>
            <a:r>
              <a:rPr lang="en-GB" b="1" dirty="0"/>
              <a:t>Early</a:t>
            </a:r>
          </a:p>
          <a:p>
            <a:r>
              <a:rPr lang="en-GB" b="1" dirty="0"/>
              <a:t>Detection</a:t>
            </a:r>
          </a:p>
          <a:p>
            <a:r>
              <a:rPr lang="en-GB" dirty="0"/>
              <a:t>(PHC, Outreach &amp; Surveillance)</a:t>
            </a:r>
          </a:p>
          <a:p>
            <a:endParaRPr lang="en-GB" dirty="0"/>
          </a:p>
          <a:p>
            <a:pPr marL="285750" indent="-285750">
              <a:buFont typeface="Arial" panose="020B0604020202020204" pitchFamily="34" charset="0"/>
              <a:buChar char="•"/>
            </a:pPr>
            <a:r>
              <a:rPr lang="en-GB" dirty="0"/>
              <a:t>Screening &amp; risk identification</a:t>
            </a:r>
          </a:p>
          <a:p>
            <a:pPr marL="285750" indent="-285750">
              <a:buFont typeface="Arial" panose="020B0604020202020204" pitchFamily="34" charset="0"/>
              <a:buChar char="•"/>
            </a:pPr>
            <a:r>
              <a:rPr lang="en-GB" dirty="0"/>
              <a:t>Routine testing</a:t>
            </a:r>
          </a:p>
          <a:p>
            <a:pPr marL="285750" indent="-285750">
              <a:buFont typeface="Arial" panose="020B0604020202020204" pitchFamily="34" charset="0"/>
              <a:buChar char="•"/>
            </a:pPr>
            <a:r>
              <a:rPr lang="en-GB" dirty="0"/>
              <a:t>(HIV, TB, NCDs)</a:t>
            </a:r>
          </a:p>
          <a:p>
            <a:pPr marL="285750" indent="-285750">
              <a:buFont typeface="Arial" panose="020B0604020202020204" pitchFamily="34" charset="0"/>
              <a:buChar char="•"/>
            </a:pPr>
            <a:r>
              <a:rPr lang="en-GB" dirty="0"/>
              <a:t>Environmental surveillance</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p:txBody>
      </p:sp>
      <p:sp>
        <p:nvSpPr>
          <p:cNvPr id="10" name="TextBox 9">
            <a:extLst>
              <a:ext uri="{FF2B5EF4-FFF2-40B4-BE49-F238E27FC236}">
                <a16:creationId xmlns:a16="http://schemas.microsoft.com/office/drawing/2014/main" id="{C48150CB-8BDB-E91A-1881-E40CB2F3B9FD}"/>
              </a:ext>
            </a:extLst>
          </p:cNvPr>
          <p:cNvSpPr txBox="1"/>
          <p:nvPr/>
        </p:nvSpPr>
        <p:spPr>
          <a:xfrm>
            <a:off x="7455212" y="1627631"/>
            <a:ext cx="2299217" cy="3970318"/>
          </a:xfrm>
          <a:prstGeom prst="rect">
            <a:avLst/>
          </a:prstGeom>
          <a:noFill/>
          <a:ln w="38100">
            <a:solidFill>
              <a:schemeClr val="accent1">
                <a:lumMod val="50000"/>
              </a:schemeClr>
            </a:solidFill>
          </a:ln>
        </p:spPr>
        <p:txBody>
          <a:bodyPr wrap="square" rtlCol="0">
            <a:spAutoFit/>
          </a:bodyPr>
          <a:lstStyle/>
          <a:p>
            <a:r>
              <a:rPr lang="en-GB" b="1" dirty="0"/>
              <a:t>Rehabilitation &amp; Long-Term Care </a:t>
            </a:r>
            <a:r>
              <a:rPr lang="en-GB" dirty="0"/>
              <a:t>(Community, Home</a:t>
            </a:r>
          </a:p>
          <a:p>
            <a:r>
              <a:rPr lang="en-GB" dirty="0"/>
              <a:t>&amp; Enabling</a:t>
            </a:r>
          </a:p>
          <a:p>
            <a:r>
              <a:rPr lang="en-GB" dirty="0"/>
              <a:t>Environment)</a:t>
            </a:r>
          </a:p>
          <a:p>
            <a:endParaRPr lang="en-GB" dirty="0"/>
          </a:p>
          <a:p>
            <a:pPr marL="285750" indent="-285750">
              <a:buFont typeface="Arial" panose="020B0604020202020204" pitchFamily="34" charset="0"/>
              <a:buChar char="•"/>
            </a:pPr>
            <a:r>
              <a:rPr lang="en-GB" dirty="0"/>
              <a:t>Adherence &amp; chronic care support</a:t>
            </a:r>
          </a:p>
          <a:p>
            <a:pPr marL="285750" indent="-285750">
              <a:buFont typeface="Arial" panose="020B0604020202020204" pitchFamily="34" charset="0"/>
              <a:buChar char="•"/>
            </a:pPr>
            <a:r>
              <a:rPr lang="en-GB" dirty="0"/>
              <a:t>Disability &amp; mental health services</a:t>
            </a:r>
          </a:p>
          <a:p>
            <a:endParaRPr lang="en-GB" dirty="0"/>
          </a:p>
          <a:p>
            <a:endParaRPr lang="en-GB" dirty="0"/>
          </a:p>
        </p:txBody>
      </p:sp>
      <p:sp>
        <p:nvSpPr>
          <p:cNvPr id="11" name="TextBox 10">
            <a:extLst>
              <a:ext uri="{FF2B5EF4-FFF2-40B4-BE49-F238E27FC236}">
                <a16:creationId xmlns:a16="http://schemas.microsoft.com/office/drawing/2014/main" id="{C2BE658D-C585-ED2E-A84F-8095274084F7}"/>
              </a:ext>
            </a:extLst>
          </p:cNvPr>
          <p:cNvSpPr txBox="1"/>
          <p:nvPr/>
        </p:nvSpPr>
        <p:spPr>
          <a:xfrm>
            <a:off x="10152369" y="1627940"/>
            <a:ext cx="1849678" cy="3970318"/>
          </a:xfrm>
          <a:prstGeom prst="rect">
            <a:avLst/>
          </a:prstGeom>
          <a:noFill/>
          <a:ln w="38100">
            <a:solidFill>
              <a:schemeClr val="accent1">
                <a:lumMod val="50000"/>
              </a:schemeClr>
            </a:solidFill>
          </a:ln>
        </p:spPr>
        <p:txBody>
          <a:bodyPr wrap="square" rtlCol="0">
            <a:spAutoFit/>
          </a:bodyPr>
          <a:lstStyle/>
          <a:p>
            <a:r>
              <a:rPr lang="en-GB" b="1" dirty="0"/>
              <a:t>Feedback Loop to Prevention</a:t>
            </a:r>
          </a:p>
          <a:p>
            <a:endParaRPr lang="en-GB" b="1" dirty="0"/>
          </a:p>
          <a:p>
            <a:pPr marL="285750" indent="-285750">
              <a:buFont typeface="Arial" panose="020B0604020202020204" pitchFamily="34" charset="0"/>
              <a:buChar char="•"/>
            </a:pPr>
            <a:r>
              <a:rPr lang="en-GB" dirty="0"/>
              <a:t>Outcomes inform prevention</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Learning health system</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p:txBody>
      </p:sp>
      <p:pic>
        <p:nvPicPr>
          <p:cNvPr id="13" name="Graphic 12" descr="Users with solid fill">
            <a:extLst>
              <a:ext uri="{FF2B5EF4-FFF2-40B4-BE49-F238E27FC236}">
                <a16:creationId xmlns:a16="http://schemas.microsoft.com/office/drawing/2014/main" id="{49176281-F209-3889-1839-BE5EE647DE6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8574" y="4869685"/>
            <a:ext cx="703881" cy="703881"/>
          </a:xfrm>
          <a:prstGeom prst="rect">
            <a:avLst/>
          </a:prstGeom>
        </p:spPr>
      </p:pic>
      <p:pic>
        <p:nvPicPr>
          <p:cNvPr id="15" name="Graphic 14" descr="Heart with pulse with solid fill">
            <a:extLst>
              <a:ext uri="{FF2B5EF4-FFF2-40B4-BE49-F238E27FC236}">
                <a16:creationId xmlns:a16="http://schemas.microsoft.com/office/drawing/2014/main" id="{F1421FFB-86AE-30D6-8B38-67B2BC17103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88036" y="4869685"/>
            <a:ext cx="711526" cy="711526"/>
          </a:xfrm>
          <a:prstGeom prst="rect">
            <a:avLst/>
          </a:prstGeom>
        </p:spPr>
      </p:pic>
      <p:pic>
        <p:nvPicPr>
          <p:cNvPr id="17" name="Graphic 16" descr="Magnifying glass with solid fill">
            <a:extLst>
              <a:ext uri="{FF2B5EF4-FFF2-40B4-BE49-F238E27FC236}">
                <a16:creationId xmlns:a16="http://schemas.microsoft.com/office/drawing/2014/main" id="{E6107C55-DCCF-070C-1F1B-969F8CC13CE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048823" y="4893670"/>
            <a:ext cx="835238" cy="704279"/>
          </a:xfrm>
          <a:prstGeom prst="rect">
            <a:avLst/>
          </a:prstGeom>
        </p:spPr>
      </p:pic>
      <p:pic>
        <p:nvPicPr>
          <p:cNvPr id="19" name="Graphic 18" descr="Stethoscope with solid fill">
            <a:extLst>
              <a:ext uri="{FF2B5EF4-FFF2-40B4-BE49-F238E27FC236}">
                <a16:creationId xmlns:a16="http://schemas.microsoft.com/office/drawing/2014/main" id="{A0B4A8AC-D30C-6560-883F-CE295AC48B8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078264" y="4700776"/>
            <a:ext cx="722525" cy="722525"/>
          </a:xfrm>
          <a:prstGeom prst="rect">
            <a:avLst/>
          </a:prstGeom>
        </p:spPr>
      </p:pic>
      <p:pic>
        <p:nvPicPr>
          <p:cNvPr id="23" name="Graphic 22" descr="Care with solid fill">
            <a:extLst>
              <a:ext uri="{FF2B5EF4-FFF2-40B4-BE49-F238E27FC236}">
                <a16:creationId xmlns:a16="http://schemas.microsoft.com/office/drawing/2014/main" id="{14246F36-5124-C28D-31AE-6E63A7E77A2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779501" y="5053471"/>
            <a:ext cx="608791" cy="608791"/>
          </a:xfrm>
          <a:prstGeom prst="rect">
            <a:avLst/>
          </a:prstGeom>
        </p:spPr>
      </p:pic>
      <p:pic>
        <p:nvPicPr>
          <p:cNvPr id="25" name="Graphic 24" descr="House with solid fill">
            <a:extLst>
              <a:ext uri="{FF2B5EF4-FFF2-40B4-BE49-F238E27FC236}">
                <a16:creationId xmlns:a16="http://schemas.microsoft.com/office/drawing/2014/main" id="{84F2F084-2B8A-8AC6-95CA-7E1D43BE1FD5}"/>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388292" y="4898219"/>
            <a:ext cx="772144" cy="772144"/>
          </a:xfrm>
          <a:prstGeom prst="rect">
            <a:avLst/>
          </a:prstGeom>
        </p:spPr>
      </p:pic>
      <p:pic>
        <p:nvPicPr>
          <p:cNvPr id="28" name="Graphic 27" descr="Repeat outline">
            <a:extLst>
              <a:ext uri="{FF2B5EF4-FFF2-40B4-BE49-F238E27FC236}">
                <a16:creationId xmlns:a16="http://schemas.microsoft.com/office/drawing/2014/main" id="{EBEEBF5F-6984-78A3-4BDD-FE0C5AFCDB92}"/>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0641330" y="4551668"/>
            <a:ext cx="694084" cy="694084"/>
          </a:xfrm>
          <a:prstGeom prst="rect">
            <a:avLst/>
          </a:prstGeom>
        </p:spPr>
      </p:pic>
      <p:pic>
        <p:nvPicPr>
          <p:cNvPr id="30" name="Graphic 29" descr="Hospital with solid fill">
            <a:extLst>
              <a:ext uri="{FF2B5EF4-FFF2-40B4-BE49-F238E27FC236}">
                <a16:creationId xmlns:a16="http://schemas.microsoft.com/office/drawing/2014/main" id="{590AFDC8-1894-20DF-D0ED-E532A0AD36EB}"/>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5666818" y="4332222"/>
            <a:ext cx="914400" cy="914400"/>
          </a:xfrm>
          <a:prstGeom prst="rect">
            <a:avLst/>
          </a:prstGeom>
        </p:spPr>
      </p:pic>
      <p:sp>
        <p:nvSpPr>
          <p:cNvPr id="31" name="TextBox 30">
            <a:extLst>
              <a:ext uri="{FF2B5EF4-FFF2-40B4-BE49-F238E27FC236}">
                <a16:creationId xmlns:a16="http://schemas.microsoft.com/office/drawing/2014/main" id="{7D40CAE0-BBC0-ACB3-F9B9-EF01F9B67B62}"/>
              </a:ext>
            </a:extLst>
          </p:cNvPr>
          <p:cNvSpPr txBox="1"/>
          <p:nvPr/>
        </p:nvSpPr>
        <p:spPr>
          <a:xfrm>
            <a:off x="1214068" y="5867273"/>
            <a:ext cx="10398039" cy="400110"/>
          </a:xfrm>
          <a:prstGeom prst="rect">
            <a:avLst/>
          </a:prstGeom>
          <a:solidFill>
            <a:srgbClr val="009193"/>
          </a:solidFill>
        </p:spPr>
        <p:txBody>
          <a:bodyPr wrap="square" rtlCol="0">
            <a:spAutoFit/>
          </a:bodyPr>
          <a:lstStyle/>
          <a:p>
            <a:r>
              <a:rPr lang="en-GB" sz="2000" b="1" dirty="0">
                <a:solidFill>
                  <a:schemeClr val="bg1"/>
                </a:solidFill>
              </a:rPr>
              <a:t>COLLABORATIVE, INTEGRATED, PERSON-CENTRED AND ENVIRONMENTALLY SAFE CARE</a:t>
            </a:r>
          </a:p>
        </p:txBody>
      </p:sp>
      <p:sp>
        <p:nvSpPr>
          <p:cNvPr id="43" name="Right Arrow 42">
            <a:extLst>
              <a:ext uri="{FF2B5EF4-FFF2-40B4-BE49-F238E27FC236}">
                <a16:creationId xmlns:a16="http://schemas.microsoft.com/office/drawing/2014/main" id="{43AD8AB5-2F62-A4B8-76BE-6C73047EDE79}"/>
              </a:ext>
            </a:extLst>
          </p:cNvPr>
          <p:cNvSpPr/>
          <p:nvPr/>
        </p:nvSpPr>
        <p:spPr>
          <a:xfrm>
            <a:off x="2264104" y="3429000"/>
            <a:ext cx="226349" cy="45719"/>
          </a:xfrm>
          <a:prstGeom prst="rightArrow">
            <a:avLst/>
          </a:prstGeom>
          <a:ln w="63500">
            <a:solidFill>
              <a:srgbClr val="00919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Right Arrow 43">
            <a:extLst>
              <a:ext uri="{FF2B5EF4-FFF2-40B4-BE49-F238E27FC236}">
                <a16:creationId xmlns:a16="http://schemas.microsoft.com/office/drawing/2014/main" id="{7B590308-1C31-F2D0-2DF9-5045C77D04CD}"/>
              </a:ext>
            </a:extLst>
          </p:cNvPr>
          <p:cNvSpPr/>
          <p:nvPr/>
        </p:nvSpPr>
        <p:spPr>
          <a:xfrm>
            <a:off x="4668571" y="3429001"/>
            <a:ext cx="226349" cy="45719"/>
          </a:xfrm>
          <a:prstGeom prst="rightArrow">
            <a:avLst/>
          </a:prstGeom>
          <a:ln w="63500">
            <a:solidFill>
              <a:srgbClr val="00919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Right Arrow 44">
            <a:extLst>
              <a:ext uri="{FF2B5EF4-FFF2-40B4-BE49-F238E27FC236}">
                <a16:creationId xmlns:a16="http://schemas.microsoft.com/office/drawing/2014/main" id="{16B719C1-8E8B-9ECE-89B2-0BBD1543C547}"/>
              </a:ext>
            </a:extLst>
          </p:cNvPr>
          <p:cNvSpPr/>
          <p:nvPr/>
        </p:nvSpPr>
        <p:spPr>
          <a:xfrm>
            <a:off x="7092931" y="3474719"/>
            <a:ext cx="297637" cy="45719"/>
          </a:xfrm>
          <a:prstGeom prst="rightArrow">
            <a:avLst/>
          </a:prstGeom>
          <a:ln w="63500">
            <a:solidFill>
              <a:srgbClr val="00919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Right Arrow 45">
            <a:extLst>
              <a:ext uri="{FF2B5EF4-FFF2-40B4-BE49-F238E27FC236}">
                <a16:creationId xmlns:a16="http://schemas.microsoft.com/office/drawing/2014/main" id="{46CC7F6E-F915-E08A-3048-C72343A63357}"/>
              </a:ext>
            </a:extLst>
          </p:cNvPr>
          <p:cNvSpPr/>
          <p:nvPr/>
        </p:nvSpPr>
        <p:spPr>
          <a:xfrm rot="10800000" flipH="1">
            <a:off x="9819073" y="3520436"/>
            <a:ext cx="232992" cy="45719"/>
          </a:xfrm>
          <a:prstGeom prst="rightArrow">
            <a:avLst/>
          </a:prstGeom>
          <a:ln w="63500">
            <a:solidFill>
              <a:srgbClr val="00919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TextBox 46">
            <a:extLst>
              <a:ext uri="{FF2B5EF4-FFF2-40B4-BE49-F238E27FC236}">
                <a16:creationId xmlns:a16="http://schemas.microsoft.com/office/drawing/2014/main" id="{B351F7EF-CA64-FDF0-C1BD-FDBE5B828EB0}"/>
              </a:ext>
            </a:extLst>
          </p:cNvPr>
          <p:cNvSpPr txBox="1"/>
          <p:nvPr/>
        </p:nvSpPr>
        <p:spPr>
          <a:xfrm>
            <a:off x="3328447" y="6369732"/>
            <a:ext cx="5535105" cy="400110"/>
          </a:xfrm>
          <a:prstGeom prst="rect">
            <a:avLst/>
          </a:prstGeom>
          <a:noFill/>
          <a:ln w="38100">
            <a:solidFill>
              <a:srgbClr val="009193"/>
            </a:solidFill>
          </a:ln>
        </p:spPr>
        <p:txBody>
          <a:bodyPr wrap="none" rtlCol="0">
            <a:spAutoFit/>
          </a:bodyPr>
          <a:lstStyle/>
          <a:p>
            <a:r>
              <a:rPr lang="en-GB" sz="2000" dirty="0"/>
              <a:t>Enabled through shared roles and accountability</a:t>
            </a:r>
          </a:p>
        </p:txBody>
      </p:sp>
    </p:spTree>
    <p:extLst>
      <p:ext uri="{BB962C8B-B14F-4D97-AF65-F5344CB8AC3E}">
        <p14:creationId xmlns:p14="http://schemas.microsoft.com/office/powerpoint/2010/main" val="33401468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E74C956-206E-A581-DC41-19FB5D5DDEA1}"/>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Governance and Leadership Enablers</a:t>
            </a:r>
          </a:p>
        </p:txBody>
      </p:sp>
      <p:graphicFrame>
        <p:nvGraphicFramePr>
          <p:cNvPr id="22" name="Content Placeholder 2">
            <a:extLst>
              <a:ext uri="{FF2B5EF4-FFF2-40B4-BE49-F238E27FC236}">
                <a16:creationId xmlns:a16="http://schemas.microsoft.com/office/drawing/2014/main" id="{40DBD7EE-BC99-230E-8825-5DE1581F0ED7}"/>
              </a:ext>
            </a:extLst>
          </p:cNvPr>
          <p:cNvGraphicFramePr>
            <a:graphicFrameLocks noGrp="1"/>
          </p:cNvGraphicFramePr>
          <p:nvPr>
            <p:ph idx="1"/>
            <p:extLst>
              <p:ext uri="{D42A27DB-BD31-4B8C-83A1-F6EECF244321}">
                <p14:modId xmlns:p14="http://schemas.microsoft.com/office/powerpoint/2010/main" val="1407833279"/>
              </p:ext>
            </p:extLst>
          </p:nvPr>
        </p:nvGraphicFramePr>
        <p:xfrm>
          <a:off x="4255008" y="586855"/>
          <a:ext cx="7607808" cy="56086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210407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2232C25-5FD5-A0BC-D642-45ED5D86C1D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3C7088B-64F5-B08D-1C66-3FF774B8E2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B26763E-D052-DCAF-A1B6-E31A3A5856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A000B92-479C-4EB5-E346-8B3DAAAF53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5D346D4-FE06-1F90-66E9-7946395A48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F5252C9-DBF6-2D2A-286D-A87AC6D79E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B44A9E-CED6-1FDC-676A-D0786EB0F2C9}"/>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Designing for the South African Context</a:t>
            </a:r>
          </a:p>
        </p:txBody>
      </p:sp>
      <p:sp>
        <p:nvSpPr>
          <p:cNvPr id="4" name="Content Placeholder 3">
            <a:extLst>
              <a:ext uri="{FF2B5EF4-FFF2-40B4-BE49-F238E27FC236}">
                <a16:creationId xmlns:a16="http://schemas.microsoft.com/office/drawing/2014/main" id="{79408482-DD1E-45A9-EEFD-7450F752FCC1}"/>
              </a:ext>
            </a:extLst>
          </p:cNvPr>
          <p:cNvSpPr>
            <a:spLocks noGrp="1"/>
          </p:cNvSpPr>
          <p:nvPr>
            <p:ph idx="1"/>
          </p:nvPr>
        </p:nvSpPr>
        <p:spPr>
          <a:xfrm>
            <a:off x="242712" y="1885279"/>
            <a:ext cx="11706571" cy="471414"/>
          </a:xfrm>
          <a:solidFill>
            <a:schemeClr val="accent1">
              <a:lumMod val="20000"/>
              <a:lumOff val="80000"/>
            </a:schemeClr>
          </a:solidFill>
          <a:ln w="15875">
            <a:solidFill>
              <a:schemeClr val="tx2">
                <a:lumMod val="90000"/>
                <a:lumOff val="10000"/>
              </a:schemeClr>
            </a:solidFill>
          </a:ln>
        </p:spPr>
        <p:txBody>
          <a:bodyPr>
            <a:normAutofit lnSpcReduction="10000"/>
          </a:bodyPr>
          <a:lstStyle/>
          <a:p>
            <a:pPr marL="0" indent="0" algn="ctr">
              <a:buNone/>
            </a:pPr>
            <a:r>
              <a:rPr lang="en-ZA" b="1" dirty="0"/>
              <a:t>Designing with Reality in Mind</a:t>
            </a:r>
            <a:endParaRPr lang="en-US" dirty="0"/>
          </a:p>
          <a:p>
            <a:pPr algn="ctr"/>
            <a:endParaRPr lang="en-GB" dirty="0"/>
          </a:p>
        </p:txBody>
      </p:sp>
      <p:sp>
        <p:nvSpPr>
          <p:cNvPr id="11" name="Content Placeholder 3">
            <a:extLst>
              <a:ext uri="{FF2B5EF4-FFF2-40B4-BE49-F238E27FC236}">
                <a16:creationId xmlns:a16="http://schemas.microsoft.com/office/drawing/2014/main" id="{E9B2F5CE-6BA2-0524-90DE-3079ECDBC1EA}"/>
              </a:ext>
            </a:extLst>
          </p:cNvPr>
          <p:cNvSpPr txBox="1">
            <a:spLocks/>
          </p:cNvSpPr>
          <p:nvPr/>
        </p:nvSpPr>
        <p:spPr>
          <a:xfrm>
            <a:off x="369429" y="2740587"/>
            <a:ext cx="4972590" cy="432988"/>
          </a:xfrm>
          <a:prstGeom prst="rect">
            <a:avLst/>
          </a:prstGeom>
          <a:ln w="25400">
            <a:solidFill>
              <a:schemeClr val="tx2">
                <a:lumMod val="90000"/>
                <a:lumOff val="10000"/>
              </a:schemeClr>
            </a:solid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600" b="1" dirty="0"/>
              <a:t>Realities</a:t>
            </a:r>
          </a:p>
          <a:p>
            <a:endParaRPr lang="en-GB" dirty="0"/>
          </a:p>
        </p:txBody>
      </p:sp>
      <p:sp>
        <p:nvSpPr>
          <p:cNvPr id="15" name="Content Placeholder 3">
            <a:extLst>
              <a:ext uri="{FF2B5EF4-FFF2-40B4-BE49-F238E27FC236}">
                <a16:creationId xmlns:a16="http://schemas.microsoft.com/office/drawing/2014/main" id="{607126C1-BA0B-0D7B-04B8-74380CEDFE31}"/>
              </a:ext>
            </a:extLst>
          </p:cNvPr>
          <p:cNvSpPr txBox="1">
            <a:spLocks/>
          </p:cNvSpPr>
          <p:nvPr/>
        </p:nvSpPr>
        <p:spPr>
          <a:xfrm>
            <a:off x="6319573" y="2740587"/>
            <a:ext cx="5756427" cy="376516"/>
          </a:xfrm>
          <a:prstGeom prst="rect">
            <a:avLst/>
          </a:prstGeom>
          <a:ln w="25400">
            <a:solidFill>
              <a:schemeClr val="accent1"/>
            </a:solidFill>
          </a:ln>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Strengths</a:t>
            </a:r>
          </a:p>
          <a:p>
            <a:endParaRPr lang="en-GB" dirty="0"/>
          </a:p>
        </p:txBody>
      </p:sp>
      <p:sp>
        <p:nvSpPr>
          <p:cNvPr id="17" name="Content Placeholder 3">
            <a:extLst>
              <a:ext uri="{FF2B5EF4-FFF2-40B4-BE49-F238E27FC236}">
                <a16:creationId xmlns:a16="http://schemas.microsoft.com/office/drawing/2014/main" id="{0713F6E0-0D63-A583-C138-BC67F4052F74}"/>
              </a:ext>
            </a:extLst>
          </p:cNvPr>
          <p:cNvSpPr txBox="1">
            <a:spLocks/>
          </p:cNvSpPr>
          <p:nvPr/>
        </p:nvSpPr>
        <p:spPr>
          <a:xfrm>
            <a:off x="369429" y="3251619"/>
            <a:ext cx="4972591" cy="3311843"/>
          </a:xfrm>
          <a:prstGeom prst="rect">
            <a:avLst/>
          </a:prstGeom>
          <a:ln w="12700">
            <a:solidFill>
              <a:schemeClr val="tx2">
                <a:lumMod val="90000"/>
                <a:lumOff val="10000"/>
              </a:schemeClr>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ZA" sz="2600" dirty="0"/>
              <a:t>Resource constraints</a:t>
            </a:r>
          </a:p>
          <a:p>
            <a:endParaRPr lang="en-ZA" sz="2600" dirty="0"/>
          </a:p>
          <a:p>
            <a:r>
              <a:rPr lang="en-ZA" sz="2600" dirty="0"/>
              <a:t>Workforce shortages</a:t>
            </a:r>
          </a:p>
          <a:p>
            <a:endParaRPr lang="en-ZA" sz="2600" dirty="0"/>
          </a:p>
          <a:p>
            <a:r>
              <a:rPr lang="en-ZA" sz="2600" dirty="0"/>
              <a:t>High patient volumes</a:t>
            </a:r>
          </a:p>
          <a:p>
            <a:endParaRPr lang="en-ZA" sz="2600" dirty="0"/>
          </a:p>
          <a:p>
            <a:endParaRPr lang="en-GB" sz="2600" dirty="0"/>
          </a:p>
        </p:txBody>
      </p:sp>
      <p:sp>
        <p:nvSpPr>
          <p:cNvPr id="19" name="Content Placeholder 3">
            <a:extLst>
              <a:ext uri="{FF2B5EF4-FFF2-40B4-BE49-F238E27FC236}">
                <a16:creationId xmlns:a16="http://schemas.microsoft.com/office/drawing/2014/main" id="{06C2B18B-ECD9-4256-DEEB-F623EAFE8CE0}"/>
              </a:ext>
            </a:extLst>
          </p:cNvPr>
          <p:cNvSpPr txBox="1">
            <a:spLocks/>
          </p:cNvSpPr>
          <p:nvPr/>
        </p:nvSpPr>
        <p:spPr>
          <a:xfrm>
            <a:off x="6319574" y="3218584"/>
            <a:ext cx="5756432" cy="3311843"/>
          </a:xfrm>
          <a:prstGeom prst="rect">
            <a:avLst/>
          </a:prstGeom>
          <a:ln w="12700">
            <a:solidFill>
              <a:schemeClr val="accent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ZA" sz="2600" dirty="0"/>
              <a:t>Strong community platforms</a:t>
            </a:r>
          </a:p>
          <a:p>
            <a:endParaRPr lang="en-ZA" sz="2600" dirty="0"/>
          </a:p>
          <a:p>
            <a:r>
              <a:rPr lang="en-ZA" sz="2600" dirty="0"/>
              <a:t>Established PHC network</a:t>
            </a:r>
          </a:p>
          <a:p>
            <a:endParaRPr lang="en-ZA" sz="2600" dirty="0"/>
          </a:p>
          <a:p>
            <a:r>
              <a:rPr lang="en-ZA" sz="2600" dirty="0"/>
              <a:t>Skilled allied health professionals</a:t>
            </a:r>
          </a:p>
          <a:p>
            <a:endParaRPr lang="en-ZA" sz="2600" dirty="0"/>
          </a:p>
          <a:p>
            <a:endParaRPr lang="en-GB" sz="2600" dirty="0"/>
          </a:p>
        </p:txBody>
      </p:sp>
      <p:pic>
        <p:nvPicPr>
          <p:cNvPr id="27" name="Graphic 26" descr="Construction worker male with solid fill">
            <a:extLst>
              <a:ext uri="{FF2B5EF4-FFF2-40B4-BE49-F238E27FC236}">
                <a16:creationId xmlns:a16="http://schemas.microsoft.com/office/drawing/2014/main" id="{D87CA98C-59D5-847D-6CD4-F0E9A81BCDE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09287" y="4425741"/>
            <a:ext cx="587169" cy="587169"/>
          </a:xfrm>
          <a:prstGeom prst="rect">
            <a:avLst/>
          </a:prstGeom>
        </p:spPr>
      </p:pic>
      <p:pic>
        <p:nvPicPr>
          <p:cNvPr id="29" name="Graphic 28" descr="Inpatient with solid fill">
            <a:extLst>
              <a:ext uri="{FF2B5EF4-FFF2-40B4-BE49-F238E27FC236}">
                <a16:creationId xmlns:a16="http://schemas.microsoft.com/office/drawing/2014/main" id="{5754A2A6-9364-92E9-5C3A-8AAC6077E0D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08828" y="5626957"/>
            <a:ext cx="587169" cy="587169"/>
          </a:xfrm>
          <a:prstGeom prst="rect">
            <a:avLst/>
          </a:prstGeom>
        </p:spPr>
      </p:pic>
      <p:pic>
        <p:nvPicPr>
          <p:cNvPr id="33" name="Graphic 32" descr="Hospital with solid fill">
            <a:extLst>
              <a:ext uri="{FF2B5EF4-FFF2-40B4-BE49-F238E27FC236}">
                <a16:creationId xmlns:a16="http://schemas.microsoft.com/office/drawing/2014/main" id="{5E8543AA-8ADA-7AE4-68FE-06768F00FC1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508828" y="3251619"/>
            <a:ext cx="624632" cy="587169"/>
          </a:xfrm>
          <a:prstGeom prst="rect">
            <a:avLst/>
          </a:prstGeom>
        </p:spPr>
      </p:pic>
    </p:spTree>
    <p:extLst>
      <p:ext uri="{BB962C8B-B14F-4D97-AF65-F5344CB8AC3E}">
        <p14:creationId xmlns:p14="http://schemas.microsoft.com/office/powerpoint/2010/main" val="25160100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9F475A-B4FF-4651-0678-063AC87A9A1E}"/>
              </a:ext>
            </a:extLst>
          </p:cNvPr>
          <p:cNvSpPr>
            <a:spLocks noGrp="1"/>
          </p:cNvSpPr>
          <p:nvPr>
            <p:ph type="title"/>
          </p:nvPr>
        </p:nvSpPr>
        <p:spPr>
          <a:xfrm>
            <a:off x="566728" y="381001"/>
            <a:ext cx="5334197" cy="1708242"/>
          </a:xfrm>
        </p:spPr>
        <p:txBody>
          <a:bodyPr anchor="ctr">
            <a:normAutofit/>
          </a:bodyPr>
          <a:lstStyle/>
          <a:p>
            <a:r>
              <a:rPr lang="en-US" sz="4000" dirty="0"/>
              <a:t>Key Take-Home Messages</a:t>
            </a:r>
          </a:p>
        </p:txBody>
      </p:sp>
      <p:sp>
        <p:nvSpPr>
          <p:cNvPr id="3" name="Content Placeholder 2">
            <a:extLst>
              <a:ext uri="{FF2B5EF4-FFF2-40B4-BE49-F238E27FC236}">
                <a16:creationId xmlns:a16="http://schemas.microsoft.com/office/drawing/2014/main" id="{B34EE285-08C4-2194-9988-5F20914D01F4}"/>
              </a:ext>
            </a:extLst>
          </p:cNvPr>
          <p:cNvSpPr>
            <a:spLocks noGrp="1"/>
          </p:cNvSpPr>
          <p:nvPr>
            <p:ph idx="1"/>
          </p:nvPr>
        </p:nvSpPr>
        <p:spPr>
          <a:xfrm>
            <a:off x="481384" y="2189828"/>
            <a:ext cx="5614616" cy="3769835"/>
          </a:xfrm>
        </p:spPr>
        <p:txBody>
          <a:bodyPr anchor="ctr">
            <a:noAutofit/>
          </a:bodyPr>
          <a:lstStyle/>
          <a:p>
            <a:endParaRPr lang="en-US" sz="2000" dirty="0"/>
          </a:p>
          <a:p>
            <a:r>
              <a:rPr lang="en-US" sz="2000" dirty="0"/>
              <a:t>Prevention and cure are not separate mandates</a:t>
            </a:r>
          </a:p>
          <a:p>
            <a:endParaRPr lang="en-US" sz="2000" dirty="0"/>
          </a:p>
          <a:p>
            <a:r>
              <a:rPr lang="en-US" sz="2000" dirty="0"/>
              <a:t>Collaboration must be designed, not assumed</a:t>
            </a:r>
          </a:p>
          <a:p>
            <a:endParaRPr lang="en-US" sz="2000" dirty="0"/>
          </a:p>
          <a:p>
            <a:r>
              <a:rPr lang="en-US" sz="2000" dirty="0"/>
              <a:t>Integrated pathways improve outcomes and efficiency</a:t>
            </a:r>
          </a:p>
          <a:p>
            <a:endParaRPr lang="en-US" sz="2000" dirty="0"/>
          </a:p>
          <a:p>
            <a:r>
              <a:rPr lang="en-US" sz="2000" dirty="0"/>
              <a:t>Every professional in this room is a system actor</a:t>
            </a:r>
          </a:p>
        </p:txBody>
      </p:sp>
      <p:pic>
        <p:nvPicPr>
          <p:cNvPr id="5" name="Picture 4" descr="An open door on a blue wall">
            <a:extLst>
              <a:ext uri="{FF2B5EF4-FFF2-40B4-BE49-F238E27FC236}">
                <a16:creationId xmlns:a16="http://schemas.microsoft.com/office/drawing/2014/main" id="{FA325AD0-62CC-D807-38D4-47FFBB03C79D}"/>
              </a:ext>
            </a:extLst>
          </p:cNvPr>
          <p:cNvPicPr>
            <a:picLocks noChangeAspect="1"/>
          </p:cNvPicPr>
          <p:nvPr/>
        </p:nvPicPr>
        <p:blipFill>
          <a:blip r:embed="rId2"/>
          <a:srcRect r="51465" b="2"/>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7330415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29F1FC2-DD4D-8136-23FA-7E1D75AAF2EE}"/>
              </a:ext>
            </a:extLst>
          </p:cNvPr>
          <p:cNvSpPr>
            <a:spLocks noGrp="1"/>
          </p:cNvSpPr>
          <p:nvPr>
            <p:ph type="title"/>
          </p:nvPr>
        </p:nvSpPr>
        <p:spPr>
          <a:xfrm>
            <a:off x="761798" y="372538"/>
            <a:ext cx="5334197" cy="1708242"/>
          </a:xfrm>
        </p:spPr>
        <p:txBody>
          <a:bodyPr anchor="ctr">
            <a:normAutofit/>
          </a:bodyPr>
          <a:lstStyle/>
          <a:p>
            <a:r>
              <a:rPr lang="en-US" sz="4000" dirty="0"/>
              <a:t>Practical Steps to Start Tomorrow</a:t>
            </a:r>
          </a:p>
        </p:txBody>
      </p:sp>
      <p:sp>
        <p:nvSpPr>
          <p:cNvPr id="3" name="Content Placeholder 2">
            <a:extLst>
              <a:ext uri="{FF2B5EF4-FFF2-40B4-BE49-F238E27FC236}">
                <a16:creationId xmlns:a16="http://schemas.microsoft.com/office/drawing/2014/main" id="{6E67B433-07E8-8721-5AE2-492B451D8B73}"/>
              </a:ext>
            </a:extLst>
          </p:cNvPr>
          <p:cNvSpPr>
            <a:spLocks noGrp="1"/>
          </p:cNvSpPr>
          <p:nvPr>
            <p:ph idx="1"/>
          </p:nvPr>
        </p:nvSpPr>
        <p:spPr>
          <a:xfrm>
            <a:off x="393088" y="2233862"/>
            <a:ext cx="6580736" cy="3769835"/>
          </a:xfrm>
        </p:spPr>
        <p:txBody>
          <a:bodyPr anchor="ctr">
            <a:noAutofit/>
          </a:bodyPr>
          <a:lstStyle/>
          <a:p>
            <a:endParaRPr lang="en-US" sz="2000" dirty="0"/>
          </a:p>
          <a:p>
            <a:r>
              <a:rPr lang="en-US" sz="2000" dirty="0"/>
              <a:t>Three actions participants can take:</a:t>
            </a:r>
          </a:p>
          <a:p>
            <a:endParaRPr lang="en-US" sz="2000" dirty="0"/>
          </a:p>
          <a:p>
            <a:pPr lvl="1"/>
            <a:r>
              <a:rPr lang="en-US" sz="2000" dirty="0"/>
              <a:t>Map one patient pathway in their setting</a:t>
            </a:r>
          </a:p>
          <a:p>
            <a:endParaRPr lang="en-US" sz="2000" dirty="0"/>
          </a:p>
          <a:p>
            <a:pPr lvl="1"/>
            <a:r>
              <a:rPr lang="en-US" sz="2000" dirty="0"/>
              <a:t>Identify one broken handover</a:t>
            </a:r>
          </a:p>
          <a:p>
            <a:endParaRPr lang="en-US" sz="2000" dirty="0"/>
          </a:p>
          <a:p>
            <a:pPr lvl="1"/>
            <a:r>
              <a:rPr lang="en-US" sz="2000" dirty="0"/>
              <a:t>Create one multidisciplinary feedback mechanism</a:t>
            </a:r>
          </a:p>
          <a:p>
            <a:endParaRPr lang="en-US" sz="2000" dirty="0"/>
          </a:p>
          <a:p>
            <a:pPr marL="0" indent="0">
              <a:buNone/>
            </a:pPr>
            <a:endParaRPr lang="en-US" sz="2000" dirty="0"/>
          </a:p>
          <a:p>
            <a:r>
              <a:rPr lang="en-US" sz="2000" b="1" dirty="0"/>
              <a:t>Integration does not start with policy -  it starts with practice</a:t>
            </a:r>
          </a:p>
        </p:txBody>
      </p:sp>
      <p:pic>
        <p:nvPicPr>
          <p:cNvPr id="5" name="Picture 4" descr="Person pointing on a map">
            <a:extLst>
              <a:ext uri="{FF2B5EF4-FFF2-40B4-BE49-F238E27FC236}">
                <a16:creationId xmlns:a16="http://schemas.microsoft.com/office/drawing/2014/main" id="{9984FCB9-2961-0E3B-CE84-FA81444CAB3E}"/>
              </a:ext>
            </a:extLst>
          </p:cNvPr>
          <p:cNvPicPr>
            <a:picLocks noChangeAspect="1"/>
          </p:cNvPicPr>
          <p:nvPr/>
        </p:nvPicPr>
        <p:blipFill>
          <a:blip r:embed="rId2"/>
          <a:srcRect l="18276" r="29887" b="-1"/>
          <a:stretch>
            <a:fillRect/>
          </a:stretch>
        </p:blipFill>
        <p:spPr>
          <a:xfrm>
            <a:off x="7205471" y="-10886"/>
            <a:ext cx="4986529"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10400021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6299DA-4530-5915-18E7-EB05A9625AF9}"/>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Closing Reflection</a:t>
            </a:r>
          </a:p>
        </p:txBody>
      </p:sp>
      <p:sp>
        <p:nvSpPr>
          <p:cNvPr id="3" name="Content Placeholder 2">
            <a:extLst>
              <a:ext uri="{FF2B5EF4-FFF2-40B4-BE49-F238E27FC236}">
                <a16:creationId xmlns:a16="http://schemas.microsoft.com/office/drawing/2014/main" id="{47A07C7A-E1BD-4403-417A-148BC2C772E0}"/>
              </a:ext>
            </a:extLst>
          </p:cNvPr>
          <p:cNvSpPr>
            <a:spLocks noGrp="1"/>
          </p:cNvSpPr>
          <p:nvPr>
            <p:ph idx="1"/>
          </p:nvPr>
        </p:nvSpPr>
        <p:spPr>
          <a:xfrm>
            <a:off x="829056" y="1891970"/>
            <a:ext cx="10438494" cy="3683358"/>
          </a:xfrm>
        </p:spPr>
        <p:txBody>
          <a:bodyPr anchor="ctr">
            <a:normAutofit/>
          </a:bodyPr>
          <a:lstStyle/>
          <a:p>
            <a:pPr marL="0" indent="0" algn="ctr">
              <a:buNone/>
            </a:pPr>
            <a:r>
              <a:rPr lang="en-US" sz="3200" i="1" dirty="0"/>
              <a:t>When systems are designed around people rather than professions, prevention and cure stop competing and start cooperating.</a:t>
            </a:r>
          </a:p>
        </p:txBody>
      </p:sp>
    </p:spTree>
    <p:extLst>
      <p:ext uri="{BB962C8B-B14F-4D97-AF65-F5344CB8AC3E}">
        <p14:creationId xmlns:p14="http://schemas.microsoft.com/office/powerpoint/2010/main" val="10146646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Content Placeholder 25" descr="Close-up of a typewriter with a thank you note&#10;&#10;AI-generated content may be incorrect.">
            <a:extLst>
              <a:ext uri="{FF2B5EF4-FFF2-40B4-BE49-F238E27FC236}">
                <a16:creationId xmlns:a16="http://schemas.microsoft.com/office/drawing/2014/main" id="{2F09A59C-3BED-88E5-E651-F48F3134F4CF}"/>
              </a:ext>
            </a:extLst>
          </p:cNvPr>
          <p:cNvPicPr>
            <a:picLocks noGrp="1" noChangeAspect="1"/>
          </p:cNvPicPr>
          <p:nvPr>
            <p:ph idx="1"/>
          </p:nvPr>
        </p:nvPicPr>
        <p:blipFill>
          <a:blip r:embed="rId2">
            <a:extLst>
              <a:ext uri="{837473B0-CC2E-450A-ABE3-18F120FF3D39}">
                <a1611:picAttrSrcUrl xmlns:a1611="http://schemas.microsoft.com/office/drawing/2016/11/main" r:id="rId3"/>
              </a:ext>
            </a:extLst>
          </a:blip>
          <a:srcRect l="11238" r="9544"/>
          <a:stretch>
            <a:fillRect/>
          </a:stretch>
        </p:blipFill>
        <p:spPr>
          <a:xfrm>
            <a:off x="2569108" y="457200"/>
            <a:ext cx="7053783" cy="5943600"/>
          </a:xfrm>
          <a:prstGeom prst="rect">
            <a:avLst/>
          </a:prstGeom>
        </p:spPr>
      </p:pic>
      <p:sp>
        <p:nvSpPr>
          <p:cNvPr id="27" name="TextBox 26">
            <a:extLst>
              <a:ext uri="{FF2B5EF4-FFF2-40B4-BE49-F238E27FC236}">
                <a16:creationId xmlns:a16="http://schemas.microsoft.com/office/drawing/2014/main" id="{22117F26-40DC-F10E-7A9D-8CE91B662A89}"/>
              </a:ext>
            </a:extLst>
          </p:cNvPr>
          <p:cNvSpPr txBox="1"/>
          <p:nvPr/>
        </p:nvSpPr>
        <p:spPr>
          <a:xfrm>
            <a:off x="7190815" y="6200745"/>
            <a:ext cx="2432076" cy="200055"/>
          </a:xfrm>
          <a:prstGeom prst="rect">
            <a:avLst/>
          </a:prstGeom>
          <a:solidFill>
            <a:srgbClr val="000000"/>
          </a:solidFill>
        </p:spPr>
        <p:txBody>
          <a:bodyPr wrap="none" rtlCol="0">
            <a:spAutoFit/>
          </a:bodyPr>
          <a:lstStyle/>
          <a:p>
            <a:pPr algn="r">
              <a:spcAft>
                <a:spcPts val="600"/>
              </a:spcAft>
            </a:pPr>
            <a:r>
              <a:rPr lang="en-GB" sz="700">
                <a:solidFill>
                  <a:srgbClr val="FFFFFF"/>
                </a:solidFill>
                <a:hlinkClick r:id="rId3" tooltip="https://www.thebluediamondgallery.com/typewriter/t/thank-you.html">
                  <a:extLst>
                    <a:ext uri="{A12FA001-AC4F-418D-AE19-62706E023703}">
                      <ahyp:hlinkClr xmlns:ahyp="http://schemas.microsoft.com/office/drawing/2018/hyperlinkcolor" val="tx"/>
                    </a:ext>
                  </a:extLst>
                </a:hlinkClick>
              </a:rPr>
              <a:t>This Photo</a:t>
            </a:r>
            <a:r>
              <a:rPr lang="en-GB" sz="700">
                <a:solidFill>
                  <a:srgbClr val="FFFFFF"/>
                </a:solidFill>
              </a:rPr>
              <a:t> by Unknown Author is licensed under </a:t>
            </a:r>
            <a:r>
              <a:rPr lang="en-GB" sz="700">
                <a:solidFill>
                  <a:srgbClr val="FFFFFF"/>
                </a:solidFill>
                <a:hlinkClick r:id="rId4" tooltip="https://creativecommons.org/licenses/by-sa/3.0/">
                  <a:extLst>
                    <a:ext uri="{A12FA001-AC4F-418D-AE19-62706E023703}">
                      <ahyp:hlinkClr xmlns:ahyp="http://schemas.microsoft.com/office/drawing/2018/hyperlinkcolor" val="tx"/>
                    </a:ext>
                  </a:extLst>
                </a:hlinkClick>
              </a:rPr>
              <a:t>CC BY-SA</a:t>
            </a:r>
            <a:endParaRPr lang="en-GB" sz="700">
              <a:solidFill>
                <a:srgbClr val="FFFFFF"/>
              </a:solidFill>
            </a:endParaRPr>
          </a:p>
        </p:txBody>
      </p:sp>
    </p:spTree>
    <p:extLst>
      <p:ext uri="{BB962C8B-B14F-4D97-AF65-F5344CB8AC3E}">
        <p14:creationId xmlns:p14="http://schemas.microsoft.com/office/powerpoint/2010/main" val="30523140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4123</TotalTime>
  <Words>1067</Words>
  <Application>Microsoft Macintosh PowerPoint</Application>
  <PresentationFormat>Widescreen</PresentationFormat>
  <Paragraphs>175</Paragraphs>
  <Slides>14</Slides>
  <Notes>9</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Aptos Display</vt:lpstr>
      <vt:lpstr>Arial</vt:lpstr>
      <vt:lpstr>Courier New</vt:lpstr>
      <vt:lpstr>Office Theme</vt:lpstr>
      <vt:lpstr>        Designing Collaborative Health Models  Preventive to Curative Pathways </vt:lpstr>
      <vt:lpstr>    Designing Collaborative Health Models   </vt:lpstr>
      <vt:lpstr>    What is going wrong?   </vt:lpstr>
      <vt:lpstr>    Why does this keep happening? </vt:lpstr>
      <vt:lpstr>What is missing?</vt:lpstr>
      <vt:lpstr>What Is a Preventive–Curative Pathway?</vt:lpstr>
      <vt:lpstr>Designing Collaboration Intentionally </vt:lpstr>
      <vt:lpstr>Designing Collaborative Health Models From Prevention to Curative Pathways</vt:lpstr>
      <vt:lpstr>Governance and Leadership Enablers</vt:lpstr>
      <vt:lpstr>Designing for the South African Context</vt:lpstr>
      <vt:lpstr>Key Take-Home Messages</vt:lpstr>
      <vt:lpstr>Practical Steps to Start Tomorrow</vt:lpstr>
      <vt:lpstr>Closing Reflection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 Tabea Phashe</dc:creator>
  <cp:lastModifiedBy>Dr Tabea Phashe</cp:lastModifiedBy>
  <cp:revision>4</cp:revision>
  <dcterms:created xsi:type="dcterms:W3CDTF">2025-12-09T11:51:22Z</dcterms:created>
  <dcterms:modified xsi:type="dcterms:W3CDTF">2025-12-15T12:57:53Z</dcterms:modified>
</cp:coreProperties>
</file>