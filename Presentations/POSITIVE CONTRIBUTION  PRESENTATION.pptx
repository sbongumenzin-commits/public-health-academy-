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9" r:id="rId4"/>
  </p:sldMasterIdLst>
  <p:notesMasterIdLst>
    <p:notesMasterId r:id="rId17"/>
  </p:notesMasterIdLst>
  <p:sldIdLst>
    <p:sldId id="344" r:id="rId5"/>
    <p:sldId id="313" r:id="rId6"/>
    <p:sldId id="345" r:id="rId7"/>
    <p:sldId id="341" r:id="rId8"/>
    <p:sldId id="332" r:id="rId9"/>
    <p:sldId id="347" r:id="rId10"/>
    <p:sldId id="346" r:id="rId11"/>
    <p:sldId id="343" r:id="rId12"/>
    <p:sldId id="320" r:id="rId13"/>
    <p:sldId id="315" r:id="rId14"/>
    <p:sldId id="338" r:id="rId15"/>
    <p:sldId id="316" r:id="rId16"/>
  </p:sldIdLst>
  <p:sldSz cx="9906000" cy="6858000" type="A4"/>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80"/>
    <a:srgbClr val="17145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autoAdjust="0"/>
    <p:restoredTop sz="94670" autoAdjust="0"/>
  </p:normalViewPr>
  <p:slideViewPr>
    <p:cSldViewPr snapToGrid="0" snapToObjects="1">
      <p:cViewPr varScale="1">
        <p:scale>
          <a:sx n="104" d="100"/>
          <a:sy n="104" d="100"/>
        </p:scale>
        <p:origin x="216" y="304"/>
      </p:cViewPr>
      <p:guideLst>
        <p:guide orient="horz" pos="2160"/>
        <p:guide pos="3120"/>
      </p:guideLst>
    </p:cSldViewPr>
  </p:slideViewPr>
  <p:outlineViewPr>
    <p:cViewPr>
      <p:scale>
        <a:sx n="33" d="100"/>
        <a:sy n="33" d="100"/>
      </p:scale>
      <p:origin x="0" y="-19362"/>
    </p:cViewPr>
  </p:outlineViewPr>
  <p:notesTextViewPr>
    <p:cViewPr>
      <p:scale>
        <a:sx n="100" d="100"/>
        <a:sy n="100" d="100"/>
      </p:scale>
      <p:origin x="0" y="0"/>
    </p:cViewPr>
  </p:notesTextViewPr>
  <p:sorterViewPr>
    <p:cViewPr>
      <p:scale>
        <a:sx n="100" d="100"/>
        <a:sy n="100" d="100"/>
      </p:scale>
      <p:origin x="0" y="-82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ZA" dirty="0"/>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C4289A90-245A-4B2C-B941-97CE4902ABB4}" type="datetimeFigureOut">
              <a:rPr lang="en-ZA" smtClean="0"/>
              <a:t>2026/04/21</a:t>
            </a:fld>
            <a:endParaRPr lang="en-ZA" dirty="0"/>
          </a:p>
        </p:txBody>
      </p:sp>
      <p:sp>
        <p:nvSpPr>
          <p:cNvPr id="4" name="Slide Image Placeholder 3"/>
          <p:cNvSpPr>
            <a:spLocks noGrp="1" noRot="1" noChangeAspect="1"/>
          </p:cNvSpPr>
          <p:nvPr>
            <p:ph type="sldImg" idx="2"/>
          </p:nvPr>
        </p:nvSpPr>
        <p:spPr>
          <a:xfrm>
            <a:off x="923925" y="696913"/>
            <a:ext cx="5033963" cy="3486150"/>
          </a:xfrm>
          <a:prstGeom prst="rect">
            <a:avLst/>
          </a:prstGeom>
          <a:noFill/>
          <a:ln w="12700">
            <a:solidFill>
              <a:prstClr val="black"/>
            </a:solidFill>
          </a:ln>
        </p:spPr>
        <p:txBody>
          <a:bodyPr vert="horz" lIns="92446" tIns="46223" rIns="92446" bIns="46223" rtlCol="0" anchor="ctr"/>
          <a:lstStyle/>
          <a:p>
            <a:endParaRPr lang="en-ZA" dirty="0"/>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B8E957EF-302D-4735-974E-F01B70E70693}" type="slidenum">
              <a:rPr lang="en-ZA" smtClean="0"/>
              <a:t>‹#›</a:t>
            </a:fld>
            <a:endParaRPr lang="en-ZA" dirty="0"/>
          </a:p>
        </p:txBody>
      </p:sp>
    </p:spTree>
    <p:extLst>
      <p:ext uri="{BB962C8B-B14F-4D97-AF65-F5344CB8AC3E}">
        <p14:creationId xmlns:p14="http://schemas.microsoft.com/office/powerpoint/2010/main" val="94588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6947F-A4D0-5926-E5D7-6B6552245096}"/>
              </a:ext>
            </a:extLst>
          </p:cNvPr>
          <p:cNvSpPr>
            <a:spLocks noGrp="1"/>
          </p:cNvSpPr>
          <p:nvPr>
            <p:ph type="ctrTitle"/>
          </p:nvPr>
        </p:nvSpPr>
        <p:spPr>
          <a:xfrm>
            <a:off x="1238250" y="1122363"/>
            <a:ext cx="7429500" cy="2387600"/>
          </a:xfrm>
        </p:spPr>
        <p:txBody>
          <a:bodyPr anchor="b"/>
          <a:lstStyle>
            <a:lvl1pPr algn="ctr">
              <a:defRPr sz="4875"/>
            </a:lvl1pPr>
          </a:lstStyle>
          <a:p>
            <a:r>
              <a:rPr lang="en-GB"/>
              <a:t>Click to edit Master title style</a:t>
            </a:r>
            <a:endParaRPr lang="en-US"/>
          </a:p>
        </p:txBody>
      </p:sp>
      <p:sp>
        <p:nvSpPr>
          <p:cNvPr id="3" name="Subtitle 2">
            <a:extLst>
              <a:ext uri="{FF2B5EF4-FFF2-40B4-BE49-F238E27FC236}">
                <a16:creationId xmlns:a16="http://schemas.microsoft.com/office/drawing/2014/main" id="{D168A6D8-AFD7-45BA-F079-5F8F870C3D16}"/>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90638A2-411C-AE0C-D53F-3DF7E339A304}"/>
              </a:ext>
            </a:extLst>
          </p:cNvPr>
          <p:cNvSpPr>
            <a:spLocks noGrp="1"/>
          </p:cNvSpPr>
          <p:nvPr>
            <p:ph type="dt" sz="half" idx="10"/>
          </p:nvPr>
        </p:nvSpPr>
        <p:spPr/>
        <p:txBody>
          <a:bodyPr/>
          <a:lstStyle/>
          <a:p>
            <a:fld id="{57B8B996-2C0F-D84B-8B89-E55E7DFDC63B}" type="datetimeFigureOut">
              <a:rPr lang="en-US" smtClean="0"/>
              <a:t>4/21/26</a:t>
            </a:fld>
            <a:endParaRPr lang="en-US"/>
          </a:p>
        </p:txBody>
      </p:sp>
      <p:sp>
        <p:nvSpPr>
          <p:cNvPr id="5" name="Footer Placeholder 4">
            <a:extLst>
              <a:ext uri="{FF2B5EF4-FFF2-40B4-BE49-F238E27FC236}">
                <a16:creationId xmlns:a16="http://schemas.microsoft.com/office/drawing/2014/main" id="{F636ECF9-420D-7BFB-0B2E-11F7188506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A09007-FAE3-A089-718C-D2846AD9ED20}"/>
              </a:ext>
            </a:extLst>
          </p:cNvPr>
          <p:cNvSpPr>
            <a:spLocks noGrp="1"/>
          </p:cNvSpPr>
          <p:nvPr>
            <p:ph type="sldNum" sz="quarter" idx="12"/>
          </p:nvPr>
        </p:nvSpPr>
        <p:spPr/>
        <p:txBody>
          <a:bodyPr/>
          <a:lstStyle/>
          <a:p>
            <a:fld id="{F4CFC688-150D-A54C-837A-4722F0C8DEFB}" type="slidenum">
              <a:rPr lang="en-US" smtClean="0"/>
              <a:t>‹#›</a:t>
            </a:fld>
            <a:endParaRPr lang="en-US"/>
          </a:p>
        </p:txBody>
      </p:sp>
    </p:spTree>
    <p:extLst>
      <p:ext uri="{BB962C8B-B14F-4D97-AF65-F5344CB8AC3E}">
        <p14:creationId xmlns:p14="http://schemas.microsoft.com/office/powerpoint/2010/main" val="361143667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21BE1-1687-1F95-7C4B-CBD28758CF3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89A1E1B-56D8-E44A-1DE0-D2640AB46ED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CA25C5-DDD8-7189-7F2A-27CD9DF6CE26}"/>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6BF001D2-55B1-6679-18D9-38491BD4366A}"/>
              </a:ext>
            </a:extLst>
          </p:cNvPr>
          <p:cNvSpPr>
            <a:spLocks noGrp="1"/>
          </p:cNvSpPr>
          <p:nvPr>
            <p:ph type="ftr" sz="quarter" idx="11"/>
          </p:nvPr>
        </p:nvSpPr>
        <p:spPr/>
        <p:txBody>
          <a:bodyPr/>
          <a:lstStyle/>
          <a:p>
            <a:r>
              <a:rPr lang="en-US"/>
              <a:t>SLIDE </a:t>
            </a:r>
            <a:endParaRPr lang="en-US" dirty="0"/>
          </a:p>
        </p:txBody>
      </p:sp>
      <p:sp>
        <p:nvSpPr>
          <p:cNvPr id="6" name="Slide Number Placeholder 5">
            <a:extLst>
              <a:ext uri="{FF2B5EF4-FFF2-40B4-BE49-F238E27FC236}">
                <a16:creationId xmlns:a16="http://schemas.microsoft.com/office/drawing/2014/main" id="{771537B8-2BC7-10DD-CEC5-E0224B9375E1}"/>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3060402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1747-24A2-0BF9-8434-076062995BE8}"/>
              </a:ext>
            </a:extLst>
          </p:cNvPr>
          <p:cNvSpPr>
            <a:spLocks noGrp="1"/>
          </p:cNvSpPr>
          <p:nvPr>
            <p:ph type="title"/>
          </p:nvPr>
        </p:nvSpPr>
        <p:spPr>
          <a:xfrm>
            <a:off x="675878" y="1709738"/>
            <a:ext cx="8543925" cy="2852737"/>
          </a:xfrm>
        </p:spPr>
        <p:txBody>
          <a:bodyPr anchor="b"/>
          <a:lstStyle>
            <a:lvl1pPr>
              <a:defRPr sz="4875"/>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BE081C4-E1E1-AD19-96B4-07277550AE05}"/>
              </a:ext>
            </a:extLst>
          </p:cNvPr>
          <p:cNvSpPr>
            <a:spLocks noGrp="1"/>
          </p:cNvSpPr>
          <p:nvPr>
            <p:ph type="body" idx="1"/>
          </p:nvPr>
        </p:nvSpPr>
        <p:spPr>
          <a:xfrm>
            <a:off x="675878" y="4589464"/>
            <a:ext cx="8543925" cy="1500187"/>
          </a:xfrm>
        </p:spPr>
        <p:txBody>
          <a:bodyPr/>
          <a:lstStyle>
            <a:lvl1pPr marL="0" indent="0">
              <a:buNone/>
              <a:defRPr sz="1950">
                <a:solidFill>
                  <a:schemeClr val="tx1">
                    <a:tint val="75000"/>
                  </a:schemeClr>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798BCD0-1C36-AE29-6254-A705F4C087F3}"/>
              </a:ext>
            </a:extLst>
          </p:cNvPr>
          <p:cNvSpPr>
            <a:spLocks noGrp="1"/>
          </p:cNvSpPr>
          <p:nvPr>
            <p:ph type="dt" sz="half" idx="10"/>
          </p:nvPr>
        </p:nvSpPr>
        <p:spPr/>
        <p:txBody>
          <a:bodyPr/>
          <a:lstStyle/>
          <a:p>
            <a:fld id="{57B8B996-2C0F-D84B-8B89-E55E7DFDC63B}" type="datetimeFigureOut">
              <a:rPr lang="en-US" smtClean="0"/>
              <a:t>4/21/26</a:t>
            </a:fld>
            <a:endParaRPr lang="en-US"/>
          </a:p>
        </p:txBody>
      </p:sp>
      <p:sp>
        <p:nvSpPr>
          <p:cNvPr id="5" name="Footer Placeholder 4">
            <a:extLst>
              <a:ext uri="{FF2B5EF4-FFF2-40B4-BE49-F238E27FC236}">
                <a16:creationId xmlns:a16="http://schemas.microsoft.com/office/drawing/2014/main" id="{746247DE-5514-B23E-C3B2-B4DC7A9E7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7E121F-C88B-AF07-9F27-5918A2D67B40}"/>
              </a:ext>
            </a:extLst>
          </p:cNvPr>
          <p:cNvSpPr>
            <a:spLocks noGrp="1"/>
          </p:cNvSpPr>
          <p:nvPr>
            <p:ph type="sldNum" sz="quarter" idx="12"/>
          </p:nvPr>
        </p:nvSpPr>
        <p:spPr/>
        <p:txBody>
          <a:bodyPr/>
          <a:lstStyle/>
          <a:p>
            <a:fld id="{F4CFC688-150D-A54C-837A-4722F0C8DEFB}" type="slidenum">
              <a:rPr lang="en-US" smtClean="0"/>
              <a:t>‹#›</a:t>
            </a:fld>
            <a:endParaRPr lang="en-US"/>
          </a:p>
        </p:txBody>
      </p:sp>
    </p:spTree>
    <p:extLst>
      <p:ext uri="{BB962C8B-B14F-4D97-AF65-F5344CB8AC3E}">
        <p14:creationId xmlns:p14="http://schemas.microsoft.com/office/powerpoint/2010/main" val="425564683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E4C7D-0A53-2DFB-4810-7DE5C4AEA6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70CA21B-85F2-6B7D-4606-473957B472B2}"/>
              </a:ext>
            </a:extLst>
          </p:cNvPr>
          <p:cNvSpPr>
            <a:spLocks noGrp="1"/>
          </p:cNvSpPr>
          <p:nvPr>
            <p:ph sz="half" idx="1"/>
          </p:nvPr>
        </p:nvSpPr>
        <p:spPr>
          <a:xfrm>
            <a:off x="681038"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F81D2BF-FA05-690E-3E08-189768C24563}"/>
              </a:ext>
            </a:extLst>
          </p:cNvPr>
          <p:cNvSpPr>
            <a:spLocks noGrp="1"/>
          </p:cNvSpPr>
          <p:nvPr>
            <p:ph sz="half" idx="2"/>
          </p:nvPr>
        </p:nvSpPr>
        <p:spPr>
          <a:xfrm>
            <a:off x="5014913"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5CFF245-6321-012B-BDD1-50E148615997}"/>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04C8F7B3-BBB0-CC91-F571-8D66C6B1FD8F}"/>
              </a:ext>
            </a:extLst>
          </p:cNvPr>
          <p:cNvSpPr>
            <a:spLocks noGrp="1"/>
          </p:cNvSpPr>
          <p:nvPr>
            <p:ph type="ftr" sz="quarter" idx="11"/>
          </p:nvPr>
        </p:nvSpPr>
        <p:spPr/>
        <p:txBody>
          <a:bodyPr/>
          <a:lstStyle/>
          <a:p>
            <a:r>
              <a:rPr lang="en-US"/>
              <a:t>SLIDE </a:t>
            </a:r>
            <a:endParaRPr lang="en-US" dirty="0"/>
          </a:p>
        </p:txBody>
      </p:sp>
      <p:sp>
        <p:nvSpPr>
          <p:cNvPr id="7" name="Slide Number Placeholder 6">
            <a:extLst>
              <a:ext uri="{FF2B5EF4-FFF2-40B4-BE49-F238E27FC236}">
                <a16:creationId xmlns:a16="http://schemas.microsoft.com/office/drawing/2014/main" id="{0CFE22FD-48E2-B118-4D12-4CD84F0A7F5C}"/>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1895766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D3A0-C2C1-6803-9678-9D98A17D19F3}"/>
              </a:ext>
            </a:extLst>
          </p:cNvPr>
          <p:cNvSpPr>
            <a:spLocks noGrp="1"/>
          </p:cNvSpPr>
          <p:nvPr>
            <p:ph type="title"/>
          </p:nvPr>
        </p:nvSpPr>
        <p:spPr>
          <a:xfrm>
            <a:off x="682328" y="365126"/>
            <a:ext cx="8543925"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646DB35-3AF2-D6F2-7830-D7411E2014C6}"/>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GB"/>
              <a:t>Click to edit Master text styles</a:t>
            </a:r>
          </a:p>
        </p:txBody>
      </p:sp>
      <p:sp>
        <p:nvSpPr>
          <p:cNvPr id="4" name="Content Placeholder 3">
            <a:extLst>
              <a:ext uri="{FF2B5EF4-FFF2-40B4-BE49-F238E27FC236}">
                <a16:creationId xmlns:a16="http://schemas.microsoft.com/office/drawing/2014/main" id="{7CA1EE90-A1FD-F909-0ED0-8B450C4D61CD}"/>
              </a:ext>
            </a:extLst>
          </p:cNvPr>
          <p:cNvSpPr>
            <a:spLocks noGrp="1"/>
          </p:cNvSpPr>
          <p:nvPr>
            <p:ph sz="half" idx="2"/>
          </p:nvPr>
        </p:nvSpPr>
        <p:spPr>
          <a:xfrm>
            <a:off x="682328" y="2505075"/>
            <a:ext cx="419070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4B981DC-C2A9-5556-EF4E-98B761B2E612}"/>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GB"/>
              <a:t>Click to edit Master text styles</a:t>
            </a:r>
          </a:p>
        </p:txBody>
      </p:sp>
      <p:sp>
        <p:nvSpPr>
          <p:cNvPr id="6" name="Content Placeholder 5">
            <a:extLst>
              <a:ext uri="{FF2B5EF4-FFF2-40B4-BE49-F238E27FC236}">
                <a16:creationId xmlns:a16="http://schemas.microsoft.com/office/drawing/2014/main" id="{7C010466-4C74-2D6F-A447-92AE741833F3}"/>
              </a:ext>
            </a:extLst>
          </p:cNvPr>
          <p:cNvSpPr>
            <a:spLocks noGrp="1"/>
          </p:cNvSpPr>
          <p:nvPr>
            <p:ph sz="quarter" idx="4"/>
          </p:nvPr>
        </p:nvSpPr>
        <p:spPr>
          <a:xfrm>
            <a:off x="5014913" y="2505075"/>
            <a:ext cx="4211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D66CF80-1733-6952-0871-292C4E4BFDE5}"/>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F529BF5A-3982-CC1B-4CAF-7DC8276D1D2D}"/>
              </a:ext>
            </a:extLst>
          </p:cNvPr>
          <p:cNvSpPr>
            <a:spLocks noGrp="1"/>
          </p:cNvSpPr>
          <p:nvPr>
            <p:ph type="ftr" sz="quarter" idx="11"/>
          </p:nvPr>
        </p:nvSpPr>
        <p:spPr/>
        <p:txBody>
          <a:bodyPr/>
          <a:lstStyle/>
          <a:p>
            <a:r>
              <a:rPr lang="en-US"/>
              <a:t>SLIDE </a:t>
            </a:r>
            <a:endParaRPr lang="en-US" dirty="0"/>
          </a:p>
        </p:txBody>
      </p:sp>
      <p:sp>
        <p:nvSpPr>
          <p:cNvPr id="9" name="Slide Number Placeholder 8">
            <a:extLst>
              <a:ext uri="{FF2B5EF4-FFF2-40B4-BE49-F238E27FC236}">
                <a16:creationId xmlns:a16="http://schemas.microsoft.com/office/drawing/2014/main" id="{0E7EDC15-D16A-C769-DB3E-B60AD89CB85E}"/>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2922335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1EA0-6B53-5765-109B-1AC42993F70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7C3F54E-7100-7F39-EA0F-00D9C76BC5CA}"/>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DB2BBCB7-7C98-178F-F9C1-99143ADE5B8D}"/>
              </a:ext>
            </a:extLst>
          </p:cNvPr>
          <p:cNvSpPr>
            <a:spLocks noGrp="1"/>
          </p:cNvSpPr>
          <p:nvPr>
            <p:ph type="ftr" sz="quarter" idx="11"/>
          </p:nvPr>
        </p:nvSpPr>
        <p:spPr/>
        <p:txBody>
          <a:bodyPr/>
          <a:lstStyle/>
          <a:p>
            <a:r>
              <a:rPr lang="en-US"/>
              <a:t>SLIDE </a:t>
            </a:r>
            <a:endParaRPr lang="en-US" dirty="0"/>
          </a:p>
        </p:txBody>
      </p:sp>
      <p:sp>
        <p:nvSpPr>
          <p:cNvPr id="5" name="Slide Number Placeholder 4">
            <a:extLst>
              <a:ext uri="{FF2B5EF4-FFF2-40B4-BE49-F238E27FC236}">
                <a16:creationId xmlns:a16="http://schemas.microsoft.com/office/drawing/2014/main" id="{C07F5FA5-6408-82A6-44C6-708A3A5544F2}"/>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760357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15FC3F-13B5-9372-21F0-AA2DEE59E5D0}"/>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B641BB4C-C017-E8D4-0303-8E22C85125F5}"/>
              </a:ext>
            </a:extLst>
          </p:cNvPr>
          <p:cNvSpPr>
            <a:spLocks noGrp="1"/>
          </p:cNvSpPr>
          <p:nvPr>
            <p:ph type="ftr" sz="quarter" idx="11"/>
          </p:nvPr>
        </p:nvSpPr>
        <p:spPr/>
        <p:txBody>
          <a:bodyPr/>
          <a:lstStyle/>
          <a:p>
            <a:r>
              <a:rPr lang="en-US"/>
              <a:t>SLIDE </a:t>
            </a:r>
            <a:endParaRPr lang="en-US" dirty="0"/>
          </a:p>
        </p:txBody>
      </p:sp>
      <p:sp>
        <p:nvSpPr>
          <p:cNvPr id="4" name="Slide Number Placeholder 3">
            <a:extLst>
              <a:ext uri="{FF2B5EF4-FFF2-40B4-BE49-F238E27FC236}">
                <a16:creationId xmlns:a16="http://schemas.microsoft.com/office/drawing/2014/main" id="{0214B4E9-D2C1-EB52-CCCD-A573EDF570A9}"/>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2014655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0A6C2-F529-D9B7-ED15-FA377325E3EA}"/>
              </a:ext>
            </a:extLst>
          </p:cNvPr>
          <p:cNvSpPr>
            <a:spLocks noGrp="1"/>
          </p:cNvSpPr>
          <p:nvPr>
            <p:ph type="title"/>
          </p:nvPr>
        </p:nvSpPr>
        <p:spPr>
          <a:xfrm>
            <a:off x="682328" y="457200"/>
            <a:ext cx="3194943" cy="1600200"/>
          </a:xfrm>
        </p:spPr>
        <p:txBody>
          <a:bodyPr anchor="b"/>
          <a:lstStyle>
            <a:lvl1pPr>
              <a:defRPr sz="26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AEED3E5-0051-6640-6FD3-BE12134698AC}"/>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E905E47-364C-6A18-E92C-EB2AFDF62E5A}"/>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GB"/>
              <a:t>Click to edit Master text styles</a:t>
            </a:r>
          </a:p>
        </p:txBody>
      </p:sp>
      <p:sp>
        <p:nvSpPr>
          <p:cNvPr id="5" name="Date Placeholder 4">
            <a:extLst>
              <a:ext uri="{FF2B5EF4-FFF2-40B4-BE49-F238E27FC236}">
                <a16:creationId xmlns:a16="http://schemas.microsoft.com/office/drawing/2014/main" id="{82984B90-DB42-D9D7-2284-F51F1048EBA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F26FF0B-28D7-BFA1-B471-46FCE2CC6C3C}"/>
              </a:ext>
            </a:extLst>
          </p:cNvPr>
          <p:cNvSpPr>
            <a:spLocks noGrp="1"/>
          </p:cNvSpPr>
          <p:nvPr>
            <p:ph type="ftr" sz="quarter" idx="11"/>
          </p:nvPr>
        </p:nvSpPr>
        <p:spPr/>
        <p:txBody>
          <a:bodyPr/>
          <a:lstStyle/>
          <a:p>
            <a:r>
              <a:rPr lang="en-US"/>
              <a:t>SLIDE </a:t>
            </a:r>
            <a:endParaRPr lang="en-US" dirty="0"/>
          </a:p>
        </p:txBody>
      </p:sp>
      <p:sp>
        <p:nvSpPr>
          <p:cNvPr id="7" name="Slide Number Placeholder 6">
            <a:extLst>
              <a:ext uri="{FF2B5EF4-FFF2-40B4-BE49-F238E27FC236}">
                <a16:creationId xmlns:a16="http://schemas.microsoft.com/office/drawing/2014/main" id="{6E1EED76-EA1E-E9C7-5E28-F01C18930633}"/>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1646290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93720-B8D8-8A60-029D-38CEFDEE7B95}"/>
              </a:ext>
            </a:extLst>
          </p:cNvPr>
          <p:cNvSpPr>
            <a:spLocks noGrp="1"/>
          </p:cNvSpPr>
          <p:nvPr>
            <p:ph type="title"/>
          </p:nvPr>
        </p:nvSpPr>
        <p:spPr>
          <a:xfrm>
            <a:off x="682328" y="457200"/>
            <a:ext cx="3194943" cy="1600200"/>
          </a:xfrm>
        </p:spPr>
        <p:txBody>
          <a:bodyPr anchor="b"/>
          <a:lstStyle>
            <a:lvl1pPr>
              <a:defRPr sz="26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2EA6BF-5CC1-E4D2-8123-FB9025300B9B}"/>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en-US"/>
          </a:p>
        </p:txBody>
      </p:sp>
      <p:sp>
        <p:nvSpPr>
          <p:cNvPr id="4" name="Text Placeholder 3">
            <a:extLst>
              <a:ext uri="{FF2B5EF4-FFF2-40B4-BE49-F238E27FC236}">
                <a16:creationId xmlns:a16="http://schemas.microsoft.com/office/drawing/2014/main" id="{16DDA551-AACE-48AD-CC4B-CE365BAB4BC9}"/>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GB"/>
              <a:t>Click to edit Master text styles</a:t>
            </a:r>
          </a:p>
        </p:txBody>
      </p:sp>
      <p:sp>
        <p:nvSpPr>
          <p:cNvPr id="5" name="Date Placeholder 4">
            <a:extLst>
              <a:ext uri="{FF2B5EF4-FFF2-40B4-BE49-F238E27FC236}">
                <a16:creationId xmlns:a16="http://schemas.microsoft.com/office/drawing/2014/main" id="{51E81B00-8771-5818-7859-CEC158B4588E}"/>
              </a:ext>
            </a:extLst>
          </p:cNvPr>
          <p:cNvSpPr>
            <a:spLocks noGrp="1"/>
          </p:cNvSpPr>
          <p:nvPr>
            <p:ph type="dt" sz="half" idx="10"/>
          </p:nvPr>
        </p:nvSpPr>
        <p:spPr/>
        <p:txBody>
          <a:bodyPr/>
          <a:lstStyle/>
          <a:p>
            <a:fld id="{57B8B996-2C0F-D84B-8B89-E55E7DFDC63B}" type="datetimeFigureOut">
              <a:rPr lang="en-US" smtClean="0"/>
              <a:t>4/21/26</a:t>
            </a:fld>
            <a:endParaRPr lang="en-US"/>
          </a:p>
        </p:txBody>
      </p:sp>
      <p:sp>
        <p:nvSpPr>
          <p:cNvPr id="6" name="Footer Placeholder 5">
            <a:extLst>
              <a:ext uri="{FF2B5EF4-FFF2-40B4-BE49-F238E27FC236}">
                <a16:creationId xmlns:a16="http://schemas.microsoft.com/office/drawing/2014/main" id="{4488688B-4CC8-3E2D-1169-92888828B6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49ABDD-60D7-1EC9-B805-3584F7B07921}"/>
              </a:ext>
            </a:extLst>
          </p:cNvPr>
          <p:cNvSpPr>
            <a:spLocks noGrp="1"/>
          </p:cNvSpPr>
          <p:nvPr>
            <p:ph type="sldNum" sz="quarter" idx="12"/>
          </p:nvPr>
        </p:nvSpPr>
        <p:spPr/>
        <p:txBody>
          <a:bodyPr/>
          <a:lstStyle/>
          <a:p>
            <a:fld id="{F4CFC688-150D-A54C-837A-4722F0C8DEFB}" type="slidenum">
              <a:rPr lang="en-US" smtClean="0"/>
              <a:t>‹#›</a:t>
            </a:fld>
            <a:endParaRPr lang="en-US"/>
          </a:p>
        </p:txBody>
      </p:sp>
    </p:spTree>
    <p:extLst>
      <p:ext uri="{BB962C8B-B14F-4D97-AF65-F5344CB8AC3E}">
        <p14:creationId xmlns:p14="http://schemas.microsoft.com/office/powerpoint/2010/main" val="372297655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4C2B8-3652-E7A0-B631-936525815A3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E42DC2E-E712-FB84-F4EA-467DA64A08D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6BA2B2-53DF-D599-DC7B-C4BB57B829F3}"/>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DA291F-0159-7CA3-D67E-CACCF3272B4C}"/>
              </a:ext>
            </a:extLst>
          </p:cNvPr>
          <p:cNvSpPr>
            <a:spLocks noGrp="1"/>
          </p:cNvSpPr>
          <p:nvPr>
            <p:ph type="ftr" sz="quarter" idx="11"/>
          </p:nvPr>
        </p:nvSpPr>
        <p:spPr/>
        <p:txBody>
          <a:bodyPr/>
          <a:lstStyle/>
          <a:p>
            <a:r>
              <a:rPr lang="en-US"/>
              <a:t>SLIDE </a:t>
            </a:r>
            <a:endParaRPr lang="en-US" dirty="0"/>
          </a:p>
        </p:txBody>
      </p:sp>
      <p:sp>
        <p:nvSpPr>
          <p:cNvPr id="6" name="Slide Number Placeholder 5">
            <a:extLst>
              <a:ext uri="{FF2B5EF4-FFF2-40B4-BE49-F238E27FC236}">
                <a16:creationId xmlns:a16="http://schemas.microsoft.com/office/drawing/2014/main" id="{FBB0C370-B4BC-5889-0B4E-05B73C66D304}"/>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1328948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DF25D5-9C80-F229-0129-FF956228C57A}"/>
              </a:ext>
            </a:extLst>
          </p:cNvPr>
          <p:cNvSpPr>
            <a:spLocks noGrp="1"/>
          </p:cNvSpPr>
          <p:nvPr>
            <p:ph type="title" orient="vert"/>
          </p:nvPr>
        </p:nvSpPr>
        <p:spPr>
          <a:xfrm>
            <a:off x="7088981" y="365125"/>
            <a:ext cx="2135981"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7BDF960-2308-4E1D-96FB-8E1F3C8F67B2}"/>
              </a:ext>
            </a:extLst>
          </p:cNvPr>
          <p:cNvSpPr>
            <a:spLocks noGrp="1"/>
          </p:cNvSpPr>
          <p:nvPr>
            <p:ph type="body" orient="vert" idx="1"/>
          </p:nvPr>
        </p:nvSpPr>
        <p:spPr>
          <a:xfrm>
            <a:off x="681037" y="365125"/>
            <a:ext cx="6284119"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4477989-3B07-5C86-8A96-BBB184EC094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6F6AA60-4468-DB1B-69A7-8B87C789F71B}"/>
              </a:ext>
            </a:extLst>
          </p:cNvPr>
          <p:cNvSpPr>
            <a:spLocks noGrp="1"/>
          </p:cNvSpPr>
          <p:nvPr>
            <p:ph type="ftr" sz="quarter" idx="11"/>
          </p:nvPr>
        </p:nvSpPr>
        <p:spPr/>
        <p:txBody>
          <a:bodyPr/>
          <a:lstStyle/>
          <a:p>
            <a:r>
              <a:rPr lang="en-US"/>
              <a:t>SLIDE </a:t>
            </a:r>
            <a:endParaRPr lang="en-US" dirty="0"/>
          </a:p>
        </p:txBody>
      </p:sp>
      <p:sp>
        <p:nvSpPr>
          <p:cNvPr id="6" name="Slide Number Placeholder 5">
            <a:extLst>
              <a:ext uri="{FF2B5EF4-FFF2-40B4-BE49-F238E27FC236}">
                <a16:creationId xmlns:a16="http://schemas.microsoft.com/office/drawing/2014/main" id="{84A2DA17-A35C-5533-E99A-C1DF5FF5376A}"/>
              </a:ext>
            </a:extLst>
          </p:cNvPr>
          <p:cNvSpPr>
            <a:spLocks noGrp="1"/>
          </p:cNvSpPr>
          <p:nvPr>
            <p:ph type="sldNum" sz="quarter" idx="12"/>
          </p:nvPr>
        </p:nvSpPr>
        <p:spPr/>
        <p:txBody>
          <a:bodyPr/>
          <a:lstStyle/>
          <a:p>
            <a:fld id="{A2D14663-20C1-504C-8997-4EC422F45FD6}" type="slidenum">
              <a:rPr lang="en-US" smtClean="0"/>
              <a:t>‹#›</a:t>
            </a:fld>
            <a:endParaRPr lang="en-US" dirty="0"/>
          </a:p>
        </p:txBody>
      </p:sp>
    </p:spTree>
    <p:extLst>
      <p:ext uri="{BB962C8B-B14F-4D97-AF65-F5344CB8AC3E}">
        <p14:creationId xmlns:p14="http://schemas.microsoft.com/office/powerpoint/2010/main" val="1633546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9" name="Picture 8" descr="cover.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6" y="-165279"/>
            <a:ext cx="9927706" cy="7023279"/>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1227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22ED40-57FE-41FB-4B08-E053D08EFF6D}"/>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E5E35D0-72F1-70B3-2F49-6B43C8774AE2}"/>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970CE3-C90B-ABB4-B63B-B88ADA28E36E}"/>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57B8B996-2C0F-D84B-8B89-E55E7DFDC63B}" type="datetimeFigureOut">
              <a:rPr lang="en-US" smtClean="0"/>
              <a:t>4/21/26</a:t>
            </a:fld>
            <a:endParaRPr lang="en-US"/>
          </a:p>
        </p:txBody>
      </p:sp>
      <p:sp>
        <p:nvSpPr>
          <p:cNvPr id="5" name="Footer Placeholder 4">
            <a:extLst>
              <a:ext uri="{FF2B5EF4-FFF2-40B4-BE49-F238E27FC236}">
                <a16:creationId xmlns:a16="http://schemas.microsoft.com/office/drawing/2014/main" id="{A1362D27-6687-AA94-E815-CCE55DE4C0D9}"/>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167FCB-A1CC-3118-8757-94ED4F19F75F}"/>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fld id="{F4CFC688-150D-A54C-837A-4722F0C8DEFB}" type="slidenum">
              <a:rPr lang="en-US" smtClean="0"/>
              <a:t>‹#›</a:t>
            </a:fld>
            <a:endParaRPr lang="en-US"/>
          </a:p>
        </p:txBody>
      </p:sp>
      <p:pic>
        <p:nvPicPr>
          <p:cNvPr id="7" name="Picture 6" descr="1c.jpg">
            <a:extLst>
              <a:ext uri="{FF2B5EF4-FFF2-40B4-BE49-F238E27FC236}">
                <a16:creationId xmlns:a16="http://schemas.microsoft.com/office/drawing/2014/main" id="{644E1237-DD78-84C6-1DC8-D9C03BE6FAE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1706" y="-104387"/>
            <a:ext cx="9927706" cy="7023279"/>
          </a:xfrm>
          <a:prstGeom prst="rect">
            <a:avLst/>
          </a:prstGeom>
        </p:spPr>
      </p:pic>
    </p:spTree>
    <p:extLst>
      <p:ext uri="{BB962C8B-B14F-4D97-AF65-F5344CB8AC3E}">
        <p14:creationId xmlns:p14="http://schemas.microsoft.com/office/powerpoint/2010/main" val="197563466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685" r:id="rId12"/>
    <p:sldLayoutId id="2147483696" r:id="rId13"/>
  </p:sldLayoutIdLst>
  <p:hf hdr="0" dt="0"/>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30634" y="0"/>
            <a:ext cx="8420100" cy="1470025"/>
          </a:xfrm>
        </p:spPr>
        <p:txBody>
          <a:bodyPr/>
          <a:lstStyle/>
          <a:p>
            <a:r>
              <a:rPr lang="en-US" b="1" dirty="0">
                <a:solidFill>
                  <a:srgbClr val="000080"/>
                </a:solidFill>
                <a:latin typeface="Arial"/>
                <a:cs typeface="Arial"/>
              </a:rPr>
              <a:t>Positive contribution of law</a:t>
            </a:r>
            <a:endParaRPr lang="en-ZA" dirty="0"/>
          </a:p>
        </p:txBody>
      </p:sp>
      <p:sp>
        <p:nvSpPr>
          <p:cNvPr id="3" name="Subtitle 2"/>
          <p:cNvSpPr>
            <a:spLocks noGrp="1"/>
          </p:cNvSpPr>
          <p:nvPr>
            <p:ph type="subTitle" idx="1"/>
          </p:nvPr>
        </p:nvSpPr>
        <p:spPr>
          <a:xfrm>
            <a:off x="1766570" y="3637988"/>
            <a:ext cx="9509759" cy="1545102"/>
          </a:xfrm>
        </p:spPr>
        <p:txBody>
          <a:bodyPr/>
          <a:lstStyle/>
          <a:p>
            <a:r>
              <a:rPr lang="en-US" dirty="0">
                <a:solidFill>
                  <a:srgbClr val="000080"/>
                </a:solidFill>
              </a:rPr>
              <a:t>PRESENTED BY :</a:t>
            </a:r>
          </a:p>
          <a:p>
            <a:r>
              <a:rPr lang="en-US" dirty="0">
                <a:solidFill>
                  <a:srgbClr val="000080"/>
                </a:solidFill>
              </a:rPr>
              <a:t>ADV SIYABULELA PENDANI</a:t>
            </a:r>
            <a:endParaRPr lang="en-ZA" dirty="0">
              <a:solidFill>
                <a:srgbClr val="000080"/>
              </a:solidFill>
            </a:endParaRPr>
          </a:p>
        </p:txBody>
      </p:sp>
      <p:sp>
        <p:nvSpPr>
          <p:cNvPr id="4" name="Footer Placeholder 3"/>
          <p:cNvSpPr>
            <a:spLocks noGrp="1"/>
          </p:cNvSpPr>
          <p:nvPr>
            <p:ph type="ftr" sz="quarter" idx="11"/>
          </p:nvPr>
        </p:nvSpPr>
        <p:spPr/>
        <p:txBody>
          <a:bodyPr/>
          <a:lstStyle/>
          <a:p>
            <a:r>
              <a:rPr lang="en-US"/>
              <a:t>SLIDE </a:t>
            </a:r>
            <a:endParaRPr lang="en-US" dirty="0"/>
          </a:p>
        </p:txBody>
      </p:sp>
      <p:sp>
        <p:nvSpPr>
          <p:cNvPr id="5" name="Slide Number Placeholder 4"/>
          <p:cNvSpPr>
            <a:spLocks noGrp="1"/>
          </p:cNvSpPr>
          <p:nvPr>
            <p:ph type="sldNum" sz="quarter" idx="12"/>
          </p:nvPr>
        </p:nvSpPr>
        <p:spPr/>
        <p:txBody>
          <a:bodyPr/>
          <a:lstStyle/>
          <a:p>
            <a:fld id="{18BCCAD9-DC73-460E-9E5F-A2FDDC9B420B}" type="slidenum">
              <a:rPr lang="en-US" smtClean="0"/>
              <a:pPr/>
              <a:t>1</a:t>
            </a:fld>
            <a:endParaRPr lang="en-US" dirty="0"/>
          </a:p>
        </p:txBody>
      </p:sp>
      <p:pic>
        <p:nvPicPr>
          <p:cNvPr id="11" name="Picture 10">
            <a:extLst>
              <a:ext uri="{FF2B5EF4-FFF2-40B4-BE49-F238E27FC236}">
                <a16:creationId xmlns:a16="http://schemas.microsoft.com/office/drawing/2014/main" id="{DE76CD11-F924-EC9C-555E-49B918EE3C99}"/>
              </a:ext>
            </a:extLst>
          </p:cNvPr>
          <p:cNvPicPr>
            <a:picLocks noChangeAspect="1"/>
          </p:cNvPicPr>
          <p:nvPr/>
        </p:nvPicPr>
        <p:blipFill>
          <a:blip r:embed="rId2"/>
          <a:stretch>
            <a:fillRect/>
          </a:stretch>
        </p:blipFill>
        <p:spPr>
          <a:xfrm>
            <a:off x="355266" y="1351946"/>
            <a:ext cx="4597733" cy="5438941"/>
          </a:xfrm>
          <a:prstGeom prst="rect">
            <a:avLst/>
          </a:prstGeom>
          <a:ln>
            <a:noFill/>
          </a:ln>
          <a:effectLst>
            <a:softEdge rad="112500"/>
          </a:effectLst>
        </p:spPr>
      </p:pic>
    </p:spTree>
    <p:extLst>
      <p:ext uri="{BB962C8B-B14F-4D97-AF65-F5344CB8AC3E}">
        <p14:creationId xmlns:p14="http://schemas.microsoft.com/office/powerpoint/2010/main" val="828673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46D5-6930-420F-81CC-1175B60BF33B}"/>
              </a:ext>
            </a:extLst>
          </p:cNvPr>
          <p:cNvSpPr>
            <a:spLocks noGrp="1"/>
          </p:cNvSpPr>
          <p:nvPr>
            <p:ph type="title"/>
          </p:nvPr>
        </p:nvSpPr>
        <p:spPr>
          <a:xfrm>
            <a:off x="1420837" y="365760"/>
            <a:ext cx="4881490" cy="548640"/>
          </a:xfrm>
        </p:spPr>
        <p:txBody>
          <a:bodyPr>
            <a:normAutofit fontScale="90000"/>
          </a:bodyPr>
          <a:lstStyle/>
          <a:p>
            <a:r>
              <a:rPr lang="en-US" dirty="0"/>
              <a:t>Regulatory Mandate</a:t>
            </a:r>
          </a:p>
        </p:txBody>
      </p:sp>
      <p:sp>
        <p:nvSpPr>
          <p:cNvPr id="3" name="Content Placeholder 2">
            <a:extLst>
              <a:ext uri="{FF2B5EF4-FFF2-40B4-BE49-F238E27FC236}">
                <a16:creationId xmlns:a16="http://schemas.microsoft.com/office/drawing/2014/main" id="{A09813B4-9618-413D-80CB-AD620AF8012C}"/>
              </a:ext>
            </a:extLst>
          </p:cNvPr>
          <p:cNvSpPr>
            <a:spLocks noGrp="1"/>
          </p:cNvSpPr>
          <p:nvPr>
            <p:ph idx="1"/>
          </p:nvPr>
        </p:nvSpPr>
        <p:spPr>
          <a:xfrm>
            <a:off x="891540" y="1100629"/>
            <a:ext cx="8147685" cy="4456109"/>
          </a:xfrm>
        </p:spPr>
        <p:txBody>
          <a:bodyPr/>
          <a:lstStyle/>
          <a:p>
            <a:pPr>
              <a:buFont typeface="Arial" panose="020B0604020202020204" pitchFamily="34" charset="0"/>
              <a:buChar char="•"/>
            </a:pPr>
            <a:r>
              <a:rPr lang="en-US" sz="2400" dirty="0"/>
              <a:t>The HPCSA is regulatory body established in terms of  the Health Professions Act (56 of 1974). </a:t>
            </a:r>
            <a:br>
              <a:rPr lang="en-US" sz="2400" dirty="0"/>
            </a:br>
            <a:endParaRPr lang="en-US" sz="2400" dirty="0"/>
          </a:p>
          <a:p>
            <a:pPr>
              <a:buFont typeface="Arial" panose="020B0604020202020204" pitchFamily="34" charset="0"/>
              <a:buChar char="•"/>
            </a:pPr>
            <a:r>
              <a:rPr lang="en-US" sz="2400" dirty="0"/>
              <a:t>As a creature of statute, the HPCSA is guided by the Act , Rules and Regulations to regulate health professions in order to protect the public and guide the profession.</a:t>
            </a:r>
          </a:p>
          <a:p>
            <a:pPr marL="0" indent="0"/>
            <a:endParaRPr lang="en-US" sz="2400" dirty="0"/>
          </a:p>
          <a:p>
            <a:pPr>
              <a:buFont typeface="Arial" panose="020B0604020202020204" pitchFamily="34" charset="0"/>
              <a:buChar char="•"/>
            </a:pPr>
            <a:endParaRPr lang="en-US" dirty="0"/>
          </a:p>
        </p:txBody>
      </p:sp>
      <p:sp>
        <p:nvSpPr>
          <p:cNvPr id="6" name="Footer Placeholder 5">
            <a:extLst>
              <a:ext uri="{FF2B5EF4-FFF2-40B4-BE49-F238E27FC236}">
                <a16:creationId xmlns:a16="http://schemas.microsoft.com/office/drawing/2014/main" id="{94AB4FF2-4425-4437-85CC-849E52CD4FBD}"/>
              </a:ext>
            </a:extLst>
          </p:cNvPr>
          <p:cNvSpPr>
            <a:spLocks noGrp="1"/>
          </p:cNvSpPr>
          <p:nvPr>
            <p:ph type="ftr" sz="quarter" idx="11"/>
          </p:nvPr>
        </p:nvSpPr>
        <p:spPr/>
        <p:txBody>
          <a:bodyPr/>
          <a:lstStyle/>
          <a:p>
            <a:r>
              <a:rPr lang="en-US"/>
              <a:t>SLIDE </a:t>
            </a:r>
            <a:endParaRPr lang="en-US" dirty="0"/>
          </a:p>
        </p:txBody>
      </p:sp>
      <p:sp>
        <p:nvSpPr>
          <p:cNvPr id="7" name="Slide Number Placeholder 6">
            <a:extLst>
              <a:ext uri="{FF2B5EF4-FFF2-40B4-BE49-F238E27FC236}">
                <a16:creationId xmlns:a16="http://schemas.microsoft.com/office/drawing/2014/main" id="{E91290AA-5465-42A3-AB01-828FDD268FA7}"/>
              </a:ext>
            </a:extLst>
          </p:cNvPr>
          <p:cNvSpPr>
            <a:spLocks noGrp="1"/>
          </p:cNvSpPr>
          <p:nvPr>
            <p:ph type="sldNum" sz="quarter" idx="12"/>
          </p:nvPr>
        </p:nvSpPr>
        <p:spPr/>
        <p:txBody>
          <a:bodyPr/>
          <a:lstStyle/>
          <a:p>
            <a:fld id="{A2D14663-20C1-504C-8997-4EC422F45FD6}" type="slidenum">
              <a:rPr lang="en-US" smtClean="0"/>
              <a:t>2</a:t>
            </a:fld>
            <a:endParaRPr lang="en-US" dirty="0"/>
          </a:p>
        </p:txBody>
      </p:sp>
    </p:spTree>
    <p:extLst>
      <p:ext uri="{BB962C8B-B14F-4D97-AF65-F5344CB8AC3E}">
        <p14:creationId xmlns:p14="http://schemas.microsoft.com/office/powerpoint/2010/main" val="3453118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01923" y="1448972"/>
            <a:ext cx="8147685" cy="914400"/>
          </a:xfrm>
        </p:spPr>
        <p:txBody>
          <a:bodyPr>
            <a:normAutofit fontScale="90000"/>
          </a:bodyPr>
          <a:lstStyle/>
          <a:p>
            <a:pPr marL="342900" lvl="0" indent="-342900">
              <a:spcBef>
                <a:spcPts val="800"/>
              </a:spcBef>
            </a:pPr>
            <a:r>
              <a:rPr lang="en-US" sz="2000" cap="none" dirty="0">
                <a:solidFill>
                  <a:srgbClr val="000000"/>
                </a:solidFill>
                <a:ea typeface="+mn-ea"/>
              </a:rPr>
              <a:t>33. Definition of scope of other health professions registrable in terms of this Act and registration of certain persons</a:t>
            </a:r>
            <a:br>
              <a:rPr lang="en-ZA" sz="1600" cap="none" dirty="0">
                <a:solidFill>
                  <a:srgbClr val="000000"/>
                </a:solidFill>
                <a:ea typeface="+mn-ea"/>
              </a:rPr>
            </a:br>
            <a:endParaRPr lang="en-ZA" dirty="0"/>
          </a:p>
        </p:txBody>
      </p:sp>
      <p:sp>
        <p:nvSpPr>
          <p:cNvPr id="3" name="Content Placeholder 2"/>
          <p:cNvSpPr>
            <a:spLocks noGrp="1"/>
          </p:cNvSpPr>
          <p:nvPr>
            <p:ph idx="1"/>
          </p:nvPr>
        </p:nvSpPr>
        <p:spPr>
          <a:xfrm>
            <a:off x="701924" y="2890553"/>
            <a:ext cx="8147685" cy="3579849"/>
          </a:xfrm>
        </p:spPr>
        <p:txBody>
          <a:bodyPr/>
          <a:lstStyle/>
          <a:p>
            <a:r>
              <a:rPr lang="en-US" dirty="0"/>
              <a:t>(1) The Minister may, on the recommendation of the council and the relevant professional board, by regulation define the scope of any health profession registrable in terms of this Act by specifying the acts which shall for the purposes of the application of this Act be deemed to be acts pertaining to that profession:</a:t>
            </a:r>
            <a:endParaRPr lang="en-ZA" dirty="0"/>
          </a:p>
        </p:txBody>
      </p:sp>
      <p:sp>
        <p:nvSpPr>
          <p:cNvPr id="4" name="Footer Placeholder 3"/>
          <p:cNvSpPr>
            <a:spLocks noGrp="1"/>
          </p:cNvSpPr>
          <p:nvPr>
            <p:ph type="ftr" sz="quarter" idx="11"/>
          </p:nvPr>
        </p:nvSpPr>
        <p:spPr/>
        <p:txBody>
          <a:bodyPr/>
          <a:lstStyle/>
          <a:p>
            <a:r>
              <a:rPr lang="en-US"/>
              <a:t>SLIDE </a:t>
            </a:r>
            <a:endParaRPr lang="en-US" dirty="0"/>
          </a:p>
        </p:txBody>
      </p:sp>
      <p:sp>
        <p:nvSpPr>
          <p:cNvPr id="5" name="Slide Number Placeholder 4"/>
          <p:cNvSpPr>
            <a:spLocks noGrp="1"/>
          </p:cNvSpPr>
          <p:nvPr>
            <p:ph type="sldNum" sz="quarter" idx="12"/>
          </p:nvPr>
        </p:nvSpPr>
        <p:spPr/>
        <p:txBody>
          <a:bodyPr/>
          <a:lstStyle/>
          <a:p>
            <a:fld id="{A2D14663-20C1-504C-8997-4EC422F45FD6}" type="slidenum">
              <a:rPr lang="en-US" smtClean="0"/>
              <a:t>3</a:t>
            </a:fld>
            <a:endParaRPr lang="en-US" dirty="0"/>
          </a:p>
        </p:txBody>
      </p:sp>
    </p:spTree>
    <p:extLst>
      <p:ext uri="{BB962C8B-B14F-4D97-AF65-F5344CB8AC3E}">
        <p14:creationId xmlns:p14="http://schemas.microsoft.com/office/powerpoint/2010/main" val="3322683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D35F-F1AB-4514-B02F-2156332974E7}"/>
              </a:ext>
            </a:extLst>
          </p:cNvPr>
          <p:cNvSpPr>
            <a:spLocks noGrp="1"/>
          </p:cNvSpPr>
          <p:nvPr>
            <p:ph type="title"/>
          </p:nvPr>
        </p:nvSpPr>
        <p:spPr>
          <a:xfrm>
            <a:off x="342900" y="1142832"/>
            <a:ext cx="8147685" cy="1266092"/>
          </a:xfrm>
        </p:spPr>
        <p:txBody>
          <a:bodyPr>
            <a:normAutofit fontScale="90000"/>
          </a:bodyPr>
          <a:lstStyle/>
          <a:p>
            <a:r>
              <a:rPr lang="en-US" dirty="0"/>
              <a:t>Registration a prerequisite for </a:t>
            </a:r>
            <a:r>
              <a:rPr lang="en-US" dirty="0" err="1"/>
              <a:t>practising</a:t>
            </a:r>
            <a:r>
              <a:rPr lang="en-US" dirty="0"/>
              <a:t> a profession in respect of which a professional board has been established</a:t>
            </a:r>
          </a:p>
        </p:txBody>
      </p:sp>
      <p:sp>
        <p:nvSpPr>
          <p:cNvPr id="3" name="Content Placeholder 2">
            <a:extLst>
              <a:ext uri="{FF2B5EF4-FFF2-40B4-BE49-F238E27FC236}">
                <a16:creationId xmlns:a16="http://schemas.microsoft.com/office/drawing/2014/main" id="{44D0EBC2-B8C1-454E-BC3C-12EFCB522DDD}"/>
              </a:ext>
            </a:extLst>
          </p:cNvPr>
          <p:cNvSpPr>
            <a:spLocks noGrp="1"/>
          </p:cNvSpPr>
          <p:nvPr>
            <p:ph idx="1"/>
          </p:nvPr>
        </p:nvSpPr>
        <p:spPr>
          <a:xfrm>
            <a:off x="342900" y="2310450"/>
            <a:ext cx="8147685" cy="3579849"/>
          </a:xfrm>
        </p:spPr>
        <p:txBody>
          <a:bodyPr/>
          <a:lstStyle/>
          <a:p>
            <a:pPr marL="0" lvl="0" indent="0"/>
            <a:endParaRPr lang="en-GB" sz="2800" dirty="0"/>
          </a:p>
          <a:p>
            <a:endParaRPr lang="en-US" dirty="0"/>
          </a:p>
        </p:txBody>
      </p:sp>
      <p:sp>
        <p:nvSpPr>
          <p:cNvPr id="6" name="Footer Placeholder 5">
            <a:extLst>
              <a:ext uri="{FF2B5EF4-FFF2-40B4-BE49-F238E27FC236}">
                <a16:creationId xmlns:a16="http://schemas.microsoft.com/office/drawing/2014/main" id="{9B1E5AC3-8540-44EA-BB12-5E215AF40EBF}"/>
              </a:ext>
            </a:extLst>
          </p:cNvPr>
          <p:cNvSpPr>
            <a:spLocks noGrp="1"/>
          </p:cNvSpPr>
          <p:nvPr>
            <p:ph type="ftr" sz="quarter" idx="11"/>
          </p:nvPr>
        </p:nvSpPr>
        <p:spPr/>
        <p:txBody>
          <a:bodyPr/>
          <a:lstStyle/>
          <a:p>
            <a:r>
              <a:rPr lang="en-US"/>
              <a:t>SLIDE </a:t>
            </a:r>
            <a:endParaRPr lang="en-US" dirty="0"/>
          </a:p>
        </p:txBody>
      </p:sp>
      <p:sp>
        <p:nvSpPr>
          <p:cNvPr id="7" name="Slide Number Placeholder 6">
            <a:extLst>
              <a:ext uri="{FF2B5EF4-FFF2-40B4-BE49-F238E27FC236}">
                <a16:creationId xmlns:a16="http://schemas.microsoft.com/office/drawing/2014/main" id="{23E32196-0930-4485-AE16-3E88C774529F}"/>
              </a:ext>
            </a:extLst>
          </p:cNvPr>
          <p:cNvSpPr>
            <a:spLocks noGrp="1"/>
          </p:cNvSpPr>
          <p:nvPr>
            <p:ph type="sldNum" sz="quarter" idx="12"/>
          </p:nvPr>
        </p:nvSpPr>
        <p:spPr/>
        <p:txBody>
          <a:bodyPr/>
          <a:lstStyle/>
          <a:p>
            <a:fld id="{A2D14663-20C1-504C-8997-4EC422F45FD6}" type="slidenum">
              <a:rPr lang="en-US" smtClean="0"/>
              <a:t>4</a:t>
            </a:fld>
            <a:endParaRPr lang="en-US" dirty="0"/>
          </a:p>
        </p:txBody>
      </p:sp>
      <p:sp>
        <p:nvSpPr>
          <p:cNvPr id="4" name="Rectangle 3"/>
          <p:cNvSpPr/>
          <p:nvPr/>
        </p:nvSpPr>
        <p:spPr>
          <a:xfrm>
            <a:off x="633045" y="2551837"/>
            <a:ext cx="8468079" cy="2308324"/>
          </a:xfrm>
          <a:prstGeom prst="rect">
            <a:avLst/>
          </a:prstGeom>
        </p:spPr>
        <p:txBody>
          <a:bodyPr wrap="square">
            <a:spAutoFit/>
          </a:bodyPr>
          <a:lstStyle/>
          <a:p>
            <a:pPr marL="342900" indent="-342900">
              <a:buAutoNum type="arabicParenBoth"/>
            </a:pPr>
            <a:r>
              <a:rPr lang="en-US" dirty="0"/>
              <a:t>Subject to the provisions of sections 33(2)(c) and 39, no person shall practice within the Republic any health profession the scope of which has been defined by the Minister in terms of section 33 (1), unless he or she is registered in terms of this Act in respect of such profession.</a:t>
            </a:r>
          </a:p>
          <a:p>
            <a:pPr marL="342900" indent="-342900">
              <a:buAutoNum type="arabicParenBoth"/>
            </a:pPr>
            <a:endParaRPr lang="en-US" dirty="0"/>
          </a:p>
          <a:p>
            <a:pPr marL="342900" indent="-342900">
              <a:buAutoNum type="arabicParenBoth"/>
            </a:pPr>
            <a:endParaRPr lang="en-US" dirty="0"/>
          </a:p>
          <a:p>
            <a:pPr marL="342900" indent="-342900">
              <a:buAutoNum type="arabicParenBoth"/>
            </a:pPr>
            <a:r>
              <a:rPr lang="en-US" dirty="0"/>
              <a:t> Any person who contravenes the provisions of subsection (1) shall be guilty of an offence and on conviction liable to the penalties mentioned in section 39.</a:t>
            </a:r>
            <a:endParaRPr lang="en-ZA" dirty="0"/>
          </a:p>
        </p:txBody>
      </p:sp>
    </p:spTree>
    <p:extLst>
      <p:ext uri="{BB962C8B-B14F-4D97-AF65-F5344CB8AC3E}">
        <p14:creationId xmlns:p14="http://schemas.microsoft.com/office/powerpoint/2010/main" val="84182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91DF2-D37A-4235-88DE-DAA4D91B860A}"/>
              </a:ext>
            </a:extLst>
          </p:cNvPr>
          <p:cNvSpPr>
            <a:spLocks noGrp="1"/>
          </p:cNvSpPr>
          <p:nvPr>
            <p:ph type="title"/>
          </p:nvPr>
        </p:nvSpPr>
        <p:spPr>
          <a:xfrm>
            <a:off x="891541" y="112542"/>
            <a:ext cx="7084842" cy="801858"/>
          </a:xfrm>
        </p:spPr>
        <p:txBody>
          <a:bodyPr>
            <a:normAutofit fontScale="90000"/>
          </a:bodyPr>
          <a:lstStyle/>
          <a:p>
            <a:br>
              <a:rPr lang="en-US" dirty="0"/>
            </a:br>
            <a:r>
              <a:rPr lang="en-US" dirty="0"/>
              <a:t>section 17 of the act</a:t>
            </a:r>
          </a:p>
        </p:txBody>
      </p:sp>
      <p:sp>
        <p:nvSpPr>
          <p:cNvPr id="3" name="Content Placeholder 2">
            <a:extLst>
              <a:ext uri="{FF2B5EF4-FFF2-40B4-BE49-F238E27FC236}">
                <a16:creationId xmlns:a16="http://schemas.microsoft.com/office/drawing/2014/main" id="{7EEFCDB7-2129-4A38-8FE6-49F42AD0476D}"/>
              </a:ext>
            </a:extLst>
          </p:cNvPr>
          <p:cNvSpPr>
            <a:spLocks noGrp="1"/>
          </p:cNvSpPr>
          <p:nvPr>
            <p:ph idx="1"/>
          </p:nvPr>
        </p:nvSpPr>
        <p:spPr>
          <a:xfrm>
            <a:off x="891540" y="1100629"/>
            <a:ext cx="8147685" cy="4413906"/>
          </a:xfrm>
        </p:spPr>
        <p:txBody>
          <a:bodyPr/>
          <a:lstStyle/>
          <a:p>
            <a:pPr>
              <a:buFont typeface="Arial" panose="020B0604020202020204" pitchFamily="34" charset="0"/>
              <a:buChar char="•"/>
            </a:pPr>
            <a:r>
              <a:rPr lang="en-ZA" sz="2400" b="0" dirty="0">
                <a:ln w="1905"/>
                <a:effectLst>
                  <a:innerShdw blurRad="69850" dist="43180" dir="5400000">
                    <a:srgbClr val="000000">
                      <a:alpha val="65000"/>
                    </a:srgbClr>
                  </a:innerShdw>
                </a:effectLst>
              </a:rPr>
              <a:t>Section 17(1) Health Professions Act (56 of 1974) makes registration a prerequisite to practice in the Republic,</a:t>
            </a:r>
          </a:p>
          <a:p>
            <a:pPr>
              <a:buFont typeface="Arial" panose="020B0604020202020204" pitchFamily="34" charset="0"/>
              <a:buChar char="•"/>
            </a:pPr>
            <a:r>
              <a:rPr lang="en-ZA" sz="2400" b="0" dirty="0">
                <a:ln w="1905"/>
                <a:effectLst>
                  <a:innerShdw blurRad="69850" dist="43180" dir="5400000">
                    <a:srgbClr val="000000">
                      <a:alpha val="65000"/>
                    </a:srgbClr>
                  </a:innerShdw>
                </a:effectLst>
              </a:rPr>
              <a:t>And Section 17 (5) provide that practicing as a health practitioner while not registered as such amount to a criminal offence.</a:t>
            </a:r>
          </a:p>
          <a:p>
            <a:pPr>
              <a:buFont typeface="Arial" panose="020B0604020202020204" pitchFamily="34" charset="0"/>
              <a:buChar char="•"/>
            </a:pPr>
            <a:r>
              <a:rPr lang="en-ZA" sz="2400" b="0" dirty="0">
                <a:ln w="1905"/>
                <a:effectLst>
                  <a:innerShdw blurRad="69850" dist="43180" dir="5400000">
                    <a:srgbClr val="000000">
                      <a:alpha val="65000"/>
                    </a:srgbClr>
                  </a:innerShdw>
                </a:effectLst>
              </a:rPr>
              <a:t>The Inspectorate directorate is responsible to attend to complaints of illegal practice by unregistered persons.</a:t>
            </a:r>
            <a:endParaRPr lang="en-US" dirty="0"/>
          </a:p>
        </p:txBody>
      </p:sp>
      <p:sp>
        <p:nvSpPr>
          <p:cNvPr id="6" name="Footer Placeholder 5">
            <a:extLst>
              <a:ext uri="{FF2B5EF4-FFF2-40B4-BE49-F238E27FC236}">
                <a16:creationId xmlns:a16="http://schemas.microsoft.com/office/drawing/2014/main" id="{4843F638-D579-4483-8606-E371F92FFC54}"/>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Franklin Gothic Book"/>
                <a:ea typeface="+mn-ea"/>
                <a:cs typeface="+mn-cs"/>
              </a:rPr>
              <a:t>SLIDE </a:t>
            </a:r>
            <a:endParaRPr kumimoji="0" lang="en-US" sz="1800" b="0" i="0" u="none" strike="noStrike" kern="1200" cap="none" spc="0" normalizeH="0" baseline="0" noProof="0" dirty="0">
              <a:ln>
                <a:noFill/>
              </a:ln>
              <a:solidFill>
                <a:srgbClr val="000000"/>
              </a:solidFill>
              <a:effectLst/>
              <a:uLnTx/>
              <a:uFillTx/>
              <a:latin typeface="Franklin Gothic Book"/>
              <a:ea typeface="+mn-ea"/>
              <a:cs typeface="+mn-cs"/>
            </a:endParaRPr>
          </a:p>
        </p:txBody>
      </p:sp>
      <p:sp>
        <p:nvSpPr>
          <p:cNvPr id="7" name="Slide Number Placeholder 6">
            <a:extLst>
              <a:ext uri="{FF2B5EF4-FFF2-40B4-BE49-F238E27FC236}">
                <a16:creationId xmlns:a16="http://schemas.microsoft.com/office/drawing/2014/main" id="{5A39DBB1-067A-4FDA-A50E-3681AB70AC58}"/>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2D14663-20C1-504C-8997-4EC422F45FD6}" type="slidenum">
              <a:rPr kumimoji="0" lang="en-US" sz="1800" b="0" i="0" u="none" strike="noStrike" kern="1200" cap="none" spc="0" normalizeH="0" baseline="0" noProof="0" smtClean="0">
                <a:ln>
                  <a:noFill/>
                </a:ln>
                <a:solidFill>
                  <a:srgbClr val="000000"/>
                </a:solidFill>
                <a:effectLst/>
                <a:uLnTx/>
                <a:uFillTx/>
                <a:latin typeface="Franklin Gothic Book"/>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srgbClr val="000000"/>
              </a:solidFill>
              <a:effectLst/>
              <a:uLnTx/>
              <a:uFillTx/>
              <a:latin typeface="Franklin Gothic Book"/>
              <a:ea typeface="+mn-ea"/>
              <a:cs typeface="+mn-cs"/>
            </a:endParaRPr>
          </a:p>
        </p:txBody>
      </p:sp>
      <p:sp>
        <p:nvSpPr>
          <p:cNvPr id="4" name="TextBox 3">
            <a:extLst>
              <a:ext uri="{FF2B5EF4-FFF2-40B4-BE49-F238E27FC236}">
                <a16:creationId xmlns:a16="http://schemas.microsoft.com/office/drawing/2014/main" id="{8849B024-AD62-973C-21CE-05A56313F82F}"/>
              </a:ext>
            </a:extLst>
          </p:cNvPr>
          <p:cNvSpPr txBox="1"/>
          <p:nvPr/>
        </p:nvSpPr>
        <p:spPr>
          <a:xfrm>
            <a:off x="9298379" y="522514"/>
            <a:ext cx="184731" cy="369332"/>
          </a:xfrm>
          <a:prstGeom prst="rect">
            <a:avLst/>
          </a:prstGeom>
          <a:solidFill>
            <a:schemeClr val="bg1"/>
          </a:solidFill>
        </p:spPr>
        <p:txBody>
          <a:bodyPr wrap="none" rtlCol="0">
            <a:spAutoFit/>
          </a:bodyPr>
          <a:lstStyle/>
          <a:p>
            <a:endParaRPr lang="en-US" dirty="0"/>
          </a:p>
        </p:txBody>
      </p:sp>
    </p:spTree>
    <p:extLst>
      <p:ext uri="{BB962C8B-B14F-4D97-AF65-F5344CB8AC3E}">
        <p14:creationId xmlns:p14="http://schemas.microsoft.com/office/powerpoint/2010/main" val="326149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bogus practitioner?</a:t>
            </a:r>
            <a:endParaRPr lang="en-ZA" dirty="0"/>
          </a:p>
        </p:txBody>
      </p:sp>
      <p:sp>
        <p:nvSpPr>
          <p:cNvPr id="3" name="Content Placeholder 2"/>
          <p:cNvSpPr>
            <a:spLocks noGrp="1"/>
          </p:cNvSpPr>
          <p:nvPr>
            <p:ph idx="1"/>
          </p:nvPr>
        </p:nvSpPr>
        <p:spPr/>
        <p:txBody>
          <a:bodyPr/>
          <a:lstStyle/>
          <a:p>
            <a:endParaRPr lang="en-US" sz="3200" dirty="0"/>
          </a:p>
          <a:p>
            <a:endParaRPr lang="en-US" sz="3200" dirty="0"/>
          </a:p>
          <a:p>
            <a:r>
              <a:rPr lang="en-US" sz="2400" dirty="0"/>
              <a:t>A </a:t>
            </a:r>
            <a:r>
              <a:rPr lang="en-US" sz="2400" dirty="0" err="1"/>
              <a:t>Practioner</a:t>
            </a:r>
            <a:r>
              <a:rPr lang="en-US" sz="2400" dirty="0"/>
              <a:t> that is not genuine or a  true  </a:t>
            </a:r>
            <a:r>
              <a:rPr lang="en-US" sz="2400" dirty="0" err="1"/>
              <a:t>practioner</a:t>
            </a:r>
            <a:r>
              <a:rPr lang="en-US" sz="2400" dirty="0"/>
              <a:t>.</a:t>
            </a:r>
            <a:endParaRPr lang="en-ZA" sz="2400" dirty="0"/>
          </a:p>
        </p:txBody>
      </p:sp>
      <p:sp>
        <p:nvSpPr>
          <p:cNvPr id="4" name="Footer Placeholder 3"/>
          <p:cNvSpPr>
            <a:spLocks noGrp="1"/>
          </p:cNvSpPr>
          <p:nvPr>
            <p:ph type="ftr" sz="quarter" idx="11"/>
          </p:nvPr>
        </p:nvSpPr>
        <p:spPr/>
        <p:txBody>
          <a:bodyPr/>
          <a:lstStyle/>
          <a:p>
            <a:r>
              <a:rPr lang="en-US"/>
              <a:t>SLIDE </a:t>
            </a:r>
            <a:endParaRPr lang="en-US" dirty="0"/>
          </a:p>
        </p:txBody>
      </p:sp>
      <p:sp>
        <p:nvSpPr>
          <p:cNvPr id="5" name="Slide Number Placeholder 4"/>
          <p:cNvSpPr>
            <a:spLocks noGrp="1"/>
          </p:cNvSpPr>
          <p:nvPr>
            <p:ph type="sldNum" sz="quarter" idx="12"/>
          </p:nvPr>
        </p:nvSpPr>
        <p:spPr/>
        <p:txBody>
          <a:bodyPr/>
          <a:lstStyle/>
          <a:p>
            <a:fld id="{A2D14663-20C1-504C-8997-4EC422F45FD6}" type="slidenum">
              <a:rPr lang="en-US" smtClean="0"/>
              <a:t>6</a:t>
            </a:fld>
            <a:endParaRPr lang="en-US" dirty="0"/>
          </a:p>
        </p:txBody>
      </p:sp>
    </p:spTree>
    <p:extLst>
      <p:ext uri="{BB962C8B-B14F-4D97-AF65-F5344CB8AC3E}">
        <p14:creationId xmlns:p14="http://schemas.microsoft.com/office/powerpoint/2010/main" val="3301465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dirty="0"/>
          </a:p>
        </p:txBody>
      </p:sp>
      <p:sp>
        <p:nvSpPr>
          <p:cNvPr id="3" name="Content Placeholder 2"/>
          <p:cNvSpPr>
            <a:spLocks noGrp="1"/>
          </p:cNvSpPr>
          <p:nvPr>
            <p:ph idx="1"/>
          </p:nvPr>
        </p:nvSpPr>
        <p:spPr>
          <a:xfrm>
            <a:off x="891540" y="1100629"/>
            <a:ext cx="8147685" cy="4779666"/>
          </a:xfrm>
        </p:spPr>
        <p:txBody>
          <a:bodyPr/>
          <a:lstStyle/>
          <a:p>
            <a:r>
              <a:rPr lang="en-US" sz="2400" dirty="0"/>
              <a:t>AN EHP IN SIMPLE TERMS.</a:t>
            </a:r>
          </a:p>
          <a:p>
            <a:endParaRPr lang="en-US" sz="2400" dirty="0"/>
          </a:p>
          <a:p>
            <a:pPr>
              <a:buFont typeface="+mj-lt"/>
              <a:buAutoNum type="arabicPeriod"/>
            </a:pPr>
            <a:r>
              <a:rPr lang="en-US" sz="2400" dirty="0"/>
              <a:t>Is a person with a qualification in Environmental Health.</a:t>
            </a:r>
          </a:p>
          <a:p>
            <a:pPr>
              <a:buFont typeface="+mj-lt"/>
              <a:buAutoNum type="arabicPeriod"/>
            </a:pPr>
            <a:r>
              <a:rPr lang="en-US" sz="2400" dirty="0"/>
              <a:t>Registered as such in terms of section 34 of the health </a:t>
            </a:r>
            <a:r>
              <a:rPr lang="en-US" sz="2400" dirty="0" err="1"/>
              <a:t>Proffession</a:t>
            </a:r>
            <a:r>
              <a:rPr lang="en-US" sz="2400" dirty="0"/>
              <a:t> act 56 of 1974</a:t>
            </a:r>
          </a:p>
          <a:p>
            <a:pPr>
              <a:buFont typeface="+mj-lt"/>
              <a:buAutoNum type="arabicPeriod"/>
            </a:pPr>
            <a:r>
              <a:rPr lang="en-US" sz="2400" dirty="0"/>
              <a:t>Appointed as such in terms of enabling legislations.</a:t>
            </a:r>
          </a:p>
          <a:p>
            <a:endParaRPr lang="en-US" sz="2400" dirty="0"/>
          </a:p>
          <a:p>
            <a:r>
              <a:rPr lang="en-US" sz="2400" dirty="0"/>
              <a:t>If one of these 3 requirements is missing and you are practicing as an EHP that makes you a bogus.</a:t>
            </a:r>
            <a:endParaRPr lang="en-ZA" sz="2400" dirty="0"/>
          </a:p>
        </p:txBody>
      </p:sp>
      <p:sp>
        <p:nvSpPr>
          <p:cNvPr id="4" name="Footer Placeholder 3"/>
          <p:cNvSpPr>
            <a:spLocks noGrp="1"/>
          </p:cNvSpPr>
          <p:nvPr>
            <p:ph type="ftr" sz="quarter" idx="11"/>
          </p:nvPr>
        </p:nvSpPr>
        <p:spPr/>
        <p:txBody>
          <a:bodyPr/>
          <a:lstStyle/>
          <a:p>
            <a:r>
              <a:rPr lang="en-US"/>
              <a:t>SLIDE </a:t>
            </a:r>
            <a:endParaRPr lang="en-US" dirty="0"/>
          </a:p>
        </p:txBody>
      </p:sp>
      <p:sp>
        <p:nvSpPr>
          <p:cNvPr id="5" name="Slide Number Placeholder 4"/>
          <p:cNvSpPr>
            <a:spLocks noGrp="1"/>
          </p:cNvSpPr>
          <p:nvPr>
            <p:ph type="sldNum" sz="quarter" idx="12"/>
          </p:nvPr>
        </p:nvSpPr>
        <p:spPr/>
        <p:txBody>
          <a:bodyPr/>
          <a:lstStyle/>
          <a:p>
            <a:fld id="{A2D14663-20C1-504C-8997-4EC422F45FD6}" type="slidenum">
              <a:rPr lang="en-US" smtClean="0"/>
              <a:t>7</a:t>
            </a:fld>
            <a:endParaRPr lang="en-US" dirty="0"/>
          </a:p>
        </p:txBody>
      </p:sp>
    </p:spTree>
    <p:extLst>
      <p:ext uri="{BB962C8B-B14F-4D97-AF65-F5344CB8AC3E}">
        <p14:creationId xmlns:p14="http://schemas.microsoft.com/office/powerpoint/2010/main" val="4176628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25102-E70F-47F2-73FD-E3CB0C834D63}"/>
              </a:ext>
            </a:extLst>
          </p:cNvPr>
          <p:cNvSpPr>
            <a:spLocks noGrp="1"/>
          </p:cNvSpPr>
          <p:nvPr>
            <p:ph type="title"/>
          </p:nvPr>
        </p:nvSpPr>
        <p:spPr/>
        <p:txBody>
          <a:bodyPr/>
          <a:lstStyle/>
          <a:p>
            <a:r>
              <a:rPr lang="en-US" dirty="0"/>
              <a:t>Unregistered persons</a:t>
            </a:r>
          </a:p>
        </p:txBody>
      </p:sp>
      <p:sp>
        <p:nvSpPr>
          <p:cNvPr id="3" name="Content Placeholder 2">
            <a:extLst>
              <a:ext uri="{FF2B5EF4-FFF2-40B4-BE49-F238E27FC236}">
                <a16:creationId xmlns:a16="http://schemas.microsoft.com/office/drawing/2014/main" id="{B2E876A4-83F5-A39B-D948-D9E03ECD4C66}"/>
              </a:ext>
            </a:extLst>
          </p:cNvPr>
          <p:cNvSpPr>
            <a:spLocks noGrp="1"/>
          </p:cNvSpPr>
          <p:nvPr>
            <p:ph idx="1"/>
          </p:nvPr>
        </p:nvSpPr>
        <p:spPr>
          <a:xfrm>
            <a:off x="891540" y="1100629"/>
            <a:ext cx="8147685" cy="4807802"/>
          </a:xfrm>
        </p:spPr>
        <p:txBody>
          <a:bodyPr/>
          <a:lstStyle/>
          <a:p>
            <a:pPr>
              <a:buFont typeface="Arial" panose="020B0604020202020204" pitchFamily="34" charset="0"/>
              <a:buChar char="•"/>
            </a:pPr>
            <a:r>
              <a:rPr lang="en-US" sz="2400" dirty="0"/>
              <a:t>Bogus practitioners</a:t>
            </a:r>
          </a:p>
          <a:p>
            <a:pPr>
              <a:buFont typeface="Arial" panose="020B0604020202020204" pitchFamily="34" charset="0"/>
              <a:buChar char="•"/>
            </a:pPr>
            <a:r>
              <a:rPr lang="en-US" sz="2400" dirty="0"/>
              <a:t>Not trained as health practitioners</a:t>
            </a:r>
          </a:p>
          <a:p>
            <a:pPr>
              <a:buFont typeface="Arial" panose="020B0604020202020204" pitchFamily="34" charset="0"/>
              <a:buChar char="•"/>
            </a:pPr>
            <a:r>
              <a:rPr lang="en-US" sz="2400" dirty="0"/>
              <a:t>Trained but not registered</a:t>
            </a:r>
          </a:p>
          <a:p>
            <a:pPr>
              <a:buFont typeface="Arial" panose="020B0604020202020204" pitchFamily="34" charset="0"/>
              <a:buChar char="•"/>
            </a:pPr>
            <a:r>
              <a:rPr lang="en-US" sz="2400" dirty="0"/>
              <a:t>Trained and registered in foreign country but not registered in SA</a:t>
            </a:r>
          </a:p>
          <a:p>
            <a:pPr>
              <a:buFont typeface="Arial" panose="020B0604020202020204" pitchFamily="34" charset="0"/>
              <a:buChar char="•"/>
            </a:pPr>
            <a:r>
              <a:rPr lang="en-US" sz="2400" dirty="0"/>
              <a:t>Erased from the registers</a:t>
            </a:r>
          </a:p>
          <a:p>
            <a:pPr>
              <a:buFont typeface="Arial" panose="020B0604020202020204" pitchFamily="34" charset="0"/>
              <a:buChar char="•"/>
            </a:pPr>
            <a:r>
              <a:rPr lang="en-US" sz="2400" dirty="0"/>
              <a:t>Suspended practitioners are required to stop practicing on notification of the suspension and practicing while under suspension is not only an unethical conduct by also amount to criminal Offence</a:t>
            </a:r>
            <a:endParaRPr lang="en-US" dirty="0"/>
          </a:p>
        </p:txBody>
      </p:sp>
      <p:sp>
        <p:nvSpPr>
          <p:cNvPr id="4" name="Footer Placeholder 3">
            <a:extLst>
              <a:ext uri="{FF2B5EF4-FFF2-40B4-BE49-F238E27FC236}">
                <a16:creationId xmlns:a16="http://schemas.microsoft.com/office/drawing/2014/main" id="{5CD5AD69-EB19-2553-8CDA-E43FB9F5B463}"/>
              </a:ext>
            </a:extLst>
          </p:cNvPr>
          <p:cNvSpPr>
            <a:spLocks noGrp="1"/>
          </p:cNvSpPr>
          <p:nvPr>
            <p:ph type="ftr" sz="quarter" idx="11"/>
          </p:nvPr>
        </p:nvSpPr>
        <p:spPr/>
        <p:txBody>
          <a:bodyPr/>
          <a:lstStyle/>
          <a:p>
            <a:r>
              <a:rPr lang="en-US"/>
              <a:t>SLIDE </a:t>
            </a:r>
            <a:endParaRPr lang="en-US" dirty="0"/>
          </a:p>
        </p:txBody>
      </p:sp>
      <p:sp>
        <p:nvSpPr>
          <p:cNvPr id="5" name="Slide Number Placeholder 4">
            <a:extLst>
              <a:ext uri="{FF2B5EF4-FFF2-40B4-BE49-F238E27FC236}">
                <a16:creationId xmlns:a16="http://schemas.microsoft.com/office/drawing/2014/main" id="{3BFF4C06-638C-6ED0-1B52-FCEDDC1023DF}"/>
              </a:ext>
            </a:extLst>
          </p:cNvPr>
          <p:cNvSpPr>
            <a:spLocks noGrp="1"/>
          </p:cNvSpPr>
          <p:nvPr>
            <p:ph type="sldNum" sz="quarter" idx="12"/>
          </p:nvPr>
        </p:nvSpPr>
        <p:spPr/>
        <p:txBody>
          <a:bodyPr/>
          <a:lstStyle/>
          <a:p>
            <a:fld id="{A2D14663-20C1-504C-8997-4EC422F45FD6}" type="slidenum">
              <a:rPr lang="en-US" smtClean="0"/>
              <a:t>8</a:t>
            </a:fld>
            <a:endParaRPr lang="en-US" dirty="0"/>
          </a:p>
        </p:txBody>
      </p:sp>
    </p:spTree>
    <p:extLst>
      <p:ext uri="{BB962C8B-B14F-4D97-AF65-F5344CB8AC3E}">
        <p14:creationId xmlns:p14="http://schemas.microsoft.com/office/powerpoint/2010/main" val="2594684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153F3-8498-4EF8-A39B-85782CD0B527}"/>
              </a:ext>
            </a:extLst>
          </p:cNvPr>
          <p:cNvSpPr>
            <a:spLocks noGrp="1"/>
          </p:cNvSpPr>
          <p:nvPr>
            <p:ph type="title"/>
          </p:nvPr>
        </p:nvSpPr>
        <p:spPr>
          <a:xfrm>
            <a:off x="967563" y="170121"/>
            <a:ext cx="6836735" cy="744279"/>
          </a:xfrm>
        </p:spPr>
        <p:txBody>
          <a:bodyPr/>
          <a:lstStyle/>
          <a:p>
            <a:r>
              <a:rPr lang="en-US" dirty="0"/>
              <a:t>Risks of unregistered persons  </a:t>
            </a:r>
          </a:p>
        </p:txBody>
      </p:sp>
      <p:sp>
        <p:nvSpPr>
          <p:cNvPr id="3" name="Content Placeholder 2">
            <a:extLst>
              <a:ext uri="{FF2B5EF4-FFF2-40B4-BE49-F238E27FC236}">
                <a16:creationId xmlns:a16="http://schemas.microsoft.com/office/drawing/2014/main" id="{BEFBB567-4CAB-4600-ABD0-DA5B63718211}"/>
              </a:ext>
            </a:extLst>
          </p:cNvPr>
          <p:cNvSpPr>
            <a:spLocks noGrp="1"/>
          </p:cNvSpPr>
          <p:nvPr>
            <p:ph idx="1"/>
          </p:nvPr>
        </p:nvSpPr>
        <p:spPr>
          <a:xfrm>
            <a:off x="891540" y="1028699"/>
            <a:ext cx="8147685" cy="5414303"/>
          </a:xfrm>
        </p:spPr>
        <p:txBody>
          <a:bodyPr/>
          <a:lstStyle/>
          <a:p>
            <a:pPr lvl="0">
              <a:buFont typeface="Arial" panose="020B0604020202020204" pitchFamily="34" charset="0"/>
              <a:buChar char="•"/>
            </a:pPr>
            <a:r>
              <a:rPr lang="en-US" sz="2400" b="0" dirty="0">
                <a:solidFill>
                  <a:srgbClr val="000000"/>
                </a:solidFill>
              </a:rPr>
              <a:t>In terms of the section 81 of the NHA 61 of 2003 the duty of the EHP , is to monitor and enforce compliance.</a:t>
            </a:r>
          </a:p>
          <a:p>
            <a:pPr lvl="0">
              <a:buFont typeface="Arial" panose="020B0604020202020204" pitchFamily="34" charset="0"/>
              <a:buChar char="•"/>
            </a:pPr>
            <a:r>
              <a:rPr lang="en-US" sz="2400" b="0" dirty="0">
                <a:solidFill>
                  <a:srgbClr val="000000"/>
                </a:solidFill>
              </a:rPr>
              <a:t>Enforcing compliance will sometimes start with a statutory notice and followed by criminal court proceedings, if there is still non- compliance.</a:t>
            </a:r>
            <a:endParaRPr lang="en-ZA" sz="2400" b="0" dirty="0">
              <a:solidFill>
                <a:srgbClr val="000000"/>
              </a:solidFill>
            </a:endParaRPr>
          </a:p>
          <a:p>
            <a:pPr lvl="0">
              <a:buFont typeface="Arial" panose="020B0604020202020204" pitchFamily="34" charset="0"/>
              <a:buChar char="•"/>
            </a:pPr>
            <a:r>
              <a:rPr lang="en-ZA" sz="2400" b="0" dirty="0">
                <a:solidFill>
                  <a:srgbClr val="000000"/>
                </a:solidFill>
              </a:rPr>
              <a:t>Unregistered persons lacks locus </a:t>
            </a:r>
            <a:r>
              <a:rPr lang="en-ZA" sz="2400" b="0" dirty="0" err="1">
                <a:solidFill>
                  <a:srgbClr val="000000"/>
                </a:solidFill>
              </a:rPr>
              <a:t>standi</a:t>
            </a:r>
            <a:r>
              <a:rPr lang="en-ZA" sz="2400" b="0" dirty="0">
                <a:solidFill>
                  <a:srgbClr val="000000"/>
                </a:solidFill>
              </a:rPr>
              <a:t>.</a:t>
            </a:r>
          </a:p>
          <a:p>
            <a:pPr lvl="0">
              <a:buFont typeface="Arial" panose="020B0604020202020204" pitchFamily="34" charset="0"/>
              <a:buChar char="•"/>
            </a:pPr>
            <a:r>
              <a:rPr lang="en-ZA" sz="2400" b="0" dirty="0">
                <a:solidFill>
                  <a:srgbClr val="000000"/>
                </a:solidFill>
              </a:rPr>
              <a:t>Right or ability to bring a legal action  to a court of law.</a:t>
            </a:r>
          </a:p>
          <a:p>
            <a:pPr lvl="0">
              <a:buFont typeface="Arial" panose="020B0604020202020204" pitchFamily="34" charset="0"/>
              <a:buChar char="•"/>
            </a:pPr>
            <a:r>
              <a:rPr lang="en-ZA" sz="2400" b="0" dirty="0">
                <a:solidFill>
                  <a:srgbClr val="000000"/>
                </a:solidFill>
              </a:rPr>
              <a:t> the state might have a good case against the perpetrator but the person who have brought the case can be the cause of the  matter to be withdrawn.</a:t>
            </a:r>
          </a:p>
          <a:p>
            <a:pPr lvl="0">
              <a:buFont typeface="Arial" panose="020B0604020202020204" pitchFamily="34" charset="0"/>
              <a:buChar char="•"/>
            </a:pPr>
            <a:r>
              <a:rPr lang="en-US" sz="2400" b="0" dirty="0">
                <a:solidFill>
                  <a:srgbClr val="000000"/>
                </a:solidFill>
              </a:rPr>
              <a:t>That will continue to compromise the health and safety of the public.</a:t>
            </a:r>
          </a:p>
          <a:p>
            <a:pPr lvl="0">
              <a:buFont typeface="Arial" panose="020B0604020202020204" pitchFamily="34" charset="0"/>
              <a:buChar char="•"/>
            </a:pPr>
            <a:r>
              <a:rPr lang="en-US" sz="2400" b="0" dirty="0">
                <a:solidFill>
                  <a:srgbClr val="000000"/>
                </a:solidFill>
              </a:rPr>
              <a:t>Further compromise the Municipality as the Employer.</a:t>
            </a:r>
          </a:p>
          <a:p>
            <a:pPr lvl="0">
              <a:buFont typeface="Arial" panose="020B0604020202020204" pitchFamily="34" charset="0"/>
              <a:buChar char="•"/>
            </a:pPr>
            <a:r>
              <a:rPr lang="en-US" sz="2400" dirty="0">
                <a:solidFill>
                  <a:srgbClr val="000000"/>
                </a:solidFill>
              </a:rPr>
              <a:t>MEDICAL NEG.</a:t>
            </a:r>
            <a:endParaRPr lang="en-ZA" sz="2400" b="0" dirty="0">
              <a:solidFill>
                <a:srgbClr val="000000"/>
              </a:solidFill>
            </a:endParaRPr>
          </a:p>
        </p:txBody>
      </p:sp>
      <p:sp>
        <p:nvSpPr>
          <p:cNvPr id="6" name="Footer Placeholder 5">
            <a:extLst>
              <a:ext uri="{FF2B5EF4-FFF2-40B4-BE49-F238E27FC236}">
                <a16:creationId xmlns:a16="http://schemas.microsoft.com/office/drawing/2014/main" id="{F91E736D-86CF-4E92-89B6-7CD22B8D0D4E}"/>
              </a:ext>
            </a:extLst>
          </p:cNvPr>
          <p:cNvSpPr>
            <a:spLocks noGrp="1"/>
          </p:cNvSpPr>
          <p:nvPr>
            <p:ph type="ftr" sz="quarter" idx="11"/>
          </p:nvPr>
        </p:nvSpPr>
        <p:spPr/>
        <p:txBody>
          <a:bodyPr/>
          <a:lstStyle/>
          <a:p>
            <a:r>
              <a:rPr lang="en-US" dirty="0"/>
              <a:t>SLIDE </a:t>
            </a:r>
          </a:p>
        </p:txBody>
      </p:sp>
      <p:sp>
        <p:nvSpPr>
          <p:cNvPr id="7" name="Slide Number Placeholder 6">
            <a:extLst>
              <a:ext uri="{FF2B5EF4-FFF2-40B4-BE49-F238E27FC236}">
                <a16:creationId xmlns:a16="http://schemas.microsoft.com/office/drawing/2014/main" id="{D1527E1C-5E0A-4661-95BB-042699EB7E81}"/>
              </a:ext>
            </a:extLst>
          </p:cNvPr>
          <p:cNvSpPr>
            <a:spLocks noGrp="1"/>
          </p:cNvSpPr>
          <p:nvPr>
            <p:ph type="sldNum" sz="quarter" idx="12"/>
          </p:nvPr>
        </p:nvSpPr>
        <p:spPr>
          <a:xfrm>
            <a:off x="8928740" y="6170822"/>
            <a:ext cx="717215" cy="502920"/>
          </a:xfrm>
        </p:spPr>
        <p:txBody>
          <a:bodyPr/>
          <a:lstStyle/>
          <a:p>
            <a:fld id="{A2D14663-20C1-504C-8997-4EC422F45FD6}" type="slidenum">
              <a:rPr lang="en-US" smtClean="0"/>
              <a:t>9</a:t>
            </a:fld>
            <a:endParaRPr lang="en-US" dirty="0"/>
          </a:p>
        </p:txBody>
      </p:sp>
    </p:spTree>
    <p:extLst>
      <p:ext uri="{BB962C8B-B14F-4D97-AF65-F5344CB8AC3E}">
        <p14:creationId xmlns:p14="http://schemas.microsoft.com/office/powerpoint/2010/main" val="816807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39C1B-8381-49BD-A85E-2876F83EAC0E}"/>
              </a:ext>
            </a:extLst>
          </p:cNvPr>
          <p:cNvSpPr>
            <a:spLocks noGrp="1"/>
          </p:cNvSpPr>
          <p:nvPr>
            <p:ph type="title"/>
          </p:nvPr>
        </p:nvSpPr>
        <p:spPr>
          <a:xfrm>
            <a:off x="891540" y="225084"/>
            <a:ext cx="6848961" cy="762592"/>
          </a:xfrm>
        </p:spPr>
        <p:txBody>
          <a:bodyPr>
            <a:normAutofit fontScale="90000"/>
          </a:bodyPr>
          <a:lstStyle/>
          <a:p>
            <a:pPr lvl="0" fontAlgn="base"/>
            <a:br>
              <a:rPr lang="en-US" sz="1800" dirty="0"/>
            </a:br>
            <a:r>
              <a:rPr lang="en-US" sz="1800" dirty="0"/>
              <a:t>investigation of unregistered persons</a:t>
            </a:r>
            <a:br>
              <a:rPr lang="en-US" sz="1800" dirty="0"/>
            </a:br>
            <a:endParaRPr lang="en-US" dirty="0"/>
          </a:p>
        </p:txBody>
      </p:sp>
      <p:sp>
        <p:nvSpPr>
          <p:cNvPr id="3" name="Content Placeholder 2">
            <a:extLst>
              <a:ext uri="{FF2B5EF4-FFF2-40B4-BE49-F238E27FC236}">
                <a16:creationId xmlns:a16="http://schemas.microsoft.com/office/drawing/2014/main" id="{0B2476D6-7A50-4324-9EA7-B4EC58156D36}"/>
              </a:ext>
            </a:extLst>
          </p:cNvPr>
          <p:cNvSpPr>
            <a:spLocks noGrp="1"/>
          </p:cNvSpPr>
          <p:nvPr>
            <p:ph idx="1"/>
          </p:nvPr>
        </p:nvSpPr>
        <p:spPr>
          <a:xfrm>
            <a:off x="661182" y="858416"/>
            <a:ext cx="8665698" cy="5701026"/>
          </a:xfrm>
        </p:spPr>
        <p:txBody>
          <a:bodyPr/>
          <a:lstStyle/>
          <a:p>
            <a:pPr fontAlgn="base"/>
            <a:r>
              <a:rPr lang="en-ZA" dirty="0"/>
              <a:t> </a:t>
            </a:r>
            <a:endParaRPr lang="en-US" sz="2800" dirty="0"/>
          </a:p>
          <a:p>
            <a:pPr lvl="1" fontAlgn="base"/>
            <a:endParaRPr lang="en-ZA" sz="400" dirty="0"/>
          </a:p>
          <a:p>
            <a:endParaRPr lang="en-US" dirty="0"/>
          </a:p>
        </p:txBody>
      </p:sp>
      <p:sp>
        <p:nvSpPr>
          <p:cNvPr id="6" name="Footer Placeholder 5">
            <a:extLst>
              <a:ext uri="{FF2B5EF4-FFF2-40B4-BE49-F238E27FC236}">
                <a16:creationId xmlns:a16="http://schemas.microsoft.com/office/drawing/2014/main" id="{B3B16625-2365-4625-B8A6-E5BAA2362876}"/>
              </a:ext>
            </a:extLst>
          </p:cNvPr>
          <p:cNvSpPr>
            <a:spLocks noGrp="1"/>
          </p:cNvSpPr>
          <p:nvPr>
            <p:ph type="ftr" sz="quarter" idx="11"/>
          </p:nvPr>
        </p:nvSpPr>
        <p:spPr/>
        <p:txBody>
          <a:bodyPr/>
          <a:lstStyle/>
          <a:p>
            <a:r>
              <a:rPr lang="en-US" dirty="0"/>
              <a:t>SLIDE </a:t>
            </a:r>
          </a:p>
        </p:txBody>
      </p:sp>
      <p:sp>
        <p:nvSpPr>
          <p:cNvPr id="7" name="Slide Number Placeholder 6">
            <a:extLst>
              <a:ext uri="{FF2B5EF4-FFF2-40B4-BE49-F238E27FC236}">
                <a16:creationId xmlns:a16="http://schemas.microsoft.com/office/drawing/2014/main" id="{DC37A8DF-EFD6-4E6B-AE34-F228FEDF9090}"/>
              </a:ext>
            </a:extLst>
          </p:cNvPr>
          <p:cNvSpPr>
            <a:spLocks noGrp="1"/>
          </p:cNvSpPr>
          <p:nvPr>
            <p:ph type="sldNum" sz="quarter" idx="12"/>
          </p:nvPr>
        </p:nvSpPr>
        <p:spPr>
          <a:xfrm>
            <a:off x="8928740" y="6170822"/>
            <a:ext cx="717215" cy="502920"/>
          </a:xfrm>
        </p:spPr>
        <p:txBody>
          <a:bodyPr/>
          <a:lstStyle/>
          <a:p>
            <a:fld id="{A2D14663-20C1-504C-8997-4EC422F45FD6}" type="slidenum">
              <a:rPr lang="en-US" smtClean="0"/>
              <a:t>10</a:t>
            </a:fld>
            <a:endParaRPr lang="en-US" dirty="0"/>
          </a:p>
        </p:txBody>
      </p:sp>
      <p:sp>
        <p:nvSpPr>
          <p:cNvPr id="9" name="TextBox 8">
            <a:extLst>
              <a:ext uri="{FF2B5EF4-FFF2-40B4-BE49-F238E27FC236}">
                <a16:creationId xmlns:a16="http://schemas.microsoft.com/office/drawing/2014/main" id="{170C5598-BCA3-396F-6BE8-DB46664C8911}"/>
              </a:ext>
            </a:extLst>
          </p:cNvPr>
          <p:cNvSpPr txBox="1"/>
          <p:nvPr/>
        </p:nvSpPr>
        <p:spPr>
          <a:xfrm>
            <a:off x="891542" y="1101975"/>
            <a:ext cx="8353276" cy="604268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ZA" sz="2400" b="0" i="0" u="none" strike="noStrike" kern="1200" cap="none" spc="0" normalizeH="0" baseline="0" noProof="0" dirty="0">
                <a:ln>
                  <a:noFill/>
                </a:ln>
                <a:solidFill>
                  <a:srgbClr val="000000"/>
                </a:solidFill>
                <a:effectLst/>
                <a:uLnTx/>
                <a:uFillTx/>
                <a:latin typeface="Arial"/>
                <a:ea typeface="+mn-ea"/>
                <a:cs typeface="Arial"/>
              </a:rPr>
              <a:t>The investigation involve the question: what happens, What should have happened and what is the discrepancies between the two. </a:t>
            </a:r>
          </a:p>
          <a:p>
            <a:pPr marL="342900" marR="0" lvl="0" indent="-34290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lang="en-ZA" sz="2400" dirty="0">
                <a:solidFill>
                  <a:srgbClr val="000000"/>
                </a:solidFill>
                <a:latin typeface="Arial"/>
                <a:cs typeface="Arial"/>
              </a:rPr>
              <a:t>Investigation process</a:t>
            </a: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r>
              <a:rPr kumimoji="0" lang="en-ZA" sz="2400" b="0" i="0" u="none" strike="noStrike" kern="1200" cap="none" spc="0" normalizeH="0" baseline="0" noProof="0" dirty="0">
                <a:ln>
                  <a:noFill/>
                </a:ln>
                <a:solidFill>
                  <a:srgbClr val="000000"/>
                </a:solidFill>
                <a:effectLst/>
                <a:uLnTx/>
                <a:uFillTx/>
                <a:latin typeface="Arial"/>
                <a:ea typeface="+mn-ea"/>
                <a:cs typeface="Arial"/>
              </a:rPr>
              <a:t> identification of unregistered person</a:t>
            </a: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r>
              <a:rPr kumimoji="0" lang="en-ZA" sz="2400" b="0" i="0" u="none" strike="noStrike" kern="1200" cap="none" spc="0" normalizeH="0" baseline="0" noProof="0" dirty="0">
                <a:ln>
                  <a:noFill/>
                </a:ln>
                <a:solidFill>
                  <a:srgbClr val="000000"/>
                </a:solidFill>
                <a:effectLst/>
                <a:uLnTx/>
                <a:uFillTx/>
                <a:latin typeface="Arial"/>
                <a:ea typeface="+mn-ea"/>
                <a:cs typeface="Arial"/>
              </a:rPr>
              <a:t>Individualisation of the person (registration status)</a:t>
            </a: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r>
              <a:rPr kumimoji="0" lang="en-ZA" sz="2400" b="0" i="0" u="none" strike="noStrike" kern="1200" cap="none" spc="0" normalizeH="0" baseline="0" noProof="0" dirty="0">
                <a:ln>
                  <a:noFill/>
                </a:ln>
                <a:solidFill>
                  <a:srgbClr val="000000"/>
                </a:solidFill>
                <a:effectLst/>
                <a:uLnTx/>
                <a:uFillTx/>
                <a:latin typeface="Arial"/>
                <a:ea typeface="+mn-ea"/>
                <a:cs typeface="Arial"/>
              </a:rPr>
              <a:t>establish what happened to verify practicing</a:t>
            </a: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r>
              <a:rPr kumimoji="0" lang="en-ZA" sz="2400" b="0" i="0" u="none" strike="noStrike" kern="1200" cap="none" spc="0" normalizeH="0" baseline="0" noProof="0" dirty="0">
                <a:ln>
                  <a:noFill/>
                </a:ln>
                <a:solidFill>
                  <a:srgbClr val="000000"/>
                </a:solidFill>
                <a:effectLst/>
                <a:uLnTx/>
                <a:uFillTx/>
                <a:latin typeface="Arial"/>
                <a:ea typeface="+mn-ea"/>
                <a:cs typeface="Arial"/>
              </a:rPr>
              <a:t>what should have happened in terms of the laws, </a:t>
            </a: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r>
              <a:rPr kumimoji="0" lang="en-ZA" sz="2400" b="0" i="0" u="none" strike="noStrike" kern="1200" cap="none" spc="0" normalizeH="0" baseline="0" noProof="0" dirty="0">
                <a:ln>
                  <a:noFill/>
                </a:ln>
                <a:solidFill>
                  <a:srgbClr val="000000"/>
                </a:solidFill>
                <a:effectLst/>
                <a:uLnTx/>
                <a:uFillTx/>
                <a:latin typeface="Arial"/>
                <a:ea typeface="+mn-ea"/>
                <a:cs typeface="Arial"/>
              </a:rPr>
              <a:t>what are discrepancies between the two by applying the law to the established facts.</a:t>
            </a: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r>
              <a:rPr lang="en-ZA" sz="2400" dirty="0">
                <a:solidFill>
                  <a:srgbClr val="000000"/>
                </a:solidFill>
                <a:latin typeface="Arial"/>
                <a:cs typeface="Arial"/>
              </a:rPr>
              <a:t>Investigation report</a:t>
            </a:r>
            <a:endParaRPr kumimoji="0" lang="en-ZA" sz="2400" b="0" i="0" u="none" strike="noStrike" kern="1200" cap="none" spc="0" normalizeH="0" baseline="0" noProof="0" dirty="0">
              <a:ln>
                <a:noFill/>
              </a:ln>
              <a:solidFill>
                <a:srgbClr val="000000"/>
              </a:solidFill>
              <a:effectLst/>
              <a:uLnTx/>
              <a:uFillTx/>
              <a:latin typeface="Arial"/>
              <a:ea typeface="+mn-ea"/>
              <a:cs typeface="Arial"/>
            </a:endParaRP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r>
              <a:rPr kumimoji="0" lang="en-ZA" sz="2400" b="0" i="0" u="none" strike="noStrike" kern="1200" cap="none" spc="0" normalizeH="0" baseline="0" noProof="0" dirty="0">
                <a:ln>
                  <a:noFill/>
                </a:ln>
                <a:solidFill>
                  <a:srgbClr val="000000"/>
                </a:solidFill>
                <a:effectLst/>
                <a:uLnTx/>
                <a:uFillTx/>
                <a:latin typeface="Arial"/>
                <a:ea typeface="+mn-ea"/>
                <a:cs typeface="Arial"/>
              </a:rPr>
              <a:t>Report to police.</a:t>
            </a:r>
            <a:endParaRPr kumimoji="0" lang="en-ZA" sz="1900" b="0" i="0" u="none" strike="noStrike" kern="1200" cap="none" spc="0" normalizeH="0" baseline="0" noProof="0" dirty="0">
              <a:ln>
                <a:noFill/>
              </a:ln>
              <a:solidFill>
                <a:srgbClr val="000000"/>
              </a:solidFill>
              <a:effectLst/>
              <a:uLnTx/>
              <a:uFillTx/>
              <a:latin typeface="Arial"/>
              <a:ea typeface="+mn-ea"/>
              <a:cs typeface="Arial"/>
            </a:endParaRP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ü"/>
              <a:tabLst/>
              <a:defRPr/>
            </a:pPr>
            <a:endParaRPr kumimoji="0" lang="en-ZA" sz="800" b="0" i="0" u="none" strike="noStrike" kern="1200" cap="none" spc="0" normalizeH="0" baseline="0" noProof="0" dirty="0">
              <a:ln>
                <a:noFill/>
              </a:ln>
              <a:solidFill>
                <a:srgbClr val="000000"/>
              </a:solidFill>
              <a:effectLst/>
              <a:uLnTx/>
              <a:uFillTx/>
              <a:latin typeface="Arial"/>
              <a:ea typeface="+mn-ea"/>
              <a:cs typeface="Arial"/>
            </a:endParaRPr>
          </a:p>
          <a:p>
            <a:pPr marL="342900" marR="0" lvl="0" indent="-342900" algn="l" defTabSz="914400" rtl="0" eaLnBrk="1" fontAlgn="auto" latinLnBrk="0" hangingPunct="1">
              <a:lnSpc>
                <a:spcPct val="100000"/>
              </a:lnSpc>
              <a:spcBef>
                <a:spcPts val="800"/>
              </a:spcBef>
              <a:spcAft>
                <a:spcPts val="0"/>
              </a:spcAft>
              <a:buClrTx/>
              <a:buSzTx/>
              <a:buFont typeface="Wingdings" panose="05000000000000000000" pitchFamily="2" charset="2"/>
              <a:buChar char="§"/>
              <a:tabLst/>
              <a:defRPr/>
            </a:pPr>
            <a:endParaRPr kumimoji="0" lang="en-ZA" sz="2400" b="0" i="0" u="none" strike="noStrike" kern="1200" cap="none" spc="0" normalizeH="0" baseline="0" noProof="0" dirty="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3594171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39C1B-8381-49BD-A85E-2876F83EAC0E}"/>
              </a:ext>
            </a:extLst>
          </p:cNvPr>
          <p:cNvSpPr>
            <a:spLocks noGrp="1"/>
          </p:cNvSpPr>
          <p:nvPr>
            <p:ph type="title"/>
          </p:nvPr>
        </p:nvSpPr>
        <p:spPr>
          <a:xfrm>
            <a:off x="891540" y="0"/>
            <a:ext cx="6934023" cy="893136"/>
          </a:xfrm>
        </p:spPr>
        <p:txBody>
          <a:bodyPr>
            <a:normAutofit fontScale="90000"/>
          </a:bodyPr>
          <a:lstStyle/>
          <a:p>
            <a:pPr lvl="0" fontAlgn="base"/>
            <a:br>
              <a:rPr lang="en-ZA" sz="1800" dirty="0"/>
            </a:br>
            <a:r>
              <a:rPr lang="en-ZA" sz="1800" dirty="0"/>
              <a:t>UNLAWFUL AND Unethical conduct by Municipalities in relation to unregistered person</a:t>
            </a:r>
            <a:br>
              <a:rPr lang="en-US" sz="1800" dirty="0"/>
            </a:br>
            <a:endParaRPr lang="en-US" dirty="0"/>
          </a:p>
        </p:txBody>
      </p:sp>
      <p:sp>
        <p:nvSpPr>
          <p:cNvPr id="3" name="Content Placeholder 2">
            <a:extLst>
              <a:ext uri="{FF2B5EF4-FFF2-40B4-BE49-F238E27FC236}">
                <a16:creationId xmlns:a16="http://schemas.microsoft.com/office/drawing/2014/main" id="{0B2476D6-7A50-4324-9EA7-B4EC58156D36}"/>
              </a:ext>
            </a:extLst>
          </p:cNvPr>
          <p:cNvSpPr>
            <a:spLocks noGrp="1"/>
          </p:cNvSpPr>
          <p:nvPr>
            <p:ph idx="1"/>
          </p:nvPr>
        </p:nvSpPr>
        <p:spPr>
          <a:xfrm>
            <a:off x="661182" y="737118"/>
            <a:ext cx="8665698" cy="5548004"/>
          </a:xfrm>
        </p:spPr>
        <p:txBody>
          <a:bodyPr/>
          <a:lstStyle/>
          <a:p>
            <a:pPr fontAlgn="base"/>
            <a:r>
              <a:rPr lang="en-ZA" dirty="0"/>
              <a:t> </a:t>
            </a:r>
            <a:endParaRPr lang="en-ZA" sz="400" dirty="0"/>
          </a:p>
          <a:p>
            <a:pPr lvl="1" fontAlgn="base">
              <a:buFont typeface="Arial" panose="020B0604020202020204" pitchFamily="34" charset="0"/>
              <a:buChar char="•"/>
            </a:pPr>
            <a:r>
              <a:rPr lang="en-ZA" sz="2800" dirty="0"/>
              <a:t> It is unfortunate that some municipalities are involved in illegal practice by unregistered persons.</a:t>
            </a:r>
          </a:p>
          <a:p>
            <a:pPr lvl="1" fontAlgn="base">
              <a:buFont typeface="Arial" panose="020B0604020202020204" pitchFamily="34" charset="0"/>
              <a:buChar char="•"/>
            </a:pPr>
            <a:r>
              <a:rPr lang="en-ZA" sz="2800" dirty="0"/>
              <a:t>Municipalities who employ unregistered, unqualified persons to practice as EHP or to perform </a:t>
            </a:r>
            <a:r>
              <a:rPr lang="en-ZA" sz="2800" dirty="0" err="1"/>
              <a:t>fuctions</a:t>
            </a:r>
            <a:r>
              <a:rPr lang="en-ZA" sz="2800" dirty="0"/>
              <a:t> which falls under the scope of Environmental health services.</a:t>
            </a:r>
          </a:p>
          <a:p>
            <a:pPr marL="0" lvl="1" indent="0" fontAlgn="base">
              <a:buNone/>
            </a:pPr>
            <a:endParaRPr kumimoji="0" lang="en-ZA" sz="2400" b="0" i="0" u="none" strike="noStrike" kern="1200" cap="none" spc="0" normalizeH="0" baseline="0" noProof="0" dirty="0">
              <a:ln>
                <a:noFill/>
              </a:ln>
              <a:solidFill>
                <a:srgbClr val="000000"/>
              </a:solidFill>
              <a:effectLst/>
              <a:uLnTx/>
              <a:uFillTx/>
              <a:latin typeface="Arial"/>
              <a:ea typeface="+mn-ea"/>
              <a:cs typeface="Arial"/>
            </a:endParaRPr>
          </a:p>
          <a:p>
            <a:pPr lvl="1" fontAlgn="base">
              <a:buFont typeface="Wingdings" panose="05000000000000000000" pitchFamily="2" charset="2"/>
              <a:buChar char="ü"/>
            </a:pPr>
            <a:endParaRPr lang="en-ZA" sz="2800" dirty="0"/>
          </a:p>
          <a:p>
            <a:pPr marL="0" lvl="1" indent="0" fontAlgn="base">
              <a:buNone/>
            </a:pPr>
            <a:endParaRPr lang="en-US" sz="2000" dirty="0"/>
          </a:p>
          <a:p>
            <a:endParaRPr lang="en-US" dirty="0"/>
          </a:p>
        </p:txBody>
      </p:sp>
      <p:sp>
        <p:nvSpPr>
          <p:cNvPr id="6" name="Footer Placeholder 5">
            <a:extLst>
              <a:ext uri="{FF2B5EF4-FFF2-40B4-BE49-F238E27FC236}">
                <a16:creationId xmlns:a16="http://schemas.microsoft.com/office/drawing/2014/main" id="{B3B16625-2365-4625-B8A6-E5BAA2362876}"/>
              </a:ext>
            </a:extLst>
          </p:cNvPr>
          <p:cNvSpPr>
            <a:spLocks noGrp="1"/>
          </p:cNvSpPr>
          <p:nvPr>
            <p:ph type="ftr" sz="quarter" idx="11"/>
          </p:nvPr>
        </p:nvSpPr>
        <p:spPr/>
        <p:txBody>
          <a:bodyPr/>
          <a:lstStyle/>
          <a:p>
            <a:r>
              <a:rPr lang="en-US" dirty="0"/>
              <a:t>SLIDE </a:t>
            </a:r>
          </a:p>
        </p:txBody>
      </p:sp>
      <p:sp>
        <p:nvSpPr>
          <p:cNvPr id="7" name="Slide Number Placeholder 6">
            <a:extLst>
              <a:ext uri="{FF2B5EF4-FFF2-40B4-BE49-F238E27FC236}">
                <a16:creationId xmlns:a16="http://schemas.microsoft.com/office/drawing/2014/main" id="{DC37A8DF-EFD6-4E6B-AE34-F228FEDF9090}"/>
              </a:ext>
            </a:extLst>
          </p:cNvPr>
          <p:cNvSpPr>
            <a:spLocks noGrp="1"/>
          </p:cNvSpPr>
          <p:nvPr>
            <p:ph type="sldNum" sz="quarter" idx="12"/>
          </p:nvPr>
        </p:nvSpPr>
        <p:spPr>
          <a:xfrm>
            <a:off x="8928740" y="6170822"/>
            <a:ext cx="717215" cy="502920"/>
          </a:xfrm>
        </p:spPr>
        <p:txBody>
          <a:bodyPr/>
          <a:lstStyle/>
          <a:p>
            <a:fld id="{A2D14663-20C1-504C-8997-4EC422F45FD6}" type="slidenum">
              <a:rPr lang="en-US" smtClean="0"/>
              <a:t>11</a:t>
            </a:fld>
            <a:endParaRPr lang="en-US" dirty="0"/>
          </a:p>
        </p:txBody>
      </p:sp>
    </p:spTree>
    <p:extLst>
      <p:ext uri="{BB962C8B-B14F-4D97-AF65-F5344CB8AC3E}">
        <p14:creationId xmlns:p14="http://schemas.microsoft.com/office/powerpoint/2010/main" val="1129081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86E8C-47B1-449D-8D39-0BF575D05956}"/>
              </a:ext>
            </a:extLst>
          </p:cNvPr>
          <p:cNvSpPr>
            <a:spLocks noGrp="1"/>
          </p:cNvSpPr>
          <p:nvPr>
            <p:ph type="ctrTitle"/>
          </p:nvPr>
        </p:nvSpPr>
        <p:spPr>
          <a:xfrm>
            <a:off x="742950" y="1041009"/>
            <a:ext cx="8420100" cy="1030387"/>
          </a:xfrm>
        </p:spPr>
        <p:txBody>
          <a:bodyPr>
            <a:normAutofit fontScale="90000"/>
          </a:bodyPr>
          <a:lstStyle/>
          <a:p>
            <a:pPr algn="ctr"/>
            <a:br>
              <a:rPr lang="en-US" dirty="0"/>
            </a:br>
            <a:r>
              <a:rPr lang="en-US" b="1" dirty="0"/>
              <a:t>Adv Siyabulela </a:t>
            </a:r>
            <a:r>
              <a:rPr lang="en-US" b="1" dirty="0" err="1"/>
              <a:t>Pendani</a:t>
            </a:r>
            <a:endParaRPr lang="en-US" b="1" dirty="0"/>
          </a:p>
        </p:txBody>
      </p:sp>
      <p:sp>
        <p:nvSpPr>
          <p:cNvPr id="3" name="Subtitle 2">
            <a:extLst>
              <a:ext uri="{FF2B5EF4-FFF2-40B4-BE49-F238E27FC236}">
                <a16:creationId xmlns:a16="http://schemas.microsoft.com/office/drawing/2014/main" id="{A0B5CE46-5562-4EC3-85D8-3C37E4279367}"/>
              </a:ext>
            </a:extLst>
          </p:cNvPr>
          <p:cNvSpPr>
            <a:spLocks noGrp="1"/>
          </p:cNvSpPr>
          <p:nvPr>
            <p:ph type="subTitle" idx="1"/>
          </p:nvPr>
        </p:nvSpPr>
        <p:spPr>
          <a:xfrm>
            <a:off x="0" y="2071396"/>
            <a:ext cx="9906000" cy="2788994"/>
          </a:xfrm>
        </p:spPr>
        <p:txBody>
          <a:bodyPr numCol="2"/>
          <a:lstStyle/>
          <a:p>
            <a:pPr algn="l"/>
            <a:r>
              <a:rPr lang="en-US" sz="2400" dirty="0">
                <a:latin typeface="Arial" panose="020B0604020202020204" pitchFamily="34" charset="0"/>
                <a:cs typeface="Arial" panose="020B0604020202020204" pitchFamily="34" charset="0"/>
              </a:rPr>
              <a:t>BANK TOWERS BUILDING,</a:t>
            </a:r>
          </a:p>
          <a:p>
            <a:pPr algn="l"/>
            <a:r>
              <a:rPr lang="en-US" sz="2400" dirty="0">
                <a:latin typeface="Arial" panose="020B0604020202020204" pitchFamily="34" charset="0"/>
                <a:cs typeface="Arial" panose="020B0604020202020204" pitchFamily="34" charset="0"/>
              </a:rPr>
              <a:t>Office 111-112,  190 Thabo </a:t>
            </a:r>
            <a:r>
              <a:rPr lang="en-US" sz="2400" dirty="0" err="1">
                <a:latin typeface="Arial" panose="020B0604020202020204" pitchFamily="34" charset="0"/>
                <a:cs typeface="Arial" panose="020B0604020202020204" pitchFamily="34" charset="0"/>
              </a:rPr>
              <a:t>Sehome</a:t>
            </a:r>
            <a:r>
              <a:rPr lang="en-US" sz="2400" dirty="0">
                <a:latin typeface="Arial" panose="020B0604020202020204" pitchFamily="34" charset="0"/>
                <a:cs typeface="Arial" panose="020B0604020202020204" pitchFamily="34" charset="0"/>
              </a:rPr>
              <a:t> street, Pretoria </a:t>
            </a:r>
          </a:p>
          <a:p>
            <a:pPr algn="l"/>
            <a:endParaRPr lang="en-US" sz="2400" dirty="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 </a:t>
            </a:r>
          </a:p>
          <a:p>
            <a:pPr algn="l"/>
            <a:r>
              <a:rPr lang="en-US" sz="2400" dirty="0">
                <a:latin typeface="Arial" panose="020B0604020202020204" pitchFamily="34" charset="0"/>
                <a:cs typeface="Arial" panose="020B0604020202020204" pitchFamily="34" charset="0"/>
              </a:rPr>
              <a:t> </a:t>
            </a:r>
          </a:p>
          <a:p>
            <a:pPr algn="l"/>
            <a:r>
              <a:rPr lang="en-US" sz="2000" dirty="0">
                <a:latin typeface="Arial" panose="020B0604020202020204" pitchFamily="34" charset="0"/>
                <a:cs typeface="Arial" panose="020B0604020202020204" pitchFamily="34" charset="0"/>
              </a:rPr>
              <a:t>Tel: 012 3862365</a:t>
            </a:r>
            <a:r>
              <a:rPr lang="en-US" sz="2400" dirty="0">
                <a:latin typeface="Arial" panose="020B0604020202020204" pitchFamily="34" charset="0"/>
                <a:cs typeface="Arial" panose="020B0604020202020204" pitchFamily="34" charset="0"/>
              </a:rPr>
              <a:t>	</a:t>
            </a:r>
          </a:p>
          <a:p>
            <a:pPr algn="l"/>
            <a:r>
              <a:rPr lang="en-US" sz="2400" dirty="0">
                <a:latin typeface="Arial" panose="020B0604020202020204" pitchFamily="34" charset="0"/>
                <a:cs typeface="Arial" panose="020B0604020202020204" pitchFamily="34" charset="0"/>
              </a:rPr>
              <a:t>Cell:0730379296 </a:t>
            </a:r>
            <a:r>
              <a:rPr lang="en-US" sz="2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Email:  Admin@pendanilaw.co.za        Web:   </a:t>
            </a:r>
            <a:r>
              <a:rPr lang="en-US" sz="2400" u="sng" dirty="0">
                <a:latin typeface="Arial" panose="020B0604020202020204" pitchFamily="34" charset="0"/>
                <a:cs typeface="Arial" panose="020B0604020202020204" pitchFamily="34" charset="0"/>
              </a:rPr>
              <a:t>http://www.pendanilaw.co.</a:t>
            </a:r>
            <a:r>
              <a:rPr lang="en-US" sz="2400" dirty="0">
                <a:latin typeface="Arial" panose="020B0604020202020204" pitchFamily="34" charset="0"/>
                <a:cs typeface="Arial" panose="020B0604020202020204" pitchFamily="34" charset="0"/>
              </a:rPr>
              <a:t>za          		</a:t>
            </a:r>
            <a:r>
              <a:rPr lang="en-US" sz="2000" dirty="0">
                <a:latin typeface="Arial" panose="020B0604020202020204" pitchFamily="34" charset="0"/>
                <a:cs typeface="Arial" panose="020B0604020202020204" pitchFamily="34" charset="0"/>
              </a:rPr>
              <a:t>	</a:t>
            </a:r>
            <a:endParaRPr lang="en-US" dirty="0"/>
          </a:p>
        </p:txBody>
      </p:sp>
      <p:sp>
        <p:nvSpPr>
          <p:cNvPr id="6" name="Footer Placeholder 5">
            <a:extLst>
              <a:ext uri="{FF2B5EF4-FFF2-40B4-BE49-F238E27FC236}">
                <a16:creationId xmlns:a16="http://schemas.microsoft.com/office/drawing/2014/main" id="{C8914F15-6ED7-4F7C-B193-227512B2C1E2}"/>
              </a:ext>
            </a:extLst>
          </p:cNvPr>
          <p:cNvSpPr>
            <a:spLocks noGrp="1"/>
          </p:cNvSpPr>
          <p:nvPr>
            <p:ph type="ftr" sz="quarter" idx="11"/>
          </p:nvPr>
        </p:nvSpPr>
        <p:spPr/>
        <p:txBody>
          <a:bodyPr/>
          <a:lstStyle/>
          <a:p>
            <a:r>
              <a:rPr lang="en-US"/>
              <a:t>SLIDE </a:t>
            </a:r>
            <a:endParaRPr lang="en-US" dirty="0"/>
          </a:p>
        </p:txBody>
      </p:sp>
      <p:sp>
        <p:nvSpPr>
          <p:cNvPr id="7" name="Slide Number Placeholder 6">
            <a:extLst>
              <a:ext uri="{FF2B5EF4-FFF2-40B4-BE49-F238E27FC236}">
                <a16:creationId xmlns:a16="http://schemas.microsoft.com/office/drawing/2014/main" id="{DB9EBF02-0FFC-4508-95E6-ECE67045B1E7}"/>
              </a:ext>
            </a:extLst>
          </p:cNvPr>
          <p:cNvSpPr>
            <a:spLocks noGrp="1"/>
          </p:cNvSpPr>
          <p:nvPr>
            <p:ph type="sldNum" sz="quarter" idx="12"/>
          </p:nvPr>
        </p:nvSpPr>
        <p:spPr/>
        <p:txBody>
          <a:bodyPr/>
          <a:lstStyle/>
          <a:p>
            <a:fld id="{18BCCAD9-DC73-460E-9E5F-A2FDDC9B420B}" type="slidenum">
              <a:rPr lang="en-US" smtClean="0"/>
              <a:pPr/>
              <a:t>12</a:t>
            </a:fld>
            <a:endParaRPr lang="en-US" dirty="0"/>
          </a:p>
        </p:txBody>
      </p:sp>
      <p:sp>
        <p:nvSpPr>
          <p:cNvPr id="8" name="Title 1">
            <a:extLst>
              <a:ext uri="{FF2B5EF4-FFF2-40B4-BE49-F238E27FC236}">
                <a16:creationId xmlns:a16="http://schemas.microsoft.com/office/drawing/2014/main" id="{19D86E8C-47B1-449D-8D39-0BF575D05956}"/>
              </a:ext>
            </a:extLst>
          </p:cNvPr>
          <p:cNvSpPr txBox="1">
            <a:spLocks/>
          </p:cNvSpPr>
          <p:nvPr/>
        </p:nvSpPr>
        <p:spPr>
          <a:xfrm>
            <a:off x="-154746" y="-180442"/>
            <a:ext cx="8304921" cy="1030387"/>
          </a:xfrm>
          <a:prstGeom prst="rect">
            <a:avLst/>
          </a:prstGeom>
        </p:spPr>
        <p:txBody>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pPr algn="ctr"/>
            <a:br>
              <a:rPr lang="en-US" dirty="0"/>
            </a:br>
            <a:r>
              <a:rPr lang="en-US" sz="4000" dirty="0">
                <a:solidFill>
                  <a:srgbClr val="00B0F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725213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C3DCBA1F8FF14CBA7C9067C805D078" ma:contentTypeVersion="17" ma:contentTypeDescription="Create a new document." ma:contentTypeScope="" ma:versionID="3a506a9d69fb33d2c62438848cdc0cc2">
  <xsd:schema xmlns:xsd="http://www.w3.org/2001/XMLSchema" xmlns:xs="http://www.w3.org/2001/XMLSchema" xmlns:p="http://schemas.microsoft.com/office/2006/metadata/properties" xmlns:ns2="4c5b7bec-0342-4e05-a6d3-6af063485f76" xmlns:ns3="7b25d3d7-4f77-4f49-a0ab-234bfdfc21d5" targetNamespace="http://schemas.microsoft.com/office/2006/metadata/properties" ma:root="true" ma:fieldsID="e47d5ab0f541b3a3055d1f7af1ab2df7" ns2:_="" ns3:_="">
    <xsd:import namespace="4c5b7bec-0342-4e05-a6d3-6af063485f76"/>
    <xsd:import namespace="7b25d3d7-4f77-4f49-a0ab-234bfdfc21d5"/>
    <xsd:element name="properties">
      <xsd:complexType>
        <xsd:sequence>
          <xsd:element name="documentManagement">
            <xsd:complexType>
              <xsd:all>
                <xsd:element ref="ns2:MediaServiceMetadata" minOccurs="0"/>
                <xsd:element ref="ns2:MediaServiceFastMetadata" minOccurs="0"/>
                <xsd:element ref="ns2:Year" minOccurs="0"/>
                <xsd:element ref="ns2:ReportType" minOccurs="0"/>
                <xsd:element ref="ns2:MediaServiceAutoKeyPoints" minOccurs="0"/>
                <xsd:element ref="ns2:MediaServiceKeyPoints" minOccurs="0"/>
                <xsd:element ref="ns2:lcf76f155ced4ddcb4097134ff3c332f"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5b7bec-0342-4e05-a6d3-6af063485f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Year" ma:index="10" nillable="true" ma:displayName="Year" ma:format="Dropdown" ma:internalName="Year">
      <xsd:simpleType>
        <xsd:restriction base="dms:Choice">
          <xsd:enumeration value="2016"/>
          <xsd:enumeration value="2017"/>
          <xsd:enumeration value="2018"/>
          <xsd:enumeration value="2019"/>
          <xsd:enumeration value="2020"/>
        </xsd:restriction>
      </xsd:simpleType>
    </xsd:element>
    <xsd:element name="ReportType" ma:index="11" nillable="true" ma:displayName="Report Type" ma:format="Dropdown" ma:internalName="ReportType">
      <xsd:simpleType>
        <xsd:restriction base="dms:Choice">
          <xsd:enumeration value="Departmental Monthly Report"/>
          <xsd:enumeration value="Board Performance assessment"/>
        </xsd:restrictio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0188d9c-1754-4dfc-9f8c-b2663e9f0c5f"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25d3d7-4f77-4f49-a0ab-234bfdfc21d5"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d0188d9c-1754-4dfc-9f8c-b2663e9f0c5f" ContentTypeId="0x010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C596A8C-1C20-472F-BAA7-2798D0E62F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5b7bec-0342-4e05-a6d3-6af063485f76"/>
    <ds:schemaRef ds:uri="7b25d3d7-4f77-4f49-a0ab-234bfdfc21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7F7F19-3792-4FA7-A476-E6822260B6D8}">
  <ds:schemaRefs>
    <ds:schemaRef ds:uri="Microsoft.SharePoint.Taxonomy.ContentTypeSync"/>
  </ds:schemaRefs>
</ds:datastoreItem>
</file>

<file path=customXml/itemProps3.xml><?xml version="1.0" encoding="utf-8"?>
<ds:datastoreItem xmlns:ds="http://schemas.openxmlformats.org/officeDocument/2006/customXml" ds:itemID="{CE4C986D-FE7A-40F0-BAC0-207DEBA95D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9255</TotalTime>
  <Words>791</Words>
  <Application>Microsoft Macintosh PowerPoint</Application>
  <PresentationFormat>A4 Paper (210x297 mm)</PresentationFormat>
  <Paragraphs>94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Franklin Gothic Book</vt:lpstr>
      <vt:lpstr>Wingdings</vt:lpstr>
      <vt:lpstr>Office Theme</vt:lpstr>
      <vt:lpstr>Positive contribution of law</vt:lpstr>
      <vt:lpstr>Regulatory Mandate</vt:lpstr>
      <vt:lpstr>33. Definition of scope of other health professions registrable in terms of this Act and registration of certain persons </vt:lpstr>
      <vt:lpstr>Registration a prerequisite for practising a profession in respect of which a professional board has been established</vt:lpstr>
      <vt:lpstr> section 17 of the act</vt:lpstr>
      <vt:lpstr>What is a bogus practitioner?</vt:lpstr>
      <vt:lpstr>PowerPoint Presentation</vt:lpstr>
      <vt:lpstr>Unregistered persons</vt:lpstr>
      <vt:lpstr>Risks of unregistered persons  </vt:lpstr>
      <vt:lpstr> investigation of unregistered persons </vt:lpstr>
      <vt:lpstr> UNLAWFUL AND Unethical conduct by Municipalities in relation to unregistered person </vt:lpstr>
      <vt:lpstr> Adv Siyabulela Pendani</vt:lpstr>
    </vt:vector>
  </TitlesOfParts>
  <Company>Q99 Design and Branding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Vuyani Maxambele</dc:creator>
  <cp:lastModifiedBy>admin@pendanilaw.co.za</cp:lastModifiedBy>
  <cp:revision>159</cp:revision>
  <cp:lastPrinted>2017-09-18T07:42:50Z</cp:lastPrinted>
  <dcterms:created xsi:type="dcterms:W3CDTF">2015-03-02T13:52:51Z</dcterms:created>
  <dcterms:modified xsi:type="dcterms:W3CDTF">2026-04-21T11:46:57Z</dcterms:modified>
</cp:coreProperties>
</file>