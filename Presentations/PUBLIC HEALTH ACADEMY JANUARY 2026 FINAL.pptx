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5"/>
  </p:sldMasterIdLst>
  <p:notesMasterIdLst>
    <p:notesMasterId r:id="rId22"/>
  </p:notesMasterIdLst>
  <p:handoutMasterIdLst>
    <p:handoutMasterId r:id="rId23"/>
  </p:handoutMasterIdLst>
  <p:sldIdLst>
    <p:sldId id="471" r:id="rId6"/>
    <p:sldId id="528" r:id="rId7"/>
    <p:sldId id="529" r:id="rId8"/>
    <p:sldId id="530" r:id="rId9"/>
    <p:sldId id="531" r:id="rId10"/>
    <p:sldId id="556" r:id="rId11"/>
    <p:sldId id="557" r:id="rId12"/>
    <p:sldId id="550" r:id="rId13"/>
    <p:sldId id="551" r:id="rId14"/>
    <p:sldId id="553" r:id="rId15"/>
    <p:sldId id="552" r:id="rId16"/>
    <p:sldId id="554" r:id="rId17"/>
    <p:sldId id="532" r:id="rId18"/>
    <p:sldId id="558" r:id="rId19"/>
    <p:sldId id="555" r:id="rId20"/>
    <p:sldId id="507" r:id="rId21"/>
  </p:sldIdLst>
  <p:sldSz cx="9144000" cy="6858000" type="screen4x3"/>
  <p:notesSz cx="6797675" cy="9926638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TIE MILNE" initials="MM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21E"/>
    <a:srgbClr val="009644"/>
    <a:srgbClr val="008000"/>
    <a:srgbClr val="FFFF66"/>
    <a:srgbClr val="FFCC66"/>
    <a:srgbClr val="00B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3" autoAdjust="0"/>
    <p:restoredTop sz="94601" autoAdjust="0"/>
  </p:normalViewPr>
  <p:slideViewPr>
    <p:cSldViewPr>
      <p:cViewPr varScale="1">
        <p:scale>
          <a:sx n="103" d="100"/>
          <a:sy n="103" d="100"/>
        </p:scale>
        <p:origin x="25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commentAuthors" Target="commentAuthor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792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792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D42896-8E1F-4592-B5A5-18C5C72FB23A}" type="datetimeFigureOut">
              <a:rPr lang="en-ZA" smtClean="0"/>
              <a:t>2025/12/19</a:t>
            </a:fld>
            <a:endParaRPr lang="en-Z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8710"/>
            <a:ext cx="2946400" cy="4979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9688" y="9428710"/>
            <a:ext cx="2946400" cy="4979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00E8E3-D37B-4AA5-9D84-59ED5DB4662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7245392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2F99D547-1A9C-4812-81A1-DCCB702D1569}" type="datetimeFigureOut">
              <a:rPr lang="en-US"/>
              <a:pPr>
                <a:defRPr/>
              </a:pPr>
              <a:t>12/19/2025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14876"/>
            <a:ext cx="5438775" cy="4467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164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9688" y="9428164"/>
            <a:ext cx="2946400" cy="4968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FBE2F452-BBC8-48A0-81EB-29E797DD877A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06740333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ZA" altLang="en-US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510C67C-630D-4807-B486-EC56C14DF5E6}" type="slidenum">
              <a:rPr lang="en-ZA" alt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16</a:t>
            </a:fld>
            <a:endParaRPr lang="en-ZA" altLang="en-US"/>
          </a:p>
        </p:txBody>
      </p:sp>
    </p:spTree>
    <p:extLst>
      <p:ext uri="{BB962C8B-B14F-4D97-AF65-F5344CB8AC3E}">
        <p14:creationId xmlns:p14="http://schemas.microsoft.com/office/powerpoint/2010/main" val="13612396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E1CC4D-6B80-824F-95B3-C7042065D9B6}" type="datetime1">
              <a:rPr lang="en-ZA" smtClean="0">
                <a:solidFill>
                  <a:prstClr val="black">
                    <a:tint val="75000"/>
                  </a:prstClr>
                </a:solidFill>
              </a:rPr>
              <a:t>2025/12/19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F3A2FD1-091E-4E14-B5E1-3309D4850A6F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19707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D75F08-4359-F24D-B75E-52A5BEC68428}" type="datetime1">
              <a:rPr lang="en-ZA" smtClean="0">
                <a:solidFill>
                  <a:prstClr val="black">
                    <a:tint val="75000"/>
                  </a:prstClr>
                </a:solidFill>
              </a:rPr>
              <a:t>2025/12/19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D312F24-582A-4117-A0B2-A1DD2489FD11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66788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8DFB60-A28B-FA49-9890-02611BDD1250}" type="datetime1">
              <a:rPr lang="en-ZA" smtClean="0">
                <a:solidFill>
                  <a:prstClr val="black">
                    <a:tint val="75000"/>
                  </a:prstClr>
                </a:solidFill>
              </a:rPr>
              <a:t>2025/12/19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DBF3DF0-8F4F-4A0C-B1E1-3C80CEE4DE50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242746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077D25-B234-DB47-8433-1FA2361B3338}" type="datetime1">
              <a:rPr lang="en-ZA" smtClean="0">
                <a:solidFill>
                  <a:prstClr val="black">
                    <a:tint val="75000"/>
                  </a:prstClr>
                </a:solidFill>
              </a:rPr>
              <a:t>2025/12/19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9757167-10C8-42C7-B29A-1F1A091DEDC4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032597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CB6082-06BD-AB4C-ADD6-3421277132D8}" type="datetime1">
              <a:rPr lang="en-ZA" smtClean="0">
                <a:solidFill>
                  <a:prstClr val="black">
                    <a:tint val="75000"/>
                  </a:prstClr>
                </a:solidFill>
              </a:rPr>
              <a:t>2025/12/19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30BF22A-558E-49CD-8C91-D895D543537F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1977808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9F77BC-9A31-FA42-B460-684745034B14}" type="datetime1">
              <a:rPr lang="en-ZA" smtClean="0">
                <a:solidFill>
                  <a:prstClr val="black">
                    <a:tint val="75000"/>
                  </a:prstClr>
                </a:solidFill>
              </a:rPr>
              <a:t>2025/12/19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070C76-ABB2-4FD9-BD01-E906E11C999E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7404959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443F39-493D-254D-911F-0BEF0C9BCEC8}" type="datetime1">
              <a:rPr lang="en-ZA" smtClean="0">
                <a:solidFill>
                  <a:prstClr val="black">
                    <a:tint val="75000"/>
                  </a:prstClr>
                </a:solidFill>
              </a:rPr>
              <a:t>2025/12/19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2A617F-46FE-4A8A-8649-A4E46A8175BC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6254945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909430-34CF-3844-89BE-8856531CE00F}" type="datetime1">
              <a:rPr lang="en-ZA" smtClean="0">
                <a:solidFill>
                  <a:prstClr val="black">
                    <a:tint val="75000"/>
                  </a:prstClr>
                </a:solidFill>
              </a:rPr>
              <a:t>2025/12/19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6A8617-99DB-44A4-9BFF-66DE9E62441A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052261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5A631F-DC78-9541-BC17-B6C98AEFE055}" type="datetime1">
              <a:rPr lang="en-ZA" smtClean="0">
                <a:solidFill>
                  <a:prstClr val="black">
                    <a:tint val="75000"/>
                  </a:prstClr>
                </a:solidFill>
              </a:rPr>
              <a:t>2025/12/19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DF82E0-F617-466A-8989-E6F91EEE8384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5207933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5F6902-2018-4A43-A197-E66B77FC800F}" type="datetime1">
              <a:rPr lang="en-ZA" smtClean="0">
                <a:solidFill>
                  <a:prstClr val="black">
                    <a:tint val="75000"/>
                  </a:prstClr>
                </a:solidFill>
              </a:rPr>
              <a:t>2025/12/19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F9C980E-3AC1-4DFD-ABD0-F24C9196324D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00888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50AAFC-9222-5F47-83D3-233A5731C885}" type="datetime1">
              <a:rPr lang="en-ZA" smtClean="0">
                <a:solidFill>
                  <a:prstClr val="black">
                    <a:tint val="75000"/>
                  </a:prstClr>
                </a:solidFill>
              </a:rPr>
              <a:t>2025/12/19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DB76249-C742-443A-9BEC-97296B7C0194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6275396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7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12" y="6309320"/>
            <a:ext cx="9035988" cy="346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2" descr="http://www.kznonline.gov.za/images/stories/downloads/Logos/Coat_of_Arms-zulu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12" y="6414955"/>
            <a:ext cx="575048" cy="420660"/>
          </a:xfrm>
          <a:prstGeom prst="rect">
            <a:avLst/>
          </a:prstGeom>
          <a:blipFill dpi="0" rotWithShape="1">
            <a:blip r:embed="rId2">
              <a:alphaModFix amt="0"/>
            </a:blip>
            <a:srcRect/>
            <a:tile tx="0" ty="0" sx="100000" sy="100000" flip="none" algn="tl"/>
          </a:blipFill>
          <a:ln>
            <a:noFill/>
          </a:ln>
        </p:spPr>
      </p:pic>
      <p:sp>
        <p:nvSpPr>
          <p:cNvPr id="12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8532440" y="6309320"/>
            <a:ext cx="540060" cy="484165"/>
          </a:xfrm>
          <a:solidFill>
            <a:schemeClr val="bg1"/>
          </a:solidFill>
          <a:ln w="38100">
            <a:solidFill>
              <a:srgbClr val="008000"/>
            </a:solidFill>
          </a:ln>
        </p:spPr>
        <p:txBody>
          <a:bodyPr anchor="ctr"/>
          <a:lstStyle/>
          <a:p>
            <a:pPr algn="ctr">
              <a:defRPr/>
            </a:pPr>
            <a:fld id="{80BD4F07-03E6-4EEC-A54B-BD8004E5F0D3}" type="slidenum">
              <a:rPr lang="en-US" sz="1400" b="1" smtClean="0">
                <a:solidFill>
                  <a:srgbClr val="008000"/>
                </a:solidFill>
                <a:latin typeface="Arial" panose="020B0604020202020204" pitchFamily="34" charset="0"/>
              </a:rPr>
              <a:pPr algn="ctr">
                <a:defRPr/>
              </a:pPr>
              <a:t>‹#›</a:t>
            </a:fld>
            <a:endParaRPr lang="en-US" sz="1400" b="1" dirty="0">
              <a:solidFill>
                <a:srgbClr val="008000"/>
              </a:solidFill>
              <a:latin typeface="Arial" panose="020B0604020202020204" pitchFamily="34" charset="0"/>
            </a:endParaRPr>
          </a:p>
        </p:txBody>
      </p:sp>
      <p:sp>
        <p:nvSpPr>
          <p:cNvPr id="9" name="Rectangle 6"/>
          <p:cNvSpPr>
            <a:spLocks noChangeArrowheads="1"/>
          </p:cNvSpPr>
          <p:nvPr userDrawn="1"/>
        </p:nvSpPr>
        <p:spPr bwMode="auto">
          <a:xfrm>
            <a:off x="0" y="6559393"/>
            <a:ext cx="9144000" cy="253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9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defRPr sz="9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eaLnBrk="0" hangingPunct="0">
              <a:defRPr sz="9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eaLnBrk="0" hangingPunct="0">
              <a:defRPr sz="9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eaLnBrk="0" hangingPunct="0">
              <a:defRPr sz="9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en-ZA" sz="1050" b="1" i="1" baseline="30000" dirty="0">
                <a:solidFill>
                  <a:srgbClr val="009900"/>
                </a:solidFill>
              </a:rPr>
              <a:t>“KZN as a prosperous Province</a:t>
            </a:r>
            <a:r>
              <a:rPr lang="en-ZA" sz="1050" b="1" i="1" dirty="0">
                <a:solidFill>
                  <a:srgbClr val="009900"/>
                </a:solidFill>
              </a:rPr>
              <a:t> </a:t>
            </a:r>
            <a:r>
              <a:rPr lang="en-ZA" sz="1050" b="1" i="1" baseline="30000" dirty="0">
                <a:solidFill>
                  <a:srgbClr val="009900"/>
                </a:solidFill>
              </a:rPr>
              <a:t>with healthy, secure and skilled population, living in dignity and harmony, acting as a gateway between Africa and the World”</a:t>
            </a:r>
          </a:p>
        </p:txBody>
      </p:sp>
    </p:spTree>
    <p:extLst>
      <p:ext uri="{BB962C8B-B14F-4D97-AF65-F5344CB8AC3E}">
        <p14:creationId xmlns:p14="http://schemas.microsoft.com/office/powerpoint/2010/main" val="401215950"/>
      </p:ext>
    </p:extLst>
  </p:cSld>
  <p:clrMapOvr>
    <a:masterClrMapping/>
  </p:clrMapOvr>
  <p:transition>
    <p:cut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A4B701AD-C1C5-DC49-8F34-007252B5D40B}" type="datetime1">
              <a:rPr lang="en-ZA" smtClean="0">
                <a:solidFill>
                  <a:prstClr val="black">
                    <a:tint val="75000"/>
                  </a:prstClr>
                </a:solidFill>
              </a:rPr>
              <a:t>2025/12/19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B0CCA43C-E545-4331-BDCE-A95AACE0403A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8173424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OTP Powerpoint Template-1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43999" cy="6858000"/>
          </a:xfrm>
          <a:prstGeom prst="rect">
            <a:avLst/>
          </a:prstGeom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F82E0-F617-466A-8989-E6F91EEE8384}" type="slidenum">
              <a:rPr lang="en-US" altLang="en-US" smtClean="0"/>
              <a:pPr/>
              <a:t>1</a:t>
            </a:fld>
            <a:endParaRPr lang="en-US" altLang="en-US" dirty="0"/>
          </a:p>
        </p:txBody>
      </p:sp>
      <p:sp>
        <p:nvSpPr>
          <p:cNvPr id="2" name="Rectangle 10"/>
          <p:cNvSpPr>
            <a:spLocks noChangeArrowheads="1"/>
          </p:cNvSpPr>
          <p:nvPr/>
        </p:nvSpPr>
        <p:spPr bwMode="auto">
          <a:xfrm>
            <a:off x="1043608" y="1772816"/>
            <a:ext cx="7200900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3200" b="1" dirty="0">
              <a:solidFill>
                <a:prstClr val="black"/>
              </a:solidFill>
              <a:latin typeface="Arial Black" panose="020B0A04020102020204" pitchFamily="34" charset="0"/>
            </a:endParaRPr>
          </a:p>
          <a:p>
            <a:pPr algn="ctr" eaLnBrk="1" hangingPunct="1"/>
            <a:endParaRPr lang="en-ZA" altLang="en-US" sz="2400" b="1" dirty="0">
              <a:solidFill>
                <a:prstClr val="white"/>
              </a:solidFill>
              <a:latin typeface="Arial Black" panose="020B0A04020102020204" pitchFamily="34" charset="0"/>
            </a:endParaRPr>
          </a:p>
          <a:p>
            <a:pPr algn="ctr" eaLnBrk="1" hangingPunct="1"/>
            <a:endParaRPr lang="en-ZA" altLang="en-US" sz="2400" b="1" dirty="0">
              <a:solidFill>
                <a:prstClr val="white"/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95536" y="2828836"/>
            <a:ext cx="84969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endParaRPr lang="en-US" altLang="en-US" sz="2400" b="1" dirty="0">
              <a:latin typeface="+mj-l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7504" y="2397949"/>
            <a:ext cx="892899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fontAlgn="auto">
              <a:spcBef>
                <a:spcPct val="20000"/>
              </a:spcBef>
              <a:spcAft>
                <a:spcPts val="0"/>
              </a:spcAft>
              <a:defRPr/>
            </a:pPr>
            <a:endParaRPr lang="en-US" sz="3200" b="1" dirty="0">
              <a:solidFill>
                <a:srgbClr val="FFFF66"/>
              </a:solidFill>
              <a:effectLst>
                <a:outerShdw blurRad="38100" dist="38100" dir="2700000" algn="tl">
                  <a:srgbClr val="000000"/>
                </a:outerShdw>
              </a:effectLst>
              <a:cs typeface="Arial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83568" y="2276872"/>
            <a:ext cx="792088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ZA" sz="3200" b="1" dirty="0">
                <a:solidFill>
                  <a:schemeClr val="bg1"/>
                </a:solidFill>
              </a:rPr>
              <a:t>ENVIRONMENTAL HEALTH INTERVENTIONS FOR PREVENTATIVE PRACTICE IN CLINICAL SETTINGS</a:t>
            </a:r>
            <a:endParaRPr lang="en-ZA" sz="3200" b="1" dirty="0">
              <a:solidFill>
                <a:srgbClr val="FFD21E"/>
              </a:solidFill>
            </a:endParaRPr>
          </a:p>
        </p:txBody>
      </p:sp>
      <p:sp>
        <p:nvSpPr>
          <p:cNvPr id="10" name="Title 5"/>
          <p:cNvSpPr txBox="1">
            <a:spLocks/>
          </p:cNvSpPr>
          <p:nvPr/>
        </p:nvSpPr>
        <p:spPr bwMode="auto">
          <a:xfrm>
            <a:off x="2339752" y="4077072"/>
            <a:ext cx="4464496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/>
            <a:r>
              <a:rPr lang="en-US" altLang="en-US" sz="2800" dirty="0">
                <a:solidFill>
                  <a:schemeClr val="bg1"/>
                </a:solidFill>
              </a:rPr>
              <a:t>BY MISS A. BUKHOSINI</a:t>
            </a:r>
            <a:endParaRPr lang="en-US" altLang="en-US" sz="2800" i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Picture 12" descr="NDP Logo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6336" y="620688"/>
            <a:ext cx="869208" cy="800457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339752" y="6176337"/>
            <a:ext cx="44644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GROWING KWAZULU-NATAL TOGETHER</a:t>
            </a:r>
          </a:p>
        </p:txBody>
      </p:sp>
      <p:pic>
        <p:nvPicPr>
          <p:cNvPr id="4" name="Picture 3" descr="Health Logo.jp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633434"/>
            <a:ext cx="2808312" cy="707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969008"/>
      </p:ext>
    </p:extLst>
  </p:cSld>
  <p:clrMapOvr>
    <a:masterClrMapping/>
  </p:clrMapOvr>
  <p:transition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6743" y="1052736"/>
            <a:ext cx="8229600" cy="5760640"/>
          </a:xfrm>
        </p:spPr>
        <p:txBody>
          <a:bodyPr/>
          <a:lstStyle/>
          <a:p>
            <a:pPr marL="0" lvl="0" indent="0" algn="just">
              <a:buNone/>
            </a:pPr>
            <a:r>
              <a:rPr lang="en-US" sz="3000" dirty="0">
                <a:solidFill>
                  <a:prstClr val="black"/>
                </a:solidFill>
                <a:latin typeface="Arial"/>
                <a:cs typeface="Arial"/>
              </a:rPr>
              <a:t>          </a:t>
            </a:r>
            <a:r>
              <a:rPr lang="en-US" sz="40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LEARNING OUTCOMES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Define environmental health within clinical settings.</a:t>
            </a:r>
          </a:p>
          <a:p>
            <a:pPr algn="just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Describing the role of an EHP in public health facilities</a:t>
            </a:r>
          </a:p>
          <a:p>
            <a:pPr algn="just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Core preventative interventions of EHPs in public health facilities</a:t>
            </a:r>
          </a:p>
          <a:p>
            <a:pPr marL="0" lvl="0" indent="0" algn="just">
              <a:buNone/>
            </a:pPr>
            <a:endParaRPr lang="en-US" sz="30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F82E0-F617-466A-8989-E6F91EEE8384}" type="slidenum">
              <a:rPr lang="en-US" altLang="en-US" sz="1600" smtClean="0">
                <a:solidFill>
                  <a:prstClr val="white"/>
                </a:solidFill>
              </a:rPr>
              <a:pPr/>
              <a:t>2</a:t>
            </a:fld>
            <a:endParaRPr lang="en-US" altLang="en-US" sz="1600" dirty="0">
              <a:solidFill>
                <a:prstClr val="white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354040" y="332656"/>
            <a:ext cx="2754464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GROWING KWAZULU-NATAL TOGETHER</a:t>
            </a:r>
          </a:p>
        </p:txBody>
      </p:sp>
      <p:sp>
        <p:nvSpPr>
          <p:cNvPr id="16" name="Slide Number Placeholder 3"/>
          <p:cNvSpPr txBox="1">
            <a:spLocks/>
          </p:cNvSpPr>
          <p:nvPr/>
        </p:nvSpPr>
        <p:spPr>
          <a:xfrm>
            <a:off x="35496" y="6448251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algn="l"/>
            <a:fld id="{5D312F24-582A-4117-A0B2-A1DD2489FD11}" type="slidenum">
              <a:rPr lang="en-US" altLang="en-US" smtClean="0">
                <a:solidFill>
                  <a:schemeClr val="tx1"/>
                </a:solidFill>
                <a:latin typeface="Arial"/>
                <a:cs typeface="Arial"/>
              </a:rPr>
              <a:pPr algn="l"/>
              <a:t>2</a:t>
            </a:fld>
            <a:endParaRPr lang="en-US" altLang="en-US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pic>
        <p:nvPicPr>
          <p:cNvPr id="8" name="Picture 7" descr="Health Logo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260648"/>
            <a:ext cx="2304256" cy="580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228990"/>
      </p:ext>
    </p:extLst>
  </p:cSld>
  <p:clrMapOvr>
    <a:masterClrMapping/>
  </p:clrMapOvr>
  <p:transition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6743" y="1052736"/>
            <a:ext cx="8229600" cy="5760640"/>
          </a:xfrm>
        </p:spPr>
        <p:txBody>
          <a:bodyPr/>
          <a:lstStyle/>
          <a:p>
            <a:pPr marL="0" lvl="0" indent="0" algn="just">
              <a:buNone/>
            </a:pPr>
            <a:r>
              <a:rPr lang="en-US" sz="3000" dirty="0">
                <a:solidFill>
                  <a:prstClr val="black"/>
                </a:solidFill>
                <a:latin typeface="Arial"/>
                <a:cs typeface="Arial"/>
              </a:rPr>
              <a:t>                   </a:t>
            </a:r>
            <a:r>
              <a:rPr lang="en-US" sz="3000" b="1" dirty="0">
                <a:solidFill>
                  <a:prstClr val="black"/>
                </a:solidFill>
                <a:latin typeface="Arial"/>
                <a:cs typeface="Arial"/>
              </a:rPr>
              <a:t>INTRODUCTION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Environmental health is equals to the conditions in the clinical environment that influence patients and staff wellbeing in the clinical setting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Environmental health is a vital component that focuses on preventative practice which aims to eliminate or reduce environmental risks in the clinical setting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It focuses on identifying and mitigating environmental factors that can adversely affect health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Integration of environmental health into clinical setting enhances patients' safety, infection prevention and sustainable healthcare delivery. </a:t>
            </a:r>
          </a:p>
          <a:p>
            <a:pPr marL="0" indent="0"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just"/>
            <a:endParaRPr lang="en-US" sz="30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F82E0-F617-466A-8989-E6F91EEE8384}" type="slidenum">
              <a:rPr lang="en-US" altLang="en-US" sz="1600" smtClean="0">
                <a:solidFill>
                  <a:prstClr val="white"/>
                </a:solidFill>
              </a:rPr>
              <a:pPr/>
              <a:t>3</a:t>
            </a:fld>
            <a:endParaRPr lang="en-US" altLang="en-US" sz="1600" dirty="0">
              <a:solidFill>
                <a:prstClr val="white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354040" y="332656"/>
            <a:ext cx="2754464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GROWING KWAZULU-NATAL TOGETHER</a:t>
            </a:r>
          </a:p>
        </p:txBody>
      </p:sp>
      <p:sp>
        <p:nvSpPr>
          <p:cNvPr id="16" name="Slide Number Placeholder 3"/>
          <p:cNvSpPr txBox="1">
            <a:spLocks/>
          </p:cNvSpPr>
          <p:nvPr/>
        </p:nvSpPr>
        <p:spPr>
          <a:xfrm>
            <a:off x="35496" y="6448251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algn="l"/>
            <a:fld id="{5D312F24-582A-4117-A0B2-A1DD2489FD11}" type="slidenum">
              <a:rPr lang="en-US" altLang="en-US" smtClean="0">
                <a:solidFill>
                  <a:schemeClr val="tx1"/>
                </a:solidFill>
                <a:latin typeface="Arial"/>
                <a:cs typeface="Arial"/>
              </a:rPr>
              <a:pPr algn="l"/>
              <a:t>3</a:t>
            </a:fld>
            <a:endParaRPr lang="en-US" altLang="en-US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pic>
        <p:nvPicPr>
          <p:cNvPr id="8" name="Picture 7" descr="Health Logo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260648"/>
            <a:ext cx="2304256" cy="580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102585"/>
      </p:ext>
    </p:extLst>
  </p:cSld>
  <p:clrMapOvr>
    <a:masterClrMapping/>
  </p:clrMapOvr>
  <p:transition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6743" y="1052736"/>
            <a:ext cx="8229600" cy="5760640"/>
          </a:xfrm>
        </p:spPr>
        <p:txBody>
          <a:bodyPr/>
          <a:lstStyle/>
          <a:p>
            <a:pPr marL="0" lvl="0" indent="0" algn="just">
              <a:buNone/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THE ROLE OF AN EHP IN CLINICAL PRACTICE</a:t>
            </a:r>
          </a:p>
          <a:p>
            <a:r>
              <a:rPr lang="en-US" sz="2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Ensure  safety and hygiene in a healthcare environment.</a:t>
            </a:r>
          </a:p>
          <a:p>
            <a:r>
              <a:rPr lang="en-US" sz="2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Supports clinical programs in the healthcare facility</a:t>
            </a:r>
          </a:p>
          <a:p>
            <a:r>
              <a:rPr lang="en-US" sz="2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Collaboration with public health(form part of various committees in a healthcare facility)</a:t>
            </a:r>
          </a:p>
          <a:p>
            <a:r>
              <a:rPr lang="en-US" sz="2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Monitor compliance with environmental health regulations and standards</a:t>
            </a:r>
          </a:p>
          <a:p>
            <a:r>
              <a:rPr lang="en-US" sz="2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Conducts EH awareness &amp; trainings</a:t>
            </a:r>
          </a:p>
          <a:p>
            <a:r>
              <a:rPr lang="en-US" sz="2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Conduct audits to monitor compliance</a:t>
            </a:r>
          </a:p>
          <a:p>
            <a:r>
              <a:rPr lang="en-US" sz="2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 Standards operating procedures(SOPs) and guidelines relating to Environmental Health</a:t>
            </a:r>
          </a:p>
          <a:p>
            <a:pPr marL="0" indent="0">
              <a:buNone/>
            </a:pPr>
            <a:endParaRPr lang="en-US" sz="24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F82E0-F617-466A-8989-E6F91EEE8384}" type="slidenum">
              <a:rPr lang="en-US" altLang="en-US" sz="1600" smtClean="0">
                <a:solidFill>
                  <a:prstClr val="white"/>
                </a:solidFill>
              </a:rPr>
              <a:pPr/>
              <a:t>4</a:t>
            </a:fld>
            <a:endParaRPr lang="en-US" altLang="en-US" sz="1600" dirty="0">
              <a:solidFill>
                <a:prstClr val="white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354040" y="332656"/>
            <a:ext cx="2754464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GROWING KWAZULU-NATAL TOGETHER</a:t>
            </a:r>
          </a:p>
        </p:txBody>
      </p:sp>
      <p:sp>
        <p:nvSpPr>
          <p:cNvPr id="16" name="Slide Number Placeholder 3"/>
          <p:cNvSpPr txBox="1">
            <a:spLocks/>
          </p:cNvSpPr>
          <p:nvPr/>
        </p:nvSpPr>
        <p:spPr>
          <a:xfrm>
            <a:off x="35496" y="6448251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algn="l"/>
            <a:fld id="{5D312F24-582A-4117-A0B2-A1DD2489FD11}" type="slidenum">
              <a:rPr lang="en-US" altLang="en-US" smtClean="0">
                <a:solidFill>
                  <a:schemeClr val="tx1"/>
                </a:solidFill>
                <a:latin typeface="Arial"/>
                <a:cs typeface="Arial"/>
              </a:rPr>
              <a:pPr algn="l"/>
              <a:t>4</a:t>
            </a:fld>
            <a:endParaRPr lang="en-US" altLang="en-US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pic>
        <p:nvPicPr>
          <p:cNvPr id="8" name="Picture 7" descr="Health Logo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260648"/>
            <a:ext cx="2304256" cy="580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758893"/>
      </p:ext>
    </p:extLst>
  </p:cSld>
  <p:clrMapOvr>
    <a:masterClrMapping/>
  </p:clrMapOvr>
  <p:transition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6743" y="1052736"/>
            <a:ext cx="8229600" cy="5760640"/>
          </a:xfrm>
        </p:spPr>
        <p:txBody>
          <a:bodyPr/>
          <a:lstStyle/>
          <a:p>
            <a:pPr marL="0" lvl="0" indent="0" algn="just">
              <a:buNone/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ENVIRONMENTAL HEALTH INTERVENTIONS</a:t>
            </a:r>
          </a:p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Waste Management</a:t>
            </a:r>
          </a:p>
          <a:p>
            <a:pPr marL="0" indent="0">
              <a:buNone/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Safe and proper waste segregation,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storage,treatment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  and disposal of   healthcare waste</a:t>
            </a:r>
          </a:p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 - Prevention of disease transmission through </a:t>
            </a:r>
          </a:p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   contaminated waste</a:t>
            </a:r>
          </a:p>
          <a:p>
            <a:pPr marL="0" indent="0"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Water Quality Monitoring</a:t>
            </a: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       - Ensuring potable water supply within healthcare facilities.</a:t>
            </a: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       - Routine testing for microbial and chemical contaminants</a:t>
            </a:r>
          </a:p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Sanitation and hygiene</a:t>
            </a:r>
          </a:p>
          <a:p>
            <a:pPr marL="0" lvl="0" indent="0" algn="just">
              <a:buNone/>
            </a:pPr>
            <a:r>
              <a:rPr lang="en-US" sz="3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-</a:t>
            </a:r>
            <a:r>
              <a:rPr lang="en-US" sz="30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Maintenance of clean  ablution facilities  and </a:t>
            </a:r>
          </a:p>
          <a:p>
            <a:pPr marL="0" lvl="0" indent="0" algn="just">
              <a:buNone/>
            </a:pPr>
            <a:r>
              <a:rPr lang="en-US" sz="2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handwashing stations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F82E0-F617-466A-8989-E6F91EEE8384}" type="slidenum">
              <a:rPr lang="en-US" altLang="en-US" sz="1600" smtClean="0">
                <a:solidFill>
                  <a:prstClr val="white"/>
                </a:solidFill>
              </a:rPr>
              <a:pPr/>
              <a:t>5</a:t>
            </a:fld>
            <a:endParaRPr lang="en-US" altLang="en-US" sz="1600" dirty="0">
              <a:solidFill>
                <a:prstClr val="white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354040" y="332656"/>
            <a:ext cx="2754464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GROWING KWAZULU-NATAL TOGETHER</a:t>
            </a:r>
          </a:p>
        </p:txBody>
      </p:sp>
      <p:sp>
        <p:nvSpPr>
          <p:cNvPr id="16" name="Slide Number Placeholder 3"/>
          <p:cNvSpPr txBox="1">
            <a:spLocks/>
          </p:cNvSpPr>
          <p:nvPr/>
        </p:nvSpPr>
        <p:spPr>
          <a:xfrm>
            <a:off x="35496" y="6448251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algn="l"/>
            <a:fld id="{5D312F24-582A-4117-A0B2-A1DD2489FD11}" type="slidenum">
              <a:rPr lang="en-US" altLang="en-US" smtClean="0">
                <a:solidFill>
                  <a:schemeClr val="tx1"/>
                </a:solidFill>
                <a:latin typeface="Arial"/>
                <a:cs typeface="Arial"/>
              </a:rPr>
              <a:pPr algn="l"/>
              <a:t>5</a:t>
            </a:fld>
            <a:endParaRPr lang="en-US" altLang="en-US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pic>
        <p:nvPicPr>
          <p:cNvPr id="8" name="Picture 7" descr="Health Logo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260648"/>
            <a:ext cx="2304256" cy="580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538739"/>
      </p:ext>
    </p:extLst>
  </p:cSld>
  <p:clrMapOvr>
    <a:masterClrMapping/>
  </p:clrMapOvr>
  <p:transition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550A7-D0FD-2689-2BB1-B4C8097B4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6538"/>
            <a:ext cx="8229600" cy="1143000"/>
          </a:xfrm>
        </p:spPr>
        <p:txBody>
          <a:bodyPr/>
          <a:lstStyle/>
          <a:p>
            <a:r>
              <a:rPr lang="en-US" dirty="0"/>
              <a:t>HEALTHCARE WASTE CATERGORIES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DE4610F-F346-DD90-B38E-E1B4DE116A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968087"/>
            <a:ext cx="8229600" cy="3790188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09EF2A-D5FC-AA32-1030-633387D6C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F258B8-697E-F78D-E8FF-B97466698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12F24-582A-4117-A0B2-A1DD2489FD11}" type="slidenum">
              <a:rPr lang="en-US" altLang="en-US" smtClean="0"/>
              <a:pPr/>
              <a:t>6</a:t>
            </a:fld>
            <a:endParaRPr lang="en-US" alt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4AD643C-7F08-B467-78A1-44D3C924AF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12" y="1131222"/>
            <a:ext cx="8784976" cy="4746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4871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722E3-7100-6F66-D305-48BC88686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HEALTHCARE WASTE COULOUR CODES 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0E2EBB6-2A13-D754-23BD-FDE3B18958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7584" y="1441252"/>
            <a:ext cx="1932599" cy="1694835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2C310E-642B-7FD7-8241-59576BF22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B9855D-24F4-282E-FE54-1B32C3354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12F24-582A-4117-A0B2-A1DD2489FD11}" type="slidenum">
              <a:rPr lang="en-US" altLang="en-US" smtClean="0"/>
              <a:pPr/>
              <a:t>7</a:t>
            </a:fld>
            <a:endParaRPr lang="en-US" alt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290611-8C32-E44E-9AD3-010A46F209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161" y="3662089"/>
            <a:ext cx="2609314" cy="17558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87A5E47-95C8-E10D-A7A8-408A472A66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9418" y="3704562"/>
            <a:ext cx="2091109" cy="218255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D0C9D68-600A-61CE-7914-FEEFA258EA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9800" y="4077072"/>
            <a:ext cx="1755800" cy="194479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55FDAC2-2EFC-F17B-51FB-30DD3AD0F0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69456" y="1461071"/>
            <a:ext cx="4468755" cy="2645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8007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A2878-666D-0A08-164A-9E43DA836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010E405-2959-FD69-7880-5F608F1E6E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598844"/>
            <a:ext cx="8229600" cy="2288149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D8ADA2-8A7C-5288-982C-7FE66EA49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AD6C6D-4749-A58E-07EB-EE0FB3DD8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12F24-582A-4117-A0B2-A1DD2489FD11}" type="slidenum">
              <a:rPr lang="en-US" altLang="en-US" smtClean="0"/>
              <a:pPr/>
              <a:t>8</a:t>
            </a:fld>
            <a:endParaRPr lang="en-US" altLang="en-US" dirty="0"/>
          </a:p>
        </p:txBody>
      </p:sp>
      <p:pic>
        <p:nvPicPr>
          <p:cNvPr id="6" name="Content Placeholder 1">
            <a:extLst>
              <a:ext uri="{FF2B5EF4-FFF2-40B4-BE49-F238E27FC236}">
                <a16:creationId xmlns:a16="http://schemas.microsoft.com/office/drawing/2014/main" id="{61A5A60D-A628-7743-F790-4DC891CD04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79512" y="404664"/>
            <a:ext cx="8229600" cy="9974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400046A-AF61-E7B8-8E09-E2E5DFCCA0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3808" y="3886993"/>
            <a:ext cx="3304318" cy="3968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28653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3A181AA-720F-217F-9CE2-843E6FA41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B10A05-86A3-ACD0-0F36-6FE4FB7381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2724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48BC9F2-CDB0-81C7-6BB8-CE4149784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294A80F-55C2-4A7B-36CA-2BA2F0C61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A617F-46FE-4A8A-8649-A4E46A8175BC}" type="slidenum">
              <a:rPr lang="en-US" altLang="en-US" smtClean="0"/>
              <a:pPr/>
              <a:t>10</a:t>
            </a:fld>
            <a:endParaRPr lang="en-US" alt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824B79-ED01-59AA-6B0C-845603BA14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519" y="475232"/>
            <a:ext cx="8144962" cy="5907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0784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2861CA5-4CCE-E57E-0D08-FB6F3367D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8B36F1-5B50-9B2D-776A-832092D5F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A617F-46FE-4A8A-8649-A4E46A8175BC}" type="slidenum">
              <a:rPr lang="en-US" altLang="en-US" smtClean="0"/>
              <a:pPr/>
              <a:t>11</a:t>
            </a:fld>
            <a:endParaRPr lang="en-US" alt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8842BD-6E60-0D14-626E-22DD747008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878" y="423411"/>
            <a:ext cx="8352244" cy="6011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9968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03CE8D7-E0A0-C3C9-61F5-90FC26706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120C36A-3066-61FD-DFD9-B3809DFFF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A617F-46FE-4A8A-8649-A4E46A8175BC}" type="slidenum">
              <a:rPr lang="en-US" altLang="en-US" smtClean="0"/>
              <a:pPr/>
              <a:t>12</a:t>
            </a:fld>
            <a:endParaRPr lang="en-US" alt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6642C8-9A36-C158-4099-0B727ABC24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843" y="197840"/>
            <a:ext cx="8230313" cy="6462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0563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6743" y="1052736"/>
            <a:ext cx="8229600" cy="5760640"/>
          </a:xfrm>
        </p:spPr>
        <p:txBody>
          <a:bodyPr/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ENVIRONMENTAL HEALTH INTERVENTIONS</a:t>
            </a:r>
          </a:p>
          <a:p>
            <a:r>
              <a:rPr lang="en-US" sz="24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Vector control monitoring</a:t>
            </a:r>
          </a:p>
          <a:p>
            <a:pPr marL="0" indent="0">
              <a:buNone/>
            </a:pPr>
            <a:r>
              <a:rPr lang="en-US" sz="2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Pest control &amp; vector surveillance to prevent the spread of diseases</a:t>
            </a:r>
          </a:p>
          <a:p>
            <a:pPr marL="0" indent="0">
              <a:buNone/>
            </a:pPr>
            <a:endParaRPr lang="en-US" sz="24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4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4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F82E0-F617-466A-8989-E6F91EEE8384}" type="slidenum">
              <a:rPr lang="en-US" altLang="en-US" sz="1600" smtClean="0">
                <a:solidFill>
                  <a:prstClr val="white"/>
                </a:solidFill>
              </a:rPr>
              <a:pPr/>
              <a:t>13</a:t>
            </a:fld>
            <a:endParaRPr lang="en-US" altLang="en-US" sz="1600" dirty="0">
              <a:solidFill>
                <a:prstClr val="white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354040" y="332656"/>
            <a:ext cx="2754464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GROWING KWAZULU-NATAL TOGETHER</a:t>
            </a:r>
          </a:p>
        </p:txBody>
      </p:sp>
      <p:sp>
        <p:nvSpPr>
          <p:cNvPr id="16" name="Slide Number Placeholder 3"/>
          <p:cNvSpPr txBox="1">
            <a:spLocks/>
          </p:cNvSpPr>
          <p:nvPr/>
        </p:nvSpPr>
        <p:spPr>
          <a:xfrm>
            <a:off x="35496" y="6448251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algn="l"/>
            <a:fld id="{5D312F24-582A-4117-A0B2-A1DD2489FD11}" type="slidenum">
              <a:rPr lang="en-US" altLang="en-US" smtClean="0">
                <a:solidFill>
                  <a:schemeClr val="tx1"/>
                </a:solidFill>
                <a:latin typeface="Arial"/>
                <a:cs typeface="Arial"/>
              </a:rPr>
              <a:pPr algn="l"/>
              <a:t>13</a:t>
            </a:fld>
            <a:endParaRPr lang="en-US" altLang="en-US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pic>
        <p:nvPicPr>
          <p:cNvPr id="8" name="Picture 7" descr="Health Logo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260648"/>
            <a:ext cx="2304256" cy="58037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9D32E6C-3CEE-E319-65AB-559ECBA09A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286" y="2852936"/>
            <a:ext cx="4177841" cy="351943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DDE2B8F-8386-672C-A514-28C277B6FD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2398" y="2852936"/>
            <a:ext cx="4177841" cy="3503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474909"/>
      </p:ext>
    </p:extLst>
  </p:cSld>
  <p:clrMapOvr>
    <a:masterClrMapping/>
  </p:clrMapOvr>
  <p:transition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379C6-71EF-7C76-8C72-CFBE2C362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tabLst/>
              <a:defRPr/>
            </a:pPr>
            <a:b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ENVIRONMENTAL HEALTH INTERVENTIONS</a:t>
            </a:r>
            <a:b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2AF0D8-6DF8-6E4B-CF54-6A2CA42473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001419"/>
          </a:xfrm>
        </p:spPr>
        <p:txBody>
          <a:bodyPr/>
          <a:lstStyle/>
          <a:p>
            <a:r>
              <a:rPr lang="en-US" sz="24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Food safety</a:t>
            </a:r>
          </a:p>
          <a:p>
            <a:pPr marL="0" indent="0">
              <a:buNone/>
            </a:pPr>
            <a:r>
              <a:rPr lang="en-US" sz="2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Monitoring hospital kitchens and food service areas to prevent foodborne illnesses</a:t>
            </a:r>
          </a:p>
          <a:p>
            <a:pPr marL="0" indent="0">
              <a:buNone/>
            </a:pPr>
            <a:endParaRPr lang="en-US" sz="24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4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4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32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60ED2A-33FB-2543-9D95-3F5306294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E688F2-4EB3-9CB1-A0B0-5AB838082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12F24-582A-4117-A0B2-A1DD2489FD11}" type="slidenum">
              <a:rPr lang="en-US" altLang="en-US" smtClean="0"/>
              <a:pPr/>
              <a:t>14</a:t>
            </a:fld>
            <a:endParaRPr lang="en-US" alt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525E994-7057-B246-B3C0-8C335D3CCB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2492896"/>
            <a:ext cx="4644448" cy="36332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FA4909F-3DC9-8D3E-8B27-C71AED3B4E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7976" y="2492896"/>
            <a:ext cx="3924504" cy="3633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77767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65862-E799-2668-C3E3-06C61A64C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2A7759-B8FB-5A2D-0B10-39F7E40B61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Environmental health in a healthcare setting is essential for preventing infections, protecting patients and staff and ensuring a safe, clean and supportive healing environment which supports wellbeing of everyone in a healthcare setting.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89E859-1FA1-CB69-BCB1-29F046D22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587329-AF30-A9D3-C140-E43E6B4D6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12F24-582A-4117-A0B2-A1DD2489FD11}" type="slidenum">
              <a:rPr lang="en-US" altLang="en-US" smtClean="0"/>
              <a:pPr/>
              <a:t>15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094423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Background.jp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611560" y="2132856"/>
            <a:ext cx="784887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6000" b="1" dirty="0">
                <a:solidFill>
                  <a:srgbClr val="FFFFFF"/>
                </a:solidFill>
                <a:latin typeface="Arial"/>
                <a:cs typeface="Arial"/>
              </a:rPr>
              <a:t>THANK YOU</a:t>
            </a:r>
            <a:endParaRPr lang="en-ZA" sz="600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pic>
        <p:nvPicPr>
          <p:cNvPr id="4" name="Picture 3" descr="Untitled-20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848" y="3284984"/>
            <a:ext cx="2736304" cy="1737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835237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Verve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1da65c1f-da16-4d54-ac8b-318d7b6f2426">NWTJ5PMEKZCH-973647204-8</_dlc_DocId>
    <_dlc_DocIdUrl xmlns="1da65c1f-da16-4d54-ac8b-318d7b6f2426">
      <Url>http://portal.kznhealth.gov.za/components/corporatecommunication/_layouts/15/DocIdRedir.aspx?ID=NWTJ5PMEKZCH-973647204-8</Url>
      <Description>NWTJ5PMEKZCH-973647204-8</Description>
    </_dlc_DocIdUrl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Version=15.0.0.0, Culture=neutral, PublicKeyToken=71e9bce111e9429c</Assembly>
    <Class>Microsoft.Office.DocumentManagement.Internal.DocIdHandler</Class>
    <Data/>
    <Filter/>
  </Receiver>
</spe:Receiver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388E54F5AB1A940833F465A27E960CB" ma:contentTypeVersion="0" ma:contentTypeDescription="Create a new document." ma:contentTypeScope="" ma:versionID="05b675b92eaf5a420903f15e93c6fb29">
  <xsd:schema xmlns:xsd="http://www.w3.org/2001/XMLSchema" xmlns:xs="http://www.w3.org/2001/XMLSchema" xmlns:p="http://schemas.microsoft.com/office/2006/metadata/properties" xmlns:ns2="1da65c1f-da16-4d54-ac8b-318d7b6f2426" targetNamespace="http://schemas.microsoft.com/office/2006/metadata/properties" ma:root="true" ma:fieldsID="2185375cb1646920e2a1c1caf0629260" ns2:_="">
    <xsd:import namespace="1da65c1f-da16-4d54-ac8b-318d7b6f2426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da65c1f-da16-4d54-ac8b-318d7b6f2426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F0D96D9-6201-43FF-ABBF-FEA18EEFA616}">
  <ds:schemaRefs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1da65c1f-da16-4d54-ac8b-318d7b6f2426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07D8CE52-3560-49AC-B2E7-A2F84068F17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8A89B24-95DC-4ED8-8F47-4E95F1A49CF1}">
  <ds:schemaRefs>
    <ds:schemaRef ds:uri="http://schemas.microsoft.com/sharepoint/events"/>
  </ds:schemaRefs>
</ds:datastoreItem>
</file>

<file path=customXml/itemProps4.xml><?xml version="1.0" encoding="utf-8"?>
<ds:datastoreItem xmlns:ds="http://schemas.openxmlformats.org/officeDocument/2006/customXml" ds:itemID="{97364B99-6E3F-4846-BD0E-E9F37FF0EF4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da65c1f-da16-4d54-ac8b-318d7b6f242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c0733d39-5f5d-4b00-8873-7222ca570b35}" enabled="1" method="Standard" siteId="{19cc9403-65ff-48dc-b17a-7ad0f076a94c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40371</TotalTime>
  <Words>379</Words>
  <Application>Microsoft Office PowerPoint</Application>
  <PresentationFormat>On-screen Show (4:3)</PresentationFormat>
  <Paragraphs>82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Arial Black</vt:lpstr>
      <vt:lpstr>Calibri</vt:lpstr>
      <vt:lpstr>Verdana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HEALTHCARE WASTE CATERGORIES</vt:lpstr>
      <vt:lpstr>HEALTHCARE WASTE COULOUR CODES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ENVIRONMENTAL HEALTH INTERVENTIONS 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Date : 18th March 2020</dc:title>
  <dc:creator>User</dc:creator>
  <cp:lastModifiedBy>Bukhosini Anele</cp:lastModifiedBy>
  <cp:revision>1362</cp:revision>
  <cp:lastPrinted>2020-03-17T19:37:08Z</cp:lastPrinted>
  <dcterms:created xsi:type="dcterms:W3CDTF">2011-10-05T05:43:47Z</dcterms:created>
  <dcterms:modified xsi:type="dcterms:W3CDTF">2025-12-22T06:33:04Z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0x0101009388E54F5AB1A940833F465A27E960CB</vt:lpwstr>
  </property>
  <property fmtid="{D5CDD505-2E9C-101B-9397-08002B2CF9AE}" pid="3" name="_dlc_DocIdItemGuid">
    <vt:lpwstr>455025fb-b553-4823-8760-7c9ea6a18d51</vt:lpwstr>
  </property>
</Properties>
</file>