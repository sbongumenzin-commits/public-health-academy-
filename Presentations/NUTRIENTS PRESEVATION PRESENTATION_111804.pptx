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3615" r:id="rId5"/>
    <p:sldId id="3929" r:id="rId6"/>
    <p:sldId id="3934" r:id="rId7"/>
    <p:sldId id="3935" r:id="rId8"/>
    <p:sldId id="3936" r:id="rId9"/>
    <p:sldId id="3937" r:id="rId10"/>
    <p:sldId id="3938" r:id="rId11"/>
    <p:sldId id="3939" r:id="rId12"/>
    <p:sldId id="381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5AEEAB0-035C-4942-8C2D-7B0C9EE68A9D}">
          <p14:sldIdLst>
            <p14:sldId id="3615"/>
          </p14:sldIdLst>
        </p14:section>
        <p14:section name="Untitled Section" id="{55C1797D-6037-4D1E-9763-B1845EACF46B}">
          <p14:sldIdLst>
            <p14:sldId id="3929"/>
            <p14:sldId id="3934"/>
            <p14:sldId id="3935"/>
            <p14:sldId id="3936"/>
            <p14:sldId id="3937"/>
            <p14:sldId id="3938"/>
            <p14:sldId id="3939"/>
            <p14:sldId id="38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matlou Rapholo" initials="MR" lastIdx="1" clrIdx="0">
    <p:extLst>
      <p:ext uri="{19B8F6BF-5375-455C-9EA6-DF929625EA0E}">
        <p15:presenceInfo xmlns:p15="http://schemas.microsoft.com/office/powerpoint/2012/main" userId="523efae9330bff3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17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4" autoAdjust="0"/>
    <p:restoredTop sz="93979" autoAdjust="0"/>
  </p:normalViewPr>
  <p:slideViewPr>
    <p:cSldViewPr snapToGrid="0">
      <p:cViewPr varScale="1">
        <p:scale>
          <a:sx n="65" d="100"/>
          <a:sy n="65" d="100"/>
        </p:scale>
        <p:origin x="85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58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EC9A49-2B82-443E-8ED9-C0BE13CB591A}" type="datetimeFigureOut">
              <a:rPr lang="en-ZA" smtClean="0"/>
              <a:t>2025/10/23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E3097E-6423-44F5-A3BE-EF13C67A770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58977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E3097E-6423-44F5-A3BE-EF13C67A770E}" type="slidenum">
              <a:rPr lang="en-ZA" smtClean="0"/>
              <a:t>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3108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37C1-0809-7247-99D9-8195A8917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530" y="1103726"/>
            <a:ext cx="10585327" cy="398505"/>
          </a:xfrm>
        </p:spPr>
        <p:txBody>
          <a:bodyPr>
            <a:noAutofit/>
          </a:bodyPr>
          <a:lstStyle>
            <a:lvl1pPr algn="l">
              <a:defRPr sz="2100" b="1" i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CA25E-CF18-C245-9BB5-8E40FBF338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4531" y="1616532"/>
            <a:ext cx="10585327" cy="4560435"/>
          </a:xfrm>
        </p:spPr>
        <p:txBody>
          <a:bodyPr>
            <a:normAutofit/>
          </a:bodyPr>
          <a:lstStyle>
            <a:lvl1pPr marL="257175" indent="-257175" algn="l"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16227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637C1-0809-7247-99D9-8195A8917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530" y="1087396"/>
            <a:ext cx="10585327" cy="414834"/>
          </a:xfrm>
        </p:spPr>
        <p:txBody>
          <a:bodyPr>
            <a:noAutofit/>
          </a:bodyPr>
          <a:lstStyle>
            <a:lvl1pPr algn="l">
              <a:defRPr sz="2100" b="1" i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CA25E-CF18-C245-9BB5-8E40FBF338D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4530" y="1567547"/>
            <a:ext cx="10585327" cy="4838018"/>
          </a:xfrm>
        </p:spPr>
        <p:txBody>
          <a:bodyPr>
            <a:normAutofit/>
          </a:bodyPr>
          <a:lstStyle>
            <a:lvl1pPr marL="257175" indent="-257175" algn="l">
              <a:buFont typeface="Arial" panose="020B0604020202020204" pitchFamily="34" charset="0"/>
              <a:buChar char="•"/>
              <a:defRPr sz="1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8010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22650CF-D129-0944-B1B7-9BD9CBDEA9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4530" y="1649187"/>
            <a:ext cx="10585327" cy="4735285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0F3B1C3-F287-9C46-B95D-4950349E7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530" y="1087396"/>
            <a:ext cx="10585327" cy="414834"/>
          </a:xfrm>
        </p:spPr>
        <p:txBody>
          <a:bodyPr>
            <a:noAutofit/>
          </a:bodyPr>
          <a:lstStyle>
            <a:lvl1pPr algn="l">
              <a:defRPr sz="2100" b="1" i="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2851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2909" y="925152"/>
            <a:ext cx="10684879" cy="3651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8C5821-2A51-A949-9B26-12D68F3C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59B21-1154-AB4C-A3FA-336639B09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718A93-9596-7442-AC10-492599778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70484C11-3960-8246-8732-13FBCACD55E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195362"/>
      </p:ext>
    </p:extLst>
  </p:cSld>
  <p:clrMapOvr>
    <a:masterClrMapping/>
  </p:clrMapOvr>
  <p:transition spd="slow">
    <p:split orient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1342909" y="924793"/>
            <a:ext cx="10684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1342907" y="1724891"/>
            <a:ext cx="5154876" cy="44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1pPr>
            <a:lvl2pPr marL="685800" lvl="1" indent="-171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1342907" y="2174875"/>
            <a:ext cx="5154876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1pPr>
            <a:lvl2pPr marL="685800" lvl="1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500"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200"/>
            </a:lvl4pPr>
            <a:lvl5pPr marL="1714500" lvl="4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200"/>
            </a:lvl5pPr>
            <a:lvl6pPr marL="2057400" lvl="5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705600" y="1724892"/>
            <a:ext cx="5310832" cy="449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342900" lvl="0" indent="-171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1pPr>
            <a:lvl2pPr marL="685800" lvl="1" indent="-1714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500" b="1"/>
            </a:lvl2pPr>
            <a:lvl3pPr marL="1028700" lvl="2" indent="-17145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350" b="1"/>
            </a:lvl3pPr>
            <a:lvl4pPr marL="1371600" lvl="3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4pPr>
            <a:lvl5pPr marL="1714500" lvl="4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5pPr>
            <a:lvl6pPr marL="2057400" lvl="5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6pPr>
            <a:lvl7pPr marL="2400300" lvl="6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7pPr>
            <a:lvl8pPr marL="2743200" lvl="7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8pPr>
            <a:lvl9pPr marL="3086100" lvl="8" indent="-1714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2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705600" y="2174875"/>
            <a:ext cx="5310832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8575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1800"/>
            </a:lvl1pPr>
            <a:lvl2pPr marL="685800" lvl="1" indent="-2667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1500"/>
            </a:lvl2pPr>
            <a:lvl3pPr marL="1028700" lvl="2" indent="-257175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350"/>
            </a:lvl3pPr>
            <a:lvl4pPr marL="1371600" lvl="3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200"/>
            </a:lvl4pPr>
            <a:lvl5pPr marL="1714500" lvl="4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200"/>
            </a:lvl5pPr>
            <a:lvl6pPr marL="2057400" lvl="5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6pPr>
            <a:lvl7pPr marL="2400300" lvl="6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7pPr>
            <a:lvl8pPr marL="2743200" lvl="7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8pPr>
            <a:lvl9pPr marL="3086100" lvl="8" indent="-24765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2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ZA" smtClean="0"/>
              <a:pPr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3146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 without Text">
  <p:cSld name="Chart without 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3"/>
          <p:cNvSpPr>
            <a:spLocks noGrp="1"/>
          </p:cNvSpPr>
          <p:nvPr>
            <p:ph type="chart" idx="2"/>
          </p:nvPr>
        </p:nvSpPr>
        <p:spPr>
          <a:xfrm>
            <a:off x="457222" y="1727299"/>
            <a:ext cx="11328887" cy="4686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75" tIns="60975" rIns="121975" bIns="609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None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1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1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1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1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2211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Page">
  <p:cSld name="Title Pag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-304813" y="-101606"/>
            <a:ext cx="12497337" cy="6960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0110" tIns="30043" rIns="60110" bIns="3004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endParaRPr sz="123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"/>
          <p:cNvSpPr txBox="1"/>
          <p:nvPr/>
        </p:nvSpPr>
        <p:spPr>
          <a:xfrm>
            <a:off x="5486636" y="0"/>
            <a:ext cx="6705888" cy="6858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0110" tIns="30043" rIns="60110" bIns="30043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endParaRPr sz="123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330215" y="3038650"/>
            <a:ext cx="704941" cy="0"/>
          </a:xfrm>
          <a:prstGeom prst="straightConnector1">
            <a:avLst/>
          </a:prstGeom>
          <a:noFill/>
          <a:ln w="38100" cap="flat" cmpd="sng">
            <a:solidFill>
              <a:srgbClr val="832A2A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" name="Google Shape;15;p2"/>
          <p:cNvSpPr/>
          <p:nvPr/>
        </p:nvSpPr>
        <p:spPr>
          <a:xfrm>
            <a:off x="-304813" y="4484948"/>
            <a:ext cx="6089972" cy="2398861"/>
          </a:xfrm>
          <a:prstGeom prst="rect">
            <a:avLst/>
          </a:prstGeom>
          <a:solidFill>
            <a:srgbClr val="3E3C3B"/>
          </a:solidFill>
          <a:ln>
            <a:noFill/>
          </a:ln>
        </p:spPr>
        <p:txBody>
          <a:bodyPr spcFirstLastPara="1" wrap="square" lIns="60110" tIns="30043" rIns="60110" bIns="3004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endParaRPr sz="123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304813" y="-88905"/>
            <a:ext cx="6089972" cy="266847"/>
          </a:xfrm>
          <a:prstGeom prst="rect">
            <a:avLst/>
          </a:prstGeom>
          <a:solidFill>
            <a:srgbClr val="3E3C3B"/>
          </a:solidFill>
          <a:ln>
            <a:noFill/>
          </a:ln>
        </p:spPr>
        <p:txBody>
          <a:bodyPr spcFirstLastPara="1" wrap="square" lIns="60110" tIns="30043" rIns="60110" bIns="3004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Calibri"/>
              <a:buNone/>
            </a:pPr>
            <a:endParaRPr sz="123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7;p2" descr="GCRO-logo_on-black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329" y="5947117"/>
            <a:ext cx="2624251" cy="65572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"/>
          <p:cNvSpPr txBox="1">
            <a:spLocks noGrp="1"/>
          </p:cNvSpPr>
          <p:nvPr>
            <p:ph type="title"/>
          </p:nvPr>
        </p:nvSpPr>
        <p:spPr>
          <a:xfrm>
            <a:off x="245769" y="647739"/>
            <a:ext cx="4654691" cy="1641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00" tIns="60975" rIns="122000" bIns="6097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365"/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body" idx="1"/>
          </p:nvPr>
        </p:nvSpPr>
        <p:spPr>
          <a:xfrm>
            <a:off x="245769" y="2463944"/>
            <a:ext cx="4654691" cy="56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00" tIns="60975" rIns="122000" bIns="60975" anchor="t" anchorCtr="0">
            <a:noAutofit/>
          </a:bodyPr>
          <a:lstStyle>
            <a:lvl1pPr marL="225251" lvl="0" indent="-112625" algn="l" rtl="0">
              <a:lnSpc>
                <a:spcPct val="90000"/>
              </a:lnSpc>
              <a:spcBef>
                <a:spcPts val="690"/>
              </a:spcBef>
              <a:spcAft>
                <a:spcPts val="0"/>
              </a:spcAft>
              <a:buClr>
                <a:srgbClr val="3E3C3B"/>
              </a:buClr>
              <a:buSzPts val="2100"/>
              <a:buNone/>
              <a:defRPr sz="1034">
                <a:solidFill>
                  <a:srgbClr val="3E3C3B"/>
                </a:solidFill>
              </a:defRPr>
            </a:lvl1pPr>
            <a:lvl2pPr marL="450502" lvl="1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700"/>
              <a:buNone/>
              <a:defRPr sz="1331">
                <a:solidFill>
                  <a:srgbClr val="908F8F"/>
                </a:solidFill>
              </a:defRPr>
            </a:lvl2pPr>
            <a:lvl3pPr marL="675753" lvl="2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500"/>
              <a:buNone/>
              <a:defRPr sz="1232">
                <a:solidFill>
                  <a:srgbClr val="908F8F"/>
                </a:solidFill>
              </a:defRPr>
            </a:lvl3pPr>
            <a:lvl4pPr marL="901004" lvl="3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4pPr>
            <a:lvl5pPr marL="1126255" lvl="4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5pPr>
            <a:lvl6pPr marL="1351506" lvl="5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6pPr>
            <a:lvl7pPr marL="1576757" lvl="6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7pPr>
            <a:lvl8pPr marL="1802008" lvl="7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8pPr>
            <a:lvl9pPr marL="2027259" lvl="8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body" idx="2"/>
          </p:nvPr>
        </p:nvSpPr>
        <p:spPr>
          <a:xfrm>
            <a:off x="245769" y="3225988"/>
            <a:ext cx="4654691" cy="5620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00" tIns="60975" rIns="122000" bIns="60975" anchor="t" anchorCtr="0">
            <a:noAutofit/>
          </a:bodyPr>
          <a:lstStyle>
            <a:lvl1pPr marL="225251" lvl="0" indent="-112625" algn="l" rtl="0">
              <a:lnSpc>
                <a:spcPct val="90000"/>
              </a:lnSpc>
              <a:spcBef>
                <a:spcPts val="690"/>
              </a:spcBef>
              <a:spcAft>
                <a:spcPts val="0"/>
              </a:spcAft>
              <a:buClr>
                <a:srgbClr val="3E3C3B"/>
              </a:buClr>
              <a:buSzPts val="2100"/>
              <a:buNone/>
              <a:defRPr sz="1034">
                <a:solidFill>
                  <a:srgbClr val="3E3C3B"/>
                </a:solidFill>
              </a:defRPr>
            </a:lvl1pPr>
            <a:lvl2pPr marL="450502" lvl="1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700"/>
              <a:buNone/>
              <a:defRPr sz="1331">
                <a:solidFill>
                  <a:srgbClr val="908F8F"/>
                </a:solidFill>
              </a:defRPr>
            </a:lvl2pPr>
            <a:lvl3pPr marL="675753" lvl="2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500"/>
              <a:buNone/>
              <a:defRPr sz="1232">
                <a:solidFill>
                  <a:srgbClr val="908F8F"/>
                </a:solidFill>
              </a:defRPr>
            </a:lvl3pPr>
            <a:lvl4pPr marL="901004" lvl="3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4pPr>
            <a:lvl5pPr marL="1126255" lvl="4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5pPr>
            <a:lvl6pPr marL="1351506" lvl="5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6pPr>
            <a:lvl7pPr marL="1576757" lvl="6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7pPr>
            <a:lvl8pPr marL="1802008" lvl="7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8pPr>
            <a:lvl9pPr marL="2027259" lvl="8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2"/>
          <p:cNvSpPr>
            <a:spLocks noGrp="1"/>
          </p:cNvSpPr>
          <p:nvPr>
            <p:ph type="pic" idx="3"/>
          </p:nvPr>
        </p:nvSpPr>
        <p:spPr>
          <a:xfrm>
            <a:off x="5785100" y="-152409"/>
            <a:ext cx="6407365" cy="7035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00" tIns="60975" rIns="122000" bIns="609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690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None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23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23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23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123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body" idx="4"/>
          </p:nvPr>
        </p:nvSpPr>
        <p:spPr>
          <a:xfrm>
            <a:off x="6661436" y="6147153"/>
            <a:ext cx="4654691" cy="330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2000" tIns="60975" rIns="122000" bIns="60975" anchor="t" anchorCtr="0">
            <a:noAutofit/>
          </a:bodyPr>
          <a:lstStyle>
            <a:lvl1pPr marL="225251" lvl="0" indent="-112625" algn="ctr" rtl="0">
              <a:lnSpc>
                <a:spcPct val="90000"/>
              </a:lnSpc>
              <a:spcBef>
                <a:spcPts val="690"/>
              </a:spcBef>
              <a:spcAft>
                <a:spcPts val="0"/>
              </a:spcAft>
              <a:buClr>
                <a:srgbClr val="999C99"/>
              </a:buClr>
              <a:buSzPts val="1400"/>
              <a:buNone/>
              <a:defRPr sz="690">
                <a:solidFill>
                  <a:srgbClr val="999C99"/>
                </a:solidFill>
              </a:defRPr>
            </a:lvl1pPr>
            <a:lvl2pPr marL="450502" lvl="1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700"/>
              <a:buNone/>
              <a:defRPr sz="1331">
                <a:solidFill>
                  <a:srgbClr val="908F8F"/>
                </a:solidFill>
              </a:defRPr>
            </a:lvl2pPr>
            <a:lvl3pPr marL="675753" lvl="2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500"/>
              <a:buNone/>
              <a:defRPr sz="1232">
                <a:solidFill>
                  <a:srgbClr val="908F8F"/>
                </a:solidFill>
              </a:defRPr>
            </a:lvl3pPr>
            <a:lvl4pPr marL="901004" lvl="3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4pPr>
            <a:lvl5pPr marL="1126255" lvl="4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5pPr>
            <a:lvl6pPr marL="1351506" lvl="5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6pPr>
            <a:lvl7pPr marL="1576757" lvl="6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7pPr>
            <a:lvl8pPr marL="1802008" lvl="7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8pPr>
            <a:lvl9pPr marL="2027259" lvl="8" indent="-11262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908F8F"/>
              </a:buClr>
              <a:buSzPts val="2100"/>
              <a:buNone/>
              <a:defRPr sz="1034">
                <a:solidFill>
                  <a:srgbClr val="908F8F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7830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rt/image and text">
  <p:cSld name="Chart/image and tex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>
            <a:spLocks noGrp="1"/>
          </p:cNvSpPr>
          <p:nvPr>
            <p:ph type="subTitle" idx="1"/>
          </p:nvPr>
        </p:nvSpPr>
        <p:spPr>
          <a:xfrm>
            <a:off x="6175163" y="3430148"/>
            <a:ext cx="5011515" cy="191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75" tIns="60975" rIns="121975" bIns="6097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3E3C3B"/>
              </a:buClr>
              <a:buSzPts val="2100"/>
              <a:buNone/>
              <a:defRPr sz="1034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ctr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700"/>
              <a:buNone/>
              <a:defRPr sz="1331"/>
            </a:lvl2pPr>
            <a:lvl3pPr lvl="2" algn="ctr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None/>
              <a:defRPr sz="1183"/>
            </a:lvl3pPr>
            <a:lvl4pPr lvl="3" algn="ctr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None/>
              <a:defRPr sz="1034"/>
            </a:lvl4pPr>
            <a:lvl5pPr lvl="4" algn="ctr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None/>
              <a:defRPr sz="1034"/>
            </a:lvl5pPr>
            <a:lvl6pPr lvl="5" algn="ctr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034"/>
            </a:lvl6pPr>
            <a:lvl7pPr lvl="6" algn="ctr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034"/>
            </a:lvl7pPr>
            <a:lvl8pPr lvl="7" algn="ctr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034"/>
            </a:lvl8pPr>
            <a:lvl9pPr lvl="8" algn="ctr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1034"/>
            </a:lvl9pPr>
          </a:lstStyle>
          <a:p>
            <a:endParaRPr/>
          </a:p>
        </p:txBody>
      </p:sp>
      <p:sp>
        <p:nvSpPr>
          <p:cNvPr id="187" name="Google Shape;187;p28"/>
          <p:cNvSpPr txBox="1">
            <a:spLocks noGrp="1"/>
          </p:cNvSpPr>
          <p:nvPr>
            <p:ph type="body" idx="2"/>
          </p:nvPr>
        </p:nvSpPr>
        <p:spPr>
          <a:xfrm>
            <a:off x="520723" y="5097755"/>
            <a:ext cx="5029416" cy="26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75" tIns="60975" rIns="121975" bIns="60975" anchor="t" anchorCtr="0">
            <a:noAutofit/>
          </a:bodyPr>
          <a:lstStyle>
            <a:lvl1pPr marL="225251" lvl="0" indent="-112625" algn="ctr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999C99"/>
              </a:buClr>
              <a:buSzPts val="1500"/>
              <a:buNone/>
              <a:defRPr sz="739">
                <a:solidFill>
                  <a:srgbClr val="999C99"/>
                </a:solidFill>
              </a:defRPr>
            </a:lvl1pPr>
            <a:lvl2pPr marL="450502" lvl="1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2pPr>
            <a:lvl3pPr marL="675753" lvl="2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3pPr>
            <a:lvl4pPr marL="901004" lvl="3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4pPr>
            <a:lvl5pPr marL="1126255" lvl="4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5pPr>
            <a:lvl6pPr marL="1351506" lvl="5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1576757" lvl="6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1802008" lvl="7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027259" lvl="8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28"/>
          <p:cNvSpPr>
            <a:spLocks noGrp="1"/>
          </p:cNvSpPr>
          <p:nvPr>
            <p:ph type="pic" idx="3"/>
          </p:nvPr>
        </p:nvSpPr>
        <p:spPr>
          <a:xfrm>
            <a:off x="921203" y="1970203"/>
            <a:ext cx="4141104" cy="305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75" tIns="60975" rIns="121975" bIns="609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None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R="0" lvl="1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marR="0" lvl="2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marR="0" lvl="3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marR="0" lvl="4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100"/>
              <a:buFont typeface="Arial"/>
              <a:buChar char="•"/>
              <a:defRPr sz="1034" b="0" i="0" u="none" strike="noStrike" cap="none">
                <a:solidFill>
                  <a:srgbClr val="3E3C3B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marR="0" lvl="5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1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1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1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118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9" name="Google Shape;189;p28"/>
          <p:cNvSpPr txBox="1">
            <a:spLocks noGrp="1"/>
          </p:cNvSpPr>
          <p:nvPr>
            <p:ph type="body" idx="4"/>
          </p:nvPr>
        </p:nvSpPr>
        <p:spPr>
          <a:xfrm>
            <a:off x="264980" y="813657"/>
            <a:ext cx="8598149" cy="46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75" tIns="60975" rIns="121975" bIns="60975" anchor="t" anchorCtr="0">
            <a:noAutofit/>
          </a:bodyPr>
          <a:lstStyle>
            <a:lvl1pPr marL="225251" lvl="0" indent="-112625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1034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marL="450502" lvl="1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2pPr>
            <a:lvl3pPr marL="675753" lvl="2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3pPr>
            <a:lvl4pPr marL="901004" lvl="3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4pPr>
            <a:lvl5pPr marL="1126255" lvl="4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5pPr>
            <a:lvl6pPr marL="1351506" lvl="5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1576757" lvl="6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1802008" lvl="7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027259" lvl="8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90" name="Google Shape;190;p28"/>
          <p:cNvSpPr txBox="1">
            <a:spLocks noGrp="1"/>
          </p:cNvSpPr>
          <p:nvPr>
            <p:ph type="body" idx="5"/>
          </p:nvPr>
        </p:nvSpPr>
        <p:spPr>
          <a:xfrm>
            <a:off x="255988" y="319789"/>
            <a:ext cx="8615808" cy="485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75" tIns="60975" rIns="121975" bIns="60975" anchor="b" anchorCtr="0">
            <a:noAutofit/>
          </a:bodyPr>
          <a:lstStyle>
            <a:lvl1pPr marL="225251" lvl="0" indent="-112625" algn="l" rtl="0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 sz="1823" b="1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450502" lvl="1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2pPr>
            <a:lvl3pPr marL="675753" lvl="2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3pPr>
            <a:lvl4pPr marL="901004" lvl="3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4pPr>
            <a:lvl5pPr marL="1126255" lvl="4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rgbClr val="3E3C3B"/>
              </a:buClr>
              <a:buSzPts val="2400"/>
              <a:buChar char="•"/>
              <a:defRPr/>
            </a:lvl5pPr>
            <a:lvl6pPr marL="1351506" lvl="5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1576757" lvl="6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1802008" lvl="7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2027259" lvl="8" indent="-187709" algn="l" rtl="0">
              <a:lnSpc>
                <a:spcPct val="90000"/>
              </a:lnSpc>
              <a:spcBef>
                <a:spcPts val="345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4091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: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hape 10"/>
          <p:cNvCxnSpPr/>
          <p:nvPr/>
        </p:nvCxnSpPr>
        <p:spPr>
          <a:xfrm rot="5400000" flipH="1" flipV="1">
            <a:off x="5918200" y="-4800600"/>
            <a:ext cx="152400" cy="10972800"/>
          </a:xfrm>
          <a:prstGeom prst="bentConnector2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PwCFirm"/>
          <p:cNvSpPr txBox="1">
            <a:spLocks noChangeArrowheads="1"/>
          </p:cNvSpPr>
          <p:nvPr userDrawn="1"/>
        </p:nvSpPr>
        <p:spPr bwMode="auto">
          <a:xfrm>
            <a:off x="711200" y="6477000"/>
            <a:ext cx="34544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defTabSz="457200" eaLnBrk="1" hangingPunct="1">
              <a:defRPr/>
            </a:pPr>
            <a:r>
              <a:rPr lang="en-ZA" altLang="en-US" sz="1000" dirty="0">
                <a:solidFill>
                  <a:prstClr val="white"/>
                </a:solidFill>
                <a:latin typeface="Arial" charset="0"/>
                <a:cs typeface="Arial" charset="0"/>
              </a:rPr>
              <a:t>PwC</a:t>
            </a:r>
          </a:p>
        </p:txBody>
      </p:sp>
      <p:sp>
        <p:nvSpPr>
          <p:cNvPr id="57" name="Title 1"/>
          <p:cNvSpPr>
            <a:spLocks noGrp="1"/>
          </p:cNvSpPr>
          <p:nvPr>
            <p:ph type="ctrTitle"/>
          </p:nvPr>
        </p:nvSpPr>
        <p:spPr bwMode="black">
          <a:xfrm>
            <a:off x="711200" y="685800"/>
            <a:ext cx="10769600" cy="1066800"/>
          </a:xfr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 sz="3200" baseline="0">
                <a:solidFill>
                  <a:schemeClr val="bg1"/>
                </a:solidFill>
              </a:defRPr>
            </a:lvl1pPr>
          </a:lstStyle>
          <a:p>
            <a:r>
              <a:rPr lang="en-ZA" noProof="0"/>
              <a:t>Click to edit Master title style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/>
          </p:nvPr>
        </p:nvSpPr>
        <p:spPr bwMode="black">
          <a:xfrm>
            <a:off x="711200" y="1905000"/>
            <a:ext cx="10769600" cy="1371600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buNone/>
              <a:defRPr sz="3200" baseline="0">
                <a:solidFill>
                  <a:schemeClr val="bg1"/>
                </a:solidFill>
                <a:latin typeface="+mj-lt"/>
              </a:defRPr>
            </a:lvl1pPr>
            <a:lvl2pPr marL="0" indent="0" algn="l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457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914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3716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5pPr>
            <a:lvl6pPr marL="18288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6pPr>
            <a:lvl7pPr marL="22860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7pPr>
            <a:lvl8pPr marL="27432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8pPr>
            <a:lvl9pPr marL="3200400" indent="0" algn="l">
              <a:buNone/>
              <a:defRPr sz="1800">
                <a:solidFill>
                  <a:schemeClr val="bg1"/>
                </a:solidFill>
                <a:latin typeface="+mj-lt"/>
              </a:defRPr>
            </a:lvl9pPr>
          </a:lstStyle>
          <a:p>
            <a:r>
              <a:rPr lang="en-ZA" noProof="0"/>
              <a:t>Click to edit Master subtitle style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711200" y="6324600"/>
            <a:ext cx="7010400" cy="152400"/>
          </a:xfrm>
          <a:prstGeom prst="rect">
            <a:avLst/>
          </a:prstGeom>
        </p:spPr>
        <p:txBody>
          <a:bodyPr vert="horz" lIns="0" tIns="0" rIns="0" bIns="0" anchor="b" anchorCtr="0">
            <a:noAutofit/>
          </a:bodyPr>
          <a:lstStyle>
            <a:lvl1pPr algn="l" defTabSz="457200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ZA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9448801" y="6477000"/>
            <a:ext cx="2036233" cy="152400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algn="r" defTabSz="457200" eaLnBrk="1" hangingPunct="1">
              <a:defRPr sz="1000">
                <a:solidFill>
                  <a:srgbClr val="FFFFFF"/>
                </a:solidFill>
                <a:cs typeface="Arial" pitchFamily="34" charset="0"/>
              </a:defRPr>
            </a:lvl1pPr>
          </a:lstStyle>
          <a:p>
            <a:fld id="{AC9A161F-371A-428A-A4D5-9638753CD069}" type="slidenum">
              <a:rPr lang="en-ZA" altLang="en-US"/>
              <a:pPr/>
              <a:t>‹#›</a:t>
            </a:fld>
            <a:endParaRPr lang="en-ZA" alt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2"/>
          </p:nvPr>
        </p:nvSpPr>
        <p:spPr>
          <a:xfrm>
            <a:off x="9448800" y="6324600"/>
            <a:ext cx="2032000" cy="1524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r" defTabSz="457200" eaLnBrk="1" fontAlgn="auto" hangingPunct="1">
              <a:spcBef>
                <a:spcPts val="0"/>
              </a:spcBef>
              <a:spcAft>
                <a:spcPts val="0"/>
              </a:spcAft>
              <a:defRPr sz="1000">
                <a:solidFill>
                  <a:prstClr val="white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99391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68D9F-41F6-584F-A60F-4D2955A25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365127"/>
            <a:ext cx="10896599" cy="2949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18335-4244-2140-8DCF-93F21CB29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2" y="3461657"/>
            <a:ext cx="10896599" cy="7511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90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3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ctr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2100" b="1" kern="1200">
          <a:solidFill>
            <a:schemeClr val="bg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59B8-ABFC-FC4E-A71E-2D43CB762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9136" y="759758"/>
            <a:ext cx="8735704" cy="1566192"/>
          </a:xfrm>
        </p:spPr>
        <p:txBody>
          <a:bodyPr>
            <a:normAutofit fontScale="90000"/>
          </a:bodyPr>
          <a:lstStyle/>
          <a:p>
            <a:pPr defTabSz="457200">
              <a:lnSpc>
                <a:spcPct val="100000"/>
              </a:lnSpc>
              <a:spcBef>
                <a:spcPct val="20000"/>
              </a:spcBef>
              <a:defRPr/>
            </a:pP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dirty="0">
                <a:latin typeface="Candara" panose="020E0502030303020204" pitchFamily="34" charset="0"/>
              </a:rPr>
              <a:t>GAUTENG DEPARTMENT OF HEALTH </a:t>
            </a:r>
            <a:br>
              <a:rPr lang="en-US" dirty="0">
                <a:latin typeface="Abadi" panose="020B0604020104020204" pitchFamily="34" charset="0"/>
              </a:rPr>
            </a:br>
            <a:br>
              <a:rPr lang="en-US" dirty="0">
                <a:latin typeface="Abadi" panose="020B0604020104020204" pitchFamily="34" charset="0"/>
              </a:rPr>
            </a:br>
            <a:r>
              <a:rPr lang="en-US" dirty="0">
                <a:latin typeface="Candara" panose="020E0502030303020204" pitchFamily="34" charset="0"/>
              </a:rPr>
              <a:t> </a:t>
            </a:r>
            <a:br>
              <a:rPr lang="en-US" dirty="0">
                <a:latin typeface="Candara" panose="020E0502030303020204" pitchFamily="34" charset="0"/>
              </a:rPr>
            </a:br>
            <a:r>
              <a:rPr lang="en-US" dirty="0">
                <a:latin typeface="Candara" panose="020E0502030303020204" pitchFamily="34" charset="0"/>
              </a:rPr>
              <a:t>Nutrient preservation</a:t>
            </a:r>
            <a:br>
              <a:rPr lang="en-US" dirty="0">
                <a:latin typeface="Candara" panose="020E0502030303020204" pitchFamily="34" charset="0"/>
              </a:rPr>
            </a:br>
            <a:r>
              <a:rPr lang="en-GB" dirty="0">
                <a:latin typeface="Candara" panose="020E0502030303020204" pitchFamily="34" charset="0"/>
              </a:rPr>
              <a:t>Mental Health Dietitians</a:t>
            </a:r>
            <a:br>
              <a:rPr lang="en-GB" dirty="0">
                <a:latin typeface="Candara" panose="020E0502030303020204" pitchFamily="34" charset="0"/>
              </a:rPr>
            </a:br>
            <a:r>
              <a:rPr lang="en-GB" dirty="0">
                <a:latin typeface="Candara" panose="020E0502030303020204" pitchFamily="34" charset="0"/>
              </a:rPr>
              <a:t>23 October 2025</a:t>
            </a:r>
            <a:br>
              <a:rPr lang="en-GB" dirty="0">
                <a:latin typeface="Candara" panose="020E0502030303020204" pitchFamily="34" charset="0"/>
              </a:rPr>
            </a:br>
            <a:br>
              <a:rPr lang="en-US" dirty="0">
                <a:latin typeface="Candara" panose="020E0502030303020204" pitchFamily="34" charset="0"/>
              </a:rPr>
            </a:br>
            <a:br>
              <a:rPr lang="en-US" dirty="0">
                <a:latin typeface="Candara" panose="020E0502030303020204" pitchFamily="34" charset="0"/>
              </a:rPr>
            </a:br>
            <a:br>
              <a:rPr lang="en-US" sz="3600" dirty="0">
                <a:solidFill>
                  <a:prstClr val="white"/>
                </a:solidFill>
                <a:latin typeface="Candara" panose="020E0502030303020204" pitchFamily="34" charset="0"/>
                <a:cs typeface="+mn-cs"/>
              </a:rPr>
            </a:br>
            <a:endParaRPr lang="en-US" dirty="0">
              <a:solidFill>
                <a:srgbClr val="FFFF00"/>
              </a:solidFill>
              <a:latin typeface="Candara" panose="020E0502030303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1072FF-4B63-47F3-9905-0A27FC881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>
              <a:defRPr/>
            </a:pPr>
            <a:fld id="{70484C11-3960-8246-8732-13FBCACD55EF}" type="slidenum">
              <a:rPr lang="en-US">
                <a:solidFill>
                  <a:prstClr val="black"/>
                </a:solidFill>
                <a:latin typeface="Arial" panose="020B0604020202020204"/>
              </a:rPr>
              <a:pPr defTabSz="457200">
                <a:defRPr/>
              </a:pPr>
              <a:t>1</a:t>
            </a:fld>
            <a:endParaRPr lang="en-US" dirty="0">
              <a:solidFill>
                <a:prstClr val="black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417336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46534-C148-444F-B024-7A0CD330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4530" y="1152713"/>
            <a:ext cx="9545367" cy="414834"/>
          </a:xfrm>
        </p:spPr>
        <p:txBody>
          <a:bodyPr/>
          <a:lstStyle/>
          <a:p>
            <a:r>
              <a:rPr lang="en-GB" dirty="0"/>
              <a:t>INTRODUCTION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03FB9-EF78-41A7-9374-5154F706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>
                <a:latin typeface="+mj-lt"/>
              </a:rPr>
              <a:t>Food preservation is a crucial process that helps maintaining its nutritional value, flavour and texture.</a:t>
            </a:r>
          </a:p>
          <a:p>
            <a:r>
              <a:rPr lang="en-GB" sz="2800" dirty="0">
                <a:latin typeface="+mj-lt"/>
              </a:rPr>
              <a:t>With various methods available, food preservation is essential for food safety, reducing waste.</a:t>
            </a:r>
          </a:p>
          <a:p>
            <a:r>
              <a:rPr lang="en-GB" sz="2800" dirty="0">
                <a:latin typeface="+mj-lt"/>
              </a:rPr>
              <a:t>Nutrients( Carbohydrates(starch) and sugars, Proteins( Meat and meat products) Fats, vitamins( A,B,C,D,E,K etc) and minerals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7468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05D8E-FC70-A5F0-B820-8430AC65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METHOD OF PRESERVATION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26AC1-B699-3A38-6BDD-4CE5049B3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During buying</a:t>
            </a:r>
          </a:p>
          <a:p>
            <a:r>
              <a:rPr lang="en-GB" sz="2800" dirty="0"/>
              <a:t>Storage(dry storage, refrigeration)exposure to sunlight, air, room temperature and if stored for a long time before they are consumed.</a:t>
            </a:r>
          </a:p>
          <a:p>
            <a:r>
              <a:rPr lang="en-GB" sz="2800" dirty="0"/>
              <a:t>Pre-preparation </a:t>
            </a:r>
            <a:r>
              <a:rPr lang="en-GB" sz="2800" dirty="0" err="1"/>
              <a:t>e.g</a:t>
            </a:r>
            <a:r>
              <a:rPr lang="en-GB" sz="2800" dirty="0"/>
              <a:t> removing skin from vegetables</a:t>
            </a:r>
          </a:p>
          <a:p>
            <a:r>
              <a:rPr lang="en-GB" sz="2800" dirty="0"/>
              <a:t>Cooking( high heat, longer time, boiling and then draining of water)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97060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7EEDA-4B9F-6DC4-F790-B621F7FEB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 PRACTICES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52507-A7BD-1705-8234-B79F1D32E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When preserving food, its essential to minimize nutrient loss and retain the nutritional value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613490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03608-2FEC-F777-F633-CF980DC6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BEST PRACTICE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C36B1-C53A-420A-E1FC-FDFF83EB2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/>
              <a:t>Minimise water usage to avoid overcooking and draining of excess water.</a:t>
            </a:r>
          </a:p>
          <a:p>
            <a:r>
              <a:rPr lang="en-GB" sz="2800" dirty="0"/>
              <a:t>Steam and stir fry food instead of boiling food</a:t>
            </a:r>
          </a:p>
          <a:p>
            <a:r>
              <a:rPr lang="en-GB" sz="2800" dirty="0"/>
              <a:t>Short cooking times</a:t>
            </a:r>
          </a:p>
          <a:p>
            <a:r>
              <a:rPr lang="en-GB" sz="2800" dirty="0"/>
              <a:t>Low heat</a:t>
            </a:r>
          </a:p>
          <a:p>
            <a:r>
              <a:rPr lang="en-GB" sz="2800" dirty="0"/>
              <a:t>Store properly(in airtight containers) use of food warmers especially for those who cook once for both lunch and supper.</a:t>
            </a:r>
          </a:p>
          <a:p>
            <a:r>
              <a:rPr lang="en-GB" sz="2800" dirty="0"/>
              <a:t>Avoid reheating of food</a:t>
            </a:r>
          </a:p>
          <a:p>
            <a:r>
              <a:rPr lang="en-GB" sz="2800" dirty="0"/>
              <a:t>Wash/rinse vegetables before chopping</a:t>
            </a:r>
          </a:p>
          <a:p>
            <a:r>
              <a:rPr lang="en-GB" sz="2800" dirty="0"/>
              <a:t>Keep vegetables and fruits refrigerated but cover them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29253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00A97-57EE-3F4A-0CCA-E56ED4C2A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PRESERVATION OF NUTRIENTS MATTER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3D856-753B-AF51-5624-C1272D424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Maintains nutritional value</a:t>
            </a:r>
          </a:p>
          <a:p>
            <a:r>
              <a:rPr lang="en-GB" sz="2800" dirty="0"/>
              <a:t>Supports Health and wellbeing</a:t>
            </a:r>
          </a:p>
          <a:p>
            <a:r>
              <a:rPr lang="en-GB" sz="2800" dirty="0"/>
              <a:t>Food security </a:t>
            </a:r>
            <a:r>
              <a:rPr lang="en-GB" sz="2800" dirty="0" err="1"/>
              <a:t>eg</a:t>
            </a:r>
            <a:r>
              <a:rPr lang="en-GB" sz="2800" dirty="0"/>
              <a:t> throwing away food because its rotten</a:t>
            </a:r>
          </a:p>
          <a:p>
            <a:r>
              <a:rPr lang="en-GB" sz="2800" dirty="0"/>
              <a:t>Economic Benefits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49937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86E2C-7C8B-B8D1-A91C-F896FEE2B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CONSEQUENCES OF NUTRIENTS LOSS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1CD9E-9A1A-3881-148D-DDE6BFB14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Malnutrition</a:t>
            </a:r>
          </a:p>
          <a:p>
            <a:r>
              <a:rPr lang="en-GB" sz="2800" dirty="0"/>
              <a:t>Increased Disease risk</a:t>
            </a:r>
          </a:p>
          <a:p>
            <a:r>
              <a:rPr lang="en-GB" sz="2800" dirty="0"/>
              <a:t>Food insecurity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590333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19B99-E6C1-EA5E-B2F4-ADEF3C840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786F6-FAC4-EA03-7A0F-FABA3CEE59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Follow recipe standardization preserves nutrients content.</a:t>
            </a:r>
          </a:p>
          <a:p>
            <a:r>
              <a:rPr lang="en-GB" sz="2800" dirty="0"/>
              <a:t> By following these best practices, you can help preserve the nutritional value of food and maintain its flavour and texture.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5362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/>
              <a:t>                         THE END</a:t>
            </a:r>
            <a:endParaRPr lang="en-Z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 altLang="en-US" sz="4000" dirty="0">
              <a:solidFill>
                <a:prstClr val="black"/>
              </a:solidFill>
              <a:latin typeface="Georgia" pitchFamily="18" charset="0"/>
              <a:ea typeface="+mj-ea"/>
              <a:cs typeface="+mj-cs"/>
            </a:endParaRPr>
          </a:p>
          <a:p>
            <a:endParaRPr lang="en-ZA" altLang="en-US" sz="4000" dirty="0">
              <a:solidFill>
                <a:prstClr val="black"/>
              </a:solidFill>
              <a:latin typeface="Georgia" pitchFamily="18" charset="0"/>
              <a:ea typeface="+mj-ea"/>
              <a:cs typeface="+mj-cs"/>
            </a:endParaRPr>
          </a:p>
          <a:p>
            <a:endParaRPr lang="en-ZA" altLang="en-US" sz="4000" dirty="0">
              <a:solidFill>
                <a:prstClr val="black"/>
              </a:solidFill>
              <a:latin typeface="Georgia" pitchFamily="18" charset="0"/>
              <a:ea typeface="+mj-ea"/>
              <a:cs typeface="+mj-cs"/>
            </a:endParaRPr>
          </a:p>
          <a:p>
            <a:pPr marL="0" indent="0">
              <a:buNone/>
            </a:pPr>
            <a:r>
              <a:rPr lang="en-ZA" altLang="en-US" sz="4000" dirty="0">
                <a:solidFill>
                  <a:prstClr val="black"/>
                </a:solidFill>
                <a:latin typeface="Georgia" pitchFamily="18" charset="0"/>
                <a:ea typeface="+mj-ea"/>
                <a:cs typeface="+mj-cs"/>
              </a:rPr>
              <a:t>                 THANK YOU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332216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xmlns:p14="http://schemas.microsoft.com/office/powerpoint/2010/main"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60974715C5A4A892D0E52038CEF72" ma:contentTypeVersion="13" ma:contentTypeDescription="Create a new document." ma:contentTypeScope="" ma:versionID="2e907c4a50dea28589770454b54c2dc2">
  <xsd:schema xmlns:xsd="http://www.w3.org/2001/XMLSchema" xmlns:xs="http://www.w3.org/2001/XMLSchema" xmlns:p="http://schemas.microsoft.com/office/2006/metadata/properties" xmlns:ns3="456cf3bf-75dd-4a1d-a461-3894b71ac5c3" xmlns:ns4="143da635-88f4-4b67-b639-dfe72aded5ba" targetNamespace="http://schemas.microsoft.com/office/2006/metadata/properties" ma:root="true" ma:fieldsID="d30815b94bb594cb0908ef613d1c6b48" ns3:_="" ns4:_="">
    <xsd:import namespace="456cf3bf-75dd-4a1d-a461-3894b71ac5c3"/>
    <xsd:import namespace="143da635-88f4-4b67-b639-dfe72aded5b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LengthInSeconds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56cf3bf-75dd-4a1d-a461-3894b71ac5c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3da635-88f4-4b67-b639-dfe72aded5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C61B17E-37A9-4583-807E-EFA697FB0E0C}">
  <ds:schemaRefs>
    <ds:schemaRef ds:uri="http://purl.org/dc/terms/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dcmitype/"/>
    <ds:schemaRef ds:uri="143da635-88f4-4b67-b639-dfe72aded5ba"/>
    <ds:schemaRef ds:uri="http://schemas.openxmlformats.org/package/2006/metadata/core-properties"/>
    <ds:schemaRef ds:uri="456cf3bf-75dd-4a1d-a461-3894b71ac5c3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FB72723-C98F-4F4A-92A4-F24E6F954B1E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56cf3bf-75dd-4a1d-a461-3894b71ac5c3"/>
    <ds:schemaRef ds:uri="143da635-88f4-4b67-b639-dfe72aded5b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0BE9E1A-85D3-4A0C-B6C4-215763B3AA1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43344</TotalTime>
  <Words>312</Words>
  <Application>Microsoft Office PowerPoint</Application>
  <PresentationFormat>Widescreen</PresentationFormat>
  <Paragraphs>40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Abadi</vt:lpstr>
      <vt:lpstr>Arial</vt:lpstr>
      <vt:lpstr>Calibri</vt:lpstr>
      <vt:lpstr>Candara</vt:lpstr>
      <vt:lpstr>Georgia</vt:lpstr>
      <vt:lpstr>Verdana</vt:lpstr>
      <vt:lpstr>1_Office Theme</vt:lpstr>
      <vt:lpstr>        GAUTENG DEPARTMENT OF HEALTH     Nutrient preservation Mental Health Dietitians 23 October 2025    </vt:lpstr>
      <vt:lpstr>INTRODUCTION</vt:lpstr>
      <vt:lpstr>METHOD OF PRESERVATION</vt:lpstr>
      <vt:lpstr>BEST PRACTICES</vt:lpstr>
      <vt:lpstr>BEST PRACTICE</vt:lpstr>
      <vt:lpstr>WHY PRESERVATION OF NUTRIENTS MATTER</vt:lpstr>
      <vt:lpstr>CONSEQUENCES OF NUTRIENTS LOSS</vt:lpstr>
      <vt:lpstr>CONCLUSION</vt:lpstr>
      <vt:lpstr>                         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GAUTENG DEPARTMENT OF HEALTH    MIDTERM REVIEW TEMPLATE  NAME OF BRANCH: 21ST OCTOBER 2020</dc:title>
  <dc:creator>Adelekan, Tsholofelo (gphealth)</dc:creator>
  <cp:lastModifiedBy>Mmatlou Rapholo</cp:lastModifiedBy>
  <cp:revision>537</cp:revision>
  <dcterms:created xsi:type="dcterms:W3CDTF">2020-10-15T07:23:18Z</dcterms:created>
  <dcterms:modified xsi:type="dcterms:W3CDTF">2025-10-23T09:15:38Z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3f4edd2-7af4-4307-8db5-c0b4d063705f_Enabled">
    <vt:lpwstr>True</vt:lpwstr>
  </property>
  <property fmtid="{D5CDD505-2E9C-101B-9397-08002B2CF9AE}" pid="3" name="MSIP_Label_33f4edd2-7af4-4307-8db5-c0b4d063705f_SiteId">
    <vt:lpwstr>003f7489-c006-4532-90f3-d1feadc0d1af</vt:lpwstr>
  </property>
  <property fmtid="{D5CDD505-2E9C-101B-9397-08002B2CF9AE}" pid="4" name="MSIP_Label_33f4edd2-7af4-4307-8db5-c0b4d063705f_Owner">
    <vt:lpwstr>Nomsa.Mmope@gauteng.gov.za</vt:lpwstr>
  </property>
  <property fmtid="{D5CDD505-2E9C-101B-9397-08002B2CF9AE}" pid="5" name="MSIP_Label_33f4edd2-7af4-4307-8db5-c0b4d063705f_SetDate">
    <vt:lpwstr>2020-10-19T17:22:25.8691359Z</vt:lpwstr>
  </property>
  <property fmtid="{D5CDD505-2E9C-101B-9397-08002B2CF9AE}" pid="6" name="MSIP_Label_33f4edd2-7af4-4307-8db5-c0b4d063705f_Name">
    <vt:lpwstr>Public</vt:lpwstr>
  </property>
  <property fmtid="{D5CDD505-2E9C-101B-9397-08002B2CF9AE}" pid="7" name="MSIP_Label_33f4edd2-7af4-4307-8db5-c0b4d063705f_Application">
    <vt:lpwstr>Microsoft Azure Information Protection</vt:lpwstr>
  </property>
  <property fmtid="{D5CDD505-2E9C-101B-9397-08002B2CF9AE}" pid="8" name="MSIP_Label_33f4edd2-7af4-4307-8db5-c0b4d063705f_ActionId">
    <vt:lpwstr>5cbaca4b-fcb6-406a-a3a4-90c418cce1b2</vt:lpwstr>
  </property>
  <property fmtid="{D5CDD505-2E9C-101B-9397-08002B2CF9AE}" pid="9" name="MSIP_Label_33f4edd2-7af4-4307-8db5-c0b4d063705f_Extended_MSFT_Method">
    <vt:lpwstr>Manual</vt:lpwstr>
  </property>
  <property fmtid="{D5CDD505-2E9C-101B-9397-08002B2CF9AE}" pid="10" name="Sensitivity">
    <vt:lpwstr>Public</vt:lpwstr>
  </property>
  <property fmtid="{D5CDD505-2E9C-101B-9397-08002B2CF9AE}" pid="11" name="ContentTypeId">
    <vt:lpwstr>0x01010010460974715C5A4A892D0E52038CEF72</vt:lpwstr>
  </property>
</Properties>
</file>