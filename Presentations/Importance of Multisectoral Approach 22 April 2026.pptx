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1"/>
  </p:notesMasterIdLst>
  <p:handoutMasterIdLst>
    <p:handoutMasterId r:id="rId32"/>
  </p:handoutMasterIdLst>
  <p:sldIdLst>
    <p:sldId id="256" r:id="rId2"/>
    <p:sldId id="257" r:id="rId3"/>
    <p:sldId id="258" r:id="rId4"/>
    <p:sldId id="259" r:id="rId5"/>
    <p:sldId id="281" r:id="rId6"/>
    <p:sldId id="261" r:id="rId7"/>
    <p:sldId id="280" r:id="rId8"/>
    <p:sldId id="264" r:id="rId9"/>
    <p:sldId id="263" r:id="rId10"/>
    <p:sldId id="265" r:id="rId11"/>
    <p:sldId id="266" r:id="rId12"/>
    <p:sldId id="267" r:id="rId13"/>
    <p:sldId id="268" r:id="rId14"/>
    <p:sldId id="270" r:id="rId15"/>
    <p:sldId id="269" r:id="rId16"/>
    <p:sldId id="271" r:id="rId17"/>
    <p:sldId id="272" r:id="rId18"/>
    <p:sldId id="273" r:id="rId19"/>
    <p:sldId id="274" r:id="rId20"/>
    <p:sldId id="275" r:id="rId21"/>
    <p:sldId id="276" r:id="rId22"/>
    <p:sldId id="278" r:id="rId23"/>
    <p:sldId id="277" r:id="rId24"/>
    <p:sldId id="282" r:id="rId25"/>
    <p:sldId id="284" r:id="rId26"/>
    <p:sldId id="285" r:id="rId27"/>
    <p:sldId id="287" r:id="rId28"/>
    <p:sldId id="286" r:id="rId29"/>
    <p:sldId id="279" r:id="rId30"/>
  </p:sldIdLst>
  <p:sldSz cx="12192000" cy="6858000"/>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6082"/>
    <p:restoredTop sz="86395"/>
  </p:normalViewPr>
  <p:slideViewPr>
    <p:cSldViewPr snapToGrid="0">
      <p:cViewPr varScale="1">
        <p:scale>
          <a:sx n="110" d="100"/>
          <a:sy n="110" d="100"/>
        </p:scale>
        <p:origin x="504" y="168"/>
      </p:cViewPr>
      <p:guideLst/>
    </p:cSldViewPr>
  </p:slideViewPr>
  <p:outlineViewPr>
    <p:cViewPr>
      <p:scale>
        <a:sx n="33" d="100"/>
        <a:sy n="33" d="100"/>
      </p:scale>
      <p:origin x="0" y="-3696"/>
    </p:cViewPr>
  </p:outlineViewPr>
  <p:notesTextViewPr>
    <p:cViewPr>
      <p:scale>
        <a:sx n="1" d="1"/>
        <a:sy n="1" d="1"/>
      </p:scale>
      <p:origin x="0" y="0"/>
    </p:cViewPr>
  </p:notesTextViewPr>
  <p:sorterViewPr>
    <p:cViewPr>
      <p:scale>
        <a:sx n="80" d="100"/>
        <a:sy n="80" d="100"/>
      </p:scale>
      <p:origin x="0" y="0"/>
    </p:cViewPr>
  </p:sorterViewPr>
  <p:notesViewPr>
    <p:cSldViewPr snapToGrid="0">
      <p:cViewPr varScale="1">
        <p:scale>
          <a:sx n="129" d="100"/>
          <a:sy n="129" d="100"/>
        </p:scale>
        <p:origin x="2720" y="20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CB591DD-64FF-4309-ABC6-10C9565B7653}" type="doc">
      <dgm:prSet loTypeId="urn:microsoft.com/office/officeart/2016/7/layout/HorizontalActionList" loCatId="List" qsTypeId="urn:microsoft.com/office/officeart/2005/8/quickstyle/simple4" qsCatId="simple" csTypeId="urn:microsoft.com/office/officeart/2005/8/colors/colorful5" csCatId="colorful" phldr="1"/>
      <dgm:spPr/>
      <dgm:t>
        <a:bodyPr/>
        <a:lstStyle/>
        <a:p>
          <a:endParaRPr lang="en-US"/>
        </a:p>
      </dgm:t>
    </dgm:pt>
    <dgm:pt modelId="{B05228D6-ABDC-413E-AF5B-E3653F8C4CF5}">
      <dgm:prSet/>
      <dgm:spPr/>
      <dgm:t>
        <a:bodyPr/>
        <a:lstStyle/>
        <a:p>
          <a:r>
            <a:rPr lang="en-US"/>
            <a:t>Include</a:t>
          </a:r>
        </a:p>
      </dgm:t>
    </dgm:pt>
    <dgm:pt modelId="{19F895B0-52BF-48B6-AD5D-33D6F32894A6}" type="parTrans" cxnId="{662D52AE-CFBB-4A9E-B685-5709D285FD9F}">
      <dgm:prSet/>
      <dgm:spPr/>
      <dgm:t>
        <a:bodyPr/>
        <a:lstStyle/>
        <a:p>
          <a:endParaRPr lang="en-US"/>
        </a:p>
      </dgm:t>
    </dgm:pt>
    <dgm:pt modelId="{FD2B5D95-A59D-4764-BAE0-5C67E1C7E296}" type="sibTrans" cxnId="{662D52AE-CFBB-4A9E-B685-5709D285FD9F}">
      <dgm:prSet/>
      <dgm:spPr/>
      <dgm:t>
        <a:bodyPr/>
        <a:lstStyle/>
        <a:p>
          <a:endParaRPr lang="en-US"/>
        </a:p>
      </dgm:t>
    </dgm:pt>
    <dgm:pt modelId="{B7C269FF-132A-4290-9474-DFB5501AC6E9}">
      <dgm:prSet/>
      <dgm:spPr/>
      <dgm:t>
        <a:bodyPr/>
        <a:lstStyle/>
        <a:p>
          <a:r>
            <a:rPr lang="en-US"/>
            <a:t>Include mental health screening in forearm competency test.</a:t>
          </a:r>
        </a:p>
      </dgm:t>
    </dgm:pt>
    <dgm:pt modelId="{216F13D0-7CC5-4FEC-82F8-FB777C21AAB3}" type="parTrans" cxnId="{E0112E7C-BCDD-4960-842D-A0B6A6210E93}">
      <dgm:prSet/>
      <dgm:spPr/>
      <dgm:t>
        <a:bodyPr/>
        <a:lstStyle/>
        <a:p>
          <a:endParaRPr lang="en-US"/>
        </a:p>
      </dgm:t>
    </dgm:pt>
    <dgm:pt modelId="{E3D5EEFC-D323-4067-9CBF-5DC0B039828D}" type="sibTrans" cxnId="{E0112E7C-BCDD-4960-842D-A0B6A6210E93}">
      <dgm:prSet/>
      <dgm:spPr/>
      <dgm:t>
        <a:bodyPr/>
        <a:lstStyle/>
        <a:p>
          <a:endParaRPr lang="en-US"/>
        </a:p>
      </dgm:t>
    </dgm:pt>
    <dgm:pt modelId="{A28E0760-DA6C-4949-B343-2FFDDCF9FFF2}">
      <dgm:prSet/>
      <dgm:spPr/>
      <dgm:t>
        <a:bodyPr/>
        <a:lstStyle/>
        <a:p>
          <a:r>
            <a:rPr lang="en-US"/>
            <a:t>Require</a:t>
          </a:r>
        </a:p>
      </dgm:t>
    </dgm:pt>
    <dgm:pt modelId="{FCE1B78B-7FC8-4AB0-92C1-ADCB01054E00}" type="parTrans" cxnId="{75CBF956-CC91-404E-B5C6-8FD1AF0D377C}">
      <dgm:prSet/>
      <dgm:spPr/>
      <dgm:t>
        <a:bodyPr/>
        <a:lstStyle/>
        <a:p>
          <a:endParaRPr lang="en-US"/>
        </a:p>
      </dgm:t>
    </dgm:pt>
    <dgm:pt modelId="{B50B2DA5-98D7-4E13-AE78-80966E3CCC08}" type="sibTrans" cxnId="{75CBF956-CC91-404E-B5C6-8FD1AF0D377C}">
      <dgm:prSet/>
      <dgm:spPr/>
      <dgm:t>
        <a:bodyPr/>
        <a:lstStyle/>
        <a:p>
          <a:endParaRPr lang="en-US"/>
        </a:p>
      </dgm:t>
    </dgm:pt>
    <dgm:pt modelId="{D6D353E3-401E-49A6-A60E-98D0872AE471}">
      <dgm:prSet/>
      <dgm:spPr/>
      <dgm:t>
        <a:bodyPr/>
        <a:lstStyle/>
        <a:p>
          <a:r>
            <a:rPr lang="en-US"/>
            <a:t>Require periodic mental health re-evaluation when licences are renewed.</a:t>
          </a:r>
        </a:p>
      </dgm:t>
    </dgm:pt>
    <dgm:pt modelId="{375F4B67-2556-4416-B1F7-CB3F975B25CE}" type="parTrans" cxnId="{60DDF74E-AC51-42E8-B239-694C2C24D773}">
      <dgm:prSet/>
      <dgm:spPr/>
      <dgm:t>
        <a:bodyPr/>
        <a:lstStyle/>
        <a:p>
          <a:endParaRPr lang="en-US"/>
        </a:p>
      </dgm:t>
    </dgm:pt>
    <dgm:pt modelId="{455E1AEA-9A56-4E05-A7AA-2D446B054508}" type="sibTrans" cxnId="{60DDF74E-AC51-42E8-B239-694C2C24D773}">
      <dgm:prSet/>
      <dgm:spPr/>
      <dgm:t>
        <a:bodyPr/>
        <a:lstStyle/>
        <a:p>
          <a:endParaRPr lang="en-US"/>
        </a:p>
      </dgm:t>
    </dgm:pt>
    <dgm:pt modelId="{917F42E4-B5E9-43ED-88F6-F268C3BB6B26}">
      <dgm:prSet/>
      <dgm:spPr/>
      <dgm:t>
        <a:bodyPr/>
        <a:lstStyle/>
        <a:p>
          <a:r>
            <a:rPr lang="en-US"/>
            <a:t>Restrict</a:t>
          </a:r>
        </a:p>
      </dgm:t>
    </dgm:pt>
    <dgm:pt modelId="{330CBBA9-2631-4324-A3E3-64A8E394B391}" type="parTrans" cxnId="{DAAF4D66-DF2A-4AD9-A82A-65D2AAA9BABB}">
      <dgm:prSet/>
      <dgm:spPr/>
      <dgm:t>
        <a:bodyPr/>
        <a:lstStyle/>
        <a:p>
          <a:endParaRPr lang="en-US"/>
        </a:p>
      </dgm:t>
    </dgm:pt>
    <dgm:pt modelId="{66B7F2E4-505A-484A-9FF9-06C506380C0D}" type="sibTrans" cxnId="{DAAF4D66-DF2A-4AD9-A82A-65D2AAA9BABB}">
      <dgm:prSet/>
      <dgm:spPr/>
      <dgm:t>
        <a:bodyPr/>
        <a:lstStyle/>
        <a:p>
          <a:endParaRPr lang="en-US"/>
        </a:p>
      </dgm:t>
    </dgm:pt>
    <dgm:pt modelId="{DA587528-8579-44E1-95D1-6B2080B9658A}">
      <dgm:prSet/>
      <dgm:spPr/>
      <dgm:t>
        <a:bodyPr/>
        <a:lstStyle/>
        <a:p>
          <a:r>
            <a:rPr lang="en-US"/>
            <a:t>Restrict access to firearms during:</a:t>
          </a:r>
        </a:p>
      </dgm:t>
    </dgm:pt>
    <dgm:pt modelId="{4B5E5B26-283D-4E96-906D-54879522AB31}" type="parTrans" cxnId="{34776CFE-63FA-4A7B-9F22-C3E9AD0B814D}">
      <dgm:prSet/>
      <dgm:spPr/>
      <dgm:t>
        <a:bodyPr/>
        <a:lstStyle/>
        <a:p>
          <a:endParaRPr lang="en-US"/>
        </a:p>
      </dgm:t>
    </dgm:pt>
    <dgm:pt modelId="{34B73DAC-FF39-492B-9F4B-45FC17D0E659}" type="sibTrans" cxnId="{34776CFE-63FA-4A7B-9F22-C3E9AD0B814D}">
      <dgm:prSet/>
      <dgm:spPr/>
      <dgm:t>
        <a:bodyPr/>
        <a:lstStyle/>
        <a:p>
          <a:endParaRPr lang="en-US"/>
        </a:p>
      </dgm:t>
    </dgm:pt>
    <dgm:pt modelId="{759E8B5F-5587-4F94-82DD-1536C52ACE26}">
      <dgm:prSet/>
      <dgm:spPr/>
      <dgm:t>
        <a:bodyPr/>
        <a:lstStyle/>
        <a:p>
          <a:r>
            <a:rPr lang="en-US"/>
            <a:t>acute mental illness, </a:t>
          </a:r>
        </a:p>
      </dgm:t>
    </dgm:pt>
    <dgm:pt modelId="{A925053D-9FB2-4EED-BE71-BD4D9D17267D}" type="parTrans" cxnId="{801CE51B-AA6B-4B82-8521-073FC4936F16}">
      <dgm:prSet/>
      <dgm:spPr/>
      <dgm:t>
        <a:bodyPr/>
        <a:lstStyle/>
        <a:p>
          <a:endParaRPr lang="en-US"/>
        </a:p>
      </dgm:t>
    </dgm:pt>
    <dgm:pt modelId="{707CD70D-BD87-4F85-980F-463FF75E7B66}" type="sibTrans" cxnId="{801CE51B-AA6B-4B82-8521-073FC4936F16}">
      <dgm:prSet/>
      <dgm:spPr/>
      <dgm:t>
        <a:bodyPr/>
        <a:lstStyle/>
        <a:p>
          <a:endParaRPr lang="en-US"/>
        </a:p>
      </dgm:t>
    </dgm:pt>
    <dgm:pt modelId="{24D9C3F6-3544-4262-B984-18D6BC4CB19E}">
      <dgm:prSet/>
      <dgm:spPr/>
      <dgm:t>
        <a:bodyPr/>
        <a:lstStyle/>
        <a:p>
          <a:r>
            <a:rPr lang="en-US"/>
            <a:t>domestic violence incidents and high suicide risk individuals.</a:t>
          </a:r>
        </a:p>
      </dgm:t>
    </dgm:pt>
    <dgm:pt modelId="{02C19A4F-E066-4787-BB1C-77E0DE5939CF}" type="parTrans" cxnId="{26A54729-FB9D-42B0-AB31-694E509CCAB8}">
      <dgm:prSet/>
      <dgm:spPr/>
      <dgm:t>
        <a:bodyPr/>
        <a:lstStyle/>
        <a:p>
          <a:endParaRPr lang="en-US"/>
        </a:p>
      </dgm:t>
    </dgm:pt>
    <dgm:pt modelId="{FDEBEB88-076C-4224-B13F-943B6C3A0098}" type="sibTrans" cxnId="{26A54729-FB9D-42B0-AB31-694E509CCAB8}">
      <dgm:prSet/>
      <dgm:spPr/>
      <dgm:t>
        <a:bodyPr/>
        <a:lstStyle/>
        <a:p>
          <a:endParaRPr lang="en-US"/>
        </a:p>
      </dgm:t>
    </dgm:pt>
    <dgm:pt modelId="{652F6339-701B-41FB-A0E2-F929B9719278}">
      <dgm:prSet/>
      <dgm:spPr/>
      <dgm:t>
        <a:bodyPr/>
        <a:lstStyle/>
        <a:p>
          <a:r>
            <a:rPr lang="en-US"/>
            <a:t>Allow</a:t>
          </a:r>
        </a:p>
      </dgm:t>
    </dgm:pt>
    <dgm:pt modelId="{50DDB7CD-F7DF-45EF-84F6-E26367765AF2}" type="parTrans" cxnId="{40FF584D-0A05-454F-867E-DF9365238049}">
      <dgm:prSet/>
      <dgm:spPr/>
      <dgm:t>
        <a:bodyPr/>
        <a:lstStyle/>
        <a:p>
          <a:endParaRPr lang="en-US"/>
        </a:p>
      </dgm:t>
    </dgm:pt>
    <dgm:pt modelId="{8B0A78FA-2EEE-4A25-91F1-2852728B255D}" type="sibTrans" cxnId="{40FF584D-0A05-454F-867E-DF9365238049}">
      <dgm:prSet/>
      <dgm:spPr/>
      <dgm:t>
        <a:bodyPr/>
        <a:lstStyle/>
        <a:p>
          <a:endParaRPr lang="en-US"/>
        </a:p>
      </dgm:t>
    </dgm:pt>
    <dgm:pt modelId="{FD0B437D-3806-4A54-A229-725FCA141262}">
      <dgm:prSet/>
      <dgm:spPr/>
      <dgm:t>
        <a:bodyPr/>
        <a:lstStyle/>
        <a:p>
          <a:r>
            <a:rPr lang="en-US"/>
            <a:t>Allow families or clinicians to notify authorities if someone becomes acutely unstable</a:t>
          </a:r>
        </a:p>
      </dgm:t>
    </dgm:pt>
    <dgm:pt modelId="{3A24CA5A-BC56-48E2-8270-82C8F39794B1}" type="parTrans" cxnId="{109CF485-EF66-4006-AAEB-50ECB47EE8CB}">
      <dgm:prSet/>
      <dgm:spPr/>
      <dgm:t>
        <a:bodyPr/>
        <a:lstStyle/>
        <a:p>
          <a:endParaRPr lang="en-US"/>
        </a:p>
      </dgm:t>
    </dgm:pt>
    <dgm:pt modelId="{512AD3DF-9AE7-4BB2-9937-1767817DAED1}" type="sibTrans" cxnId="{109CF485-EF66-4006-AAEB-50ECB47EE8CB}">
      <dgm:prSet/>
      <dgm:spPr/>
      <dgm:t>
        <a:bodyPr/>
        <a:lstStyle/>
        <a:p>
          <a:endParaRPr lang="en-US"/>
        </a:p>
      </dgm:t>
    </dgm:pt>
    <dgm:pt modelId="{6D72551F-24B5-4B03-85E8-B4B97FF7B389}">
      <dgm:prSet/>
      <dgm:spPr/>
      <dgm:t>
        <a:bodyPr/>
        <a:lstStyle/>
        <a:p>
          <a:r>
            <a:rPr lang="en-US"/>
            <a:t>Include</a:t>
          </a:r>
        </a:p>
      </dgm:t>
    </dgm:pt>
    <dgm:pt modelId="{E2733C0A-32E9-4371-A094-02444F5BD74F}" type="parTrans" cxnId="{1147CCAC-680A-4D60-949D-42FF574C2EC8}">
      <dgm:prSet/>
      <dgm:spPr/>
      <dgm:t>
        <a:bodyPr/>
        <a:lstStyle/>
        <a:p>
          <a:endParaRPr lang="en-US"/>
        </a:p>
      </dgm:t>
    </dgm:pt>
    <dgm:pt modelId="{C8B92F45-6CEA-46AC-B9B9-74AA28EF6DBD}" type="sibTrans" cxnId="{1147CCAC-680A-4D60-949D-42FF574C2EC8}">
      <dgm:prSet/>
      <dgm:spPr/>
      <dgm:t>
        <a:bodyPr/>
        <a:lstStyle/>
        <a:p>
          <a:endParaRPr lang="en-US"/>
        </a:p>
      </dgm:t>
    </dgm:pt>
    <dgm:pt modelId="{A085C0F8-756E-4BC3-B813-5E8E2A019357}">
      <dgm:prSet/>
      <dgm:spPr/>
      <dgm:t>
        <a:bodyPr/>
        <a:lstStyle/>
        <a:p>
          <a:r>
            <a:rPr lang="en-US"/>
            <a:t>Include modules on:</a:t>
          </a:r>
        </a:p>
      </dgm:t>
    </dgm:pt>
    <dgm:pt modelId="{B7666B5F-40AB-466A-98EA-6B81F0D22EBE}" type="parTrans" cxnId="{E3E719D9-9F97-402A-8CD0-14F75CF1AF16}">
      <dgm:prSet/>
      <dgm:spPr/>
      <dgm:t>
        <a:bodyPr/>
        <a:lstStyle/>
        <a:p>
          <a:endParaRPr lang="en-US"/>
        </a:p>
      </dgm:t>
    </dgm:pt>
    <dgm:pt modelId="{F26D05F7-C948-4E27-A1B5-9A06B73FFDC0}" type="sibTrans" cxnId="{E3E719D9-9F97-402A-8CD0-14F75CF1AF16}">
      <dgm:prSet/>
      <dgm:spPr/>
      <dgm:t>
        <a:bodyPr/>
        <a:lstStyle/>
        <a:p>
          <a:endParaRPr lang="en-US"/>
        </a:p>
      </dgm:t>
    </dgm:pt>
    <dgm:pt modelId="{F4E32670-36B2-437B-92C6-994C5320A023}">
      <dgm:prSet/>
      <dgm:spPr/>
      <dgm:t>
        <a:bodyPr/>
        <a:lstStyle/>
        <a:p>
          <a:r>
            <a:rPr lang="en-US" dirty="0"/>
            <a:t>Anger management, substance use risk and general mental health awareness campaigns.</a:t>
          </a:r>
        </a:p>
      </dgm:t>
    </dgm:pt>
    <dgm:pt modelId="{AE424B30-879F-459E-8322-E8E22A29E5E4}" type="parTrans" cxnId="{53D06D27-EBAC-430F-80DD-47027E46B455}">
      <dgm:prSet/>
      <dgm:spPr/>
      <dgm:t>
        <a:bodyPr/>
        <a:lstStyle/>
        <a:p>
          <a:endParaRPr lang="en-US"/>
        </a:p>
      </dgm:t>
    </dgm:pt>
    <dgm:pt modelId="{2BBE66D9-C427-48F4-9B76-776D0BB2018C}" type="sibTrans" cxnId="{53D06D27-EBAC-430F-80DD-47027E46B455}">
      <dgm:prSet/>
      <dgm:spPr/>
      <dgm:t>
        <a:bodyPr/>
        <a:lstStyle/>
        <a:p>
          <a:endParaRPr lang="en-US"/>
        </a:p>
      </dgm:t>
    </dgm:pt>
    <dgm:pt modelId="{8E79AC07-4938-D94D-A1CF-22197C1CAF9A}" type="pres">
      <dgm:prSet presAssocID="{FCB591DD-64FF-4309-ABC6-10C9565B7653}" presName="Name0" presStyleCnt="0">
        <dgm:presLayoutVars>
          <dgm:dir/>
          <dgm:animLvl val="lvl"/>
          <dgm:resizeHandles val="exact"/>
        </dgm:presLayoutVars>
      </dgm:prSet>
      <dgm:spPr/>
    </dgm:pt>
    <dgm:pt modelId="{9AEC4D11-6B77-0142-8BDE-F42AD9EB9A16}" type="pres">
      <dgm:prSet presAssocID="{B05228D6-ABDC-413E-AF5B-E3653F8C4CF5}" presName="composite" presStyleCnt="0"/>
      <dgm:spPr/>
    </dgm:pt>
    <dgm:pt modelId="{C8B36B91-B5A1-5947-AA7A-49930F40EBFA}" type="pres">
      <dgm:prSet presAssocID="{B05228D6-ABDC-413E-AF5B-E3653F8C4CF5}" presName="parTx" presStyleLbl="alignNode1" presStyleIdx="0" presStyleCnt="5">
        <dgm:presLayoutVars>
          <dgm:chMax val="0"/>
          <dgm:chPref val="0"/>
        </dgm:presLayoutVars>
      </dgm:prSet>
      <dgm:spPr/>
    </dgm:pt>
    <dgm:pt modelId="{C9F04FCC-79CA-7844-8657-074286109DF1}" type="pres">
      <dgm:prSet presAssocID="{B05228D6-ABDC-413E-AF5B-E3653F8C4CF5}" presName="desTx" presStyleLbl="alignAccFollowNode1" presStyleIdx="0" presStyleCnt="5">
        <dgm:presLayoutVars/>
      </dgm:prSet>
      <dgm:spPr/>
    </dgm:pt>
    <dgm:pt modelId="{D9D1DD6E-1B42-8048-97F4-82F4BD890999}" type="pres">
      <dgm:prSet presAssocID="{FD2B5D95-A59D-4764-BAE0-5C67E1C7E296}" presName="space" presStyleCnt="0"/>
      <dgm:spPr/>
    </dgm:pt>
    <dgm:pt modelId="{64271682-D256-2E44-9451-5CDCC1451B84}" type="pres">
      <dgm:prSet presAssocID="{A28E0760-DA6C-4949-B343-2FFDDCF9FFF2}" presName="composite" presStyleCnt="0"/>
      <dgm:spPr/>
    </dgm:pt>
    <dgm:pt modelId="{59E4562A-21B9-C54D-81CE-4F401EC891BA}" type="pres">
      <dgm:prSet presAssocID="{A28E0760-DA6C-4949-B343-2FFDDCF9FFF2}" presName="parTx" presStyleLbl="alignNode1" presStyleIdx="1" presStyleCnt="5">
        <dgm:presLayoutVars>
          <dgm:chMax val="0"/>
          <dgm:chPref val="0"/>
        </dgm:presLayoutVars>
      </dgm:prSet>
      <dgm:spPr/>
    </dgm:pt>
    <dgm:pt modelId="{9D45E794-C367-E748-97AC-DC4A695EA4E4}" type="pres">
      <dgm:prSet presAssocID="{A28E0760-DA6C-4949-B343-2FFDDCF9FFF2}" presName="desTx" presStyleLbl="alignAccFollowNode1" presStyleIdx="1" presStyleCnt="5">
        <dgm:presLayoutVars/>
      </dgm:prSet>
      <dgm:spPr/>
    </dgm:pt>
    <dgm:pt modelId="{A385A31D-FDB5-CE4B-B08C-2251CE99A67A}" type="pres">
      <dgm:prSet presAssocID="{B50B2DA5-98D7-4E13-AE78-80966E3CCC08}" presName="space" presStyleCnt="0"/>
      <dgm:spPr/>
    </dgm:pt>
    <dgm:pt modelId="{F081D3E7-F37F-F243-96AA-597648C08C09}" type="pres">
      <dgm:prSet presAssocID="{917F42E4-B5E9-43ED-88F6-F268C3BB6B26}" presName="composite" presStyleCnt="0"/>
      <dgm:spPr/>
    </dgm:pt>
    <dgm:pt modelId="{2663149C-9E18-434A-9087-CB5E1215706D}" type="pres">
      <dgm:prSet presAssocID="{917F42E4-B5E9-43ED-88F6-F268C3BB6B26}" presName="parTx" presStyleLbl="alignNode1" presStyleIdx="2" presStyleCnt="5">
        <dgm:presLayoutVars>
          <dgm:chMax val="0"/>
          <dgm:chPref val="0"/>
        </dgm:presLayoutVars>
      </dgm:prSet>
      <dgm:spPr/>
    </dgm:pt>
    <dgm:pt modelId="{30DAF618-D06B-E044-90EA-D3E406841812}" type="pres">
      <dgm:prSet presAssocID="{917F42E4-B5E9-43ED-88F6-F268C3BB6B26}" presName="desTx" presStyleLbl="alignAccFollowNode1" presStyleIdx="2" presStyleCnt="5">
        <dgm:presLayoutVars/>
      </dgm:prSet>
      <dgm:spPr/>
    </dgm:pt>
    <dgm:pt modelId="{1C8199C6-F4D8-A648-8EAA-FE32319E52C5}" type="pres">
      <dgm:prSet presAssocID="{66B7F2E4-505A-484A-9FF9-06C506380C0D}" presName="space" presStyleCnt="0"/>
      <dgm:spPr/>
    </dgm:pt>
    <dgm:pt modelId="{4D927D3E-3264-CC44-8E86-6D90248D4A89}" type="pres">
      <dgm:prSet presAssocID="{652F6339-701B-41FB-A0E2-F929B9719278}" presName="composite" presStyleCnt="0"/>
      <dgm:spPr/>
    </dgm:pt>
    <dgm:pt modelId="{CD0636C3-CA26-024D-AFBF-C0D83D20FCB6}" type="pres">
      <dgm:prSet presAssocID="{652F6339-701B-41FB-A0E2-F929B9719278}" presName="parTx" presStyleLbl="alignNode1" presStyleIdx="3" presStyleCnt="5">
        <dgm:presLayoutVars>
          <dgm:chMax val="0"/>
          <dgm:chPref val="0"/>
        </dgm:presLayoutVars>
      </dgm:prSet>
      <dgm:spPr/>
    </dgm:pt>
    <dgm:pt modelId="{7BACA5CD-DF64-E549-953E-B873652BCAB4}" type="pres">
      <dgm:prSet presAssocID="{652F6339-701B-41FB-A0E2-F929B9719278}" presName="desTx" presStyleLbl="alignAccFollowNode1" presStyleIdx="3" presStyleCnt="5">
        <dgm:presLayoutVars/>
      </dgm:prSet>
      <dgm:spPr/>
    </dgm:pt>
    <dgm:pt modelId="{C0D158B4-FED2-3248-8956-33DDAB82F990}" type="pres">
      <dgm:prSet presAssocID="{8B0A78FA-2EEE-4A25-91F1-2852728B255D}" presName="space" presStyleCnt="0"/>
      <dgm:spPr/>
    </dgm:pt>
    <dgm:pt modelId="{479B7D15-AA90-E348-8E01-3D3D0632CDF7}" type="pres">
      <dgm:prSet presAssocID="{6D72551F-24B5-4B03-85E8-B4B97FF7B389}" presName="composite" presStyleCnt="0"/>
      <dgm:spPr/>
    </dgm:pt>
    <dgm:pt modelId="{9A6E1A89-E441-9043-8606-947F29747C12}" type="pres">
      <dgm:prSet presAssocID="{6D72551F-24B5-4B03-85E8-B4B97FF7B389}" presName="parTx" presStyleLbl="alignNode1" presStyleIdx="4" presStyleCnt="5">
        <dgm:presLayoutVars>
          <dgm:chMax val="0"/>
          <dgm:chPref val="0"/>
        </dgm:presLayoutVars>
      </dgm:prSet>
      <dgm:spPr/>
    </dgm:pt>
    <dgm:pt modelId="{E5A99D3C-6C53-6F42-B20D-5A9D701E6414}" type="pres">
      <dgm:prSet presAssocID="{6D72551F-24B5-4B03-85E8-B4B97FF7B389}" presName="desTx" presStyleLbl="alignAccFollowNode1" presStyleIdx="4" presStyleCnt="5">
        <dgm:presLayoutVars/>
      </dgm:prSet>
      <dgm:spPr/>
    </dgm:pt>
  </dgm:ptLst>
  <dgm:cxnLst>
    <dgm:cxn modelId="{E5785003-BB2E-184D-A380-6C571C1256DB}" type="presOf" srcId="{A28E0760-DA6C-4949-B343-2FFDDCF9FFF2}" destId="{59E4562A-21B9-C54D-81CE-4F401EC891BA}" srcOrd="0" destOrd="0" presId="urn:microsoft.com/office/officeart/2016/7/layout/HorizontalActionList"/>
    <dgm:cxn modelId="{801CE51B-AA6B-4B82-8521-073FC4936F16}" srcId="{DA587528-8579-44E1-95D1-6B2080B9658A}" destId="{759E8B5F-5587-4F94-82DD-1536C52ACE26}" srcOrd="0" destOrd="0" parTransId="{A925053D-9FB2-4EED-BE71-BD4D9D17267D}" sibTransId="{707CD70D-BD87-4F85-980F-463FF75E7B66}"/>
    <dgm:cxn modelId="{E103F21B-DA14-A74F-8F49-6C28CB9D1F3B}" type="presOf" srcId="{B05228D6-ABDC-413E-AF5B-E3653F8C4CF5}" destId="{C8B36B91-B5A1-5947-AA7A-49930F40EBFA}" srcOrd="0" destOrd="0" presId="urn:microsoft.com/office/officeart/2016/7/layout/HorizontalActionList"/>
    <dgm:cxn modelId="{53D06D27-EBAC-430F-80DD-47027E46B455}" srcId="{A085C0F8-756E-4BC3-B813-5E8E2A019357}" destId="{F4E32670-36B2-437B-92C6-994C5320A023}" srcOrd="0" destOrd="0" parTransId="{AE424B30-879F-459E-8322-E8E22A29E5E4}" sibTransId="{2BBE66D9-C427-48F4-9B76-776D0BB2018C}"/>
    <dgm:cxn modelId="{26A54729-FB9D-42B0-AB31-694E509CCAB8}" srcId="{DA587528-8579-44E1-95D1-6B2080B9658A}" destId="{24D9C3F6-3544-4262-B984-18D6BC4CB19E}" srcOrd="1" destOrd="0" parTransId="{02C19A4F-E066-4787-BB1C-77E0DE5939CF}" sibTransId="{FDEBEB88-076C-4224-B13F-943B6C3A0098}"/>
    <dgm:cxn modelId="{CC593D2C-407C-5A42-BB3B-41DB189128D9}" type="presOf" srcId="{6D72551F-24B5-4B03-85E8-B4B97FF7B389}" destId="{9A6E1A89-E441-9043-8606-947F29747C12}" srcOrd="0" destOrd="0" presId="urn:microsoft.com/office/officeart/2016/7/layout/HorizontalActionList"/>
    <dgm:cxn modelId="{887E672E-0657-034B-84DA-6AD0D2A677FE}" type="presOf" srcId="{759E8B5F-5587-4F94-82DD-1536C52ACE26}" destId="{30DAF618-D06B-E044-90EA-D3E406841812}" srcOrd="0" destOrd="1" presId="urn:microsoft.com/office/officeart/2016/7/layout/HorizontalActionList"/>
    <dgm:cxn modelId="{40FF584D-0A05-454F-867E-DF9365238049}" srcId="{FCB591DD-64FF-4309-ABC6-10C9565B7653}" destId="{652F6339-701B-41FB-A0E2-F929B9719278}" srcOrd="3" destOrd="0" parTransId="{50DDB7CD-F7DF-45EF-84F6-E26367765AF2}" sibTransId="{8B0A78FA-2EEE-4A25-91F1-2852728B255D}"/>
    <dgm:cxn modelId="{6445794E-8372-9E48-A113-FB4CB3A2869C}" type="presOf" srcId="{DA587528-8579-44E1-95D1-6B2080B9658A}" destId="{30DAF618-D06B-E044-90EA-D3E406841812}" srcOrd="0" destOrd="0" presId="urn:microsoft.com/office/officeart/2016/7/layout/HorizontalActionList"/>
    <dgm:cxn modelId="{60DDF74E-AC51-42E8-B239-694C2C24D773}" srcId="{A28E0760-DA6C-4949-B343-2FFDDCF9FFF2}" destId="{D6D353E3-401E-49A6-A60E-98D0872AE471}" srcOrd="0" destOrd="0" parTransId="{375F4B67-2556-4416-B1F7-CB3F975B25CE}" sibTransId="{455E1AEA-9A56-4E05-A7AA-2D446B054508}"/>
    <dgm:cxn modelId="{75CBF956-CC91-404E-B5C6-8FD1AF0D377C}" srcId="{FCB591DD-64FF-4309-ABC6-10C9565B7653}" destId="{A28E0760-DA6C-4949-B343-2FFDDCF9FFF2}" srcOrd="1" destOrd="0" parTransId="{FCE1B78B-7FC8-4AB0-92C1-ADCB01054E00}" sibTransId="{B50B2DA5-98D7-4E13-AE78-80966E3CCC08}"/>
    <dgm:cxn modelId="{78E42759-2406-CC48-9DEE-117F3BC135FA}" type="presOf" srcId="{917F42E4-B5E9-43ED-88F6-F268C3BB6B26}" destId="{2663149C-9E18-434A-9087-CB5E1215706D}" srcOrd="0" destOrd="0" presId="urn:microsoft.com/office/officeart/2016/7/layout/HorizontalActionList"/>
    <dgm:cxn modelId="{DAAF4D66-DF2A-4AD9-A82A-65D2AAA9BABB}" srcId="{FCB591DD-64FF-4309-ABC6-10C9565B7653}" destId="{917F42E4-B5E9-43ED-88F6-F268C3BB6B26}" srcOrd="2" destOrd="0" parTransId="{330CBBA9-2631-4324-A3E3-64A8E394B391}" sibTransId="{66B7F2E4-505A-484A-9FF9-06C506380C0D}"/>
    <dgm:cxn modelId="{E0112E7C-BCDD-4960-842D-A0B6A6210E93}" srcId="{B05228D6-ABDC-413E-AF5B-E3653F8C4CF5}" destId="{B7C269FF-132A-4290-9474-DFB5501AC6E9}" srcOrd="0" destOrd="0" parTransId="{216F13D0-7CC5-4FEC-82F8-FB777C21AAB3}" sibTransId="{E3D5EEFC-D323-4067-9CBF-5DC0B039828D}"/>
    <dgm:cxn modelId="{109CF485-EF66-4006-AAEB-50ECB47EE8CB}" srcId="{652F6339-701B-41FB-A0E2-F929B9719278}" destId="{FD0B437D-3806-4A54-A229-725FCA141262}" srcOrd="0" destOrd="0" parTransId="{3A24CA5A-BC56-48E2-8270-82C8F39794B1}" sibTransId="{512AD3DF-9AE7-4BB2-9937-1767817DAED1}"/>
    <dgm:cxn modelId="{7355C290-8EED-EB4D-BBA3-B3DC1382CF71}" type="presOf" srcId="{24D9C3F6-3544-4262-B984-18D6BC4CB19E}" destId="{30DAF618-D06B-E044-90EA-D3E406841812}" srcOrd="0" destOrd="2" presId="urn:microsoft.com/office/officeart/2016/7/layout/HorizontalActionList"/>
    <dgm:cxn modelId="{AB93DC95-E638-914C-ADFE-8D62BA3D4B59}" type="presOf" srcId="{B7C269FF-132A-4290-9474-DFB5501AC6E9}" destId="{C9F04FCC-79CA-7844-8657-074286109DF1}" srcOrd="0" destOrd="0" presId="urn:microsoft.com/office/officeart/2016/7/layout/HorizontalActionList"/>
    <dgm:cxn modelId="{1147CCAC-680A-4D60-949D-42FF574C2EC8}" srcId="{FCB591DD-64FF-4309-ABC6-10C9565B7653}" destId="{6D72551F-24B5-4B03-85E8-B4B97FF7B389}" srcOrd="4" destOrd="0" parTransId="{E2733C0A-32E9-4371-A094-02444F5BD74F}" sibTransId="{C8B92F45-6CEA-46AC-B9B9-74AA28EF6DBD}"/>
    <dgm:cxn modelId="{662D52AE-CFBB-4A9E-B685-5709D285FD9F}" srcId="{FCB591DD-64FF-4309-ABC6-10C9565B7653}" destId="{B05228D6-ABDC-413E-AF5B-E3653F8C4CF5}" srcOrd="0" destOrd="0" parTransId="{19F895B0-52BF-48B6-AD5D-33D6F32894A6}" sibTransId="{FD2B5D95-A59D-4764-BAE0-5C67E1C7E296}"/>
    <dgm:cxn modelId="{6526DBC7-4939-9A4A-BD19-DE4F01AB5AAB}" type="presOf" srcId="{FD0B437D-3806-4A54-A229-725FCA141262}" destId="{7BACA5CD-DF64-E549-953E-B873652BCAB4}" srcOrd="0" destOrd="0" presId="urn:microsoft.com/office/officeart/2016/7/layout/HorizontalActionList"/>
    <dgm:cxn modelId="{A9C66CD1-9654-A840-8E3F-9436EED07F56}" type="presOf" srcId="{F4E32670-36B2-437B-92C6-994C5320A023}" destId="{E5A99D3C-6C53-6F42-B20D-5A9D701E6414}" srcOrd="0" destOrd="1" presId="urn:microsoft.com/office/officeart/2016/7/layout/HorizontalActionList"/>
    <dgm:cxn modelId="{E3E719D9-9F97-402A-8CD0-14F75CF1AF16}" srcId="{6D72551F-24B5-4B03-85E8-B4B97FF7B389}" destId="{A085C0F8-756E-4BC3-B813-5E8E2A019357}" srcOrd="0" destOrd="0" parTransId="{B7666B5F-40AB-466A-98EA-6B81F0D22EBE}" sibTransId="{F26D05F7-C948-4E27-A1B5-9A06B73FFDC0}"/>
    <dgm:cxn modelId="{BA378CE0-688E-B045-9E3C-3BA6AD312E43}" type="presOf" srcId="{FCB591DD-64FF-4309-ABC6-10C9565B7653}" destId="{8E79AC07-4938-D94D-A1CF-22197C1CAF9A}" srcOrd="0" destOrd="0" presId="urn:microsoft.com/office/officeart/2016/7/layout/HorizontalActionList"/>
    <dgm:cxn modelId="{5E7AF9EA-3DE7-4545-A5CE-06CB74863D5F}" type="presOf" srcId="{A085C0F8-756E-4BC3-B813-5E8E2A019357}" destId="{E5A99D3C-6C53-6F42-B20D-5A9D701E6414}" srcOrd="0" destOrd="0" presId="urn:microsoft.com/office/officeart/2016/7/layout/HorizontalActionList"/>
    <dgm:cxn modelId="{6DB09BED-5AEC-4640-B36C-5890D3CE7819}" type="presOf" srcId="{D6D353E3-401E-49A6-A60E-98D0872AE471}" destId="{9D45E794-C367-E748-97AC-DC4A695EA4E4}" srcOrd="0" destOrd="0" presId="urn:microsoft.com/office/officeart/2016/7/layout/HorizontalActionList"/>
    <dgm:cxn modelId="{D65A69FA-B00C-3342-AAE9-7FC42C2A32D0}" type="presOf" srcId="{652F6339-701B-41FB-A0E2-F929B9719278}" destId="{CD0636C3-CA26-024D-AFBF-C0D83D20FCB6}" srcOrd="0" destOrd="0" presId="urn:microsoft.com/office/officeart/2016/7/layout/HorizontalActionList"/>
    <dgm:cxn modelId="{34776CFE-63FA-4A7B-9F22-C3E9AD0B814D}" srcId="{917F42E4-B5E9-43ED-88F6-F268C3BB6B26}" destId="{DA587528-8579-44E1-95D1-6B2080B9658A}" srcOrd="0" destOrd="0" parTransId="{4B5E5B26-283D-4E96-906D-54879522AB31}" sibTransId="{34B73DAC-FF39-492B-9F4B-45FC17D0E659}"/>
    <dgm:cxn modelId="{378C1798-05A4-464A-AFA6-C1C862699B03}" type="presParOf" srcId="{8E79AC07-4938-D94D-A1CF-22197C1CAF9A}" destId="{9AEC4D11-6B77-0142-8BDE-F42AD9EB9A16}" srcOrd="0" destOrd="0" presId="urn:microsoft.com/office/officeart/2016/7/layout/HorizontalActionList"/>
    <dgm:cxn modelId="{2E2475BC-C849-7847-B6BB-269AA6AABF38}" type="presParOf" srcId="{9AEC4D11-6B77-0142-8BDE-F42AD9EB9A16}" destId="{C8B36B91-B5A1-5947-AA7A-49930F40EBFA}" srcOrd="0" destOrd="0" presId="urn:microsoft.com/office/officeart/2016/7/layout/HorizontalActionList"/>
    <dgm:cxn modelId="{BD3BED2E-4D98-B747-9912-F8C2983BAACA}" type="presParOf" srcId="{9AEC4D11-6B77-0142-8BDE-F42AD9EB9A16}" destId="{C9F04FCC-79CA-7844-8657-074286109DF1}" srcOrd="1" destOrd="0" presId="urn:microsoft.com/office/officeart/2016/7/layout/HorizontalActionList"/>
    <dgm:cxn modelId="{AAD687A6-9944-9440-9B60-5F426AD2C350}" type="presParOf" srcId="{8E79AC07-4938-D94D-A1CF-22197C1CAF9A}" destId="{D9D1DD6E-1B42-8048-97F4-82F4BD890999}" srcOrd="1" destOrd="0" presId="urn:microsoft.com/office/officeart/2016/7/layout/HorizontalActionList"/>
    <dgm:cxn modelId="{A9F948F7-F78B-E441-9A35-BD6AC3482745}" type="presParOf" srcId="{8E79AC07-4938-D94D-A1CF-22197C1CAF9A}" destId="{64271682-D256-2E44-9451-5CDCC1451B84}" srcOrd="2" destOrd="0" presId="urn:microsoft.com/office/officeart/2016/7/layout/HorizontalActionList"/>
    <dgm:cxn modelId="{9C705B50-4CDD-C44A-A3FA-CCE5A193ED18}" type="presParOf" srcId="{64271682-D256-2E44-9451-5CDCC1451B84}" destId="{59E4562A-21B9-C54D-81CE-4F401EC891BA}" srcOrd="0" destOrd="0" presId="urn:microsoft.com/office/officeart/2016/7/layout/HorizontalActionList"/>
    <dgm:cxn modelId="{E9FAB8FD-2DBA-6E40-8915-F730F8548E70}" type="presParOf" srcId="{64271682-D256-2E44-9451-5CDCC1451B84}" destId="{9D45E794-C367-E748-97AC-DC4A695EA4E4}" srcOrd="1" destOrd="0" presId="urn:microsoft.com/office/officeart/2016/7/layout/HorizontalActionList"/>
    <dgm:cxn modelId="{2DFD2203-DC5E-2C43-A2E7-DEEDBC5DAA2C}" type="presParOf" srcId="{8E79AC07-4938-D94D-A1CF-22197C1CAF9A}" destId="{A385A31D-FDB5-CE4B-B08C-2251CE99A67A}" srcOrd="3" destOrd="0" presId="urn:microsoft.com/office/officeart/2016/7/layout/HorizontalActionList"/>
    <dgm:cxn modelId="{5E32DEE1-C1B6-4A42-9882-5D26F23E5BE1}" type="presParOf" srcId="{8E79AC07-4938-D94D-A1CF-22197C1CAF9A}" destId="{F081D3E7-F37F-F243-96AA-597648C08C09}" srcOrd="4" destOrd="0" presId="urn:microsoft.com/office/officeart/2016/7/layout/HorizontalActionList"/>
    <dgm:cxn modelId="{5F794E58-B25B-CD45-9ADE-F72D5F6718A4}" type="presParOf" srcId="{F081D3E7-F37F-F243-96AA-597648C08C09}" destId="{2663149C-9E18-434A-9087-CB5E1215706D}" srcOrd="0" destOrd="0" presId="urn:microsoft.com/office/officeart/2016/7/layout/HorizontalActionList"/>
    <dgm:cxn modelId="{4383641C-8AEC-C14F-AF40-C5D25995FCA4}" type="presParOf" srcId="{F081D3E7-F37F-F243-96AA-597648C08C09}" destId="{30DAF618-D06B-E044-90EA-D3E406841812}" srcOrd="1" destOrd="0" presId="urn:microsoft.com/office/officeart/2016/7/layout/HorizontalActionList"/>
    <dgm:cxn modelId="{6A0ACE9A-0CF2-2540-8BC6-D01F69B0AC60}" type="presParOf" srcId="{8E79AC07-4938-D94D-A1CF-22197C1CAF9A}" destId="{1C8199C6-F4D8-A648-8EAA-FE32319E52C5}" srcOrd="5" destOrd="0" presId="urn:microsoft.com/office/officeart/2016/7/layout/HorizontalActionList"/>
    <dgm:cxn modelId="{A23F748A-361A-8540-890F-AF206D7620FE}" type="presParOf" srcId="{8E79AC07-4938-D94D-A1CF-22197C1CAF9A}" destId="{4D927D3E-3264-CC44-8E86-6D90248D4A89}" srcOrd="6" destOrd="0" presId="urn:microsoft.com/office/officeart/2016/7/layout/HorizontalActionList"/>
    <dgm:cxn modelId="{BDE250F9-5A12-174E-AC4B-55A978A839F3}" type="presParOf" srcId="{4D927D3E-3264-CC44-8E86-6D90248D4A89}" destId="{CD0636C3-CA26-024D-AFBF-C0D83D20FCB6}" srcOrd="0" destOrd="0" presId="urn:microsoft.com/office/officeart/2016/7/layout/HorizontalActionList"/>
    <dgm:cxn modelId="{EFBBFF13-7475-564A-BAE0-76D12BBCD9CE}" type="presParOf" srcId="{4D927D3E-3264-CC44-8E86-6D90248D4A89}" destId="{7BACA5CD-DF64-E549-953E-B873652BCAB4}" srcOrd="1" destOrd="0" presId="urn:microsoft.com/office/officeart/2016/7/layout/HorizontalActionList"/>
    <dgm:cxn modelId="{5749CA74-2514-C44A-8DFA-5B635F6CD5F6}" type="presParOf" srcId="{8E79AC07-4938-D94D-A1CF-22197C1CAF9A}" destId="{C0D158B4-FED2-3248-8956-33DDAB82F990}" srcOrd="7" destOrd="0" presId="urn:microsoft.com/office/officeart/2016/7/layout/HorizontalActionList"/>
    <dgm:cxn modelId="{AB49851D-C1EA-E047-BADC-E17BFCC37A69}" type="presParOf" srcId="{8E79AC07-4938-D94D-A1CF-22197C1CAF9A}" destId="{479B7D15-AA90-E348-8E01-3D3D0632CDF7}" srcOrd="8" destOrd="0" presId="urn:microsoft.com/office/officeart/2016/7/layout/HorizontalActionList"/>
    <dgm:cxn modelId="{AE788FD9-0AB3-2C4E-9F8F-7DD2F849698B}" type="presParOf" srcId="{479B7D15-AA90-E348-8E01-3D3D0632CDF7}" destId="{9A6E1A89-E441-9043-8606-947F29747C12}" srcOrd="0" destOrd="0" presId="urn:microsoft.com/office/officeart/2016/7/layout/HorizontalActionList"/>
    <dgm:cxn modelId="{AFE8C6C5-F86F-A14B-8BD3-4B77FD5B56E6}" type="presParOf" srcId="{479B7D15-AA90-E348-8E01-3D3D0632CDF7}" destId="{E5A99D3C-6C53-6F42-B20D-5A9D701E6414}" srcOrd="1" destOrd="0" presId="urn:microsoft.com/office/officeart/2016/7/layout/HorizontalAction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8B36B91-B5A1-5947-AA7A-49930F40EBFA}">
      <dsp:nvSpPr>
        <dsp:cNvPr id="0" name=""/>
        <dsp:cNvSpPr/>
      </dsp:nvSpPr>
      <dsp:spPr>
        <a:xfrm>
          <a:off x="5143" y="555820"/>
          <a:ext cx="1870121" cy="561036"/>
        </a:xfrm>
        <a:prstGeom prst="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w="12700" cap="flat" cmpd="sng" algn="ctr">
          <a:solidFill>
            <a:schemeClr val="accent5">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147781" tIns="147781" rIns="147781" bIns="147781" numCol="1" spcCol="1270" anchor="ctr" anchorCtr="0">
          <a:noAutofit/>
        </a:bodyPr>
        <a:lstStyle/>
        <a:p>
          <a:pPr marL="0" lvl="0" indent="0" algn="ctr" defTabSz="800100">
            <a:lnSpc>
              <a:spcPct val="90000"/>
            </a:lnSpc>
            <a:spcBef>
              <a:spcPct val="0"/>
            </a:spcBef>
            <a:spcAft>
              <a:spcPct val="35000"/>
            </a:spcAft>
            <a:buNone/>
          </a:pPr>
          <a:r>
            <a:rPr lang="en-US" sz="1800" kern="1200"/>
            <a:t>Include</a:t>
          </a:r>
        </a:p>
      </dsp:txBody>
      <dsp:txXfrm>
        <a:off x="5143" y="555820"/>
        <a:ext cx="1870121" cy="561036"/>
      </dsp:txXfrm>
    </dsp:sp>
    <dsp:sp modelId="{C9F04FCC-79CA-7844-8657-074286109DF1}">
      <dsp:nvSpPr>
        <dsp:cNvPr id="0" name=""/>
        <dsp:cNvSpPr/>
      </dsp:nvSpPr>
      <dsp:spPr>
        <a:xfrm>
          <a:off x="5143" y="1116856"/>
          <a:ext cx="1870121" cy="1498746"/>
        </a:xfrm>
        <a:prstGeom prst="rect">
          <a:avLst/>
        </a:prstGeom>
        <a:solidFill>
          <a:schemeClr val="accent5">
            <a:tint val="40000"/>
            <a:alpha val="90000"/>
            <a:hueOff val="0"/>
            <a:satOff val="0"/>
            <a:lumOff val="0"/>
            <a:alphaOff val="0"/>
          </a:schemeClr>
        </a:solidFill>
        <a:ln w="12700" cap="flat" cmpd="sng" algn="ctr">
          <a:solidFill>
            <a:schemeClr val="accent5">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84726" tIns="184726" rIns="184726" bIns="184726" numCol="1" spcCol="1270" anchor="t" anchorCtr="0">
          <a:noAutofit/>
        </a:bodyPr>
        <a:lstStyle/>
        <a:p>
          <a:pPr marL="0" lvl="0" indent="0" algn="l" defTabSz="622300">
            <a:lnSpc>
              <a:spcPct val="90000"/>
            </a:lnSpc>
            <a:spcBef>
              <a:spcPct val="0"/>
            </a:spcBef>
            <a:spcAft>
              <a:spcPct val="35000"/>
            </a:spcAft>
            <a:buNone/>
          </a:pPr>
          <a:r>
            <a:rPr lang="en-US" sz="1400" kern="1200"/>
            <a:t>Include mental health screening in forearm competency test.</a:t>
          </a:r>
        </a:p>
      </dsp:txBody>
      <dsp:txXfrm>
        <a:off x="5143" y="1116856"/>
        <a:ext cx="1870121" cy="1498746"/>
      </dsp:txXfrm>
    </dsp:sp>
    <dsp:sp modelId="{59E4562A-21B9-C54D-81CE-4F401EC891BA}">
      <dsp:nvSpPr>
        <dsp:cNvPr id="0" name=""/>
        <dsp:cNvSpPr/>
      </dsp:nvSpPr>
      <dsp:spPr>
        <a:xfrm>
          <a:off x="1983158" y="555820"/>
          <a:ext cx="1870121" cy="561036"/>
        </a:xfrm>
        <a:prstGeom prst="rect">
          <a:avLst/>
        </a:prstGeom>
        <a:gradFill rotWithShape="0">
          <a:gsLst>
            <a:gs pos="0">
              <a:schemeClr val="accent5">
                <a:hueOff val="-3038037"/>
                <a:satOff val="-207"/>
                <a:lumOff val="490"/>
                <a:alphaOff val="0"/>
                <a:satMod val="103000"/>
                <a:lumMod val="102000"/>
                <a:tint val="94000"/>
              </a:schemeClr>
            </a:gs>
            <a:gs pos="50000">
              <a:schemeClr val="accent5">
                <a:hueOff val="-3038037"/>
                <a:satOff val="-207"/>
                <a:lumOff val="490"/>
                <a:alphaOff val="0"/>
                <a:satMod val="110000"/>
                <a:lumMod val="100000"/>
                <a:shade val="100000"/>
              </a:schemeClr>
            </a:gs>
            <a:gs pos="100000">
              <a:schemeClr val="accent5">
                <a:hueOff val="-3038037"/>
                <a:satOff val="-207"/>
                <a:lumOff val="490"/>
                <a:alphaOff val="0"/>
                <a:lumMod val="99000"/>
                <a:satMod val="120000"/>
                <a:shade val="78000"/>
              </a:schemeClr>
            </a:gs>
          </a:gsLst>
          <a:lin ang="5400000" scaled="0"/>
        </a:gradFill>
        <a:ln w="12700" cap="flat" cmpd="sng" algn="ctr">
          <a:solidFill>
            <a:schemeClr val="accent5">
              <a:hueOff val="-3038037"/>
              <a:satOff val="-207"/>
              <a:lumOff val="49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147781" tIns="147781" rIns="147781" bIns="147781" numCol="1" spcCol="1270" anchor="ctr" anchorCtr="0">
          <a:noAutofit/>
        </a:bodyPr>
        <a:lstStyle/>
        <a:p>
          <a:pPr marL="0" lvl="0" indent="0" algn="ctr" defTabSz="800100">
            <a:lnSpc>
              <a:spcPct val="90000"/>
            </a:lnSpc>
            <a:spcBef>
              <a:spcPct val="0"/>
            </a:spcBef>
            <a:spcAft>
              <a:spcPct val="35000"/>
            </a:spcAft>
            <a:buNone/>
          </a:pPr>
          <a:r>
            <a:rPr lang="en-US" sz="1800" kern="1200"/>
            <a:t>Require</a:t>
          </a:r>
        </a:p>
      </dsp:txBody>
      <dsp:txXfrm>
        <a:off x="1983158" y="555820"/>
        <a:ext cx="1870121" cy="561036"/>
      </dsp:txXfrm>
    </dsp:sp>
    <dsp:sp modelId="{9D45E794-C367-E748-97AC-DC4A695EA4E4}">
      <dsp:nvSpPr>
        <dsp:cNvPr id="0" name=""/>
        <dsp:cNvSpPr/>
      </dsp:nvSpPr>
      <dsp:spPr>
        <a:xfrm>
          <a:off x="1983158" y="1116856"/>
          <a:ext cx="1870121" cy="1498746"/>
        </a:xfrm>
        <a:prstGeom prst="rect">
          <a:avLst/>
        </a:prstGeom>
        <a:solidFill>
          <a:schemeClr val="accent5">
            <a:tint val="40000"/>
            <a:alpha val="90000"/>
            <a:hueOff val="-2986166"/>
            <a:satOff val="667"/>
            <a:lumOff val="100"/>
            <a:alphaOff val="0"/>
          </a:schemeClr>
        </a:solidFill>
        <a:ln w="12700" cap="flat" cmpd="sng" algn="ctr">
          <a:solidFill>
            <a:schemeClr val="accent5">
              <a:tint val="40000"/>
              <a:alpha val="90000"/>
              <a:hueOff val="-2986166"/>
              <a:satOff val="667"/>
              <a:lumOff val="10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84726" tIns="184726" rIns="184726" bIns="184726" numCol="1" spcCol="1270" anchor="t" anchorCtr="0">
          <a:noAutofit/>
        </a:bodyPr>
        <a:lstStyle/>
        <a:p>
          <a:pPr marL="0" lvl="0" indent="0" algn="l" defTabSz="622300">
            <a:lnSpc>
              <a:spcPct val="90000"/>
            </a:lnSpc>
            <a:spcBef>
              <a:spcPct val="0"/>
            </a:spcBef>
            <a:spcAft>
              <a:spcPct val="35000"/>
            </a:spcAft>
            <a:buNone/>
          </a:pPr>
          <a:r>
            <a:rPr lang="en-US" sz="1400" kern="1200"/>
            <a:t>Require periodic mental health re-evaluation when licences are renewed.</a:t>
          </a:r>
        </a:p>
      </dsp:txBody>
      <dsp:txXfrm>
        <a:off x="1983158" y="1116856"/>
        <a:ext cx="1870121" cy="1498746"/>
      </dsp:txXfrm>
    </dsp:sp>
    <dsp:sp modelId="{2663149C-9E18-434A-9087-CB5E1215706D}">
      <dsp:nvSpPr>
        <dsp:cNvPr id="0" name=""/>
        <dsp:cNvSpPr/>
      </dsp:nvSpPr>
      <dsp:spPr>
        <a:xfrm>
          <a:off x="3961174" y="555820"/>
          <a:ext cx="1870121" cy="561036"/>
        </a:xfrm>
        <a:prstGeom prst="rect">
          <a:avLst/>
        </a:prstGeom>
        <a:gradFill rotWithShape="0">
          <a:gsLst>
            <a:gs pos="0">
              <a:schemeClr val="accent5">
                <a:hueOff val="-6076075"/>
                <a:satOff val="-413"/>
                <a:lumOff val="981"/>
                <a:alphaOff val="0"/>
                <a:satMod val="103000"/>
                <a:lumMod val="102000"/>
                <a:tint val="94000"/>
              </a:schemeClr>
            </a:gs>
            <a:gs pos="50000">
              <a:schemeClr val="accent5">
                <a:hueOff val="-6076075"/>
                <a:satOff val="-413"/>
                <a:lumOff val="981"/>
                <a:alphaOff val="0"/>
                <a:satMod val="110000"/>
                <a:lumMod val="100000"/>
                <a:shade val="100000"/>
              </a:schemeClr>
            </a:gs>
            <a:gs pos="100000">
              <a:schemeClr val="accent5">
                <a:hueOff val="-6076075"/>
                <a:satOff val="-413"/>
                <a:lumOff val="981"/>
                <a:alphaOff val="0"/>
                <a:lumMod val="99000"/>
                <a:satMod val="120000"/>
                <a:shade val="78000"/>
              </a:schemeClr>
            </a:gs>
          </a:gsLst>
          <a:lin ang="5400000" scaled="0"/>
        </a:gradFill>
        <a:ln w="12700" cap="flat" cmpd="sng" algn="ctr">
          <a:solidFill>
            <a:schemeClr val="accent5">
              <a:hueOff val="-6076075"/>
              <a:satOff val="-413"/>
              <a:lumOff val="981"/>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147781" tIns="147781" rIns="147781" bIns="147781" numCol="1" spcCol="1270" anchor="ctr" anchorCtr="0">
          <a:noAutofit/>
        </a:bodyPr>
        <a:lstStyle/>
        <a:p>
          <a:pPr marL="0" lvl="0" indent="0" algn="ctr" defTabSz="800100">
            <a:lnSpc>
              <a:spcPct val="90000"/>
            </a:lnSpc>
            <a:spcBef>
              <a:spcPct val="0"/>
            </a:spcBef>
            <a:spcAft>
              <a:spcPct val="35000"/>
            </a:spcAft>
            <a:buNone/>
          </a:pPr>
          <a:r>
            <a:rPr lang="en-US" sz="1800" kern="1200"/>
            <a:t>Restrict</a:t>
          </a:r>
        </a:p>
      </dsp:txBody>
      <dsp:txXfrm>
        <a:off x="3961174" y="555820"/>
        <a:ext cx="1870121" cy="561036"/>
      </dsp:txXfrm>
    </dsp:sp>
    <dsp:sp modelId="{30DAF618-D06B-E044-90EA-D3E406841812}">
      <dsp:nvSpPr>
        <dsp:cNvPr id="0" name=""/>
        <dsp:cNvSpPr/>
      </dsp:nvSpPr>
      <dsp:spPr>
        <a:xfrm>
          <a:off x="3961174" y="1116856"/>
          <a:ext cx="1870121" cy="1498746"/>
        </a:xfrm>
        <a:prstGeom prst="rect">
          <a:avLst/>
        </a:prstGeom>
        <a:solidFill>
          <a:schemeClr val="accent5">
            <a:tint val="40000"/>
            <a:alpha val="90000"/>
            <a:hueOff val="-5972333"/>
            <a:satOff val="1333"/>
            <a:lumOff val="200"/>
            <a:alphaOff val="0"/>
          </a:schemeClr>
        </a:solidFill>
        <a:ln w="12700" cap="flat" cmpd="sng" algn="ctr">
          <a:solidFill>
            <a:schemeClr val="accent5">
              <a:tint val="40000"/>
              <a:alpha val="90000"/>
              <a:hueOff val="-5972333"/>
              <a:satOff val="1333"/>
              <a:lumOff val="20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84726" tIns="184726" rIns="184726" bIns="184726" numCol="1" spcCol="1270" anchor="t" anchorCtr="0">
          <a:noAutofit/>
        </a:bodyPr>
        <a:lstStyle/>
        <a:p>
          <a:pPr marL="0" lvl="0" indent="0" algn="l" defTabSz="622300">
            <a:lnSpc>
              <a:spcPct val="90000"/>
            </a:lnSpc>
            <a:spcBef>
              <a:spcPct val="0"/>
            </a:spcBef>
            <a:spcAft>
              <a:spcPct val="35000"/>
            </a:spcAft>
            <a:buNone/>
          </a:pPr>
          <a:r>
            <a:rPr lang="en-US" sz="1400" kern="1200"/>
            <a:t>Restrict access to firearms during:</a:t>
          </a:r>
        </a:p>
        <a:p>
          <a:pPr marL="57150" lvl="1" indent="-57150" algn="l" defTabSz="488950">
            <a:lnSpc>
              <a:spcPct val="90000"/>
            </a:lnSpc>
            <a:spcBef>
              <a:spcPct val="0"/>
            </a:spcBef>
            <a:spcAft>
              <a:spcPct val="15000"/>
            </a:spcAft>
            <a:buChar char="•"/>
          </a:pPr>
          <a:r>
            <a:rPr lang="en-US" sz="1100" kern="1200"/>
            <a:t>acute mental illness, </a:t>
          </a:r>
        </a:p>
        <a:p>
          <a:pPr marL="57150" lvl="1" indent="-57150" algn="l" defTabSz="488950">
            <a:lnSpc>
              <a:spcPct val="90000"/>
            </a:lnSpc>
            <a:spcBef>
              <a:spcPct val="0"/>
            </a:spcBef>
            <a:spcAft>
              <a:spcPct val="15000"/>
            </a:spcAft>
            <a:buChar char="•"/>
          </a:pPr>
          <a:r>
            <a:rPr lang="en-US" sz="1100" kern="1200"/>
            <a:t>domestic violence incidents and high suicide risk individuals.</a:t>
          </a:r>
        </a:p>
      </dsp:txBody>
      <dsp:txXfrm>
        <a:off x="3961174" y="1116856"/>
        <a:ext cx="1870121" cy="1498746"/>
      </dsp:txXfrm>
    </dsp:sp>
    <dsp:sp modelId="{CD0636C3-CA26-024D-AFBF-C0D83D20FCB6}">
      <dsp:nvSpPr>
        <dsp:cNvPr id="0" name=""/>
        <dsp:cNvSpPr/>
      </dsp:nvSpPr>
      <dsp:spPr>
        <a:xfrm>
          <a:off x="5939190" y="555820"/>
          <a:ext cx="1870121" cy="561036"/>
        </a:xfrm>
        <a:prstGeom prst="rect">
          <a:avLst/>
        </a:prstGeom>
        <a:gradFill rotWithShape="0">
          <a:gsLst>
            <a:gs pos="0">
              <a:schemeClr val="accent5">
                <a:hueOff val="-9114112"/>
                <a:satOff val="-620"/>
                <a:lumOff val="1471"/>
                <a:alphaOff val="0"/>
                <a:satMod val="103000"/>
                <a:lumMod val="102000"/>
                <a:tint val="94000"/>
              </a:schemeClr>
            </a:gs>
            <a:gs pos="50000">
              <a:schemeClr val="accent5">
                <a:hueOff val="-9114112"/>
                <a:satOff val="-620"/>
                <a:lumOff val="1471"/>
                <a:alphaOff val="0"/>
                <a:satMod val="110000"/>
                <a:lumMod val="100000"/>
                <a:shade val="100000"/>
              </a:schemeClr>
            </a:gs>
            <a:gs pos="100000">
              <a:schemeClr val="accent5">
                <a:hueOff val="-9114112"/>
                <a:satOff val="-620"/>
                <a:lumOff val="1471"/>
                <a:alphaOff val="0"/>
                <a:lumMod val="99000"/>
                <a:satMod val="120000"/>
                <a:shade val="78000"/>
              </a:schemeClr>
            </a:gs>
          </a:gsLst>
          <a:lin ang="5400000" scaled="0"/>
        </a:gradFill>
        <a:ln w="12700" cap="flat" cmpd="sng" algn="ctr">
          <a:solidFill>
            <a:schemeClr val="accent5">
              <a:hueOff val="-9114112"/>
              <a:satOff val="-620"/>
              <a:lumOff val="1471"/>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147781" tIns="147781" rIns="147781" bIns="147781" numCol="1" spcCol="1270" anchor="ctr" anchorCtr="0">
          <a:noAutofit/>
        </a:bodyPr>
        <a:lstStyle/>
        <a:p>
          <a:pPr marL="0" lvl="0" indent="0" algn="ctr" defTabSz="800100">
            <a:lnSpc>
              <a:spcPct val="90000"/>
            </a:lnSpc>
            <a:spcBef>
              <a:spcPct val="0"/>
            </a:spcBef>
            <a:spcAft>
              <a:spcPct val="35000"/>
            </a:spcAft>
            <a:buNone/>
          </a:pPr>
          <a:r>
            <a:rPr lang="en-US" sz="1800" kern="1200"/>
            <a:t>Allow</a:t>
          </a:r>
        </a:p>
      </dsp:txBody>
      <dsp:txXfrm>
        <a:off x="5939190" y="555820"/>
        <a:ext cx="1870121" cy="561036"/>
      </dsp:txXfrm>
    </dsp:sp>
    <dsp:sp modelId="{7BACA5CD-DF64-E549-953E-B873652BCAB4}">
      <dsp:nvSpPr>
        <dsp:cNvPr id="0" name=""/>
        <dsp:cNvSpPr/>
      </dsp:nvSpPr>
      <dsp:spPr>
        <a:xfrm>
          <a:off x="5939190" y="1116856"/>
          <a:ext cx="1870121" cy="1498746"/>
        </a:xfrm>
        <a:prstGeom prst="rect">
          <a:avLst/>
        </a:prstGeom>
        <a:solidFill>
          <a:schemeClr val="accent5">
            <a:tint val="40000"/>
            <a:alpha val="90000"/>
            <a:hueOff val="-8958499"/>
            <a:satOff val="2000"/>
            <a:lumOff val="301"/>
            <a:alphaOff val="0"/>
          </a:schemeClr>
        </a:solidFill>
        <a:ln w="12700" cap="flat" cmpd="sng" algn="ctr">
          <a:solidFill>
            <a:schemeClr val="accent5">
              <a:tint val="40000"/>
              <a:alpha val="90000"/>
              <a:hueOff val="-8958499"/>
              <a:satOff val="2000"/>
              <a:lumOff val="301"/>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84726" tIns="184726" rIns="184726" bIns="184726" numCol="1" spcCol="1270" anchor="t" anchorCtr="0">
          <a:noAutofit/>
        </a:bodyPr>
        <a:lstStyle/>
        <a:p>
          <a:pPr marL="0" lvl="0" indent="0" algn="l" defTabSz="622300">
            <a:lnSpc>
              <a:spcPct val="90000"/>
            </a:lnSpc>
            <a:spcBef>
              <a:spcPct val="0"/>
            </a:spcBef>
            <a:spcAft>
              <a:spcPct val="35000"/>
            </a:spcAft>
            <a:buNone/>
          </a:pPr>
          <a:r>
            <a:rPr lang="en-US" sz="1400" kern="1200"/>
            <a:t>Allow families or clinicians to notify authorities if someone becomes acutely unstable</a:t>
          </a:r>
        </a:p>
      </dsp:txBody>
      <dsp:txXfrm>
        <a:off x="5939190" y="1116856"/>
        <a:ext cx="1870121" cy="1498746"/>
      </dsp:txXfrm>
    </dsp:sp>
    <dsp:sp modelId="{9A6E1A89-E441-9043-8606-947F29747C12}">
      <dsp:nvSpPr>
        <dsp:cNvPr id="0" name=""/>
        <dsp:cNvSpPr/>
      </dsp:nvSpPr>
      <dsp:spPr>
        <a:xfrm>
          <a:off x="7917206" y="555820"/>
          <a:ext cx="1870121" cy="561036"/>
        </a:xfrm>
        <a:prstGeom prst="rect">
          <a:avLst/>
        </a:prstGeom>
        <a:gradFill rotWithShape="0">
          <a:gsLst>
            <a:gs pos="0">
              <a:schemeClr val="accent5">
                <a:hueOff val="-12152150"/>
                <a:satOff val="-826"/>
                <a:lumOff val="1961"/>
                <a:alphaOff val="0"/>
                <a:satMod val="103000"/>
                <a:lumMod val="102000"/>
                <a:tint val="94000"/>
              </a:schemeClr>
            </a:gs>
            <a:gs pos="50000">
              <a:schemeClr val="accent5">
                <a:hueOff val="-12152150"/>
                <a:satOff val="-826"/>
                <a:lumOff val="1961"/>
                <a:alphaOff val="0"/>
                <a:satMod val="110000"/>
                <a:lumMod val="100000"/>
                <a:shade val="100000"/>
              </a:schemeClr>
            </a:gs>
            <a:gs pos="100000">
              <a:schemeClr val="accent5">
                <a:hueOff val="-12152150"/>
                <a:satOff val="-826"/>
                <a:lumOff val="1961"/>
                <a:alphaOff val="0"/>
                <a:lumMod val="99000"/>
                <a:satMod val="120000"/>
                <a:shade val="78000"/>
              </a:schemeClr>
            </a:gs>
          </a:gsLst>
          <a:lin ang="5400000" scaled="0"/>
        </a:gradFill>
        <a:ln w="12700" cap="flat" cmpd="sng" algn="ctr">
          <a:solidFill>
            <a:schemeClr val="accent5">
              <a:hueOff val="-12152150"/>
              <a:satOff val="-826"/>
              <a:lumOff val="1961"/>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147781" tIns="147781" rIns="147781" bIns="147781" numCol="1" spcCol="1270" anchor="ctr" anchorCtr="0">
          <a:noAutofit/>
        </a:bodyPr>
        <a:lstStyle/>
        <a:p>
          <a:pPr marL="0" lvl="0" indent="0" algn="ctr" defTabSz="800100">
            <a:lnSpc>
              <a:spcPct val="90000"/>
            </a:lnSpc>
            <a:spcBef>
              <a:spcPct val="0"/>
            </a:spcBef>
            <a:spcAft>
              <a:spcPct val="35000"/>
            </a:spcAft>
            <a:buNone/>
          </a:pPr>
          <a:r>
            <a:rPr lang="en-US" sz="1800" kern="1200"/>
            <a:t>Include</a:t>
          </a:r>
        </a:p>
      </dsp:txBody>
      <dsp:txXfrm>
        <a:off x="7917206" y="555820"/>
        <a:ext cx="1870121" cy="561036"/>
      </dsp:txXfrm>
    </dsp:sp>
    <dsp:sp modelId="{E5A99D3C-6C53-6F42-B20D-5A9D701E6414}">
      <dsp:nvSpPr>
        <dsp:cNvPr id="0" name=""/>
        <dsp:cNvSpPr/>
      </dsp:nvSpPr>
      <dsp:spPr>
        <a:xfrm>
          <a:off x="7917206" y="1116856"/>
          <a:ext cx="1870121" cy="1498746"/>
        </a:xfrm>
        <a:prstGeom prst="rect">
          <a:avLst/>
        </a:prstGeom>
        <a:solidFill>
          <a:schemeClr val="accent5">
            <a:tint val="40000"/>
            <a:alpha val="90000"/>
            <a:hueOff val="-11944666"/>
            <a:satOff val="2667"/>
            <a:lumOff val="401"/>
            <a:alphaOff val="0"/>
          </a:schemeClr>
        </a:solidFill>
        <a:ln w="12700" cap="flat" cmpd="sng" algn="ctr">
          <a:solidFill>
            <a:schemeClr val="accent5">
              <a:tint val="40000"/>
              <a:alpha val="90000"/>
              <a:hueOff val="-11944666"/>
              <a:satOff val="2667"/>
              <a:lumOff val="401"/>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84726" tIns="184726" rIns="184726" bIns="184726" numCol="1" spcCol="1270" anchor="t" anchorCtr="0">
          <a:noAutofit/>
        </a:bodyPr>
        <a:lstStyle/>
        <a:p>
          <a:pPr marL="0" lvl="0" indent="0" algn="l" defTabSz="622300">
            <a:lnSpc>
              <a:spcPct val="90000"/>
            </a:lnSpc>
            <a:spcBef>
              <a:spcPct val="0"/>
            </a:spcBef>
            <a:spcAft>
              <a:spcPct val="35000"/>
            </a:spcAft>
            <a:buNone/>
          </a:pPr>
          <a:r>
            <a:rPr lang="en-US" sz="1400" kern="1200"/>
            <a:t>Include modules on:</a:t>
          </a:r>
        </a:p>
        <a:p>
          <a:pPr marL="57150" lvl="1" indent="-57150" algn="l" defTabSz="488950">
            <a:lnSpc>
              <a:spcPct val="90000"/>
            </a:lnSpc>
            <a:spcBef>
              <a:spcPct val="0"/>
            </a:spcBef>
            <a:spcAft>
              <a:spcPct val="15000"/>
            </a:spcAft>
            <a:buChar char="•"/>
          </a:pPr>
          <a:r>
            <a:rPr lang="en-US" sz="1100" kern="1200" dirty="0"/>
            <a:t>Anger management, substance use risk and general mental health awareness campaigns.</a:t>
          </a:r>
        </a:p>
      </dsp:txBody>
      <dsp:txXfrm>
        <a:off x="7917206" y="1116856"/>
        <a:ext cx="1870121" cy="1498746"/>
      </dsp:txXfrm>
    </dsp:sp>
  </dsp:spTree>
</dsp:drawing>
</file>

<file path=ppt/diagrams/layout1.xml><?xml version="1.0" encoding="utf-8"?>
<dgm:layoutDef xmlns:dgm="http://schemas.openxmlformats.org/drawingml/2006/diagram" xmlns:a="http://schemas.openxmlformats.org/drawingml/2006/main" uniqueId="urn:microsoft.com/office/officeart/2016/7/layout/HorizontalActionList">
  <dgm:title val="Horizontal Action List"/>
  <dgm:desc val="Used to show non-sequential or grouped lists of information. Works well with large amounts of text. All text has the same level of emphasis, and direction is not implied."/>
  <dgm:catLst>
    <dgm:cat type="list" pri="5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fact="0.6"/>
      <dgm:constr type="h" for="des" forName="composite" op="equ"/>
      <dgm:constr type="w" for="ch" forName="composite" refType="w"/>
      <dgm:constr type="w" for="des" forName="parTx"/>
      <dgm:constr type="h" for="des" forName="parTx" op="equ"/>
      <dgm:constr type="w" for="des" forName="desTx"/>
      <dgm:constr type="primFontSz" for="des" forName="parTx" val="54"/>
      <dgm:constr type="primFontSz" for="des" forName="desTx" refType="primFontSz" refFor="des" refForName="parTx" op="lte" fact="0.75"/>
      <dgm:constr type="h" for="des" forName="desTx" op="equ"/>
      <dgm:constr type="w" for="ch" forName="space" op="equ" val="3"/>
    </dgm:constrLst>
    <dgm:ruleLst>
      <dgm:rule type="w" for="ch" forName="composite" val="0" fact="NaN" max="NaN"/>
    </dgm:ruleLst>
    <dgm:forEach name="Name6"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varLst>
          <dgm:alg type="tx"/>
          <dgm:shape xmlns:r="http://schemas.openxmlformats.org/officeDocument/2006/relationships" type="rect" r:blip="">
            <dgm:adjLst/>
          </dgm:shape>
          <dgm:presOf axis="self" ptType="node"/>
          <dgm:constrLst>
            <dgm:constr type="h" refType="w" op="lte" fact="0.3"/>
            <dgm:constr type="h"/>
            <dgm:constr type="tMarg" refType="w" fact="0.224"/>
            <dgm:constr type="bMarg" refType="w" fact="0.224"/>
            <dgm:constr type="lMarg" refType="w" fact="0.224"/>
            <dgm:constr type="rMarg" refType="w" fact="0.224"/>
          </dgm:constrLst>
          <dgm:ruleLst>
            <dgm:rule type="h" val="INF" fact="NaN" max="NaN"/>
            <dgm:rule type="primFontSz" val="14" fact="NaN" max="NaN"/>
          </dgm:ruleLst>
        </dgm:layoutNode>
        <dgm:layoutNode name="desTx" styleLbl="alignAccFollowNode1">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primFontSz" val="28"/>
            <dgm:constr type="tMarg" refType="w" fact="0.28"/>
            <dgm:constr type="bMarg" refType="w" fact="0.28"/>
            <dgm:constr type="lMarg" refType="w" fact="0.28"/>
            <dgm:constr type="rMarg" refType="w" fact="0.28"/>
          </dgm:constrLst>
          <dgm:ruleLst>
            <dgm:rule type="h" val="INF" fact="NaN" max="NaN"/>
            <dgm:rule type="primFontSz" val="11"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04CD258-BB34-69EE-E17E-2F6A949A42EF}"/>
              </a:ext>
            </a:extLst>
          </p:cNvPr>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F509546A-6E84-4894-38E4-DD16C3BEEB1E}"/>
              </a:ext>
            </a:extLst>
          </p:cNvPr>
          <p:cNvSpPr>
            <a:spLocks noGrp="1"/>
          </p:cNvSpPr>
          <p:nvPr>
            <p:ph type="dt" sz="quarter" idx="1"/>
          </p:nvPr>
        </p:nvSpPr>
        <p:spPr>
          <a:xfrm>
            <a:off x="5180013" y="0"/>
            <a:ext cx="3962400" cy="344488"/>
          </a:xfrm>
          <a:prstGeom prst="rect">
            <a:avLst/>
          </a:prstGeom>
        </p:spPr>
        <p:txBody>
          <a:bodyPr vert="horz" lIns="91440" tIns="45720" rIns="91440" bIns="45720" rtlCol="0"/>
          <a:lstStyle>
            <a:lvl1pPr algn="r">
              <a:defRPr sz="1200"/>
            </a:lvl1pPr>
          </a:lstStyle>
          <a:p>
            <a:fld id="{E59EE03F-B8C2-9C43-86E6-97C926494862}" type="datetimeFigureOut">
              <a:rPr lang="en-GB" smtClean="0"/>
              <a:t>20/04/2026</a:t>
            </a:fld>
            <a:endParaRPr lang="en-GB"/>
          </a:p>
        </p:txBody>
      </p:sp>
      <p:sp>
        <p:nvSpPr>
          <p:cNvPr id="4" name="Footer Placeholder 3">
            <a:extLst>
              <a:ext uri="{FF2B5EF4-FFF2-40B4-BE49-F238E27FC236}">
                <a16:creationId xmlns:a16="http://schemas.microsoft.com/office/drawing/2014/main" id="{D9F53E99-CBC4-91D3-B585-23C9B88BB376}"/>
              </a:ext>
            </a:extLst>
          </p:cNvPr>
          <p:cNvSpPr>
            <a:spLocks noGrp="1"/>
          </p:cNvSpPr>
          <p:nvPr>
            <p:ph type="ftr" sz="quarter" idx="2"/>
          </p:nvPr>
        </p:nvSpPr>
        <p:spPr>
          <a:xfrm>
            <a:off x="0" y="6513513"/>
            <a:ext cx="3962400" cy="3444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D29E7566-6B7D-2BC5-ACE9-41B0A7D86194}"/>
              </a:ext>
            </a:extLst>
          </p:cNvPr>
          <p:cNvSpPr>
            <a:spLocks noGrp="1"/>
          </p:cNvSpPr>
          <p:nvPr>
            <p:ph type="sldNum" sz="quarter" idx="3"/>
          </p:nvPr>
        </p:nvSpPr>
        <p:spPr>
          <a:xfrm>
            <a:off x="5180013" y="6513513"/>
            <a:ext cx="3962400" cy="344487"/>
          </a:xfrm>
          <a:prstGeom prst="rect">
            <a:avLst/>
          </a:prstGeom>
        </p:spPr>
        <p:txBody>
          <a:bodyPr vert="horz" lIns="91440" tIns="45720" rIns="91440" bIns="45720" rtlCol="0" anchor="b"/>
          <a:lstStyle>
            <a:lvl1pPr algn="r">
              <a:defRPr sz="1200"/>
            </a:lvl1pPr>
          </a:lstStyle>
          <a:p>
            <a:fld id="{36EC6091-FC28-DA49-B3AD-77CFF9E154F1}" type="slidenum">
              <a:rPr lang="en-GB" smtClean="0"/>
              <a:t>‹#›</a:t>
            </a:fld>
            <a:endParaRPr lang="en-GB"/>
          </a:p>
        </p:txBody>
      </p:sp>
    </p:spTree>
    <p:extLst>
      <p:ext uri="{BB962C8B-B14F-4D97-AF65-F5344CB8AC3E}">
        <p14:creationId xmlns:p14="http://schemas.microsoft.com/office/powerpoint/2010/main" val="258570883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091"/>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5179484" y="0"/>
            <a:ext cx="3962400" cy="344091"/>
          </a:xfrm>
          <a:prstGeom prst="rect">
            <a:avLst/>
          </a:prstGeom>
        </p:spPr>
        <p:txBody>
          <a:bodyPr vert="horz" lIns="91440" tIns="45720" rIns="91440" bIns="45720" rtlCol="0"/>
          <a:lstStyle>
            <a:lvl1pPr algn="r">
              <a:defRPr sz="1200"/>
            </a:lvl1pPr>
          </a:lstStyle>
          <a:p>
            <a:fld id="{321425E6-5724-4E4E-AB14-70ED3DEC718F}" type="datetimeFigureOut">
              <a:rPr lang="en-GB" smtClean="0"/>
              <a:t>20/04/2026</a:t>
            </a:fld>
            <a:endParaRPr lang="en-GB"/>
          </a:p>
        </p:txBody>
      </p:sp>
      <p:sp>
        <p:nvSpPr>
          <p:cNvPr id="4" name="Slide Image Placeholder 3"/>
          <p:cNvSpPr>
            <a:spLocks noGrp="1" noRot="1" noChangeAspect="1"/>
          </p:cNvSpPr>
          <p:nvPr>
            <p:ph type="sldImg" idx="2"/>
          </p:nvPr>
        </p:nvSpPr>
        <p:spPr>
          <a:xfrm>
            <a:off x="2514600" y="857250"/>
            <a:ext cx="4114800" cy="2314575"/>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914400" y="3300412"/>
            <a:ext cx="7315200" cy="2700338"/>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6513910"/>
            <a:ext cx="3962400" cy="34409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5179484" y="6513910"/>
            <a:ext cx="3962400" cy="344090"/>
          </a:xfrm>
          <a:prstGeom prst="rect">
            <a:avLst/>
          </a:prstGeom>
        </p:spPr>
        <p:txBody>
          <a:bodyPr vert="horz" lIns="91440" tIns="45720" rIns="91440" bIns="45720" rtlCol="0" anchor="b"/>
          <a:lstStyle>
            <a:lvl1pPr algn="r">
              <a:defRPr sz="1200"/>
            </a:lvl1pPr>
          </a:lstStyle>
          <a:p>
            <a:fld id="{B3CB08FA-E20F-E042-B3BF-885FF5DE3467}" type="slidenum">
              <a:rPr lang="en-GB" smtClean="0"/>
              <a:t>‹#›</a:t>
            </a:fld>
            <a:endParaRPr lang="en-GB"/>
          </a:p>
        </p:txBody>
      </p:sp>
    </p:spTree>
    <p:extLst>
      <p:ext uri="{BB962C8B-B14F-4D97-AF65-F5344CB8AC3E}">
        <p14:creationId xmlns:p14="http://schemas.microsoft.com/office/powerpoint/2010/main" val="16390032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Good afternoon. I am Kelebogile Msane. I am a medical doctor, currently working in Ekurhuleni.  I was asked to speak about the importance of of a multisectoral approach to mental health so this talk will explore how different sectors can work together to promote mental well being, prevent mental illness and support those who are living with mental health conditions.</a:t>
            </a:r>
          </a:p>
        </p:txBody>
      </p:sp>
      <p:sp>
        <p:nvSpPr>
          <p:cNvPr id="4" name="Slide Number Placeholder 3"/>
          <p:cNvSpPr>
            <a:spLocks noGrp="1"/>
          </p:cNvSpPr>
          <p:nvPr>
            <p:ph type="sldNum" sz="quarter" idx="5"/>
          </p:nvPr>
        </p:nvSpPr>
        <p:spPr/>
        <p:txBody>
          <a:bodyPr/>
          <a:lstStyle/>
          <a:p>
            <a:fld id="{B3CB08FA-E20F-E042-B3BF-885FF5DE3467}" type="slidenum">
              <a:rPr lang="en-GB" smtClean="0"/>
              <a:t>1</a:t>
            </a:fld>
            <a:endParaRPr lang="en-GB"/>
          </a:p>
        </p:txBody>
      </p:sp>
    </p:spTree>
    <p:extLst>
      <p:ext uri="{BB962C8B-B14F-4D97-AF65-F5344CB8AC3E}">
        <p14:creationId xmlns:p14="http://schemas.microsoft.com/office/powerpoint/2010/main" val="38107670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Areas that will cover in the talk include the following:</a:t>
            </a:r>
          </a:p>
        </p:txBody>
      </p:sp>
      <p:sp>
        <p:nvSpPr>
          <p:cNvPr id="4" name="Slide Number Placeholder 3"/>
          <p:cNvSpPr>
            <a:spLocks noGrp="1"/>
          </p:cNvSpPr>
          <p:nvPr>
            <p:ph type="sldNum" sz="quarter" idx="5"/>
          </p:nvPr>
        </p:nvSpPr>
        <p:spPr/>
        <p:txBody>
          <a:bodyPr/>
          <a:lstStyle/>
          <a:p>
            <a:fld id="{B3CB08FA-E20F-E042-B3BF-885FF5DE3467}" type="slidenum">
              <a:rPr lang="en-GB" smtClean="0"/>
              <a:t>2</a:t>
            </a:fld>
            <a:endParaRPr lang="en-GB"/>
          </a:p>
        </p:txBody>
      </p:sp>
    </p:spTree>
    <p:extLst>
      <p:ext uri="{BB962C8B-B14F-4D97-AF65-F5344CB8AC3E}">
        <p14:creationId xmlns:p14="http://schemas.microsoft.com/office/powerpoint/2010/main" val="29341797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When we talk about mental health, we are not only talking about mental illness, but also the ability to live, cope and thrive.  This is important as mental heath shapes how we experience life and connect with others.  And so as shown I the slide the WHO defines mental  health as…….</a:t>
            </a:r>
          </a:p>
        </p:txBody>
      </p:sp>
      <p:sp>
        <p:nvSpPr>
          <p:cNvPr id="4" name="Slide Number Placeholder 3"/>
          <p:cNvSpPr>
            <a:spLocks noGrp="1"/>
          </p:cNvSpPr>
          <p:nvPr>
            <p:ph type="sldNum" sz="quarter" idx="5"/>
          </p:nvPr>
        </p:nvSpPr>
        <p:spPr/>
        <p:txBody>
          <a:bodyPr/>
          <a:lstStyle/>
          <a:p>
            <a:fld id="{B3CB08FA-E20F-E042-B3BF-885FF5DE3467}" type="slidenum">
              <a:rPr lang="en-GB" smtClean="0"/>
              <a:t>3</a:t>
            </a:fld>
            <a:endParaRPr lang="en-GB"/>
          </a:p>
        </p:txBody>
      </p:sp>
    </p:spTree>
    <p:extLst>
      <p:ext uri="{BB962C8B-B14F-4D97-AF65-F5344CB8AC3E}">
        <p14:creationId xmlns:p14="http://schemas.microsoft.com/office/powerpoint/2010/main" val="36458095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So like I have just mentioned understanding the definition is important, but it becomes more meaningful when we see how good mental health show up in daily functioning.  Some examples of good mental health include:……</a:t>
            </a:r>
          </a:p>
        </p:txBody>
      </p:sp>
      <p:sp>
        <p:nvSpPr>
          <p:cNvPr id="4" name="Slide Number Placeholder 3"/>
          <p:cNvSpPr>
            <a:spLocks noGrp="1"/>
          </p:cNvSpPr>
          <p:nvPr>
            <p:ph type="sldNum" sz="quarter" idx="5"/>
          </p:nvPr>
        </p:nvSpPr>
        <p:spPr/>
        <p:txBody>
          <a:bodyPr/>
          <a:lstStyle/>
          <a:p>
            <a:fld id="{B3CB08FA-E20F-E042-B3BF-885FF5DE3467}" type="slidenum">
              <a:rPr lang="en-GB" smtClean="0"/>
              <a:t>4</a:t>
            </a:fld>
            <a:endParaRPr lang="en-GB"/>
          </a:p>
        </p:txBody>
      </p:sp>
    </p:spTree>
    <p:extLst>
      <p:ext uri="{BB962C8B-B14F-4D97-AF65-F5344CB8AC3E}">
        <p14:creationId xmlns:p14="http://schemas.microsoft.com/office/powerpoint/2010/main" val="15158389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To gain more insight as to how one acquires these adaptive traits and if we want to promote mental health , we must understand the conditions that allow it to grow…</a:t>
            </a:r>
          </a:p>
          <a:p>
            <a:r>
              <a:rPr lang="en-GB" dirty="0"/>
              <a:t>Listed in the table are most of the biopsychosocial inputs of mental health.  On an individual level starting in childhood, traits such as…</a:t>
            </a:r>
          </a:p>
          <a:p>
            <a:endParaRPr lang="en-GB" dirty="0"/>
          </a:p>
          <a:p>
            <a:endParaRPr lang="en-GB" dirty="0"/>
          </a:p>
        </p:txBody>
      </p:sp>
      <p:sp>
        <p:nvSpPr>
          <p:cNvPr id="4" name="Slide Number Placeholder 3"/>
          <p:cNvSpPr>
            <a:spLocks noGrp="1"/>
          </p:cNvSpPr>
          <p:nvPr>
            <p:ph type="sldNum" sz="quarter" idx="5"/>
          </p:nvPr>
        </p:nvSpPr>
        <p:spPr/>
        <p:txBody>
          <a:bodyPr/>
          <a:lstStyle/>
          <a:p>
            <a:fld id="{B3CB08FA-E20F-E042-B3BF-885FF5DE3467}" type="slidenum">
              <a:rPr lang="en-GB" smtClean="0"/>
              <a:t>5</a:t>
            </a:fld>
            <a:endParaRPr lang="en-GB"/>
          </a:p>
        </p:txBody>
      </p:sp>
    </p:spTree>
    <p:extLst>
      <p:ext uri="{BB962C8B-B14F-4D97-AF65-F5344CB8AC3E}">
        <p14:creationId xmlns:p14="http://schemas.microsoft.com/office/powerpoint/2010/main" val="33979898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Now looking at the numbers, we know that Mental illness has become a growing concern globally.  According to the WHO, more than 1 billion people worldwide are living with a mental disorder, meaning roughly 1 in 8 people is affected.  Mental disorders contribute substantially to the global burden of disease accounting for about 1 in 10 disability adjusted life years ( DALYs) and 1 in 6 years lived with disability (YLDs).  </a:t>
            </a:r>
          </a:p>
          <a:p>
            <a:endParaRPr lang="en-GB" dirty="0"/>
          </a:p>
          <a:p>
            <a:r>
              <a:rPr lang="en-GB" dirty="0"/>
              <a:t>So when we speak about the burden for disease we often use a measure called DALYs which stand for Disability adjusted life years.  A DALY represents a year of healthy life lost either to premature death or they are living with disability. So if you have 70 years of healthy life, this means that you 7 of those years my be lost due to early death and impairing symptoms related to mental health.</a:t>
            </a:r>
          </a:p>
          <a:p>
            <a:r>
              <a:rPr lang="en-GB" dirty="0"/>
              <a:t>The most affected age group are adults between the ages of 25-54, particularly those aged 35-44.  Despite the high burden, a major treatment gap exist with approximately 71% of affected individual not receiving adequate care or any treatment at all.</a:t>
            </a:r>
          </a:p>
        </p:txBody>
      </p:sp>
      <p:sp>
        <p:nvSpPr>
          <p:cNvPr id="4" name="Slide Number Placeholder 3"/>
          <p:cNvSpPr>
            <a:spLocks noGrp="1"/>
          </p:cNvSpPr>
          <p:nvPr>
            <p:ph type="sldNum" sz="quarter" idx="5"/>
          </p:nvPr>
        </p:nvSpPr>
        <p:spPr/>
        <p:txBody>
          <a:bodyPr/>
          <a:lstStyle/>
          <a:p>
            <a:fld id="{B3CB08FA-E20F-E042-B3BF-885FF5DE3467}" type="slidenum">
              <a:rPr lang="en-GB" smtClean="0"/>
              <a:t>6</a:t>
            </a:fld>
            <a:endParaRPr lang="en-GB"/>
          </a:p>
        </p:txBody>
      </p:sp>
    </p:spTree>
    <p:extLst>
      <p:ext uri="{BB962C8B-B14F-4D97-AF65-F5344CB8AC3E}">
        <p14:creationId xmlns:p14="http://schemas.microsoft.com/office/powerpoint/2010/main" val="32246432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 SA the situation is also concerning with an estimated 13-16%of the population or about 1 in 5  being diagnosed with a mental disorders in a 12-month period.</a:t>
            </a:r>
          </a:p>
          <a:p>
            <a:r>
              <a:rPr lang="en-GB" dirty="0"/>
              <a:t>Over a lifetime it is estimated that 30% of people will  and 30 % or 1in 3 experiencing  a mental illness.</a:t>
            </a:r>
          </a:p>
          <a:p>
            <a:endParaRPr lang="en-GB" dirty="0"/>
          </a:p>
          <a:p>
            <a:r>
              <a:rPr lang="en-GB" dirty="0"/>
              <a:t>The most common condition are depressive disorder, anxiety disorders and a substance use.  In children, ADHD is the most commonly occurring neurodevelopmental disorder.  </a:t>
            </a:r>
          </a:p>
          <a:p>
            <a:r>
              <a:rPr lang="en-GB" dirty="0"/>
              <a:t>In south Africa where there are fewer than 1 psychiatrist for 100 000 people ( compared t0 3 per 100 000 globally) the treatment gap for mental illness is further extended to 91 % of affected people not being able to access/receive any treatment for mental illness.</a:t>
            </a:r>
          </a:p>
        </p:txBody>
      </p:sp>
      <p:sp>
        <p:nvSpPr>
          <p:cNvPr id="4" name="Slide Number Placeholder 3"/>
          <p:cNvSpPr>
            <a:spLocks noGrp="1"/>
          </p:cNvSpPr>
          <p:nvPr>
            <p:ph type="sldNum" sz="quarter" idx="5"/>
          </p:nvPr>
        </p:nvSpPr>
        <p:spPr/>
        <p:txBody>
          <a:bodyPr/>
          <a:lstStyle/>
          <a:p>
            <a:fld id="{B3CB08FA-E20F-E042-B3BF-885FF5DE3467}" type="slidenum">
              <a:rPr lang="en-GB" smtClean="0"/>
              <a:t>7</a:t>
            </a:fld>
            <a:endParaRPr lang="en-GB"/>
          </a:p>
        </p:txBody>
      </p:sp>
    </p:spTree>
    <p:extLst>
      <p:ext uri="{BB962C8B-B14F-4D97-AF65-F5344CB8AC3E}">
        <p14:creationId xmlns:p14="http://schemas.microsoft.com/office/powerpoint/2010/main" val="266051008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GB" sz="1200" dirty="0">
                <a:solidFill>
                  <a:srgbClr val="FFFFFF"/>
                </a:solidFill>
              </a:rPr>
              <a:t>When a person in household has a mental disorder, it affects the entire household work-life/ career and school as well..</a:t>
            </a:r>
          </a:p>
          <a:p>
            <a:pPr marL="0" indent="0">
              <a:buNone/>
            </a:pPr>
            <a:endParaRPr lang="en-GB" sz="1200" dirty="0">
              <a:solidFill>
                <a:srgbClr val="FFFFFF"/>
              </a:solidFill>
            </a:endParaRPr>
          </a:p>
          <a:p>
            <a:pPr marL="0" indent="0">
              <a:buNone/>
            </a:pPr>
            <a:r>
              <a:rPr lang="en-GB" sz="1200" dirty="0">
                <a:solidFill>
                  <a:srgbClr val="FFFFFF"/>
                </a:solidFill>
              </a:rPr>
              <a:t>In the workplace we often see presenteeism where individuals are physically present but unable to function at their full capacity. This leads to low work productivity.  At the same time absenteeism becomes common, with peoples needing time off to manage acute  symptoms, attend medical appointments or recover from episodes.</a:t>
            </a:r>
          </a:p>
          <a:p>
            <a:pPr marL="0" indent="0">
              <a:buNone/>
            </a:pPr>
            <a:endParaRPr lang="en-GB" sz="1200" dirty="0">
              <a:solidFill>
                <a:srgbClr val="FFFFFF"/>
              </a:solidFill>
            </a:endParaRPr>
          </a:p>
          <a:p>
            <a:pPr marL="0" indent="0">
              <a:buNone/>
            </a:pPr>
            <a:r>
              <a:rPr lang="en-GB" sz="1200" dirty="0">
                <a:solidFill>
                  <a:srgbClr val="FFFFFF"/>
                </a:solidFill>
              </a:rPr>
              <a:t>For young people mental health problems can disrupt school through missed days, difficulty concentrating or dropping out altogether.  Over time this contributes to lower levels of education which then affect future opportunities as this translates to reduced earning potential, which increases the likelihood of economic and financial instability.</a:t>
            </a:r>
          </a:p>
          <a:p>
            <a:pPr marL="0" indent="0">
              <a:buNone/>
            </a:pPr>
            <a:endParaRPr lang="en-GB" sz="1200" dirty="0">
              <a:solidFill>
                <a:srgbClr val="FFFFFF"/>
              </a:solidFill>
            </a:endParaRPr>
          </a:p>
          <a:p>
            <a:pPr marL="0" indent="0">
              <a:buNone/>
            </a:pPr>
            <a:r>
              <a:rPr lang="en-GB" sz="1200" dirty="0">
                <a:solidFill>
                  <a:srgbClr val="FFFFFF"/>
                </a:solidFill>
              </a:rPr>
              <a:t>Relatives and family members often take on the caregiving roles which  may also require them to miss work or school for doctors’ appointments and supervision. If caregiving is prolonged at times this may result in burnout.  Also with both the affected and family may lose opportunities for employment and income and therefore growing financial strain on the family.  This cycle demonstrates how mental illness has a ripple effect across many sectors in society.</a:t>
            </a:r>
          </a:p>
          <a:p>
            <a:pPr marL="0" indent="0">
              <a:buNone/>
            </a:pPr>
            <a:endParaRPr lang="en-GB" sz="1200" dirty="0">
              <a:solidFill>
                <a:srgbClr val="FFFFFF"/>
              </a:solidFill>
            </a:endParaRPr>
          </a:p>
          <a:p>
            <a:endParaRPr lang="en-GB" dirty="0"/>
          </a:p>
        </p:txBody>
      </p:sp>
      <p:sp>
        <p:nvSpPr>
          <p:cNvPr id="4" name="Slide Number Placeholder 3"/>
          <p:cNvSpPr>
            <a:spLocks noGrp="1"/>
          </p:cNvSpPr>
          <p:nvPr>
            <p:ph type="sldNum" sz="quarter" idx="5"/>
          </p:nvPr>
        </p:nvSpPr>
        <p:spPr/>
        <p:txBody>
          <a:bodyPr/>
          <a:lstStyle/>
          <a:p>
            <a:fld id="{B3CB08FA-E20F-E042-B3BF-885FF5DE3467}" type="slidenum">
              <a:rPr lang="en-GB" smtClean="0"/>
              <a:t>8</a:t>
            </a:fld>
            <a:endParaRPr lang="en-GB"/>
          </a:p>
        </p:txBody>
      </p:sp>
    </p:spTree>
    <p:extLst>
      <p:ext uri="{BB962C8B-B14F-4D97-AF65-F5344CB8AC3E}">
        <p14:creationId xmlns:p14="http://schemas.microsoft.com/office/powerpoint/2010/main" val="212882862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To understand the tangible real-life impact of mental illness, we need to look beyond the individual and consider the household.  In south Africa, the national minimum wages around R30.23 per hour, which translates into roughly R4800 per month.  If someone with a mental illness misses 5 days of work in a month, the household can lose more than R1200 for a low income household this  is a substantial amount of their monthly income.  In a  year this amounts to R58000-60,000 being lost, not including the cost of transport to the clinic, medication of the clinics happens to be out of stock and cost caregivers having to miss work to care for the MHCU.</a:t>
            </a:r>
          </a:p>
          <a:p>
            <a:endParaRPr lang="en-GB" dirty="0"/>
          </a:p>
          <a:p>
            <a:endParaRPr lang="en-GB" dirty="0"/>
          </a:p>
          <a:p>
            <a:endParaRPr lang="en-GB" dirty="0"/>
          </a:p>
          <a:p>
            <a:r>
              <a:rPr lang="en-GB" dirty="0"/>
              <a:t>This feeds into the cycle of poverty  and financial strain and economic instability.</a:t>
            </a:r>
          </a:p>
          <a:p>
            <a:endParaRPr lang="en-GB" dirty="0"/>
          </a:p>
          <a:p>
            <a:endParaRPr lang="en-GB" dirty="0"/>
          </a:p>
        </p:txBody>
      </p:sp>
      <p:sp>
        <p:nvSpPr>
          <p:cNvPr id="4" name="Slide Number Placeholder 3"/>
          <p:cNvSpPr>
            <a:spLocks noGrp="1"/>
          </p:cNvSpPr>
          <p:nvPr>
            <p:ph type="sldNum" sz="quarter" idx="5"/>
          </p:nvPr>
        </p:nvSpPr>
        <p:spPr/>
        <p:txBody>
          <a:bodyPr/>
          <a:lstStyle/>
          <a:p>
            <a:fld id="{B3CB08FA-E20F-E042-B3BF-885FF5DE3467}" type="slidenum">
              <a:rPr lang="en-GB" smtClean="0"/>
              <a:t>9</a:t>
            </a:fld>
            <a:endParaRPr lang="en-GB"/>
          </a:p>
        </p:txBody>
      </p:sp>
    </p:spTree>
    <p:extLst>
      <p:ext uri="{BB962C8B-B14F-4D97-AF65-F5344CB8AC3E}">
        <p14:creationId xmlns:p14="http://schemas.microsoft.com/office/powerpoint/2010/main" val="18875052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Just as I mentioned the positive contributors of good mental health. I would also like to mention the determinants of negative mental health.  </a:t>
            </a:r>
          </a:p>
        </p:txBody>
      </p:sp>
      <p:sp>
        <p:nvSpPr>
          <p:cNvPr id="4" name="Slide Number Placeholder 3"/>
          <p:cNvSpPr>
            <a:spLocks noGrp="1"/>
          </p:cNvSpPr>
          <p:nvPr>
            <p:ph type="sldNum" sz="quarter" idx="5"/>
          </p:nvPr>
        </p:nvSpPr>
        <p:spPr/>
        <p:txBody>
          <a:bodyPr/>
          <a:lstStyle/>
          <a:p>
            <a:fld id="{B3CB08FA-E20F-E042-B3BF-885FF5DE3467}" type="slidenum">
              <a:rPr lang="en-GB" smtClean="0"/>
              <a:t>10</a:t>
            </a:fld>
            <a:endParaRPr lang="en-GB"/>
          </a:p>
        </p:txBody>
      </p:sp>
    </p:spTree>
    <p:extLst>
      <p:ext uri="{BB962C8B-B14F-4D97-AF65-F5344CB8AC3E}">
        <p14:creationId xmlns:p14="http://schemas.microsoft.com/office/powerpoint/2010/main" val="312526950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effectLst/>
                <a:latin typeface="Aptos" panose="020B0004020202020204" pitchFamily="34" charset="0"/>
                <a:ea typeface="Aptos" panose="020B0004020202020204" pitchFamily="34" charset="0"/>
                <a:cs typeface="Times New Roman" panose="02020603050405020304" pitchFamily="18" charset="0"/>
              </a:rPr>
              <a:t>Mental health  and mental disorders arise from a multifactorial/multisectoral contributors and therefore require a multisectoral approach that integrates healthcare, education, policy and community efforts for holistic and comprehensive treatment and preventions.  Because of this the responsibility for protecting mental health must also be further cemented in the policies that guide those contributing sectors. So optimising existing </a:t>
            </a:r>
            <a:r>
              <a:rPr lang="en-GB" sz="1200">
                <a:effectLst/>
                <a:latin typeface="Aptos" panose="020B0004020202020204" pitchFamily="34" charset="0"/>
                <a:ea typeface="Aptos" panose="020B0004020202020204" pitchFamily="34" charset="0"/>
                <a:cs typeface="Times New Roman" panose="02020603050405020304" pitchFamily="18" charset="0"/>
              </a:rPr>
              <a:t>laws  would allow </a:t>
            </a:r>
            <a:r>
              <a:rPr lang="en-GB" sz="1200" dirty="0">
                <a:effectLst/>
                <a:latin typeface="Aptos" panose="020B0004020202020204" pitchFamily="34" charset="0"/>
                <a:ea typeface="Aptos" panose="020B0004020202020204" pitchFamily="34" charset="0"/>
                <a:cs typeface="Times New Roman" panose="02020603050405020304" pitchFamily="18" charset="0"/>
              </a:rPr>
              <a:t>us to prevent mental illness before it becomes a  national medical crisis.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dirty="0">
              <a:effectLst/>
              <a:latin typeface="Aptos" panose="020B0004020202020204" pitchFamily="34" charset="0"/>
              <a:ea typeface="Aptos" panose="020B000402020202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ZA" sz="1200" dirty="0">
              <a:effectLst/>
              <a:latin typeface="Aptos" panose="020B0004020202020204" pitchFamily="34" charset="0"/>
              <a:ea typeface="Aptos" panose="020B0004020202020204" pitchFamily="34" charset="0"/>
              <a:cs typeface="Times New Roman" panose="02020603050405020304" pitchFamily="18" charset="0"/>
            </a:endParaRPr>
          </a:p>
          <a:p>
            <a:endParaRPr lang="en-GB" dirty="0"/>
          </a:p>
        </p:txBody>
      </p:sp>
      <p:sp>
        <p:nvSpPr>
          <p:cNvPr id="4" name="Slide Number Placeholder 3"/>
          <p:cNvSpPr>
            <a:spLocks noGrp="1"/>
          </p:cNvSpPr>
          <p:nvPr>
            <p:ph type="sldNum" sz="quarter" idx="5"/>
          </p:nvPr>
        </p:nvSpPr>
        <p:spPr/>
        <p:txBody>
          <a:bodyPr/>
          <a:lstStyle/>
          <a:p>
            <a:fld id="{B3CB08FA-E20F-E042-B3BF-885FF5DE3467}" type="slidenum">
              <a:rPr lang="en-GB" smtClean="0"/>
              <a:t>11</a:t>
            </a:fld>
            <a:endParaRPr lang="en-GB"/>
          </a:p>
        </p:txBody>
      </p:sp>
    </p:spTree>
    <p:extLst>
      <p:ext uri="{BB962C8B-B14F-4D97-AF65-F5344CB8AC3E}">
        <p14:creationId xmlns:p14="http://schemas.microsoft.com/office/powerpoint/2010/main" val="73078180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tabLst>
                <a:tab pos="726440" algn="l"/>
              </a:tabLst>
            </a:pPr>
            <a:r>
              <a:rPr lang="en-GB" sz="12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rPr>
              <a:t>Starting in the medical field, more specifically, in the field of psychiatry , multidisciplinary teams, comprising psychiatrist, psychologists, social workers, Occupational therapist, nurses and other allied professionals are the cornerstone of comprehensive treatment approaches, facilitating holistic patient care in assessments, intervention and support.  Each contributing their expertise to assessment, prevention and treatment of Mental illness.  This approach has been widely supported by literature, emphasizing its efficacy in addressing (at times) complex biopsychosocial challenges. </a:t>
            </a:r>
          </a:p>
          <a:p>
            <a:pPr>
              <a:buNone/>
              <a:tabLst>
                <a:tab pos="726440" algn="l"/>
              </a:tabLst>
            </a:pPr>
            <a:r>
              <a:rPr lang="en-GB" sz="1200" i="1" u="sng" dirty="0">
                <a:solidFill>
                  <a:srgbClr val="FFFFFF"/>
                </a:solidFill>
                <a:effectLst/>
                <a:latin typeface="Aptos" panose="020B0004020202020204" pitchFamily="34" charset="0"/>
                <a:ea typeface="Aptos" panose="020B0004020202020204" pitchFamily="34" charset="0"/>
                <a:cs typeface="Times New Roman" panose="02020603050405020304" pitchFamily="18" charset="0"/>
              </a:rPr>
              <a:t>Read slide</a:t>
            </a:r>
            <a:r>
              <a:rPr lang="en-GB" sz="12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rPr>
              <a:t> </a:t>
            </a:r>
            <a:endParaRPr lang="en-ZA" sz="12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endParaRPr>
          </a:p>
          <a:p>
            <a:pPr>
              <a:buNone/>
              <a:tabLst>
                <a:tab pos="726440" algn="l"/>
              </a:tabLst>
            </a:pPr>
            <a:r>
              <a:rPr lang="en-GB" sz="12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rPr>
              <a:t>Another important component of MDT is the  consultation liaison psychiatry which bridges the gap between the psych team and other medical  disciplines by integrating psychiatric assessment and management within general healthcare settings such as hospitals and PHC.  Through this approach high risk pts can be identified early, broader social issues that determine mental being can be addressed </a:t>
            </a:r>
            <a:r>
              <a:rPr lang="en-GB" sz="1200" dirty="0" err="1">
                <a:solidFill>
                  <a:srgbClr val="FFFFFF"/>
                </a:solidFill>
                <a:effectLst/>
                <a:latin typeface="Aptos" panose="020B0004020202020204" pitchFamily="34" charset="0"/>
                <a:ea typeface="Aptos" panose="020B0004020202020204" pitchFamily="34" charset="0"/>
                <a:cs typeface="Times New Roman" panose="02020603050405020304" pitchFamily="18" charset="0"/>
              </a:rPr>
              <a:t>E.g</a:t>
            </a:r>
            <a:r>
              <a:rPr lang="en-GB" sz="12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rPr>
              <a:t> teenage pregnancy clinic in Bara on </a:t>
            </a:r>
            <a:r>
              <a:rPr lang="en-GB" sz="1200" dirty="0" err="1">
                <a:solidFill>
                  <a:srgbClr val="FFFFFF"/>
                </a:solidFill>
                <a:effectLst/>
                <a:latin typeface="Aptos" panose="020B0004020202020204" pitchFamily="34" charset="0"/>
                <a:ea typeface="Aptos" panose="020B0004020202020204" pitchFamily="34" charset="0"/>
                <a:cs typeface="Times New Roman" panose="02020603050405020304" pitchFamily="18" charset="0"/>
              </a:rPr>
              <a:t>fridays</a:t>
            </a:r>
            <a:r>
              <a:rPr lang="en-GB" sz="12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rPr>
              <a:t>, which provides one-stop shop for teenagers and high risk mothers seeking treatment, to see the </a:t>
            </a:r>
            <a:r>
              <a:rPr lang="en-GB" sz="1200" dirty="0" err="1">
                <a:solidFill>
                  <a:srgbClr val="FFFFFF"/>
                </a:solidFill>
                <a:effectLst/>
                <a:latin typeface="Aptos" panose="020B0004020202020204" pitchFamily="34" charset="0"/>
                <a:ea typeface="Aptos" panose="020B0004020202020204" pitchFamily="34" charset="0"/>
                <a:cs typeface="Times New Roman" panose="02020603050405020304" pitchFamily="18" charset="0"/>
              </a:rPr>
              <a:t>Obs</a:t>
            </a:r>
            <a:r>
              <a:rPr lang="en-GB" sz="12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rPr>
              <a:t> doctor and psych doctors in one place in one day.</a:t>
            </a:r>
            <a:endParaRPr lang="en-ZA" sz="12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endParaRPr>
          </a:p>
          <a:p>
            <a:pPr>
              <a:buNone/>
              <a:tabLst>
                <a:tab pos="726440" algn="l"/>
              </a:tabLst>
            </a:pPr>
            <a:r>
              <a:rPr lang="en-GB" sz="12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rPr>
              <a:t> </a:t>
            </a:r>
            <a:endParaRPr lang="en-ZA" sz="12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endParaRPr>
          </a:p>
          <a:p>
            <a:pPr>
              <a:buNone/>
              <a:tabLst>
                <a:tab pos="726440" algn="l"/>
              </a:tabLst>
            </a:pPr>
            <a:r>
              <a:rPr lang="en-GB" sz="12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rPr>
              <a:t>However implementation may vary significantly across facilities,  particularly resource constrained settings where staff shortages or infrastructural challenges.</a:t>
            </a:r>
            <a:endParaRPr lang="en-ZA" sz="12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endParaRPr>
          </a:p>
          <a:p>
            <a:endParaRPr lang="en-GB" dirty="0"/>
          </a:p>
        </p:txBody>
      </p:sp>
      <p:sp>
        <p:nvSpPr>
          <p:cNvPr id="4" name="Slide Number Placeholder 3"/>
          <p:cNvSpPr>
            <a:spLocks noGrp="1"/>
          </p:cNvSpPr>
          <p:nvPr>
            <p:ph type="sldNum" sz="quarter" idx="5"/>
          </p:nvPr>
        </p:nvSpPr>
        <p:spPr/>
        <p:txBody>
          <a:bodyPr/>
          <a:lstStyle/>
          <a:p>
            <a:fld id="{B3CB08FA-E20F-E042-B3BF-885FF5DE3467}" type="slidenum">
              <a:rPr lang="en-GB" smtClean="0"/>
              <a:t>12</a:t>
            </a:fld>
            <a:endParaRPr lang="en-GB"/>
          </a:p>
        </p:txBody>
      </p:sp>
    </p:spTree>
    <p:extLst>
      <p:ext uri="{BB962C8B-B14F-4D97-AF65-F5344CB8AC3E}">
        <p14:creationId xmlns:p14="http://schemas.microsoft.com/office/powerpoint/2010/main" val="341100593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security cluster plays an important role as legislation in this sector determines how  different organs of state protect vulnerable individuals, prevent harm and promote the social conditions that shape mental health.</a:t>
            </a:r>
          </a:p>
          <a:p>
            <a:endParaRPr lang="en-GB" dirty="0"/>
          </a:p>
          <a:p>
            <a:r>
              <a:rPr lang="en-GB" dirty="0"/>
              <a:t>Within the Criminal procedure act allowance is made for the Police officers to intervene, in the case of risk to the community caused by people suffering from mental illness. It allows the court to order that an accused be referred to a designated facility for psychiatric evaluations for fitness to stand trial or capacity for criminal responsibility.   Should they be found not fit to stand trial or cannot be held criminally responsible then those accused person can be referred to psychiatric units for treatment.  This way treatment is provided rather punitive measures being used hopefully resulting in reduced criminalisation mental illness. Examples of that include diversion programmes for youth offenders.</a:t>
            </a:r>
          </a:p>
          <a:p>
            <a:endParaRPr lang="en-GB" dirty="0"/>
          </a:p>
          <a:p>
            <a:r>
              <a:rPr lang="en-GB" dirty="0"/>
              <a:t>Another big issue is substance use which is a major precipitant of not only mental illness and contributes immensely towards violence.</a:t>
            </a:r>
          </a:p>
          <a:p>
            <a:r>
              <a:rPr lang="en-GB" dirty="0"/>
              <a:t>The prevention of and treatment for substance abuse act outlines need for early interventions and community education programmes.  It empowers families to intervene on behalf of individuals who may not the insight to do themselves in seeking help for substance use. </a:t>
            </a:r>
          </a:p>
          <a:p>
            <a:endParaRPr lang="en-GB" dirty="0"/>
          </a:p>
          <a:p>
            <a:r>
              <a:rPr lang="en-GB" dirty="0"/>
              <a:t> </a:t>
            </a:r>
          </a:p>
        </p:txBody>
      </p:sp>
      <p:sp>
        <p:nvSpPr>
          <p:cNvPr id="4" name="Slide Number Placeholder 3"/>
          <p:cNvSpPr>
            <a:spLocks noGrp="1"/>
          </p:cNvSpPr>
          <p:nvPr>
            <p:ph type="sldNum" sz="quarter" idx="5"/>
          </p:nvPr>
        </p:nvSpPr>
        <p:spPr/>
        <p:txBody>
          <a:bodyPr/>
          <a:lstStyle/>
          <a:p>
            <a:fld id="{B3CB08FA-E20F-E042-B3BF-885FF5DE3467}" type="slidenum">
              <a:rPr lang="en-GB" smtClean="0"/>
              <a:t>13</a:t>
            </a:fld>
            <a:endParaRPr lang="en-GB"/>
          </a:p>
        </p:txBody>
      </p:sp>
    </p:spTree>
    <p:extLst>
      <p:ext uri="{BB962C8B-B14F-4D97-AF65-F5344CB8AC3E}">
        <p14:creationId xmlns:p14="http://schemas.microsoft.com/office/powerpoint/2010/main" val="48867059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Continuing further on the issue of community safety, the legislation such as the firearms Control At is central to regulating access to firearms, including the provisions that consider the mental health……( </a:t>
            </a:r>
            <a:r>
              <a:rPr lang="en-GB" i="1" u="sng" dirty="0"/>
              <a:t>read slide).</a:t>
            </a:r>
          </a:p>
          <a:p>
            <a:endParaRPr lang="en-GB" i="1" u="sng" dirty="0"/>
          </a:p>
          <a:p>
            <a:endParaRPr lang="en-GB" i="1" u="sng" dirty="0"/>
          </a:p>
          <a:p>
            <a:r>
              <a:rPr lang="en-GB" i="0" u="none" dirty="0"/>
              <a:t>All this with the aim of reducing risk of violence on the community, reducing risk of self harm and to to others and any risk associated with untreated mental illness.</a:t>
            </a:r>
          </a:p>
        </p:txBody>
      </p:sp>
      <p:sp>
        <p:nvSpPr>
          <p:cNvPr id="4" name="Slide Number Placeholder 3"/>
          <p:cNvSpPr>
            <a:spLocks noGrp="1"/>
          </p:cNvSpPr>
          <p:nvPr>
            <p:ph type="sldNum" sz="quarter" idx="5"/>
          </p:nvPr>
        </p:nvSpPr>
        <p:spPr/>
        <p:txBody>
          <a:bodyPr/>
          <a:lstStyle/>
          <a:p>
            <a:fld id="{B3CB08FA-E20F-E042-B3BF-885FF5DE3467}" type="slidenum">
              <a:rPr lang="en-GB" smtClean="0"/>
              <a:t>14</a:t>
            </a:fld>
            <a:endParaRPr lang="en-GB"/>
          </a:p>
        </p:txBody>
      </p:sp>
    </p:spTree>
    <p:extLst>
      <p:ext uri="{BB962C8B-B14F-4D97-AF65-F5344CB8AC3E}">
        <p14:creationId xmlns:p14="http://schemas.microsoft.com/office/powerpoint/2010/main" val="393502092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It is well-known that work environments are major precipitants of stress, burnout, depression and anxiety.  In South Africa, the labour Relations act, the basic conditions of employment act and the occupational health and safety Act establish frameworks that protect workers right, ensure fair labour practices and promote safe and healthy working environments.  </a:t>
            </a:r>
          </a:p>
          <a:p>
            <a:r>
              <a:rPr lang="en-GB" dirty="0"/>
              <a:t>By regulating working hours through flexible working hours or allowing hybrid work models.</a:t>
            </a:r>
          </a:p>
          <a:p>
            <a:r>
              <a:rPr lang="en-GB" dirty="0"/>
              <a:t>Protecting employees from unfair treatment, exploitation.  Prohibition of harassment in the workplace.</a:t>
            </a:r>
          </a:p>
          <a:p>
            <a:endParaRPr lang="en-GB" dirty="0"/>
          </a:p>
          <a:p>
            <a:endParaRPr lang="en-GB" dirty="0"/>
          </a:p>
        </p:txBody>
      </p:sp>
      <p:sp>
        <p:nvSpPr>
          <p:cNvPr id="4" name="Slide Number Placeholder 3"/>
          <p:cNvSpPr>
            <a:spLocks noGrp="1"/>
          </p:cNvSpPr>
          <p:nvPr>
            <p:ph type="sldNum" sz="quarter" idx="5"/>
          </p:nvPr>
        </p:nvSpPr>
        <p:spPr/>
        <p:txBody>
          <a:bodyPr/>
          <a:lstStyle/>
          <a:p>
            <a:fld id="{B3CB08FA-E20F-E042-B3BF-885FF5DE3467}" type="slidenum">
              <a:rPr lang="en-GB" smtClean="0"/>
              <a:t>15</a:t>
            </a:fld>
            <a:endParaRPr lang="en-GB"/>
          </a:p>
        </p:txBody>
      </p:sp>
    </p:spTree>
    <p:extLst>
      <p:ext uri="{BB962C8B-B14F-4D97-AF65-F5344CB8AC3E}">
        <p14:creationId xmlns:p14="http://schemas.microsoft.com/office/powerpoint/2010/main" val="172690588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 large proportion of mental disorders begin before age of 18, this makes early identification and support for the youth is paramount. The Child justice act empowers us to……</a:t>
            </a:r>
          </a:p>
        </p:txBody>
      </p:sp>
      <p:sp>
        <p:nvSpPr>
          <p:cNvPr id="4" name="Slide Number Placeholder 3"/>
          <p:cNvSpPr>
            <a:spLocks noGrp="1"/>
          </p:cNvSpPr>
          <p:nvPr>
            <p:ph type="sldNum" sz="quarter" idx="5"/>
          </p:nvPr>
        </p:nvSpPr>
        <p:spPr/>
        <p:txBody>
          <a:bodyPr/>
          <a:lstStyle/>
          <a:p>
            <a:fld id="{B3CB08FA-E20F-E042-B3BF-885FF5DE3467}" type="slidenum">
              <a:rPr lang="en-GB" smtClean="0"/>
              <a:t>16</a:t>
            </a:fld>
            <a:endParaRPr lang="en-GB"/>
          </a:p>
        </p:txBody>
      </p:sp>
    </p:spTree>
    <p:extLst>
      <p:ext uri="{BB962C8B-B14F-4D97-AF65-F5344CB8AC3E}">
        <p14:creationId xmlns:p14="http://schemas.microsoft.com/office/powerpoint/2010/main" val="30345112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If mental health promotion is embedded in the school curriculum, the education system can become one of South Africa’s largest mental health platforms, reaching people before mental illness develops or worsens. Schools are where young people spend most of their time.  Teachers often see the first signs of any problem, but without structured intervention pathways or systems, these early signs may be left unaddressed or handle inappropriately.  </a:t>
            </a:r>
          </a:p>
          <a:p>
            <a:r>
              <a:rPr lang="en-GB" i="1" u="sng" dirty="0"/>
              <a:t>Read slide</a:t>
            </a:r>
          </a:p>
          <a:p>
            <a:r>
              <a:rPr lang="en-GB" dirty="0"/>
              <a:t>Through policies like the Screening, Identifications, assessment and Support Policy (SIAS) and the Curriculum and Assessment Policy (CAPS), there is a a big opportunity for strengthening of mental promotion and prevention.</a:t>
            </a:r>
          </a:p>
          <a:p>
            <a:endParaRPr lang="en-GB" dirty="0"/>
          </a:p>
          <a:p>
            <a:r>
              <a:rPr lang="en-GB" dirty="0"/>
              <a:t> </a:t>
            </a:r>
          </a:p>
          <a:p>
            <a:endParaRPr lang="en-GB" dirty="0"/>
          </a:p>
          <a:p>
            <a:endParaRPr lang="en-GB" dirty="0"/>
          </a:p>
        </p:txBody>
      </p:sp>
      <p:sp>
        <p:nvSpPr>
          <p:cNvPr id="4" name="Slide Number Placeholder 3"/>
          <p:cNvSpPr>
            <a:spLocks noGrp="1"/>
          </p:cNvSpPr>
          <p:nvPr>
            <p:ph type="sldNum" sz="quarter" idx="5"/>
          </p:nvPr>
        </p:nvSpPr>
        <p:spPr/>
        <p:txBody>
          <a:bodyPr/>
          <a:lstStyle/>
          <a:p>
            <a:fld id="{B3CB08FA-E20F-E042-B3BF-885FF5DE3467}" type="slidenum">
              <a:rPr lang="en-GB" smtClean="0"/>
              <a:t>17</a:t>
            </a:fld>
            <a:endParaRPr lang="en-GB"/>
          </a:p>
        </p:txBody>
      </p:sp>
    </p:spTree>
    <p:extLst>
      <p:ext uri="{BB962C8B-B14F-4D97-AF65-F5344CB8AC3E}">
        <p14:creationId xmlns:p14="http://schemas.microsoft.com/office/powerpoint/2010/main" val="226133420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B3CB08FA-E20F-E042-B3BF-885FF5DE3467}" type="slidenum">
              <a:rPr lang="en-GB" smtClean="0"/>
              <a:t>18</a:t>
            </a:fld>
            <a:endParaRPr lang="en-GB"/>
          </a:p>
        </p:txBody>
      </p:sp>
    </p:spTree>
    <p:extLst>
      <p:ext uri="{BB962C8B-B14F-4D97-AF65-F5344CB8AC3E}">
        <p14:creationId xmlns:p14="http://schemas.microsoft.com/office/powerpoint/2010/main" val="195109725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i="1" u="sng" dirty="0"/>
              <a:t>READ AFTER READING SLIDE: </a:t>
            </a:r>
          </a:p>
          <a:p>
            <a:endParaRPr lang="en-GB" dirty="0"/>
          </a:p>
          <a:p>
            <a:r>
              <a:rPr lang="en-GB" dirty="0"/>
              <a:t>This  system already exists in the DBE, but we find that referrals to our clinics for services are often haphazard, ill-informed, usually bypassing intermediate steps.</a:t>
            </a:r>
          </a:p>
        </p:txBody>
      </p:sp>
      <p:sp>
        <p:nvSpPr>
          <p:cNvPr id="4" name="Slide Number Placeholder 3"/>
          <p:cNvSpPr>
            <a:spLocks noGrp="1"/>
          </p:cNvSpPr>
          <p:nvPr>
            <p:ph type="sldNum" sz="quarter" idx="5"/>
          </p:nvPr>
        </p:nvSpPr>
        <p:spPr/>
        <p:txBody>
          <a:bodyPr/>
          <a:lstStyle/>
          <a:p>
            <a:fld id="{B3CB08FA-E20F-E042-B3BF-885FF5DE3467}" type="slidenum">
              <a:rPr lang="en-GB" smtClean="0"/>
              <a:t>19</a:t>
            </a:fld>
            <a:endParaRPr lang="en-GB"/>
          </a:p>
        </p:txBody>
      </p:sp>
    </p:spTree>
    <p:extLst>
      <p:ext uri="{BB962C8B-B14F-4D97-AF65-F5344CB8AC3E}">
        <p14:creationId xmlns:p14="http://schemas.microsoft.com/office/powerpoint/2010/main" val="143805694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Lastly addressing bullying.  Although there are no laws against it. Firm and strict implementation of a school’s code of conduct in conjunction with the child justice act, provide mechanisms to deal with children who commit criminal offences.</a:t>
            </a:r>
          </a:p>
        </p:txBody>
      </p:sp>
      <p:sp>
        <p:nvSpPr>
          <p:cNvPr id="4" name="Slide Number Placeholder 3"/>
          <p:cNvSpPr>
            <a:spLocks noGrp="1"/>
          </p:cNvSpPr>
          <p:nvPr>
            <p:ph type="sldNum" sz="quarter" idx="5"/>
          </p:nvPr>
        </p:nvSpPr>
        <p:spPr/>
        <p:txBody>
          <a:bodyPr/>
          <a:lstStyle/>
          <a:p>
            <a:fld id="{B3CB08FA-E20F-E042-B3BF-885FF5DE3467}" type="slidenum">
              <a:rPr lang="en-GB" smtClean="0"/>
              <a:t>20</a:t>
            </a:fld>
            <a:endParaRPr lang="en-GB"/>
          </a:p>
        </p:txBody>
      </p:sp>
    </p:spTree>
    <p:extLst>
      <p:ext uri="{BB962C8B-B14F-4D97-AF65-F5344CB8AC3E}">
        <p14:creationId xmlns:p14="http://schemas.microsoft.com/office/powerpoint/2010/main" val="74389124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i="1" u="sng" dirty="0"/>
              <a:t>Read after slide</a:t>
            </a:r>
          </a:p>
          <a:p>
            <a:endParaRPr lang="en-GB" i="1" u="sng" dirty="0"/>
          </a:p>
          <a:p>
            <a:r>
              <a:rPr lang="en-GB" dirty="0"/>
              <a:t>Through the promotion of responsible content regulation the BCCSA and ICASA can help reduce stigma, discourage harmful portrayals of mental illness and promote accurate mental health messaging that supports prevention and help-seeking.</a:t>
            </a:r>
          </a:p>
          <a:p>
            <a:endParaRPr lang="en-GB" dirty="0"/>
          </a:p>
          <a:p>
            <a:endParaRPr lang="en-GB" dirty="0"/>
          </a:p>
          <a:p>
            <a:endParaRPr lang="en-GB" dirty="0"/>
          </a:p>
          <a:p>
            <a:endParaRPr lang="en-GB" dirty="0"/>
          </a:p>
        </p:txBody>
      </p:sp>
      <p:sp>
        <p:nvSpPr>
          <p:cNvPr id="4" name="Slide Number Placeholder 3"/>
          <p:cNvSpPr>
            <a:spLocks noGrp="1"/>
          </p:cNvSpPr>
          <p:nvPr>
            <p:ph type="sldNum" sz="quarter" idx="5"/>
          </p:nvPr>
        </p:nvSpPr>
        <p:spPr/>
        <p:txBody>
          <a:bodyPr/>
          <a:lstStyle/>
          <a:p>
            <a:fld id="{B3CB08FA-E20F-E042-B3BF-885FF5DE3467}" type="slidenum">
              <a:rPr lang="en-GB" smtClean="0"/>
              <a:t>21</a:t>
            </a:fld>
            <a:endParaRPr lang="en-GB"/>
          </a:p>
        </p:txBody>
      </p:sp>
    </p:spTree>
    <p:extLst>
      <p:ext uri="{BB962C8B-B14F-4D97-AF65-F5344CB8AC3E}">
        <p14:creationId xmlns:p14="http://schemas.microsoft.com/office/powerpoint/2010/main" val="291302470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Can be useful by promoting responsible reporting to reducing stigma, increasing public awareness, by encouraging accurate portrayal of mental illness,  avoiding harmful stereotypes and connecting people to support services the media can help normalise help-seeking behaviour.</a:t>
            </a:r>
          </a:p>
          <a:p>
            <a:endParaRPr lang="en-GB" dirty="0"/>
          </a:p>
          <a:p>
            <a:r>
              <a:rPr lang="en-GB" dirty="0"/>
              <a:t>There is particular channel on TV that seems to specialise in sensationalising and normalising the most negative aspect of society  e.g. crime, drug use, family disputes and overdramatization for viewership.  There has also been a lot of public criticism of the channels through the BCCSA, which again highlight the importance of oversight bodies and their regulatory role in the media space.</a:t>
            </a:r>
          </a:p>
          <a:p>
            <a:endParaRPr lang="en-GB" dirty="0"/>
          </a:p>
          <a:p>
            <a:endParaRPr lang="en-GB" dirty="0"/>
          </a:p>
        </p:txBody>
      </p:sp>
      <p:sp>
        <p:nvSpPr>
          <p:cNvPr id="4" name="Slide Number Placeholder 3"/>
          <p:cNvSpPr>
            <a:spLocks noGrp="1"/>
          </p:cNvSpPr>
          <p:nvPr>
            <p:ph type="sldNum" sz="quarter" idx="5"/>
          </p:nvPr>
        </p:nvSpPr>
        <p:spPr/>
        <p:txBody>
          <a:bodyPr/>
          <a:lstStyle/>
          <a:p>
            <a:fld id="{B3CB08FA-E20F-E042-B3BF-885FF5DE3467}" type="slidenum">
              <a:rPr lang="en-GB" smtClean="0"/>
              <a:t>22</a:t>
            </a:fld>
            <a:endParaRPr lang="en-GB"/>
          </a:p>
        </p:txBody>
      </p:sp>
    </p:spTree>
    <p:extLst>
      <p:ext uri="{BB962C8B-B14F-4D97-AF65-F5344CB8AC3E}">
        <p14:creationId xmlns:p14="http://schemas.microsoft.com/office/powerpoint/2010/main" val="120127707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B3CB08FA-E20F-E042-B3BF-885FF5DE3467}" type="slidenum">
              <a:rPr lang="en-GB" smtClean="0"/>
              <a:t>23</a:t>
            </a:fld>
            <a:endParaRPr lang="en-GB"/>
          </a:p>
        </p:txBody>
      </p:sp>
    </p:spTree>
    <p:extLst>
      <p:ext uri="{BB962C8B-B14F-4D97-AF65-F5344CB8AC3E}">
        <p14:creationId xmlns:p14="http://schemas.microsoft.com/office/powerpoint/2010/main" val="66658170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While a multisectoral approach is essential for addressing mental health, it is not without challenges.  Different sectors often operate in silos, with limited collaboration. This may lead to fragmented services or duplication of services.  </a:t>
            </a:r>
            <a:r>
              <a:rPr lang="en-GB" i="1" u="sng" dirty="0"/>
              <a:t>Read slide</a:t>
            </a:r>
          </a:p>
          <a:p>
            <a:endParaRPr lang="en-GB" dirty="0"/>
          </a:p>
          <a:p>
            <a:r>
              <a:rPr lang="en-GB" dirty="0"/>
              <a:t>Certain sectors may not be sure who is responsible for what services exactly and to what extent  </a:t>
            </a:r>
            <a:r>
              <a:rPr lang="en-GB" dirty="0" err="1"/>
              <a:t>e.g</a:t>
            </a:r>
            <a:r>
              <a:rPr lang="en-GB" dirty="0"/>
              <a:t> assessment of children for learning problems.  </a:t>
            </a:r>
            <a:r>
              <a:rPr lang="en-GB" i="1" u="sng" dirty="0"/>
              <a:t>Read slide.</a:t>
            </a:r>
          </a:p>
          <a:p>
            <a:endParaRPr lang="en-GB" dirty="0"/>
          </a:p>
          <a:p>
            <a:r>
              <a:rPr lang="en-GB" dirty="0" err="1"/>
              <a:t>Wrt</a:t>
            </a:r>
            <a:r>
              <a:rPr lang="en-GB" dirty="0"/>
              <a:t> policy implementation, even with polices such as the national mental health policy framework and strategic plan, implementation can be inconsistent due to lack of monitoring, funding and assertive determined leadership. </a:t>
            </a:r>
            <a:r>
              <a:rPr lang="en-GB" i="1" u="sng" dirty="0"/>
              <a:t>Read slide.</a:t>
            </a:r>
          </a:p>
          <a:p>
            <a:r>
              <a:rPr lang="en-GB" i="0" u="none" dirty="0"/>
              <a:t>Service delivery indicators such as extent of mental health integration into </a:t>
            </a:r>
            <a:r>
              <a:rPr lang="en-GB" i="0" u="none" dirty="0" err="1"/>
              <a:t>phc</a:t>
            </a:r>
            <a:r>
              <a:rPr lang="en-GB" i="0" u="none" dirty="0"/>
              <a:t>, training g and distribution of of mental health care </a:t>
            </a:r>
            <a:r>
              <a:rPr lang="en-GB" i="0" u="none" dirty="0" err="1"/>
              <a:t>workers.the</a:t>
            </a:r>
            <a:r>
              <a:rPr lang="en-GB" i="0" u="none" dirty="0"/>
              <a:t> availability of funds for mental health programmes, indication of reduced suicide rates or increased access to care.</a:t>
            </a:r>
          </a:p>
        </p:txBody>
      </p:sp>
      <p:sp>
        <p:nvSpPr>
          <p:cNvPr id="4" name="Slide Number Placeholder 3"/>
          <p:cNvSpPr>
            <a:spLocks noGrp="1"/>
          </p:cNvSpPr>
          <p:nvPr>
            <p:ph type="sldNum" sz="quarter" idx="5"/>
          </p:nvPr>
        </p:nvSpPr>
        <p:spPr/>
        <p:txBody>
          <a:bodyPr/>
          <a:lstStyle/>
          <a:p>
            <a:fld id="{B3CB08FA-E20F-E042-B3BF-885FF5DE3467}" type="slidenum">
              <a:rPr lang="en-GB" smtClean="0"/>
              <a:t>24</a:t>
            </a:fld>
            <a:endParaRPr lang="en-GB"/>
          </a:p>
        </p:txBody>
      </p:sp>
    </p:spTree>
    <p:extLst>
      <p:ext uri="{BB962C8B-B14F-4D97-AF65-F5344CB8AC3E}">
        <p14:creationId xmlns:p14="http://schemas.microsoft.com/office/powerpoint/2010/main" val="346985742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Only 14 %of mental health budget goes to outpatient care in PHC. </a:t>
            </a:r>
          </a:p>
          <a:p>
            <a:r>
              <a:rPr lang="en-GB" dirty="0"/>
              <a:t>More investment in infrastructure for inpatient care. </a:t>
            </a:r>
          </a:p>
          <a:p>
            <a:endParaRPr lang="en-GB" dirty="0"/>
          </a:p>
          <a:p>
            <a:r>
              <a:rPr lang="en-GB" dirty="0"/>
              <a:t>Education focuses on academics.  Labour focusses on productivity and the bottom lines.  Health focuses on treatment and prevention.</a:t>
            </a:r>
          </a:p>
          <a:p>
            <a:endParaRPr lang="en-GB" dirty="0"/>
          </a:p>
          <a:p>
            <a:r>
              <a:rPr lang="en-GB" dirty="0"/>
              <a:t>We have a shortage of human resources due scarcity of adequately trained psychiatric nurses, clinical psychologists and psychiatrists. We have less than 1 psychiatrist per 100 000 as opposed to 3/100 000 globally. Only 3 provinces in the country have child psychiatrists in the public sector. About 50% of hospitals offering psychiatric services Mostly  due to low turnover in training and exodus out of public sector due burnout , low job satisfactions, poor remuneration, emigration.</a:t>
            </a:r>
          </a:p>
          <a:p>
            <a:endParaRPr lang="en-GB" dirty="0"/>
          </a:p>
          <a:p>
            <a:r>
              <a:rPr lang="en-GB" dirty="0"/>
              <a:t>Task sharing where people who are non specialist in psychiatry are trained to deliver mental health services in the community at the PHC / community level.</a:t>
            </a:r>
          </a:p>
          <a:p>
            <a:endParaRPr lang="en-GB" dirty="0"/>
          </a:p>
          <a:p>
            <a:r>
              <a:rPr lang="en-GB" dirty="0"/>
              <a:t>NHI doubts whether mental health will receive adequate funding. Stresses a person being seen at a facility where they are registered and adherence to strict referral pathways.</a:t>
            </a:r>
          </a:p>
        </p:txBody>
      </p:sp>
      <p:sp>
        <p:nvSpPr>
          <p:cNvPr id="4" name="Slide Number Placeholder 3"/>
          <p:cNvSpPr>
            <a:spLocks noGrp="1"/>
          </p:cNvSpPr>
          <p:nvPr>
            <p:ph type="sldNum" sz="quarter" idx="5"/>
          </p:nvPr>
        </p:nvSpPr>
        <p:spPr/>
        <p:txBody>
          <a:bodyPr/>
          <a:lstStyle/>
          <a:p>
            <a:fld id="{B3CB08FA-E20F-E042-B3BF-885FF5DE3467}" type="slidenum">
              <a:rPr lang="en-GB" smtClean="0"/>
              <a:t>25</a:t>
            </a:fld>
            <a:endParaRPr lang="en-GB"/>
          </a:p>
        </p:txBody>
      </p:sp>
    </p:spTree>
    <p:extLst>
      <p:ext uri="{BB962C8B-B14F-4D97-AF65-F5344CB8AC3E}">
        <p14:creationId xmlns:p14="http://schemas.microsoft.com/office/powerpoint/2010/main" val="347674732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Another issue is that in as much as we want all relevant sectors to come on board with the national metal health policy, the employees, teachers and police officers may not understand mental conditions.  This can result in poor support for affected individuals.</a:t>
            </a:r>
          </a:p>
          <a:p>
            <a:endParaRPr lang="en-GB" dirty="0"/>
          </a:p>
          <a:p>
            <a:r>
              <a:rPr lang="en-GB" dirty="0"/>
              <a:t>Many sectors collect data but in separate systems, making it hard to share information or track outcomes across services.</a:t>
            </a:r>
          </a:p>
        </p:txBody>
      </p:sp>
      <p:sp>
        <p:nvSpPr>
          <p:cNvPr id="4" name="Slide Number Placeholder 3"/>
          <p:cNvSpPr>
            <a:spLocks noGrp="1"/>
          </p:cNvSpPr>
          <p:nvPr>
            <p:ph type="sldNum" sz="quarter" idx="5"/>
          </p:nvPr>
        </p:nvSpPr>
        <p:spPr/>
        <p:txBody>
          <a:bodyPr/>
          <a:lstStyle/>
          <a:p>
            <a:fld id="{B3CB08FA-E20F-E042-B3BF-885FF5DE3467}" type="slidenum">
              <a:rPr lang="en-GB" smtClean="0"/>
              <a:t>26</a:t>
            </a:fld>
            <a:endParaRPr lang="en-GB"/>
          </a:p>
        </p:txBody>
      </p:sp>
    </p:spTree>
    <p:extLst>
      <p:ext uri="{BB962C8B-B14F-4D97-AF65-F5344CB8AC3E}">
        <p14:creationId xmlns:p14="http://schemas.microsoft.com/office/powerpoint/2010/main" val="156563599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B3CB08FA-E20F-E042-B3BF-885FF5DE3467}" type="slidenum">
              <a:rPr lang="en-GB" smtClean="0"/>
              <a:t>27</a:t>
            </a:fld>
            <a:endParaRPr lang="en-GB"/>
          </a:p>
        </p:txBody>
      </p:sp>
    </p:spTree>
    <p:extLst>
      <p:ext uri="{BB962C8B-B14F-4D97-AF65-F5344CB8AC3E}">
        <p14:creationId xmlns:p14="http://schemas.microsoft.com/office/powerpoint/2010/main" val="373741029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B3CB08FA-E20F-E042-B3BF-885FF5DE3467}" type="slidenum">
              <a:rPr lang="en-GB" smtClean="0"/>
              <a:t>28</a:t>
            </a:fld>
            <a:endParaRPr lang="en-GB"/>
          </a:p>
        </p:txBody>
      </p:sp>
    </p:spTree>
    <p:extLst>
      <p:ext uri="{BB962C8B-B14F-4D97-AF65-F5344CB8AC3E}">
        <p14:creationId xmlns:p14="http://schemas.microsoft.com/office/powerpoint/2010/main" val="254742240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B3CB08FA-E20F-E042-B3BF-885FF5DE3467}" type="slidenum">
              <a:rPr lang="en-GB" smtClean="0"/>
              <a:t>29</a:t>
            </a:fld>
            <a:endParaRPr lang="en-GB"/>
          </a:p>
        </p:txBody>
      </p:sp>
    </p:spTree>
    <p:extLst>
      <p:ext uri="{BB962C8B-B14F-4D97-AF65-F5344CB8AC3E}">
        <p14:creationId xmlns:p14="http://schemas.microsoft.com/office/powerpoint/2010/main" val="30745495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81B465-BD2F-5ABC-8E98-99966F80A879}"/>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a:extLst>
              <a:ext uri="{FF2B5EF4-FFF2-40B4-BE49-F238E27FC236}">
                <a16:creationId xmlns:a16="http://schemas.microsoft.com/office/drawing/2014/main" id="{6238F638-F31E-B2B0-C62F-D0930C84AB2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a:extLst>
              <a:ext uri="{FF2B5EF4-FFF2-40B4-BE49-F238E27FC236}">
                <a16:creationId xmlns:a16="http://schemas.microsoft.com/office/drawing/2014/main" id="{D2D12F19-7582-C9CB-49FC-CB33261F30C3}"/>
              </a:ext>
            </a:extLst>
          </p:cNvPr>
          <p:cNvSpPr>
            <a:spLocks noGrp="1"/>
          </p:cNvSpPr>
          <p:nvPr>
            <p:ph type="dt" sz="half" idx="10"/>
          </p:nvPr>
        </p:nvSpPr>
        <p:spPr/>
        <p:txBody>
          <a:bodyPr/>
          <a:lstStyle/>
          <a:p>
            <a:fld id="{B771F118-13DA-F440-A636-5D2EF9DD7D02}" type="datetimeFigureOut">
              <a:rPr lang="en-GB" smtClean="0"/>
              <a:t>20/04/2026</a:t>
            </a:fld>
            <a:endParaRPr lang="en-GB"/>
          </a:p>
        </p:txBody>
      </p:sp>
      <p:sp>
        <p:nvSpPr>
          <p:cNvPr id="5" name="Footer Placeholder 4">
            <a:extLst>
              <a:ext uri="{FF2B5EF4-FFF2-40B4-BE49-F238E27FC236}">
                <a16:creationId xmlns:a16="http://schemas.microsoft.com/office/drawing/2014/main" id="{9B7A2672-102D-0122-D599-AAA0018FF1E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2F4A2A7-C513-53A4-0DA2-E1D014C3C591}"/>
              </a:ext>
            </a:extLst>
          </p:cNvPr>
          <p:cNvSpPr>
            <a:spLocks noGrp="1"/>
          </p:cNvSpPr>
          <p:nvPr>
            <p:ph type="sldNum" sz="quarter" idx="12"/>
          </p:nvPr>
        </p:nvSpPr>
        <p:spPr/>
        <p:txBody>
          <a:bodyPr/>
          <a:lstStyle/>
          <a:p>
            <a:fld id="{2BD44FF1-7D77-5444-AEEB-DE69C34EE8CB}" type="slidenum">
              <a:rPr lang="en-GB" smtClean="0"/>
              <a:t>‹#›</a:t>
            </a:fld>
            <a:endParaRPr lang="en-GB"/>
          </a:p>
        </p:txBody>
      </p:sp>
    </p:spTree>
    <p:extLst>
      <p:ext uri="{BB962C8B-B14F-4D97-AF65-F5344CB8AC3E}">
        <p14:creationId xmlns:p14="http://schemas.microsoft.com/office/powerpoint/2010/main" val="41036490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6F05CD-EEC7-F91C-ECB2-08CF29CDAC4C}"/>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75738EA0-1F88-DD49-F41C-C39EE864D581}"/>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92D98DAE-0041-0B48-31B4-030206A7C966}"/>
              </a:ext>
            </a:extLst>
          </p:cNvPr>
          <p:cNvSpPr>
            <a:spLocks noGrp="1"/>
          </p:cNvSpPr>
          <p:nvPr>
            <p:ph type="dt" sz="half" idx="10"/>
          </p:nvPr>
        </p:nvSpPr>
        <p:spPr/>
        <p:txBody>
          <a:bodyPr/>
          <a:lstStyle/>
          <a:p>
            <a:fld id="{B771F118-13DA-F440-A636-5D2EF9DD7D02}" type="datetimeFigureOut">
              <a:rPr lang="en-GB" smtClean="0"/>
              <a:t>20/04/2026</a:t>
            </a:fld>
            <a:endParaRPr lang="en-GB"/>
          </a:p>
        </p:txBody>
      </p:sp>
      <p:sp>
        <p:nvSpPr>
          <p:cNvPr id="5" name="Footer Placeholder 4">
            <a:extLst>
              <a:ext uri="{FF2B5EF4-FFF2-40B4-BE49-F238E27FC236}">
                <a16:creationId xmlns:a16="http://schemas.microsoft.com/office/drawing/2014/main" id="{387A077F-E170-5A0B-152D-72C8CBFB40D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E46F92F-1408-68C0-2643-60ABFE9CC647}"/>
              </a:ext>
            </a:extLst>
          </p:cNvPr>
          <p:cNvSpPr>
            <a:spLocks noGrp="1"/>
          </p:cNvSpPr>
          <p:nvPr>
            <p:ph type="sldNum" sz="quarter" idx="12"/>
          </p:nvPr>
        </p:nvSpPr>
        <p:spPr/>
        <p:txBody>
          <a:bodyPr/>
          <a:lstStyle/>
          <a:p>
            <a:fld id="{2BD44FF1-7D77-5444-AEEB-DE69C34EE8CB}" type="slidenum">
              <a:rPr lang="en-GB" smtClean="0"/>
              <a:t>‹#›</a:t>
            </a:fld>
            <a:endParaRPr lang="en-GB"/>
          </a:p>
        </p:txBody>
      </p:sp>
    </p:spTree>
    <p:extLst>
      <p:ext uri="{BB962C8B-B14F-4D97-AF65-F5344CB8AC3E}">
        <p14:creationId xmlns:p14="http://schemas.microsoft.com/office/powerpoint/2010/main" val="1007944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04C1E6-1023-F13C-2727-A9EFFC364778}"/>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p>
        </p:txBody>
      </p:sp>
      <p:sp>
        <p:nvSpPr>
          <p:cNvPr id="3" name="Text Placeholder 2">
            <a:extLst>
              <a:ext uri="{FF2B5EF4-FFF2-40B4-BE49-F238E27FC236}">
                <a16:creationId xmlns:a16="http://schemas.microsoft.com/office/drawing/2014/main" id="{3EC50A5E-D412-012C-78DC-EF00A63FB53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3F4A82C3-727E-6B42-6AAD-ABBE19D00EBB}"/>
              </a:ext>
            </a:extLst>
          </p:cNvPr>
          <p:cNvSpPr>
            <a:spLocks noGrp="1"/>
          </p:cNvSpPr>
          <p:nvPr>
            <p:ph type="dt" sz="half" idx="10"/>
          </p:nvPr>
        </p:nvSpPr>
        <p:spPr/>
        <p:txBody>
          <a:bodyPr/>
          <a:lstStyle/>
          <a:p>
            <a:fld id="{B771F118-13DA-F440-A636-5D2EF9DD7D02}" type="datetimeFigureOut">
              <a:rPr lang="en-GB" smtClean="0"/>
              <a:t>20/04/2026</a:t>
            </a:fld>
            <a:endParaRPr lang="en-GB"/>
          </a:p>
        </p:txBody>
      </p:sp>
      <p:sp>
        <p:nvSpPr>
          <p:cNvPr id="5" name="Footer Placeholder 4">
            <a:extLst>
              <a:ext uri="{FF2B5EF4-FFF2-40B4-BE49-F238E27FC236}">
                <a16:creationId xmlns:a16="http://schemas.microsoft.com/office/drawing/2014/main" id="{DD9209B8-FF46-496A-8500-193AC85F699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25E771D-F06C-0999-8A2B-A39C96833F74}"/>
              </a:ext>
            </a:extLst>
          </p:cNvPr>
          <p:cNvSpPr>
            <a:spLocks noGrp="1"/>
          </p:cNvSpPr>
          <p:nvPr>
            <p:ph type="sldNum" sz="quarter" idx="12"/>
          </p:nvPr>
        </p:nvSpPr>
        <p:spPr/>
        <p:txBody>
          <a:bodyPr/>
          <a:lstStyle/>
          <a:p>
            <a:fld id="{2BD44FF1-7D77-5444-AEEB-DE69C34EE8CB}" type="slidenum">
              <a:rPr lang="en-GB" smtClean="0"/>
              <a:t>‹#›</a:t>
            </a:fld>
            <a:endParaRPr lang="en-GB"/>
          </a:p>
        </p:txBody>
      </p:sp>
    </p:spTree>
    <p:extLst>
      <p:ext uri="{BB962C8B-B14F-4D97-AF65-F5344CB8AC3E}">
        <p14:creationId xmlns:p14="http://schemas.microsoft.com/office/powerpoint/2010/main" val="30366441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6E339B-EE5E-37BA-51A9-B92511AD713F}"/>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4F1B0EC1-343F-34DB-5238-EE0E627D1F48}"/>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a:extLst>
              <a:ext uri="{FF2B5EF4-FFF2-40B4-BE49-F238E27FC236}">
                <a16:creationId xmlns:a16="http://schemas.microsoft.com/office/drawing/2014/main" id="{78C30DD8-E37B-F448-5168-712596F1E51B}"/>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a:extLst>
              <a:ext uri="{FF2B5EF4-FFF2-40B4-BE49-F238E27FC236}">
                <a16:creationId xmlns:a16="http://schemas.microsoft.com/office/drawing/2014/main" id="{C3F59F8B-3781-2F67-88E6-843090250ED1}"/>
              </a:ext>
            </a:extLst>
          </p:cNvPr>
          <p:cNvSpPr>
            <a:spLocks noGrp="1"/>
          </p:cNvSpPr>
          <p:nvPr>
            <p:ph type="dt" sz="half" idx="10"/>
          </p:nvPr>
        </p:nvSpPr>
        <p:spPr/>
        <p:txBody>
          <a:bodyPr/>
          <a:lstStyle/>
          <a:p>
            <a:fld id="{B771F118-13DA-F440-A636-5D2EF9DD7D02}" type="datetimeFigureOut">
              <a:rPr lang="en-GB" smtClean="0"/>
              <a:t>20/04/2026</a:t>
            </a:fld>
            <a:endParaRPr lang="en-GB"/>
          </a:p>
        </p:txBody>
      </p:sp>
      <p:sp>
        <p:nvSpPr>
          <p:cNvPr id="6" name="Footer Placeholder 5">
            <a:extLst>
              <a:ext uri="{FF2B5EF4-FFF2-40B4-BE49-F238E27FC236}">
                <a16:creationId xmlns:a16="http://schemas.microsoft.com/office/drawing/2014/main" id="{BDF3F78E-8E18-7728-3FE4-ADC7122E6F9D}"/>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477F6262-2442-4CD1-0C00-FDE4013B35EA}"/>
              </a:ext>
            </a:extLst>
          </p:cNvPr>
          <p:cNvSpPr>
            <a:spLocks noGrp="1"/>
          </p:cNvSpPr>
          <p:nvPr>
            <p:ph type="sldNum" sz="quarter" idx="12"/>
          </p:nvPr>
        </p:nvSpPr>
        <p:spPr/>
        <p:txBody>
          <a:bodyPr/>
          <a:lstStyle/>
          <a:p>
            <a:fld id="{2BD44FF1-7D77-5444-AEEB-DE69C34EE8CB}" type="slidenum">
              <a:rPr lang="en-GB" smtClean="0"/>
              <a:t>‹#›</a:t>
            </a:fld>
            <a:endParaRPr lang="en-GB"/>
          </a:p>
        </p:txBody>
      </p:sp>
    </p:spTree>
    <p:extLst>
      <p:ext uri="{BB962C8B-B14F-4D97-AF65-F5344CB8AC3E}">
        <p14:creationId xmlns:p14="http://schemas.microsoft.com/office/powerpoint/2010/main" val="36497873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E1F7BA-1C17-DD39-80F0-AE62C1185C75}"/>
              </a:ext>
            </a:extLst>
          </p:cNvPr>
          <p:cNvSpPr>
            <a:spLocks noGrp="1"/>
          </p:cNvSpPr>
          <p:nvPr>
            <p:ph type="title"/>
          </p:nvPr>
        </p:nvSpPr>
        <p:spPr>
          <a:xfrm>
            <a:off x="839788" y="365125"/>
            <a:ext cx="10515600" cy="1325563"/>
          </a:xfrm>
        </p:spPr>
        <p:txBody>
          <a:bodyPr/>
          <a:lstStyle/>
          <a:p>
            <a:r>
              <a:rPr lang="en-GB"/>
              <a:t>Click to edit Master title style</a:t>
            </a:r>
          </a:p>
        </p:txBody>
      </p:sp>
      <p:sp>
        <p:nvSpPr>
          <p:cNvPr id="3" name="Text Placeholder 2">
            <a:extLst>
              <a:ext uri="{FF2B5EF4-FFF2-40B4-BE49-F238E27FC236}">
                <a16:creationId xmlns:a16="http://schemas.microsoft.com/office/drawing/2014/main" id="{0FF9F9A1-AC42-2A3C-53E5-0544A6C3DC0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BF1601F1-4CF5-1030-F154-4130B7B4BDBE}"/>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a:extLst>
              <a:ext uri="{FF2B5EF4-FFF2-40B4-BE49-F238E27FC236}">
                <a16:creationId xmlns:a16="http://schemas.microsoft.com/office/drawing/2014/main" id="{EFE8AC61-8E4A-B8BC-E0E8-A3285A44513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A3DF5212-7044-B1BF-CEAD-B53DDA01F63E}"/>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a:extLst>
              <a:ext uri="{FF2B5EF4-FFF2-40B4-BE49-F238E27FC236}">
                <a16:creationId xmlns:a16="http://schemas.microsoft.com/office/drawing/2014/main" id="{F754D029-D6F6-BF1C-ED0B-9C2FD507F560}"/>
              </a:ext>
            </a:extLst>
          </p:cNvPr>
          <p:cNvSpPr>
            <a:spLocks noGrp="1"/>
          </p:cNvSpPr>
          <p:nvPr>
            <p:ph type="dt" sz="half" idx="10"/>
          </p:nvPr>
        </p:nvSpPr>
        <p:spPr/>
        <p:txBody>
          <a:bodyPr/>
          <a:lstStyle/>
          <a:p>
            <a:fld id="{B771F118-13DA-F440-A636-5D2EF9DD7D02}" type="datetimeFigureOut">
              <a:rPr lang="en-GB" smtClean="0"/>
              <a:t>20/04/2026</a:t>
            </a:fld>
            <a:endParaRPr lang="en-GB"/>
          </a:p>
        </p:txBody>
      </p:sp>
      <p:sp>
        <p:nvSpPr>
          <p:cNvPr id="8" name="Footer Placeholder 7">
            <a:extLst>
              <a:ext uri="{FF2B5EF4-FFF2-40B4-BE49-F238E27FC236}">
                <a16:creationId xmlns:a16="http://schemas.microsoft.com/office/drawing/2014/main" id="{E7BE4C42-FEF2-CA00-D084-FFAE02697B74}"/>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7BC59916-519E-9CA2-4358-3D01DC8B6E1A}"/>
              </a:ext>
            </a:extLst>
          </p:cNvPr>
          <p:cNvSpPr>
            <a:spLocks noGrp="1"/>
          </p:cNvSpPr>
          <p:nvPr>
            <p:ph type="sldNum" sz="quarter" idx="12"/>
          </p:nvPr>
        </p:nvSpPr>
        <p:spPr/>
        <p:txBody>
          <a:bodyPr/>
          <a:lstStyle/>
          <a:p>
            <a:fld id="{2BD44FF1-7D77-5444-AEEB-DE69C34EE8CB}" type="slidenum">
              <a:rPr lang="en-GB" smtClean="0"/>
              <a:t>‹#›</a:t>
            </a:fld>
            <a:endParaRPr lang="en-GB"/>
          </a:p>
        </p:txBody>
      </p:sp>
    </p:spTree>
    <p:extLst>
      <p:ext uri="{BB962C8B-B14F-4D97-AF65-F5344CB8AC3E}">
        <p14:creationId xmlns:p14="http://schemas.microsoft.com/office/powerpoint/2010/main" val="37815736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4762D1-8EA6-1F31-7101-15041F25B8D9}"/>
              </a:ext>
            </a:extLst>
          </p:cNvPr>
          <p:cNvSpPr>
            <a:spLocks noGrp="1"/>
          </p:cNvSpPr>
          <p:nvPr>
            <p:ph type="title"/>
          </p:nvPr>
        </p:nvSpPr>
        <p:spPr/>
        <p:txBody>
          <a:bodyPr/>
          <a:lstStyle/>
          <a:p>
            <a:r>
              <a:rPr lang="en-GB"/>
              <a:t>Click to edit Master title style</a:t>
            </a:r>
          </a:p>
        </p:txBody>
      </p:sp>
      <p:sp>
        <p:nvSpPr>
          <p:cNvPr id="3" name="Date Placeholder 2">
            <a:extLst>
              <a:ext uri="{FF2B5EF4-FFF2-40B4-BE49-F238E27FC236}">
                <a16:creationId xmlns:a16="http://schemas.microsoft.com/office/drawing/2014/main" id="{79E8F2BE-246E-715C-9D12-2A7D6AE5BA1B}"/>
              </a:ext>
            </a:extLst>
          </p:cNvPr>
          <p:cNvSpPr>
            <a:spLocks noGrp="1"/>
          </p:cNvSpPr>
          <p:nvPr>
            <p:ph type="dt" sz="half" idx="10"/>
          </p:nvPr>
        </p:nvSpPr>
        <p:spPr/>
        <p:txBody>
          <a:bodyPr/>
          <a:lstStyle/>
          <a:p>
            <a:fld id="{B771F118-13DA-F440-A636-5D2EF9DD7D02}" type="datetimeFigureOut">
              <a:rPr lang="en-GB" smtClean="0"/>
              <a:t>20/04/2026</a:t>
            </a:fld>
            <a:endParaRPr lang="en-GB"/>
          </a:p>
        </p:txBody>
      </p:sp>
      <p:sp>
        <p:nvSpPr>
          <p:cNvPr id="4" name="Footer Placeholder 3">
            <a:extLst>
              <a:ext uri="{FF2B5EF4-FFF2-40B4-BE49-F238E27FC236}">
                <a16:creationId xmlns:a16="http://schemas.microsoft.com/office/drawing/2014/main" id="{E580E496-644E-6FB1-5C4E-6A1869216076}"/>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2F13767A-E9AA-7A11-2726-5128DECEEF76}"/>
              </a:ext>
            </a:extLst>
          </p:cNvPr>
          <p:cNvSpPr>
            <a:spLocks noGrp="1"/>
          </p:cNvSpPr>
          <p:nvPr>
            <p:ph type="sldNum" sz="quarter" idx="12"/>
          </p:nvPr>
        </p:nvSpPr>
        <p:spPr/>
        <p:txBody>
          <a:bodyPr/>
          <a:lstStyle/>
          <a:p>
            <a:fld id="{2BD44FF1-7D77-5444-AEEB-DE69C34EE8CB}" type="slidenum">
              <a:rPr lang="en-GB" smtClean="0"/>
              <a:t>‹#›</a:t>
            </a:fld>
            <a:endParaRPr lang="en-GB"/>
          </a:p>
        </p:txBody>
      </p:sp>
    </p:spTree>
    <p:extLst>
      <p:ext uri="{BB962C8B-B14F-4D97-AF65-F5344CB8AC3E}">
        <p14:creationId xmlns:p14="http://schemas.microsoft.com/office/powerpoint/2010/main" val="40471950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FF01BA9-9752-0F62-39CC-6ECD10DE7395}"/>
              </a:ext>
            </a:extLst>
          </p:cNvPr>
          <p:cNvSpPr>
            <a:spLocks noGrp="1"/>
          </p:cNvSpPr>
          <p:nvPr>
            <p:ph type="dt" sz="half" idx="10"/>
          </p:nvPr>
        </p:nvSpPr>
        <p:spPr/>
        <p:txBody>
          <a:bodyPr/>
          <a:lstStyle/>
          <a:p>
            <a:fld id="{B771F118-13DA-F440-A636-5D2EF9DD7D02}" type="datetimeFigureOut">
              <a:rPr lang="en-GB" smtClean="0"/>
              <a:t>20/04/2026</a:t>
            </a:fld>
            <a:endParaRPr lang="en-GB"/>
          </a:p>
        </p:txBody>
      </p:sp>
      <p:sp>
        <p:nvSpPr>
          <p:cNvPr id="3" name="Footer Placeholder 2">
            <a:extLst>
              <a:ext uri="{FF2B5EF4-FFF2-40B4-BE49-F238E27FC236}">
                <a16:creationId xmlns:a16="http://schemas.microsoft.com/office/drawing/2014/main" id="{52E5A88C-DC6C-B9A1-E99A-6A7D1EBAE5E2}"/>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37F01E0B-35C7-2287-EB1C-FEAA04D2CC2A}"/>
              </a:ext>
            </a:extLst>
          </p:cNvPr>
          <p:cNvSpPr>
            <a:spLocks noGrp="1"/>
          </p:cNvSpPr>
          <p:nvPr>
            <p:ph type="sldNum" sz="quarter" idx="12"/>
          </p:nvPr>
        </p:nvSpPr>
        <p:spPr/>
        <p:txBody>
          <a:bodyPr/>
          <a:lstStyle/>
          <a:p>
            <a:fld id="{2BD44FF1-7D77-5444-AEEB-DE69C34EE8CB}" type="slidenum">
              <a:rPr lang="en-GB" smtClean="0"/>
              <a:t>‹#›</a:t>
            </a:fld>
            <a:endParaRPr lang="en-GB"/>
          </a:p>
        </p:txBody>
      </p:sp>
    </p:spTree>
    <p:extLst>
      <p:ext uri="{BB962C8B-B14F-4D97-AF65-F5344CB8AC3E}">
        <p14:creationId xmlns:p14="http://schemas.microsoft.com/office/powerpoint/2010/main" val="31622344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E84859-915D-7DE0-7642-1E4F06D21CCC}"/>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Content Placeholder 2">
            <a:extLst>
              <a:ext uri="{FF2B5EF4-FFF2-40B4-BE49-F238E27FC236}">
                <a16:creationId xmlns:a16="http://schemas.microsoft.com/office/drawing/2014/main" id="{2B3F1A1E-7409-CB81-65C8-CB71F057161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a:extLst>
              <a:ext uri="{FF2B5EF4-FFF2-40B4-BE49-F238E27FC236}">
                <a16:creationId xmlns:a16="http://schemas.microsoft.com/office/drawing/2014/main" id="{963C53EC-BC29-CEE3-BA81-8EA1A95C747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E8219846-F571-00F1-1401-01305339DE41}"/>
              </a:ext>
            </a:extLst>
          </p:cNvPr>
          <p:cNvSpPr>
            <a:spLocks noGrp="1"/>
          </p:cNvSpPr>
          <p:nvPr>
            <p:ph type="dt" sz="half" idx="10"/>
          </p:nvPr>
        </p:nvSpPr>
        <p:spPr/>
        <p:txBody>
          <a:bodyPr/>
          <a:lstStyle/>
          <a:p>
            <a:fld id="{B771F118-13DA-F440-A636-5D2EF9DD7D02}" type="datetimeFigureOut">
              <a:rPr lang="en-GB" smtClean="0"/>
              <a:t>20/04/2026</a:t>
            </a:fld>
            <a:endParaRPr lang="en-GB"/>
          </a:p>
        </p:txBody>
      </p:sp>
      <p:sp>
        <p:nvSpPr>
          <p:cNvPr id="6" name="Footer Placeholder 5">
            <a:extLst>
              <a:ext uri="{FF2B5EF4-FFF2-40B4-BE49-F238E27FC236}">
                <a16:creationId xmlns:a16="http://schemas.microsoft.com/office/drawing/2014/main" id="{B5BE47F0-C990-82A0-87EB-EB93459E0F9A}"/>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A2430DD4-6045-2980-73C9-658644038A30}"/>
              </a:ext>
            </a:extLst>
          </p:cNvPr>
          <p:cNvSpPr>
            <a:spLocks noGrp="1"/>
          </p:cNvSpPr>
          <p:nvPr>
            <p:ph type="sldNum" sz="quarter" idx="12"/>
          </p:nvPr>
        </p:nvSpPr>
        <p:spPr/>
        <p:txBody>
          <a:bodyPr/>
          <a:lstStyle/>
          <a:p>
            <a:fld id="{2BD44FF1-7D77-5444-AEEB-DE69C34EE8CB}" type="slidenum">
              <a:rPr lang="en-GB" smtClean="0"/>
              <a:t>‹#›</a:t>
            </a:fld>
            <a:endParaRPr lang="en-GB"/>
          </a:p>
        </p:txBody>
      </p:sp>
    </p:spTree>
    <p:extLst>
      <p:ext uri="{BB962C8B-B14F-4D97-AF65-F5344CB8AC3E}">
        <p14:creationId xmlns:p14="http://schemas.microsoft.com/office/powerpoint/2010/main" val="37609202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33F8AA-F84D-B7B9-5463-E2E2FDE064F1}"/>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Picture Placeholder 2">
            <a:extLst>
              <a:ext uri="{FF2B5EF4-FFF2-40B4-BE49-F238E27FC236}">
                <a16:creationId xmlns:a16="http://schemas.microsoft.com/office/drawing/2014/main" id="{20080601-FE38-AA5C-CFB3-5A52C1D75D2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3C7C7C32-D6C4-0850-D042-B7981B1B259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1E6B60DA-ADEF-6984-A076-C761C2D6B4E1}"/>
              </a:ext>
            </a:extLst>
          </p:cNvPr>
          <p:cNvSpPr>
            <a:spLocks noGrp="1"/>
          </p:cNvSpPr>
          <p:nvPr>
            <p:ph type="dt" sz="half" idx="10"/>
          </p:nvPr>
        </p:nvSpPr>
        <p:spPr/>
        <p:txBody>
          <a:bodyPr/>
          <a:lstStyle/>
          <a:p>
            <a:fld id="{B771F118-13DA-F440-A636-5D2EF9DD7D02}" type="datetimeFigureOut">
              <a:rPr lang="en-GB" smtClean="0"/>
              <a:t>20/04/2026</a:t>
            </a:fld>
            <a:endParaRPr lang="en-GB"/>
          </a:p>
        </p:txBody>
      </p:sp>
      <p:sp>
        <p:nvSpPr>
          <p:cNvPr id="6" name="Footer Placeholder 5">
            <a:extLst>
              <a:ext uri="{FF2B5EF4-FFF2-40B4-BE49-F238E27FC236}">
                <a16:creationId xmlns:a16="http://schemas.microsoft.com/office/drawing/2014/main" id="{2FA1710D-D6F1-C13A-9CC0-1F4617A97772}"/>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12EFDDD4-3D65-E015-39E3-2F7A0D5164EE}"/>
              </a:ext>
            </a:extLst>
          </p:cNvPr>
          <p:cNvSpPr>
            <a:spLocks noGrp="1"/>
          </p:cNvSpPr>
          <p:nvPr>
            <p:ph type="sldNum" sz="quarter" idx="12"/>
          </p:nvPr>
        </p:nvSpPr>
        <p:spPr/>
        <p:txBody>
          <a:bodyPr/>
          <a:lstStyle/>
          <a:p>
            <a:fld id="{2BD44FF1-7D77-5444-AEEB-DE69C34EE8CB}" type="slidenum">
              <a:rPr lang="en-GB" smtClean="0"/>
              <a:t>‹#›</a:t>
            </a:fld>
            <a:endParaRPr lang="en-GB"/>
          </a:p>
        </p:txBody>
      </p:sp>
    </p:spTree>
    <p:extLst>
      <p:ext uri="{BB962C8B-B14F-4D97-AF65-F5344CB8AC3E}">
        <p14:creationId xmlns:p14="http://schemas.microsoft.com/office/powerpoint/2010/main" val="22154013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A02DE5-25F5-6752-7790-19B7D5383DDE}"/>
              </a:ext>
            </a:extLst>
          </p:cNvPr>
          <p:cNvSpPr>
            <a:spLocks noGrp="1"/>
          </p:cNvSpPr>
          <p:nvPr>
            <p:ph type="title"/>
          </p:nvPr>
        </p:nvSpPr>
        <p:spPr/>
        <p:txBody>
          <a:bodyPr/>
          <a:lstStyle/>
          <a:p>
            <a:r>
              <a:rPr lang="en-GB"/>
              <a:t>Click to edit Master title style</a:t>
            </a:r>
          </a:p>
        </p:txBody>
      </p:sp>
      <p:sp>
        <p:nvSpPr>
          <p:cNvPr id="3" name="Vertical Text Placeholder 2">
            <a:extLst>
              <a:ext uri="{FF2B5EF4-FFF2-40B4-BE49-F238E27FC236}">
                <a16:creationId xmlns:a16="http://schemas.microsoft.com/office/drawing/2014/main" id="{FE2EDB0A-6D58-9646-9DC4-11A7A170E701}"/>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4E422D5F-0092-4DC4-94AC-0E6030E26173}"/>
              </a:ext>
            </a:extLst>
          </p:cNvPr>
          <p:cNvSpPr>
            <a:spLocks noGrp="1"/>
          </p:cNvSpPr>
          <p:nvPr>
            <p:ph type="dt" sz="half" idx="10"/>
          </p:nvPr>
        </p:nvSpPr>
        <p:spPr/>
        <p:txBody>
          <a:bodyPr/>
          <a:lstStyle/>
          <a:p>
            <a:fld id="{B771F118-13DA-F440-A636-5D2EF9DD7D02}" type="datetimeFigureOut">
              <a:rPr lang="en-GB" smtClean="0"/>
              <a:t>20/04/2026</a:t>
            </a:fld>
            <a:endParaRPr lang="en-GB"/>
          </a:p>
        </p:txBody>
      </p:sp>
      <p:sp>
        <p:nvSpPr>
          <p:cNvPr id="5" name="Footer Placeholder 4">
            <a:extLst>
              <a:ext uri="{FF2B5EF4-FFF2-40B4-BE49-F238E27FC236}">
                <a16:creationId xmlns:a16="http://schemas.microsoft.com/office/drawing/2014/main" id="{0D8A1322-D4E3-CFA4-B165-38C457FCF18A}"/>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5C3A846-0E91-9BAB-BBC1-AF649EBA26DD}"/>
              </a:ext>
            </a:extLst>
          </p:cNvPr>
          <p:cNvSpPr>
            <a:spLocks noGrp="1"/>
          </p:cNvSpPr>
          <p:nvPr>
            <p:ph type="sldNum" sz="quarter" idx="12"/>
          </p:nvPr>
        </p:nvSpPr>
        <p:spPr/>
        <p:txBody>
          <a:bodyPr/>
          <a:lstStyle/>
          <a:p>
            <a:fld id="{2BD44FF1-7D77-5444-AEEB-DE69C34EE8CB}" type="slidenum">
              <a:rPr lang="en-GB" smtClean="0"/>
              <a:t>‹#›</a:t>
            </a:fld>
            <a:endParaRPr lang="en-GB"/>
          </a:p>
        </p:txBody>
      </p:sp>
    </p:spTree>
    <p:extLst>
      <p:ext uri="{BB962C8B-B14F-4D97-AF65-F5344CB8AC3E}">
        <p14:creationId xmlns:p14="http://schemas.microsoft.com/office/powerpoint/2010/main" val="33787544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4C25556-A024-D4D9-326B-8FB808F42308}"/>
              </a:ext>
            </a:extLst>
          </p:cNvPr>
          <p:cNvSpPr>
            <a:spLocks noGrp="1"/>
          </p:cNvSpPr>
          <p:nvPr>
            <p:ph type="title" orient="vert"/>
          </p:nvPr>
        </p:nvSpPr>
        <p:spPr>
          <a:xfrm>
            <a:off x="8724900" y="365125"/>
            <a:ext cx="2628900" cy="5811838"/>
          </a:xfrm>
        </p:spPr>
        <p:txBody>
          <a:bodyPr vert="eaVert"/>
          <a:lstStyle/>
          <a:p>
            <a:r>
              <a:rPr lang="en-GB"/>
              <a:t>Click to edit Master title style</a:t>
            </a:r>
          </a:p>
        </p:txBody>
      </p:sp>
      <p:sp>
        <p:nvSpPr>
          <p:cNvPr id="3" name="Vertical Text Placeholder 2">
            <a:extLst>
              <a:ext uri="{FF2B5EF4-FFF2-40B4-BE49-F238E27FC236}">
                <a16:creationId xmlns:a16="http://schemas.microsoft.com/office/drawing/2014/main" id="{7F0F8657-AB18-C21D-05B8-4565BBF7032F}"/>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5BF237C8-302B-D87E-D741-465A932A39EE}"/>
              </a:ext>
            </a:extLst>
          </p:cNvPr>
          <p:cNvSpPr>
            <a:spLocks noGrp="1"/>
          </p:cNvSpPr>
          <p:nvPr>
            <p:ph type="dt" sz="half" idx="10"/>
          </p:nvPr>
        </p:nvSpPr>
        <p:spPr/>
        <p:txBody>
          <a:bodyPr/>
          <a:lstStyle/>
          <a:p>
            <a:fld id="{B771F118-13DA-F440-A636-5D2EF9DD7D02}" type="datetimeFigureOut">
              <a:rPr lang="en-GB" smtClean="0"/>
              <a:t>20/04/2026</a:t>
            </a:fld>
            <a:endParaRPr lang="en-GB"/>
          </a:p>
        </p:txBody>
      </p:sp>
      <p:sp>
        <p:nvSpPr>
          <p:cNvPr id="5" name="Footer Placeholder 4">
            <a:extLst>
              <a:ext uri="{FF2B5EF4-FFF2-40B4-BE49-F238E27FC236}">
                <a16:creationId xmlns:a16="http://schemas.microsoft.com/office/drawing/2014/main" id="{04D96E1B-D12D-94A7-7DD7-0208C429D5C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85E251A-36BA-17EA-6CB3-2B8BF58AE9C2}"/>
              </a:ext>
            </a:extLst>
          </p:cNvPr>
          <p:cNvSpPr>
            <a:spLocks noGrp="1"/>
          </p:cNvSpPr>
          <p:nvPr>
            <p:ph type="sldNum" sz="quarter" idx="12"/>
          </p:nvPr>
        </p:nvSpPr>
        <p:spPr/>
        <p:txBody>
          <a:bodyPr/>
          <a:lstStyle/>
          <a:p>
            <a:fld id="{2BD44FF1-7D77-5444-AEEB-DE69C34EE8CB}" type="slidenum">
              <a:rPr lang="en-GB" smtClean="0"/>
              <a:t>‹#›</a:t>
            </a:fld>
            <a:endParaRPr lang="en-GB"/>
          </a:p>
        </p:txBody>
      </p:sp>
    </p:spTree>
    <p:extLst>
      <p:ext uri="{BB962C8B-B14F-4D97-AF65-F5344CB8AC3E}">
        <p14:creationId xmlns:p14="http://schemas.microsoft.com/office/powerpoint/2010/main" val="12234373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C0B0F36-DFB8-4970-9A10-F529B855242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a:extLst>
              <a:ext uri="{FF2B5EF4-FFF2-40B4-BE49-F238E27FC236}">
                <a16:creationId xmlns:a16="http://schemas.microsoft.com/office/drawing/2014/main" id="{ADF08EC9-7C87-F2B6-DEEB-01D1553E880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F0AC4B9D-F299-6AF8-A31B-3D861A3A11A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771F118-13DA-F440-A636-5D2EF9DD7D02}" type="datetimeFigureOut">
              <a:rPr lang="en-GB" smtClean="0"/>
              <a:t>20/04/2026</a:t>
            </a:fld>
            <a:endParaRPr lang="en-GB"/>
          </a:p>
        </p:txBody>
      </p:sp>
      <p:sp>
        <p:nvSpPr>
          <p:cNvPr id="5" name="Footer Placeholder 4">
            <a:extLst>
              <a:ext uri="{FF2B5EF4-FFF2-40B4-BE49-F238E27FC236}">
                <a16:creationId xmlns:a16="http://schemas.microsoft.com/office/drawing/2014/main" id="{FFA07383-11DF-1799-E822-B006F60B3B1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B4EF60D5-6CD4-7E4D-E33D-6A7F8C4D60C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BD44FF1-7D77-5444-AEEB-DE69C34EE8CB}" type="slidenum">
              <a:rPr lang="en-GB" smtClean="0"/>
              <a:t>‹#›</a:t>
            </a:fld>
            <a:endParaRPr lang="en-GB"/>
          </a:p>
        </p:txBody>
      </p:sp>
    </p:spTree>
    <p:extLst>
      <p:ext uri="{BB962C8B-B14F-4D97-AF65-F5344CB8AC3E}">
        <p14:creationId xmlns:p14="http://schemas.microsoft.com/office/powerpoint/2010/main" val="11634618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1.jpeg"/><Relationship Id="rId7" Type="http://schemas.openxmlformats.org/officeDocument/2006/relationships/diagramColors" Target="../diagrams/colors1.xml"/><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1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Digital art of brain">
            <a:extLst>
              <a:ext uri="{FF2B5EF4-FFF2-40B4-BE49-F238E27FC236}">
                <a16:creationId xmlns:a16="http://schemas.microsoft.com/office/drawing/2014/main" id="{643991F4-A054-2A45-BF0C-8A767DCE3737}"/>
              </a:ext>
            </a:extLst>
          </p:cNvPr>
          <p:cNvPicPr>
            <a:picLocks noChangeAspect="1"/>
          </p:cNvPicPr>
          <p:nvPr/>
        </p:nvPicPr>
        <p:blipFill>
          <a:blip r:embed="rId3">
            <a:alphaModFix amt="50000"/>
          </a:blip>
          <a:srcRect/>
          <a:stretch>
            <a:fillRect/>
          </a:stretch>
        </p:blipFill>
        <p:spPr>
          <a:xfrm>
            <a:off x="20" y="1"/>
            <a:ext cx="12191980" cy="6857999"/>
          </a:xfrm>
          <a:prstGeom prst="rect">
            <a:avLst/>
          </a:prstGeom>
        </p:spPr>
      </p:pic>
      <p:sp>
        <p:nvSpPr>
          <p:cNvPr id="2" name="Title 1">
            <a:extLst>
              <a:ext uri="{FF2B5EF4-FFF2-40B4-BE49-F238E27FC236}">
                <a16:creationId xmlns:a16="http://schemas.microsoft.com/office/drawing/2014/main" id="{8BF149AB-3543-F8CF-16C1-8BEF66F6F320}"/>
              </a:ext>
            </a:extLst>
          </p:cNvPr>
          <p:cNvSpPr>
            <a:spLocks noGrp="1"/>
          </p:cNvSpPr>
          <p:nvPr>
            <p:ph type="ctrTitle"/>
          </p:nvPr>
        </p:nvSpPr>
        <p:spPr>
          <a:xfrm>
            <a:off x="1524000" y="1122362"/>
            <a:ext cx="9144000" cy="2900518"/>
          </a:xfrm>
        </p:spPr>
        <p:txBody>
          <a:bodyPr>
            <a:normAutofit/>
          </a:bodyPr>
          <a:lstStyle/>
          <a:p>
            <a:r>
              <a:rPr lang="en-GB" dirty="0">
                <a:solidFill>
                  <a:srgbClr val="FFFFFF"/>
                </a:solidFill>
              </a:rPr>
              <a:t>Multisectoral Approach to Mental Health.</a:t>
            </a:r>
          </a:p>
        </p:txBody>
      </p:sp>
      <p:sp>
        <p:nvSpPr>
          <p:cNvPr id="3" name="Subtitle 2">
            <a:extLst>
              <a:ext uri="{FF2B5EF4-FFF2-40B4-BE49-F238E27FC236}">
                <a16:creationId xmlns:a16="http://schemas.microsoft.com/office/drawing/2014/main" id="{21C3430B-52DE-7BF2-FA82-956BCEE5674B}"/>
              </a:ext>
            </a:extLst>
          </p:cNvPr>
          <p:cNvSpPr>
            <a:spLocks noGrp="1"/>
          </p:cNvSpPr>
          <p:nvPr>
            <p:ph type="subTitle" idx="1"/>
          </p:nvPr>
        </p:nvSpPr>
        <p:spPr>
          <a:xfrm>
            <a:off x="1524000" y="4159404"/>
            <a:ext cx="9144000" cy="1098395"/>
          </a:xfrm>
        </p:spPr>
        <p:txBody>
          <a:bodyPr>
            <a:normAutofit/>
          </a:bodyPr>
          <a:lstStyle/>
          <a:p>
            <a:r>
              <a:rPr lang="en-GB">
                <a:solidFill>
                  <a:srgbClr val="FFFFFF"/>
                </a:solidFill>
              </a:rPr>
              <a:t>22 April 2026</a:t>
            </a:r>
          </a:p>
          <a:p>
            <a:r>
              <a:rPr lang="en-GB">
                <a:solidFill>
                  <a:srgbClr val="FFFFFF"/>
                </a:solidFill>
              </a:rPr>
              <a:t>K Msane.</a:t>
            </a:r>
          </a:p>
        </p:txBody>
      </p:sp>
    </p:spTree>
    <p:extLst>
      <p:ext uri="{BB962C8B-B14F-4D97-AF65-F5344CB8AC3E}">
        <p14:creationId xmlns:p14="http://schemas.microsoft.com/office/powerpoint/2010/main" val="987531510"/>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1500"/>
                                  </p:stCondLst>
                                  <p:iterate>
                                    <p:tmPct val="10000"/>
                                  </p:iterate>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7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9228552E-C8B1-4A80-8448-0787CE0FC7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Digital art of brain">
            <a:extLst>
              <a:ext uri="{FF2B5EF4-FFF2-40B4-BE49-F238E27FC236}">
                <a16:creationId xmlns:a16="http://schemas.microsoft.com/office/drawing/2014/main" id="{024C8C70-5DAA-CC63-5861-BA90F39757A6}"/>
              </a:ext>
            </a:extLst>
          </p:cNvPr>
          <p:cNvPicPr>
            <a:picLocks noChangeAspect="1"/>
          </p:cNvPicPr>
          <p:nvPr/>
        </p:nvPicPr>
        <p:blipFill>
          <a:blip r:embed="rId3">
            <a:alphaModFix amt="35000"/>
          </a:blip>
          <a:srcRect/>
          <a:stretch>
            <a:fill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1CB6C15F-1B66-757D-A25D-B75F96D345BE}"/>
              </a:ext>
            </a:extLst>
          </p:cNvPr>
          <p:cNvSpPr>
            <a:spLocks noGrp="1"/>
          </p:cNvSpPr>
          <p:nvPr>
            <p:ph type="title"/>
          </p:nvPr>
        </p:nvSpPr>
        <p:spPr>
          <a:xfrm>
            <a:off x="838200" y="365125"/>
            <a:ext cx="10515600" cy="1325563"/>
          </a:xfrm>
        </p:spPr>
        <p:txBody>
          <a:bodyPr vert="horz" lIns="91440" tIns="45720" rIns="91440" bIns="45720" rtlCol="0">
            <a:normAutofit fontScale="90000"/>
          </a:bodyPr>
          <a:lstStyle/>
          <a:p>
            <a:r>
              <a:rPr lang="en-US" b="1" dirty="0">
                <a:solidFill>
                  <a:srgbClr val="FFFFFF"/>
                </a:solidFill>
              </a:rPr>
              <a:t>Contents</a:t>
            </a:r>
            <a:br>
              <a:rPr lang="en-US" sz="3200" dirty="0">
                <a:solidFill>
                  <a:srgbClr val="FFFFFF"/>
                </a:solidFill>
              </a:rPr>
            </a:br>
            <a:br>
              <a:rPr lang="en-US" sz="2800" dirty="0">
                <a:solidFill>
                  <a:srgbClr val="FFFFFF"/>
                </a:solidFill>
              </a:rPr>
            </a:br>
            <a:endParaRPr lang="en-US" sz="2800" dirty="0">
              <a:solidFill>
                <a:srgbClr val="FFFFFF"/>
              </a:solidFill>
            </a:endParaRPr>
          </a:p>
        </p:txBody>
      </p:sp>
      <p:sp>
        <p:nvSpPr>
          <p:cNvPr id="4" name="Content Placeholder 3">
            <a:extLst>
              <a:ext uri="{FF2B5EF4-FFF2-40B4-BE49-F238E27FC236}">
                <a16:creationId xmlns:a16="http://schemas.microsoft.com/office/drawing/2014/main" id="{14239E5B-F04D-944A-D556-60062F68A167}"/>
              </a:ext>
            </a:extLst>
          </p:cNvPr>
          <p:cNvSpPr>
            <a:spLocks noGrp="1"/>
          </p:cNvSpPr>
          <p:nvPr>
            <p:ph idx="1"/>
          </p:nvPr>
        </p:nvSpPr>
        <p:spPr>
          <a:xfrm>
            <a:off x="838200" y="1256816"/>
            <a:ext cx="10515600" cy="5236059"/>
          </a:xfrm>
        </p:spPr>
        <p:txBody>
          <a:bodyPr>
            <a:normAutofit/>
          </a:bodyPr>
          <a:lstStyle/>
          <a:p>
            <a:pPr>
              <a:lnSpc>
                <a:spcPct val="160000"/>
              </a:lnSpc>
              <a:spcBef>
                <a:spcPts val="0"/>
              </a:spcBef>
            </a:pPr>
            <a:r>
              <a:rPr lang="en-GB" sz="2000" dirty="0">
                <a:solidFill>
                  <a:srgbClr val="FFFFFF"/>
                </a:solidFill>
              </a:rPr>
              <a:t>Definition of mental health and attributes thereof.</a:t>
            </a:r>
          </a:p>
          <a:p>
            <a:pPr>
              <a:lnSpc>
                <a:spcPct val="160000"/>
              </a:lnSpc>
              <a:spcBef>
                <a:spcPts val="0"/>
              </a:spcBef>
            </a:pPr>
            <a:r>
              <a:rPr lang="en-GB" sz="2000" dirty="0">
                <a:solidFill>
                  <a:srgbClr val="FFFFFF"/>
                </a:solidFill>
              </a:rPr>
              <a:t>Determinants of  good mental health.</a:t>
            </a:r>
          </a:p>
          <a:p>
            <a:pPr>
              <a:lnSpc>
                <a:spcPct val="160000"/>
              </a:lnSpc>
              <a:spcBef>
                <a:spcPts val="0"/>
              </a:spcBef>
            </a:pPr>
            <a:r>
              <a:rPr lang="en-GB" sz="2000" dirty="0">
                <a:solidFill>
                  <a:srgbClr val="FFFFFF"/>
                </a:solidFill>
              </a:rPr>
              <a:t>Epidemiology of mental illness.</a:t>
            </a:r>
            <a:br>
              <a:rPr lang="en-GB" sz="2000" dirty="0">
                <a:solidFill>
                  <a:srgbClr val="FFFFFF"/>
                </a:solidFill>
              </a:rPr>
            </a:br>
            <a:r>
              <a:rPr lang="en-GB" sz="2000" dirty="0">
                <a:solidFill>
                  <a:srgbClr val="FFFFFF"/>
                </a:solidFill>
              </a:rPr>
              <a:t>Determinants of negative mental health.</a:t>
            </a:r>
            <a:br>
              <a:rPr lang="en-GB" sz="2000" dirty="0">
                <a:solidFill>
                  <a:srgbClr val="FFFFFF"/>
                </a:solidFill>
              </a:rPr>
            </a:br>
            <a:r>
              <a:rPr lang="en-GB" sz="2000" dirty="0">
                <a:solidFill>
                  <a:srgbClr val="FFFFFF"/>
                </a:solidFill>
              </a:rPr>
              <a:t>Multisectoral approach to mental health and illness.</a:t>
            </a:r>
            <a:endParaRPr lang="en-GB" sz="1600" dirty="0">
              <a:solidFill>
                <a:srgbClr val="FFFFFF"/>
              </a:solidFill>
            </a:endParaRPr>
          </a:p>
          <a:p>
            <a:pPr marL="457200" lvl="1" indent="0">
              <a:buNone/>
            </a:pPr>
            <a:r>
              <a:rPr lang="en-GB" sz="1600" dirty="0">
                <a:solidFill>
                  <a:srgbClr val="FFFFFF"/>
                </a:solidFill>
              </a:rPr>
              <a:t>Health.</a:t>
            </a:r>
          </a:p>
          <a:p>
            <a:pPr marL="457200" lvl="1" indent="0">
              <a:buNone/>
            </a:pPr>
            <a:r>
              <a:rPr lang="en-GB" sz="1600" dirty="0">
                <a:solidFill>
                  <a:srgbClr val="FFFFFF"/>
                </a:solidFill>
              </a:rPr>
              <a:t>Police/ legal and justice cluster.</a:t>
            </a:r>
          </a:p>
          <a:p>
            <a:pPr marL="457200" lvl="1" indent="0">
              <a:buNone/>
            </a:pPr>
            <a:r>
              <a:rPr lang="en-GB" sz="1600" dirty="0">
                <a:solidFill>
                  <a:srgbClr val="FFFFFF"/>
                </a:solidFill>
              </a:rPr>
              <a:t>Labour.</a:t>
            </a:r>
          </a:p>
          <a:p>
            <a:pPr marL="457200" lvl="1" indent="0">
              <a:buNone/>
            </a:pPr>
            <a:r>
              <a:rPr lang="en-GB" sz="1600" dirty="0">
                <a:solidFill>
                  <a:srgbClr val="FFFFFF"/>
                </a:solidFill>
              </a:rPr>
              <a:t>Child justice.</a:t>
            </a:r>
          </a:p>
          <a:p>
            <a:pPr marL="457200" lvl="1" indent="0">
              <a:buNone/>
            </a:pPr>
            <a:r>
              <a:rPr lang="en-GB" sz="1600" dirty="0">
                <a:solidFill>
                  <a:srgbClr val="FFFFFF"/>
                </a:solidFill>
              </a:rPr>
              <a:t>Education sector. </a:t>
            </a:r>
          </a:p>
          <a:p>
            <a:pPr marL="457200" lvl="1" indent="0">
              <a:buNone/>
            </a:pPr>
            <a:r>
              <a:rPr lang="en-GB" sz="1600" dirty="0">
                <a:solidFill>
                  <a:srgbClr val="FFFFFF"/>
                </a:solidFill>
              </a:rPr>
              <a:t>Media. </a:t>
            </a:r>
            <a:br>
              <a:rPr lang="en-GB" sz="1600" dirty="0">
                <a:solidFill>
                  <a:srgbClr val="FFFFFF"/>
                </a:solidFill>
              </a:rPr>
            </a:br>
            <a:endParaRPr lang="en-GB" sz="1600" dirty="0">
              <a:solidFill>
                <a:srgbClr val="FFFFFF"/>
              </a:solidFill>
            </a:endParaRPr>
          </a:p>
          <a:p>
            <a:pPr marL="0" indent="0">
              <a:buNone/>
            </a:pPr>
            <a:r>
              <a:rPr lang="en-GB" sz="2000" dirty="0">
                <a:solidFill>
                  <a:srgbClr val="FFFFFF"/>
                </a:solidFill>
              </a:rPr>
              <a:t>Challenges to the multisectoral approach.</a:t>
            </a:r>
            <a:br>
              <a:rPr lang="en-GB" sz="2000" dirty="0">
                <a:solidFill>
                  <a:srgbClr val="FFFFFF"/>
                </a:solidFill>
              </a:rPr>
            </a:br>
            <a:endParaRPr lang="en-GB" sz="2000" dirty="0">
              <a:solidFill>
                <a:srgbClr val="FFFFFF"/>
              </a:solidFill>
            </a:endParaRPr>
          </a:p>
        </p:txBody>
      </p:sp>
    </p:spTree>
    <p:extLst>
      <p:ext uri="{BB962C8B-B14F-4D97-AF65-F5344CB8AC3E}">
        <p14:creationId xmlns:p14="http://schemas.microsoft.com/office/powerpoint/2010/main" val="1657740773"/>
      </p:ext>
    </p:extLst>
  </p:cSld>
  <p:clrMapOvr>
    <a:overrideClrMapping bg1="dk1" tx1="lt1" bg2="dk2" tx2="lt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alpha val="7705"/>
          </a:schemeClr>
        </a:solidFill>
        <a:effectLst/>
      </p:bgPr>
    </p:bg>
    <p:spTree>
      <p:nvGrpSpPr>
        <p:cNvPr id="1" name=""/>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96CF2A2B-0745-440C-9224-C5C6A0A428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2" name="Rectangle 31">
            <a:extLst>
              <a:ext uri="{FF2B5EF4-FFF2-40B4-BE49-F238E27FC236}">
                <a16:creationId xmlns:a16="http://schemas.microsoft.com/office/drawing/2014/main" id="{75BE6D6B-84C9-4D2B-97EB-773B7369EF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pic>
        <p:nvPicPr>
          <p:cNvPr id="5" name="Picture 4" descr="Digital art of brain">
            <a:extLst>
              <a:ext uri="{FF2B5EF4-FFF2-40B4-BE49-F238E27FC236}">
                <a16:creationId xmlns:a16="http://schemas.microsoft.com/office/drawing/2014/main" id="{AB4C94C0-50B1-7E1B-D31E-43ECFAD97B6E}"/>
              </a:ext>
            </a:extLst>
          </p:cNvPr>
          <p:cNvPicPr>
            <a:picLocks noChangeAspect="1"/>
          </p:cNvPicPr>
          <p:nvPr/>
        </p:nvPicPr>
        <p:blipFill>
          <a:blip r:embed="rId3">
            <a:alphaModFix amt="60000"/>
          </a:blip>
          <a:srcRect/>
          <a:stretch>
            <a:fillRect/>
          </a:stretch>
        </p:blipFill>
        <p:spPr>
          <a:xfrm>
            <a:off x="-1" y="10"/>
            <a:ext cx="12192001" cy="6857990"/>
          </a:xfrm>
          <a:prstGeom prst="rect">
            <a:avLst/>
          </a:prstGeom>
        </p:spPr>
      </p:pic>
      <p:sp>
        <p:nvSpPr>
          <p:cNvPr id="2" name="Title 1">
            <a:extLst>
              <a:ext uri="{FF2B5EF4-FFF2-40B4-BE49-F238E27FC236}">
                <a16:creationId xmlns:a16="http://schemas.microsoft.com/office/drawing/2014/main" id="{BA4CE775-9FC1-571B-8A0E-0CCC0DB896E5}"/>
              </a:ext>
            </a:extLst>
          </p:cNvPr>
          <p:cNvSpPr>
            <a:spLocks noGrp="1"/>
          </p:cNvSpPr>
          <p:nvPr>
            <p:ph type="title"/>
          </p:nvPr>
        </p:nvSpPr>
        <p:spPr>
          <a:xfrm>
            <a:off x="1198181" y="728906"/>
            <a:ext cx="9792471" cy="2057037"/>
          </a:xfrm>
        </p:spPr>
        <p:txBody>
          <a:bodyPr>
            <a:normAutofit/>
          </a:bodyPr>
          <a:lstStyle/>
          <a:p>
            <a:r>
              <a:rPr lang="en-GB" dirty="0">
                <a:solidFill>
                  <a:srgbClr val="FFFFFF"/>
                </a:solidFill>
              </a:rPr>
              <a:t>Mental health</a:t>
            </a:r>
          </a:p>
        </p:txBody>
      </p:sp>
      <p:sp>
        <p:nvSpPr>
          <p:cNvPr id="3" name="Content Placeholder 2">
            <a:extLst>
              <a:ext uri="{FF2B5EF4-FFF2-40B4-BE49-F238E27FC236}">
                <a16:creationId xmlns:a16="http://schemas.microsoft.com/office/drawing/2014/main" id="{0CE83EC9-5A44-945B-65F8-B12D525D8811}"/>
              </a:ext>
            </a:extLst>
          </p:cNvPr>
          <p:cNvSpPr>
            <a:spLocks noGrp="1"/>
          </p:cNvSpPr>
          <p:nvPr>
            <p:ph idx="1"/>
          </p:nvPr>
        </p:nvSpPr>
        <p:spPr>
          <a:xfrm>
            <a:off x="1198181" y="2957665"/>
            <a:ext cx="9792471" cy="3171423"/>
          </a:xfrm>
        </p:spPr>
        <p:txBody>
          <a:bodyPr>
            <a:normAutofit/>
          </a:bodyPr>
          <a:lstStyle/>
          <a:p>
            <a:r>
              <a:rPr lang="en-GB" sz="2000">
                <a:solidFill>
                  <a:srgbClr val="FFFFFF"/>
                </a:solidFill>
              </a:rPr>
              <a:t>The World Health Organisation (WHO) describes mental health as “Mental health is a state of mental well-being that enables people to cope with the stresses of life, realize their abilities, learn well and work well, and contribute to their community”.</a:t>
            </a:r>
          </a:p>
        </p:txBody>
      </p:sp>
    </p:spTree>
    <p:extLst>
      <p:ext uri="{BB962C8B-B14F-4D97-AF65-F5344CB8AC3E}">
        <p14:creationId xmlns:p14="http://schemas.microsoft.com/office/powerpoint/2010/main" val="42503996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9228552E-C8B1-4A80-8448-0787CE0FC7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Digital art of brain">
            <a:extLst>
              <a:ext uri="{FF2B5EF4-FFF2-40B4-BE49-F238E27FC236}">
                <a16:creationId xmlns:a16="http://schemas.microsoft.com/office/drawing/2014/main" id="{F5E2AEF5-1ACD-CA60-433F-1068151A43E2}"/>
              </a:ext>
            </a:extLst>
          </p:cNvPr>
          <p:cNvPicPr>
            <a:picLocks noChangeAspect="1"/>
          </p:cNvPicPr>
          <p:nvPr/>
        </p:nvPicPr>
        <p:blipFill>
          <a:blip r:embed="rId3">
            <a:alphaModFix amt="35000"/>
          </a:blip>
          <a:srcRect/>
          <a:stretch>
            <a:fillRect/>
          </a:stretch>
        </p:blipFill>
        <p:spPr>
          <a:xfrm>
            <a:off x="20" y="10"/>
            <a:ext cx="12191979" cy="6857990"/>
          </a:xfrm>
          <a:prstGeom prst="rect">
            <a:avLst/>
          </a:prstGeom>
        </p:spPr>
      </p:pic>
      <p:sp>
        <p:nvSpPr>
          <p:cNvPr id="2" name="Title 1">
            <a:extLst>
              <a:ext uri="{FF2B5EF4-FFF2-40B4-BE49-F238E27FC236}">
                <a16:creationId xmlns:a16="http://schemas.microsoft.com/office/drawing/2014/main" id="{F64173E4-16BA-F913-7300-3E87F920EB8B}"/>
              </a:ext>
            </a:extLst>
          </p:cNvPr>
          <p:cNvSpPr>
            <a:spLocks noGrp="1"/>
          </p:cNvSpPr>
          <p:nvPr>
            <p:ph type="title"/>
          </p:nvPr>
        </p:nvSpPr>
        <p:spPr>
          <a:xfrm>
            <a:off x="838200" y="365125"/>
            <a:ext cx="10515600" cy="1325563"/>
          </a:xfrm>
        </p:spPr>
        <p:txBody>
          <a:bodyPr>
            <a:normAutofit/>
          </a:bodyPr>
          <a:lstStyle/>
          <a:p>
            <a:r>
              <a:rPr lang="en-GB" dirty="0">
                <a:solidFill>
                  <a:srgbClr val="FFFFFF"/>
                </a:solidFill>
              </a:rPr>
              <a:t>Good mental health</a:t>
            </a:r>
          </a:p>
        </p:txBody>
      </p:sp>
      <p:sp>
        <p:nvSpPr>
          <p:cNvPr id="3" name="Content Placeholder 2">
            <a:extLst>
              <a:ext uri="{FF2B5EF4-FFF2-40B4-BE49-F238E27FC236}">
                <a16:creationId xmlns:a16="http://schemas.microsoft.com/office/drawing/2014/main" id="{E2ECAEFE-0BDD-F00B-2ADF-7403539A5FE6}"/>
              </a:ext>
            </a:extLst>
          </p:cNvPr>
          <p:cNvSpPr>
            <a:spLocks noGrp="1"/>
          </p:cNvSpPr>
          <p:nvPr>
            <p:ph idx="1"/>
          </p:nvPr>
        </p:nvSpPr>
        <p:spPr>
          <a:xfrm>
            <a:off x="838200" y="1514007"/>
            <a:ext cx="10515600" cy="4978868"/>
          </a:xfrm>
        </p:spPr>
        <p:txBody>
          <a:bodyPr>
            <a:normAutofit/>
          </a:bodyPr>
          <a:lstStyle/>
          <a:p>
            <a:r>
              <a:rPr lang="en-GB" sz="1800" dirty="0">
                <a:solidFill>
                  <a:srgbClr val="FFFFFF"/>
                </a:solidFill>
              </a:rPr>
              <a:t>Resilience  (which is the ability to withstand and adapt successfully to/ despite challenging circumstances).</a:t>
            </a:r>
          </a:p>
          <a:p>
            <a:r>
              <a:rPr lang="en-GB" sz="1800" dirty="0">
                <a:solidFill>
                  <a:srgbClr val="FFFFFF"/>
                </a:solidFill>
              </a:rPr>
              <a:t>The ability to tolerate uncertainty, discomfort and to take risks in a manner that is responsible and sensible.</a:t>
            </a:r>
          </a:p>
          <a:p>
            <a:r>
              <a:rPr lang="en-GB" sz="1800" dirty="0">
                <a:solidFill>
                  <a:srgbClr val="FFFFFF"/>
                </a:solidFill>
              </a:rPr>
              <a:t>A sense of self sufficiency, self-worth and self-esteem and be productive in personal and professional lives.</a:t>
            </a:r>
          </a:p>
          <a:p>
            <a:r>
              <a:rPr lang="en-GB" sz="1800" dirty="0">
                <a:solidFill>
                  <a:srgbClr val="FFFFFF"/>
                </a:solidFill>
              </a:rPr>
              <a:t>The ability to examines oneself ( introspect) and consider change that may be required.</a:t>
            </a:r>
          </a:p>
          <a:p>
            <a:r>
              <a:rPr lang="en-GB" sz="1800" dirty="0">
                <a:solidFill>
                  <a:srgbClr val="FFFFFF"/>
                </a:solidFill>
              </a:rPr>
              <a:t>The ability to learn from experiences.</a:t>
            </a:r>
          </a:p>
          <a:p>
            <a:r>
              <a:rPr lang="en-GB" sz="1800" dirty="0">
                <a:solidFill>
                  <a:srgbClr val="FFFFFF"/>
                </a:solidFill>
              </a:rPr>
              <a:t>The ability to use your imagination for creative or other suitable purposes.</a:t>
            </a:r>
          </a:p>
          <a:p>
            <a:r>
              <a:rPr lang="en-GB" sz="1800" dirty="0">
                <a:solidFill>
                  <a:srgbClr val="FFFFFF"/>
                </a:solidFill>
              </a:rPr>
              <a:t>Engage in spiritual and religious beliefs in meaningful ways.</a:t>
            </a:r>
          </a:p>
          <a:p>
            <a:r>
              <a:rPr lang="en-GB" sz="1800" dirty="0">
                <a:solidFill>
                  <a:srgbClr val="FFFFFF"/>
                </a:solidFill>
              </a:rPr>
              <a:t>The ability to interact with others and to offer affection and to experience deep emotions, in ways that are appropriate that show healthy boundaries and strengthen social networks.</a:t>
            </a:r>
          </a:p>
          <a:p>
            <a:r>
              <a:rPr lang="en-GB" sz="1800" dirty="0">
                <a:solidFill>
                  <a:srgbClr val="FFFFFF"/>
                </a:solidFill>
              </a:rPr>
              <a:t>Empathise with others.</a:t>
            </a:r>
          </a:p>
          <a:p>
            <a:pPr marL="0" indent="0">
              <a:buNone/>
            </a:pPr>
            <a:endParaRPr lang="en-GB" sz="1800" dirty="0">
              <a:solidFill>
                <a:srgbClr val="FFFFFF"/>
              </a:solidFill>
            </a:endParaRPr>
          </a:p>
          <a:p>
            <a:pPr marL="0" indent="0">
              <a:buNone/>
            </a:pPr>
            <a:endParaRPr lang="en-GB" sz="1500" dirty="0">
              <a:solidFill>
                <a:srgbClr val="FFFFFF"/>
              </a:solidFill>
            </a:endParaRPr>
          </a:p>
          <a:p>
            <a:endParaRPr lang="en-GB" sz="1500" dirty="0">
              <a:solidFill>
                <a:srgbClr val="FFFFFF"/>
              </a:solidFill>
            </a:endParaRPr>
          </a:p>
        </p:txBody>
      </p:sp>
    </p:spTree>
    <p:extLst>
      <p:ext uri="{BB962C8B-B14F-4D97-AF65-F5344CB8AC3E}">
        <p14:creationId xmlns:p14="http://schemas.microsoft.com/office/powerpoint/2010/main" val="2656108825"/>
      </p:ext>
    </p:extLst>
  </p:cSld>
  <p:clrMapOvr>
    <a:overrideClrMapping bg1="dk1" tx1="lt1" bg2="dk2" tx2="lt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Content Placeholder 9" descr="Digital art of brain">
            <a:extLst>
              <a:ext uri="{FF2B5EF4-FFF2-40B4-BE49-F238E27FC236}">
                <a16:creationId xmlns:a16="http://schemas.microsoft.com/office/drawing/2014/main" id="{19CD69BF-32D5-9B92-9428-841D645CCF82}"/>
              </a:ext>
            </a:extLst>
          </p:cNvPr>
          <p:cNvPicPr>
            <a:picLocks noGrp="1" noChangeAspect="1"/>
          </p:cNvPicPr>
          <p:nvPr>
            <p:ph idx="1"/>
          </p:nvPr>
        </p:nvPicPr>
        <p:blipFill>
          <a:blip r:embed="rId3">
            <a:alphaModFix amt="35000"/>
          </a:blip>
          <a:srcRect/>
          <a:stretch>
            <a:fillRect/>
          </a:stretch>
        </p:blipFill>
        <p:spPr>
          <a:xfrm>
            <a:off x="20" y="1"/>
            <a:ext cx="12191980" cy="6857999"/>
          </a:xfrm>
          <a:prstGeom prst="rect">
            <a:avLst/>
          </a:prstGeom>
        </p:spPr>
      </p:pic>
      <p:sp>
        <p:nvSpPr>
          <p:cNvPr id="2" name="Title 1">
            <a:extLst>
              <a:ext uri="{FF2B5EF4-FFF2-40B4-BE49-F238E27FC236}">
                <a16:creationId xmlns:a16="http://schemas.microsoft.com/office/drawing/2014/main" id="{5BF95745-9B4E-1A63-1740-16DE1F60A023}"/>
              </a:ext>
            </a:extLst>
          </p:cNvPr>
          <p:cNvSpPr>
            <a:spLocks noGrp="1"/>
          </p:cNvSpPr>
          <p:nvPr>
            <p:ph type="title"/>
          </p:nvPr>
        </p:nvSpPr>
        <p:spPr>
          <a:xfrm>
            <a:off x="526471" y="326143"/>
            <a:ext cx="10137569" cy="1213065"/>
          </a:xfrm>
        </p:spPr>
        <p:txBody>
          <a:bodyPr vert="horz" lIns="91440" tIns="45720" rIns="91440" bIns="45720" rtlCol="0" anchor="b">
            <a:normAutofit fontScale="90000"/>
          </a:bodyPr>
          <a:lstStyle/>
          <a:p>
            <a:r>
              <a:rPr lang="en-US" sz="6000" dirty="0">
                <a:solidFill>
                  <a:srgbClr val="FFFFFF"/>
                </a:solidFill>
              </a:rPr>
              <a:t>Determinants of good mental health</a:t>
            </a:r>
          </a:p>
        </p:txBody>
      </p:sp>
      <p:graphicFrame>
        <p:nvGraphicFramePr>
          <p:cNvPr id="12" name="Table 11">
            <a:extLst>
              <a:ext uri="{FF2B5EF4-FFF2-40B4-BE49-F238E27FC236}">
                <a16:creationId xmlns:a16="http://schemas.microsoft.com/office/drawing/2014/main" id="{0A0009FC-65A8-2753-1902-C1CAA233F2F9}"/>
              </a:ext>
            </a:extLst>
          </p:cNvPr>
          <p:cNvGraphicFramePr>
            <a:graphicFrameLocks noGrp="1"/>
          </p:cNvGraphicFramePr>
          <p:nvPr>
            <p:extLst>
              <p:ext uri="{D42A27DB-BD31-4B8C-83A1-F6EECF244321}">
                <p14:modId xmlns:p14="http://schemas.microsoft.com/office/powerpoint/2010/main" val="1075643962"/>
              </p:ext>
            </p:extLst>
          </p:nvPr>
        </p:nvGraphicFramePr>
        <p:xfrm>
          <a:off x="668955" y="1539208"/>
          <a:ext cx="10521536" cy="5129844"/>
        </p:xfrm>
        <a:graphic>
          <a:graphicData uri="http://schemas.openxmlformats.org/drawingml/2006/table">
            <a:tbl>
              <a:tblPr firstRow="1" firstCol="1" bandRow="1"/>
              <a:tblGrid>
                <a:gridCol w="3511192">
                  <a:extLst>
                    <a:ext uri="{9D8B030D-6E8A-4147-A177-3AD203B41FA5}">
                      <a16:colId xmlns:a16="http://schemas.microsoft.com/office/drawing/2014/main" val="3445654925"/>
                    </a:ext>
                  </a:extLst>
                </a:gridCol>
                <a:gridCol w="3499152">
                  <a:extLst>
                    <a:ext uri="{9D8B030D-6E8A-4147-A177-3AD203B41FA5}">
                      <a16:colId xmlns:a16="http://schemas.microsoft.com/office/drawing/2014/main" val="1930936933"/>
                    </a:ext>
                  </a:extLst>
                </a:gridCol>
                <a:gridCol w="3511192">
                  <a:extLst>
                    <a:ext uri="{9D8B030D-6E8A-4147-A177-3AD203B41FA5}">
                      <a16:colId xmlns:a16="http://schemas.microsoft.com/office/drawing/2014/main" val="3075053105"/>
                    </a:ext>
                  </a:extLst>
                </a:gridCol>
              </a:tblGrid>
              <a:tr h="351559">
                <a:tc>
                  <a:txBody>
                    <a:bodyPr/>
                    <a:lstStyle/>
                    <a:p>
                      <a:pPr algn="l">
                        <a:buNone/>
                        <a:tabLst>
                          <a:tab pos="726440" algn="l"/>
                        </a:tabLst>
                      </a:pPr>
                      <a:r>
                        <a:rPr lang="en-GB" sz="1400" b="1" dirty="0">
                          <a:effectLst/>
                          <a:latin typeface="Aptos" panose="020B0004020202020204" pitchFamily="34" charset="0"/>
                          <a:ea typeface="Aptos" panose="020B0004020202020204" pitchFamily="34" charset="0"/>
                          <a:cs typeface="Times New Roman" panose="02020603050405020304" pitchFamily="18" charset="0"/>
                        </a:rPr>
                        <a:t>INDIVIDUAL</a:t>
                      </a:r>
                      <a:endParaRPr lang="en-ZA" sz="1400" dirty="0">
                        <a:effectLst/>
                        <a:latin typeface="Aptos" panose="020B0004020202020204" pitchFamily="34" charset="0"/>
                        <a:ea typeface="Aptos" panose="020B0004020202020204" pitchFamily="34" charset="0"/>
                        <a:cs typeface="Times New Roman" panose="02020603050405020304" pitchFamily="18" charset="0"/>
                      </a:endParaRPr>
                    </a:p>
                  </a:txBody>
                  <a:tcPr marL="65595" marR="65595" marT="8482"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l">
                        <a:buNone/>
                        <a:tabLst>
                          <a:tab pos="726440" algn="l"/>
                        </a:tabLst>
                      </a:pPr>
                      <a:r>
                        <a:rPr lang="en-GB" sz="1400" b="1" dirty="0">
                          <a:effectLst/>
                          <a:latin typeface="Aptos" panose="020B0004020202020204" pitchFamily="34" charset="0"/>
                          <a:ea typeface="Aptos" panose="020B0004020202020204" pitchFamily="34" charset="0"/>
                          <a:cs typeface="Times New Roman" panose="02020603050405020304" pitchFamily="18" charset="0"/>
                        </a:rPr>
                        <a:t>FAMILY</a:t>
                      </a:r>
                      <a:endParaRPr lang="en-ZA" sz="1400" dirty="0">
                        <a:effectLst/>
                        <a:latin typeface="Aptos" panose="020B0004020202020204" pitchFamily="34" charset="0"/>
                        <a:ea typeface="Aptos" panose="020B0004020202020204" pitchFamily="34" charset="0"/>
                        <a:cs typeface="Times New Roman" panose="02020603050405020304" pitchFamily="18" charset="0"/>
                      </a:endParaRPr>
                    </a:p>
                  </a:txBody>
                  <a:tcPr marL="65595" marR="65595" marT="8482"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l">
                        <a:buNone/>
                        <a:tabLst>
                          <a:tab pos="726440" algn="l"/>
                        </a:tabLst>
                      </a:pPr>
                      <a:r>
                        <a:rPr lang="en-GB" sz="1400" b="1" dirty="0">
                          <a:effectLst/>
                          <a:latin typeface="Aptos" panose="020B0004020202020204" pitchFamily="34" charset="0"/>
                          <a:ea typeface="Aptos" panose="020B0004020202020204" pitchFamily="34" charset="0"/>
                          <a:cs typeface="Times New Roman" panose="02020603050405020304" pitchFamily="18" charset="0"/>
                        </a:rPr>
                        <a:t>ENVIRONMENT</a:t>
                      </a:r>
                      <a:endParaRPr lang="en-ZA" sz="1400" dirty="0">
                        <a:effectLst/>
                        <a:latin typeface="Aptos" panose="020B0004020202020204" pitchFamily="34" charset="0"/>
                        <a:ea typeface="Aptos" panose="020B0004020202020204" pitchFamily="34" charset="0"/>
                        <a:cs typeface="Times New Roman" panose="02020603050405020304" pitchFamily="18" charset="0"/>
                      </a:endParaRPr>
                    </a:p>
                  </a:txBody>
                  <a:tcPr marL="65595" marR="65595" marT="8482"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17692257"/>
                  </a:ext>
                </a:extLst>
              </a:tr>
              <a:tr h="4555224">
                <a:tc>
                  <a:txBody>
                    <a:bodyPr/>
                    <a:lstStyle/>
                    <a:p>
                      <a:pPr marL="342900" lvl="0" indent="-342900" algn="l">
                        <a:buFont typeface="Arial" panose="020B0604020202020204" pitchFamily="34" charset="0"/>
                        <a:buChar char="•"/>
                        <a:tabLst>
                          <a:tab pos="228600" algn="l"/>
                          <a:tab pos="726440" algn="l"/>
                        </a:tabLst>
                      </a:pPr>
                      <a:r>
                        <a:rPr lang="en-GB" sz="1400" dirty="0">
                          <a:effectLst/>
                          <a:latin typeface="Aptos" panose="020B0004020202020204" pitchFamily="34" charset="0"/>
                          <a:ea typeface="Aptos" panose="020B0004020202020204" pitchFamily="34" charset="0"/>
                          <a:cs typeface="Times New Roman" panose="02020603050405020304" pitchFamily="18" charset="0"/>
                        </a:rPr>
                        <a:t>Child with easy temperament.</a:t>
                      </a:r>
                      <a:endParaRPr lang="en-ZA" sz="14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gn="l">
                        <a:buFont typeface="Arial" panose="020B0604020202020204" pitchFamily="34" charset="0"/>
                        <a:buChar char="•"/>
                        <a:tabLst>
                          <a:tab pos="228600" algn="l"/>
                          <a:tab pos="726440" algn="l"/>
                        </a:tabLst>
                      </a:pPr>
                      <a:r>
                        <a:rPr lang="en-GB" sz="1400" dirty="0">
                          <a:effectLst/>
                          <a:latin typeface="Aptos" panose="020B0004020202020204" pitchFamily="34" charset="0"/>
                          <a:ea typeface="Aptos" panose="020B0004020202020204" pitchFamily="34" charset="0"/>
                          <a:cs typeface="Times New Roman" panose="02020603050405020304" pitchFamily="18" charset="0"/>
                        </a:rPr>
                        <a:t>Female gender (prior to adolescence) and </a:t>
                      </a:r>
                      <a:endParaRPr lang="en-ZA" sz="14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gn="l">
                        <a:buFont typeface="Arial" panose="020B0604020202020204" pitchFamily="34" charset="0"/>
                        <a:buChar char="•"/>
                        <a:tabLst>
                          <a:tab pos="228600" algn="l"/>
                          <a:tab pos="726440" algn="l"/>
                        </a:tabLst>
                      </a:pPr>
                      <a:r>
                        <a:rPr lang="en-GB" sz="1400" dirty="0">
                          <a:effectLst/>
                          <a:latin typeface="Aptos" panose="020B0004020202020204" pitchFamily="34" charset="0"/>
                          <a:ea typeface="Aptos" panose="020B0004020202020204" pitchFamily="34" charset="0"/>
                          <a:cs typeface="Times New Roman" panose="02020603050405020304" pitchFamily="18" charset="0"/>
                        </a:rPr>
                        <a:t>Male gender (during adolescence).</a:t>
                      </a:r>
                      <a:endParaRPr lang="en-ZA" sz="14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gn="l">
                        <a:buFont typeface="Arial" panose="020B0604020202020204" pitchFamily="34" charset="0"/>
                        <a:buChar char="•"/>
                        <a:tabLst>
                          <a:tab pos="228600" algn="l"/>
                          <a:tab pos="726440" algn="l"/>
                        </a:tabLst>
                      </a:pPr>
                      <a:r>
                        <a:rPr lang="en-GB" sz="1400" dirty="0">
                          <a:effectLst/>
                          <a:latin typeface="Aptos" panose="020B0004020202020204" pitchFamily="34" charset="0"/>
                          <a:ea typeface="Aptos" panose="020B0004020202020204" pitchFamily="34" charset="0"/>
                          <a:cs typeface="Times New Roman" panose="02020603050405020304" pitchFamily="18" charset="0"/>
                        </a:rPr>
                        <a:t>Higher IQ.</a:t>
                      </a:r>
                      <a:endParaRPr lang="en-ZA" sz="14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gn="l">
                        <a:buFont typeface="Arial" panose="020B0604020202020204" pitchFamily="34" charset="0"/>
                        <a:buChar char="•"/>
                        <a:tabLst>
                          <a:tab pos="228600" algn="l"/>
                          <a:tab pos="726440" algn="l"/>
                        </a:tabLst>
                      </a:pPr>
                      <a:r>
                        <a:rPr lang="en-GB" sz="1400" dirty="0">
                          <a:effectLst/>
                          <a:latin typeface="Aptos" panose="020B0004020202020204" pitchFamily="34" charset="0"/>
                          <a:ea typeface="Aptos" panose="020B0004020202020204" pitchFamily="34" charset="0"/>
                          <a:cs typeface="Times New Roman" panose="02020603050405020304" pitchFamily="18" charset="0"/>
                        </a:rPr>
                        <a:t>Good social skills.</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tab pos="228600" algn="l"/>
                          <a:tab pos="726440" algn="l"/>
                        </a:tabLst>
                        <a:defRPr/>
                      </a:pPr>
                      <a:r>
                        <a:rPr kumimoji="0" lang="en-ZA" sz="1400" b="0" i="0" u="none" strike="noStrike" kern="1200" cap="none" spc="0" normalizeH="0" baseline="0" noProof="0" dirty="0">
                          <a:ln>
                            <a:noFill/>
                          </a:ln>
                          <a:solidFill>
                            <a:prstClr val="white"/>
                          </a:solidFill>
                          <a:effectLst/>
                          <a:uLnTx/>
                          <a:uFillTx/>
                          <a:latin typeface="Aptos" panose="020B0004020202020204" pitchFamily="34" charset="0"/>
                          <a:ea typeface="Aptos" panose="020B0004020202020204" pitchFamily="34" charset="0"/>
                          <a:cs typeface="Times New Roman" panose="02020603050405020304" pitchFamily="18" charset="0"/>
                        </a:rPr>
                        <a:t>Personality traits: agreeableness (prosocial behaviour, emotional stability and conscientiousness.</a:t>
                      </a:r>
                      <a:endParaRPr lang="en-ZA" sz="14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gn="l">
                        <a:buFont typeface="Arial" panose="020B0604020202020204" pitchFamily="34" charset="0"/>
                        <a:buChar char="•"/>
                        <a:tabLst>
                          <a:tab pos="228600" algn="l"/>
                          <a:tab pos="726440" algn="l"/>
                        </a:tabLst>
                      </a:pPr>
                      <a:r>
                        <a:rPr lang="en-GB" sz="1400" dirty="0">
                          <a:effectLst/>
                          <a:latin typeface="Aptos" panose="020B0004020202020204" pitchFamily="34" charset="0"/>
                          <a:ea typeface="Aptos" panose="020B0004020202020204" pitchFamily="34" charset="0"/>
                          <a:cs typeface="Times New Roman" panose="02020603050405020304" pitchFamily="18" charset="0"/>
                        </a:rPr>
                        <a:t>Feeling of empathy with others.</a:t>
                      </a:r>
                      <a:endParaRPr lang="en-ZA" sz="14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gn="l">
                        <a:buFont typeface="Arial" panose="020B0604020202020204" pitchFamily="34" charset="0"/>
                        <a:buChar char="•"/>
                        <a:tabLst>
                          <a:tab pos="228600" algn="l"/>
                          <a:tab pos="726440" algn="l"/>
                        </a:tabLst>
                      </a:pPr>
                      <a:r>
                        <a:rPr lang="en-GB" sz="1400" dirty="0">
                          <a:effectLst/>
                          <a:latin typeface="Aptos" panose="020B0004020202020204" pitchFamily="34" charset="0"/>
                          <a:ea typeface="Aptos" panose="020B0004020202020204" pitchFamily="34" charset="0"/>
                          <a:cs typeface="Times New Roman" panose="02020603050405020304" pitchFamily="18" charset="0"/>
                        </a:rPr>
                        <a:t>Sense of humour.</a:t>
                      </a:r>
                      <a:endParaRPr lang="en-ZA" sz="14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gn="l">
                        <a:buFont typeface="Arial" panose="020B0604020202020204" pitchFamily="34" charset="0"/>
                        <a:buChar char="•"/>
                        <a:tabLst>
                          <a:tab pos="228600" algn="l"/>
                          <a:tab pos="726440" algn="l"/>
                        </a:tabLst>
                      </a:pPr>
                      <a:r>
                        <a:rPr lang="en-GB" sz="1400" dirty="0">
                          <a:effectLst/>
                          <a:latin typeface="Aptos" panose="020B0004020202020204" pitchFamily="34" charset="0"/>
                          <a:ea typeface="Aptos" panose="020B0004020202020204" pitchFamily="34" charset="0"/>
                          <a:cs typeface="Times New Roman" panose="02020603050405020304" pitchFamily="18" charset="0"/>
                        </a:rPr>
                        <a:t>Awareness of strengths and limitations.</a:t>
                      </a:r>
                      <a:endParaRPr lang="en-ZA" sz="14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gn="l">
                        <a:buFont typeface="Arial" panose="020B0604020202020204" pitchFamily="34" charset="0"/>
                        <a:buChar char="•"/>
                        <a:tabLst>
                          <a:tab pos="228600" algn="l"/>
                          <a:tab pos="726440" algn="l"/>
                        </a:tabLst>
                      </a:pPr>
                      <a:r>
                        <a:rPr lang="en-GB" sz="1400" dirty="0">
                          <a:effectLst/>
                          <a:latin typeface="Aptos" panose="020B0004020202020204" pitchFamily="34" charset="0"/>
                          <a:ea typeface="Aptos" panose="020B0004020202020204" pitchFamily="34" charset="0"/>
                          <a:cs typeface="Times New Roman" panose="02020603050405020304" pitchFamily="18" charset="0"/>
                        </a:rPr>
                        <a:t>Sense of identity and agency and purpose.</a:t>
                      </a:r>
                      <a:endParaRPr lang="en-ZA" sz="14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gn="l">
                        <a:buFont typeface="Arial" panose="020B0604020202020204" pitchFamily="34" charset="0"/>
                        <a:buChar char="•"/>
                        <a:tabLst>
                          <a:tab pos="228600" algn="l"/>
                          <a:tab pos="726440" algn="l"/>
                        </a:tabLst>
                      </a:pPr>
                      <a:r>
                        <a:rPr lang="en-GB" sz="1400" dirty="0">
                          <a:effectLst/>
                          <a:latin typeface="Aptos" panose="020B0004020202020204" pitchFamily="34" charset="0"/>
                          <a:ea typeface="Aptos" panose="020B0004020202020204" pitchFamily="34" charset="0"/>
                          <a:cs typeface="Times New Roman" panose="02020603050405020304" pitchFamily="18" charset="0"/>
                        </a:rPr>
                        <a:t>Good self-esteem. </a:t>
                      </a:r>
                      <a:endParaRPr lang="en-ZA" sz="14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gn="l">
                        <a:buFont typeface="Arial" panose="020B0604020202020204" pitchFamily="34" charset="0"/>
                        <a:buChar char="•"/>
                        <a:tabLst>
                          <a:tab pos="228600" algn="l"/>
                          <a:tab pos="726440" algn="l"/>
                        </a:tabLst>
                      </a:pPr>
                      <a:r>
                        <a:rPr lang="en-GB" sz="1400" dirty="0">
                          <a:effectLst/>
                          <a:latin typeface="Aptos" panose="020B0004020202020204" pitchFamily="34" charset="0"/>
                          <a:ea typeface="Aptos" panose="020B0004020202020204" pitchFamily="34" charset="0"/>
                          <a:cs typeface="Times New Roman" panose="02020603050405020304" pitchFamily="18" charset="0"/>
                        </a:rPr>
                        <a:t>Good problem-solving / reasoning skills</a:t>
                      </a:r>
                      <a:endParaRPr lang="en-ZA" sz="14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gn="l">
                        <a:buFont typeface="Arial" panose="020B0604020202020204" pitchFamily="34" charset="0"/>
                        <a:buChar char="•"/>
                        <a:tabLst>
                          <a:tab pos="228600" algn="l"/>
                          <a:tab pos="726440" algn="l"/>
                        </a:tabLst>
                      </a:pPr>
                      <a:r>
                        <a:rPr lang="en-GB" sz="1400" dirty="0">
                          <a:effectLst/>
                          <a:latin typeface="Aptos" panose="020B0004020202020204" pitchFamily="34" charset="0"/>
                          <a:ea typeface="Aptos" panose="020B0004020202020204" pitchFamily="34" charset="0"/>
                          <a:cs typeface="Times New Roman" panose="02020603050405020304" pitchFamily="18" charset="0"/>
                        </a:rPr>
                        <a:t>Higher level of education.</a:t>
                      </a:r>
                      <a:endParaRPr lang="en-ZA" sz="14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gn="l">
                        <a:buFont typeface="Arial" panose="020B0604020202020204" pitchFamily="34" charset="0"/>
                        <a:buChar char="•"/>
                        <a:tabLst>
                          <a:tab pos="228600" algn="l"/>
                          <a:tab pos="726440" algn="l"/>
                        </a:tabLst>
                      </a:pPr>
                      <a:r>
                        <a:rPr lang="en-GB" sz="1400" dirty="0">
                          <a:effectLst/>
                          <a:latin typeface="Aptos" panose="020B0004020202020204" pitchFamily="34" charset="0"/>
                          <a:ea typeface="Aptos" panose="020B0004020202020204" pitchFamily="34" charset="0"/>
                          <a:cs typeface="Times New Roman" panose="02020603050405020304" pitchFamily="18" charset="0"/>
                        </a:rPr>
                        <a:t>Good physical health</a:t>
                      </a:r>
                      <a:endParaRPr lang="en-ZA" sz="1400" dirty="0">
                        <a:effectLst/>
                        <a:latin typeface="Aptos" panose="020B0004020202020204" pitchFamily="34" charset="0"/>
                        <a:ea typeface="Aptos" panose="020B0004020202020204" pitchFamily="34" charset="0"/>
                        <a:cs typeface="Times New Roman" panose="02020603050405020304" pitchFamily="18" charset="0"/>
                      </a:endParaRPr>
                    </a:p>
                  </a:txBody>
                  <a:tcPr marL="65595" marR="65595" marT="8482" marB="0">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marL="342900" lvl="0" indent="-342900" algn="l">
                        <a:lnSpc>
                          <a:spcPct val="150000"/>
                        </a:lnSpc>
                        <a:buFont typeface="Arial" panose="020B0604020202020204" pitchFamily="34" charset="0"/>
                        <a:buChar char="•"/>
                        <a:tabLst>
                          <a:tab pos="228600" algn="l"/>
                          <a:tab pos="726440" algn="l"/>
                        </a:tabLst>
                      </a:pPr>
                      <a:r>
                        <a:rPr lang="en-GB" sz="1400" dirty="0">
                          <a:effectLst/>
                          <a:latin typeface="Aptos" panose="020B0004020202020204" pitchFamily="34" charset="0"/>
                          <a:ea typeface="Aptos" panose="020B0004020202020204" pitchFamily="34" charset="0"/>
                          <a:cs typeface="Times New Roman" panose="02020603050405020304" pitchFamily="18" charset="0"/>
                        </a:rPr>
                        <a:t>Warm and supportive caregivers.</a:t>
                      </a:r>
                      <a:endParaRPr lang="en-ZA" sz="14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gn="l">
                        <a:lnSpc>
                          <a:spcPct val="150000"/>
                        </a:lnSpc>
                        <a:buFont typeface="Arial" panose="020B0604020202020204" pitchFamily="34" charset="0"/>
                        <a:buChar char="•"/>
                        <a:tabLst>
                          <a:tab pos="228600" algn="l"/>
                          <a:tab pos="726440" algn="l"/>
                        </a:tabLst>
                      </a:pPr>
                      <a:r>
                        <a:rPr lang="en-GB" sz="1400" dirty="0">
                          <a:effectLst/>
                          <a:latin typeface="Aptos" panose="020B0004020202020204" pitchFamily="34" charset="0"/>
                          <a:ea typeface="Aptos" panose="020B0004020202020204" pitchFamily="34" charset="0"/>
                          <a:cs typeface="Times New Roman" panose="02020603050405020304" pitchFamily="18" charset="0"/>
                        </a:rPr>
                        <a:t>Good Parent–child relationship.</a:t>
                      </a:r>
                      <a:endParaRPr lang="en-ZA" sz="14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gn="l">
                        <a:lnSpc>
                          <a:spcPct val="150000"/>
                        </a:lnSpc>
                        <a:buFont typeface="Arial" panose="020B0604020202020204" pitchFamily="34" charset="0"/>
                        <a:buChar char="•"/>
                        <a:tabLst>
                          <a:tab pos="228600" algn="l"/>
                          <a:tab pos="726440" algn="l"/>
                        </a:tabLst>
                      </a:pPr>
                      <a:r>
                        <a:rPr lang="en-GB" sz="1400" dirty="0">
                          <a:effectLst/>
                          <a:latin typeface="Aptos" panose="020B0004020202020204" pitchFamily="34" charset="0"/>
                          <a:ea typeface="Aptos" panose="020B0004020202020204" pitchFamily="34" charset="0"/>
                          <a:cs typeface="Times New Roman" panose="02020603050405020304" pitchFamily="18" charset="0"/>
                        </a:rPr>
                        <a:t>Parental harmony.</a:t>
                      </a:r>
                      <a:endParaRPr lang="en-ZA" sz="14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gn="l">
                        <a:lnSpc>
                          <a:spcPct val="150000"/>
                        </a:lnSpc>
                        <a:buFont typeface="Arial" panose="020B0604020202020204" pitchFamily="34" charset="0"/>
                        <a:buChar char="•"/>
                        <a:tabLst>
                          <a:tab pos="228600" algn="l"/>
                          <a:tab pos="726440" algn="l"/>
                        </a:tabLst>
                      </a:pPr>
                      <a:r>
                        <a:rPr lang="en-GB" sz="1400" dirty="0">
                          <a:effectLst/>
                          <a:latin typeface="Aptos" panose="020B0004020202020204" pitchFamily="34" charset="0"/>
                          <a:ea typeface="Aptos" panose="020B0004020202020204" pitchFamily="34" charset="0"/>
                          <a:cs typeface="Times New Roman" panose="02020603050405020304" pitchFamily="18" charset="0"/>
                        </a:rPr>
                        <a:t>Supportive extended family.</a:t>
                      </a:r>
                      <a:endParaRPr lang="en-ZA" sz="14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gn="l">
                        <a:lnSpc>
                          <a:spcPct val="150000"/>
                        </a:lnSpc>
                        <a:buFont typeface="Arial" panose="020B0604020202020204" pitchFamily="34" charset="0"/>
                        <a:buChar char="•"/>
                        <a:tabLst>
                          <a:tab pos="228600" algn="l"/>
                          <a:tab pos="726440" algn="l"/>
                        </a:tabLst>
                      </a:pPr>
                      <a:r>
                        <a:rPr lang="en-GB" sz="1400" dirty="0">
                          <a:effectLst/>
                          <a:latin typeface="Aptos" panose="020B0004020202020204" pitchFamily="34" charset="0"/>
                          <a:ea typeface="Aptos" panose="020B0004020202020204" pitchFamily="34" charset="0"/>
                          <a:cs typeface="Times New Roman" panose="02020603050405020304" pitchFamily="18" charset="0"/>
                        </a:rPr>
                        <a:t>A valued social role, e.g. Helping siblings; where parental conflict exists, a close relationship with one parent or other attachment figure.</a:t>
                      </a:r>
                    </a:p>
                    <a:p>
                      <a:pPr marL="342900" lvl="0" indent="-342900" algn="l">
                        <a:lnSpc>
                          <a:spcPct val="150000"/>
                        </a:lnSpc>
                        <a:buFont typeface="Arial" panose="020B0604020202020204" pitchFamily="34" charset="0"/>
                        <a:buChar char="•"/>
                        <a:tabLst>
                          <a:tab pos="228600" algn="l"/>
                          <a:tab pos="726440" algn="l"/>
                        </a:tabLst>
                      </a:pPr>
                      <a:r>
                        <a:rPr lang="en-ZA" sz="1400" dirty="0">
                          <a:effectLst/>
                          <a:latin typeface="Aptos" panose="020B0004020202020204" pitchFamily="34" charset="0"/>
                          <a:ea typeface="Aptos" panose="020B0004020202020204" pitchFamily="34" charset="0"/>
                          <a:cs typeface="Times New Roman" panose="02020603050405020304" pitchFamily="18" charset="0"/>
                        </a:rPr>
                        <a:t>Membership of a religious or faith community/ sense of hope about future.</a:t>
                      </a:r>
                    </a:p>
                    <a:p>
                      <a:pPr marL="342900" lvl="0" indent="-342900" algn="l">
                        <a:lnSpc>
                          <a:spcPct val="150000"/>
                        </a:lnSpc>
                        <a:buFont typeface="Arial" panose="020B0604020202020204" pitchFamily="34" charset="0"/>
                        <a:buChar char="•"/>
                        <a:tabLst>
                          <a:tab pos="228600" algn="l"/>
                          <a:tab pos="726440" algn="l"/>
                        </a:tabLst>
                      </a:pPr>
                      <a:r>
                        <a:rPr lang="en-ZA" sz="1400" dirty="0">
                          <a:effectLst/>
                          <a:latin typeface="Aptos" panose="020B0004020202020204" pitchFamily="34" charset="0"/>
                          <a:ea typeface="Aptos" panose="020B0004020202020204" pitchFamily="34" charset="0"/>
                          <a:cs typeface="Times New Roman" panose="02020603050405020304" pitchFamily="18" charset="0"/>
                        </a:rPr>
                        <a:t>Extracurricular activities </a:t>
                      </a:r>
                      <a:r>
                        <a:rPr lang="en-ZA" sz="1400" dirty="0" err="1">
                          <a:effectLst/>
                          <a:latin typeface="Aptos" panose="020B0004020202020204" pitchFamily="34" charset="0"/>
                          <a:ea typeface="Aptos" panose="020B0004020202020204" pitchFamily="34" charset="0"/>
                          <a:cs typeface="Times New Roman" panose="02020603050405020304" pitchFamily="18" charset="0"/>
                        </a:rPr>
                        <a:t>e.g</a:t>
                      </a:r>
                      <a:r>
                        <a:rPr lang="en-ZA" sz="1400" dirty="0">
                          <a:effectLst/>
                          <a:latin typeface="Aptos" panose="020B0004020202020204" pitchFamily="34" charset="0"/>
                          <a:ea typeface="Aptos" panose="020B0004020202020204" pitchFamily="34" charset="0"/>
                          <a:cs typeface="Times New Roman" panose="02020603050405020304" pitchFamily="18" charset="0"/>
                        </a:rPr>
                        <a:t> hobbies, gardening.</a:t>
                      </a:r>
                    </a:p>
                    <a:p>
                      <a:pPr marL="342900" lvl="0" indent="-342900" algn="l">
                        <a:lnSpc>
                          <a:spcPct val="150000"/>
                        </a:lnSpc>
                        <a:buFont typeface="Arial" panose="020B0604020202020204" pitchFamily="34" charset="0"/>
                        <a:buChar char="•"/>
                        <a:tabLst>
                          <a:tab pos="228600" algn="l"/>
                          <a:tab pos="726440" algn="l"/>
                        </a:tabLst>
                      </a:pPr>
                      <a:endParaRPr lang="en-ZA" sz="14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gn="l">
                        <a:lnSpc>
                          <a:spcPct val="150000"/>
                        </a:lnSpc>
                        <a:buFont typeface="Arial" panose="020B0604020202020204" pitchFamily="34" charset="0"/>
                        <a:buChar char="•"/>
                        <a:tabLst>
                          <a:tab pos="228600" algn="l"/>
                          <a:tab pos="726440" algn="l"/>
                        </a:tabLst>
                      </a:pPr>
                      <a:endParaRPr lang="en-ZA" sz="1400" dirty="0">
                        <a:effectLst/>
                        <a:latin typeface="Aptos" panose="020B0004020202020204" pitchFamily="34" charset="0"/>
                        <a:ea typeface="Aptos" panose="020B0004020202020204" pitchFamily="34" charset="0"/>
                        <a:cs typeface="Times New Roman" panose="02020603050405020304" pitchFamily="18" charset="0"/>
                      </a:endParaRPr>
                    </a:p>
                  </a:txBody>
                  <a:tcPr marL="65595" marR="65595" marT="8482" marB="0">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marL="342900" lvl="0" indent="-342900" algn="l">
                        <a:lnSpc>
                          <a:spcPct val="150000"/>
                        </a:lnSpc>
                        <a:buFont typeface="Arial" panose="020B0604020202020204" pitchFamily="34" charset="0"/>
                        <a:buChar char="•"/>
                        <a:tabLst>
                          <a:tab pos="228600" algn="l"/>
                          <a:tab pos="726440" algn="l"/>
                        </a:tabLst>
                      </a:pPr>
                      <a:r>
                        <a:rPr lang="en-GB" sz="1400" dirty="0">
                          <a:effectLst/>
                          <a:latin typeface="Aptos" panose="020B0004020202020204" pitchFamily="34" charset="0"/>
                          <a:ea typeface="Aptos" panose="020B0004020202020204" pitchFamily="34" charset="0"/>
                          <a:cs typeface="Times New Roman" panose="02020603050405020304" pitchFamily="18" charset="0"/>
                        </a:rPr>
                        <a:t>Successful school experiences.</a:t>
                      </a:r>
                      <a:endParaRPr lang="en-ZA" sz="14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gn="l">
                        <a:lnSpc>
                          <a:spcPct val="150000"/>
                        </a:lnSpc>
                        <a:buFont typeface="Arial" panose="020B0604020202020204" pitchFamily="34" charset="0"/>
                        <a:buChar char="•"/>
                        <a:tabLst>
                          <a:tab pos="228600" algn="l"/>
                          <a:tab pos="726440" algn="l"/>
                        </a:tabLst>
                      </a:pPr>
                      <a:r>
                        <a:rPr lang="en-GB" sz="1400" dirty="0">
                          <a:effectLst/>
                          <a:latin typeface="Aptos" panose="020B0004020202020204" pitchFamily="34" charset="0"/>
                          <a:ea typeface="Aptos" panose="020B0004020202020204" pitchFamily="34" charset="0"/>
                          <a:cs typeface="Times New Roman" panose="02020603050405020304" pitchFamily="18" charset="0"/>
                        </a:rPr>
                        <a:t>Stable employment</a:t>
                      </a:r>
                      <a:endParaRPr lang="en-ZA" sz="14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gn="l">
                        <a:lnSpc>
                          <a:spcPct val="150000"/>
                        </a:lnSpc>
                        <a:buFont typeface="Arial" panose="020B0604020202020204" pitchFamily="34" charset="0"/>
                        <a:buChar char="•"/>
                        <a:tabLst>
                          <a:tab pos="228600" algn="l"/>
                          <a:tab pos="726440" algn="l"/>
                        </a:tabLst>
                      </a:pPr>
                      <a:r>
                        <a:rPr lang="en-GB" sz="1400" dirty="0">
                          <a:effectLst/>
                          <a:latin typeface="Aptos" panose="020B0004020202020204" pitchFamily="34" charset="0"/>
                          <a:ea typeface="Aptos" panose="020B0004020202020204" pitchFamily="34" charset="0"/>
                          <a:cs typeface="Times New Roman" panose="02020603050405020304" pitchFamily="18" charset="0"/>
                        </a:rPr>
                        <a:t>Valued social role and a sense of purpose, e.g. job, volunteering, helping neighbour.</a:t>
                      </a:r>
                      <a:endParaRPr lang="en-ZA" sz="14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gn="l">
                        <a:lnSpc>
                          <a:spcPct val="150000"/>
                        </a:lnSpc>
                        <a:buFont typeface="Arial" panose="020B0604020202020204" pitchFamily="34" charset="0"/>
                        <a:buChar char="•"/>
                        <a:tabLst>
                          <a:tab pos="228600" algn="l"/>
                          <a:tab pos="726440" algn="l"/>
                        </a:tabLst>
                      </a:pPr>
                      <a:r>
                        <a:rPr lang="en-GB" sz="1400" dirty="0">
                          <a:effectLst/>
                          <a:latin typeface="Aptos" panose="020B0004020202020204" pitchFamily="34" charset="0"/>
                          <a:ea typeface="Aptos" panose="020B0004020202020204" pitchFamily="34" charset="0"/>
                          <a:cs typeface="Times New Roman" panose="02020603050405020304" pitchFamily="18" charset="0"/>
                        </a:rPr>
                        <a:t>A close relationship with others, sense of community and belonging.</a:t>
                      </a:r>
                      <a:endParaRPr lang="en-ZA" sz="14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gn="l">
                        <a:lnSpc>
                          <a:spcPct val="150000"/>
                        </a:lnSpc>
                        <a:buFont typeface="Arial" panose="020B0604020202020204" pitchFamily="34" charset="0"/>
                        <a:buChar char="•"/>
                        <a:tabLst>
                          <a:tab pos="228600" algn="l"/>
                          <a:tab pos="726440" algn="l"/>
                        </a:tabLst>
                      </a:pPr>
                      <a:r>
                        <a:rPr lang="en-GB" sz="1400" dirty="0">
                          <a:effectLst/>
                          <a:latin typeface="Aptos" panose="020B0004020202020204" pitchFamily="34" charset="0"/>
                          <a:ea typeface="Aptos" panose="020B0004020202020204" pitchFamily="34" charset="0"/>
                          <a:cs typeface="Times New Roman" panose="02020603050405020304" pitchFamily="18" charset="0"/>
                        </a:rPr>
                        <a:t>Economic stability.</a:t>
                      </a:r>
                      <a:endParaRPr lang="en-ZA" sz="1400" dirty="0">
                        <a:effectLst/>
                        <a:latin typeface="Aptos" panose="020B0004020202020204" pitchFamily="34" charset="0"/>
                        <a:ea typeface="Aptos" panose="020B0004020202020204" pitchFamily="34" charset="0"/>
                        <a:cs typeface="Times New Roman" panose="02020603050405020304" pitchFamily="18" charset="0"/>
                      </a:endParaRPr>
                    </a:p>
                  </a:txBody>
                  <a:tcPr marL="65595" marR="65595" marT="8482" marB="0">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67398793"/>
                  </a:ext>
                </a:extLst>
              </a:tr>
            </a:tbl>
          </a:graphicData>
        </a:graphic>
      </p:graphicFrame>
    </p:spTree>
    <p:extLst>
      <p:ext uri="{BB962C8B-B14F-4D97-AF65-F5344CB8AC3E}">
        <p14:creationId xmlns:p14="http://schemas.microsoft.com/office/powerpoint/2010/main" val="2620840799"/>
      </p:ext>
    </p:extLst>
  </p:cSld>
  <p:clrMapOvr>
    <a:overrideClrMapping bg1="dk1" tx1="lt1" bg2="dk2" tx2="lt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228552E-C8B1-4A80-8448-0787CE0FC7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Digital art of brain">
            <a:extLst>
              <a:ext uri="{FF2B5EF4-FFF2-40B4-BE49-F238E27FC236}">
                <a16:creationId xmlns:a16="http://schemas.microsoft.com/office/drawing/2014/main" id="{5E8324CC-A9B7-FB78-FC79-FE2446FECD15}"/>
              </a:ext>
            </a:extLst>
          </p:cNvPr>
          <p:cNvPicPr>
            <a:picLocks noChangeAspect="1"/>
          </p:cNvPicPr>
          <p:nvPr/>
        </p:nvPicPr>
        <p:blipFill>
          <a:blip r:embed="rId3">
            <a:alphaModFix amt="35000"/>
          </a:blip>
          <a:srcRect/>
          <a:stretch>
            <a:fill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D644A7D8-CD7F-186D-7076-DD71C19AD87D}"/>
              </a:ext>
            </a:extLst>
          </p:cNvPr>
          <p:cNvSpPr>
            <a:spLocks noGrp="1"/>
          </p:cNvSpPr>
          <p:nvPr>
            <p:ph type="title"/>
          </p:nvPr>
        </p:nvSpPr>
        <p:spPr>
          <a:xfrm>
            <a:off x="838200" y="365125"/>
            <a:ext cx="10515600" cy="1325563"/>
          </a:xfrm>
        </p:spPr>
        <p:txBody>
          <a:bodyPr>
            <a:normAutofit/>
          </a:bodyPr>
          <a:lstStyle/>
          <a:p>
            <a:r>
              <a:rPr lang="en-GB" dirty="0">
                <a:solidFill>
                  <a:srgbClr val="FFFFFF"/>
                </a:solidFill>
              </a:rPr>
              <a:t>Epidemiology </a:t>
            </a:r>
          </a:p>
        </p:txBody>
      </p:sp>
      <p:sp>
        <p:nvSpPr>
          <p:cNvPr id="3" name="Content Placeholder 2">
            <a:extLst>
              <a:ext uri="{FF2B5EF4-FFF2-40B4-BE49-F238E27FC236}">
                <a16:creationId xmlns:a16="http://schemas.microsoft.com/office/drawing/2014/main" id="{9C60EDD4-5110-54D1-06B9-CB81CE92ADDC}"/>
              </a:ext>
            </a:extLst>
          </p:cNvPr>
          <p:cNvSpPr>
            <a:spLocks noGrp="1"/>
          </p:cNvSpPr>
          <p:nvPr>
            <p:ph idx="1"/>
          </p:nvPr>
        </p:nvSpPr>
        <p:spPr>
          <a:xfrm>
            <a:off x="838200" y="1825625"/>
            <a:ext cx="10515600" cy="4351338"/>
          </a:xfrm>
        </p:spPr>
        <p:txBody>
          <a:bodyPr>
            <a:normAutofit/>
          </a:bodyPr>
          <a:lstStyle/>
          <a:p>
            <a:r>
              <a:rPr lang="en-GB" sz="1800" dirty="0">
                <a:solidFill>
                  <a:srgbClr val="FFFFFF"/>
                </a:solidFill>
              </a:rPr>
              <a:t>Globally over 1 billion people are estimated to have mental disorders.</a:t>
            </a:r>
          </a:p>
          <a:p>
            <a:r>
              <a:rPr lang="en-GB" sz="1800" dirty="0">
                <a:solidFill>
                  <a:srgbClr val="FFFFFF"/>
                </a:solidFill>
              </a:rPr>
              <a:t>That is 1 in 8 people worldwide.</a:t>
            </a:r>
          </a:p>
          <a:p>
            <a:r>
              <a:rPr lang="en-GB" sz="1800" dirty="0">
                <a:solidFill>
                  <a:srgbClr val="FFFFFF"/>
                </a:solidFill>
              </a:rPr>
              <a:t>It was estimated by 2030 depression would be the biggest contributor to burden of disease, but it seems it seems that that milestones has been passed already.</a:t>
            </a:r>
          </a:p>
          <a:p>
            <a:r>
              <a:rPr lang="en-GB" sz="1800" dirty="0">
                <a:solidFill>
                  <a:srgbClr val="FFFFFF"/>
                </a:solidFill>
              </a:rPr>
              <a:t>1 in 10 DALYs</a:t>
            </a:r>
          </a:p>
          <a:p>
            <a:r>
              <a:rPr lang="en-GB" sz="1800" dirty="0">
                <a:solidFill>
                  <a:srgbClr val="FFFFFF"/>
                </a:solidFill>
              </a:rPr>
              <a:t>1 in 6 YLD</a:t>
            </a:r>
          </a:p>
          <a:p>
            <a:r>
              <a:rPr lang="en-GB" sz="1200" dirty="0">
                <a:solidFill>
                  <a:srgbClr val="FFFFFF"/>
                </a:solidFill>
              </a:rPr>
              <a:t>DALY = Years of Life Lost (YLL) due to premature death + Years Lived with Disability (YLD).</a:t>
            </a:r>
          </a:p>
          <a:p>
            <a:pPr marL="0" indent="0">
              <a:buNone/>
            </a:pPr>
            <a:endParaRPr lang="en-GB" sz="1200" dirty="0">
              <a:solidFill>
                <a:srgbClr val="FFFFFF"/>
              </a:solidFill>
            </a:endParaRPr>
          </a:p>
          <a:p>
            <a:r>
              <a:rPr lang="en-GB" sz="1800" dirty="0">
                <a:solidFill>
                  <a:srgbClr val="FFFFFF"/>
                </a:solidFill>
              </a:rPr>
              <a:t>Highly affected age group is between 25-54 (35-39) </a:t>
            </a:r>
            <a:r>
              <a:rPr lang="en-GB" sz="1800" dirty="0">
                <a:effectLst/>
                <a:latin typeface="Calibri" panose="020F0502020204030204" pitchFamily="34" charset="0"/>
                <a:ea typeface="Times New Roman" panose="02020603050405020304" pitchFamily="18" charset="0"/>
                <a:cs typeface="Times New Roman" panose="02020603050405020304" pitchFamily="18" charset="0"/>
                <a:sym typeface="Symbol" pitchFamily="2" charset="2"/>
              </a:rPr>
              <a:t></a:t>
            </a:r>
            <a:r>
              <a:rPr lang="en-ZA" sz="1800" dirty="0">
                <a:latin typeface="Calibri" panose="020F0502020204030204" pitchFamily="34" charset="0"/>
                <a:ea typeface="Times New Roman" panose="02020603050405020304" pitchFamily="18" charset="0"/>
                <a:cs typeface="Times New Roman" panose="02020603050405020304" pitchFamily="18" charset="0"/>
                <a:sym typeface="Symbol" pitchFamily="2" charset="2"/>
              </a:rPr>
              <a:t>(</a:t>
            </a:r>
            <a:r>
              <a:rPr lang="en-GB" sz="1800" dirty="0">
                <a:solidFill>
                  <a:srgbClr val="FFFFFF"/>
                </a:solidFill>
              </a:rPr>
              <a:t> 40-44).</a:t>
            </a:r>
          </a:p>
          <a:p>
            <a:pPr>
              <a:buNone/>
            </a:pPr>
            <a:endParaRPr lang="en-GB" sz="1800" dirty="0">
              <a:solidFill>
                <a:srgbClr val="FFFFFF"/>
              </a:solidFill>
            </a:endParaRPr>
          </a:p>
          <a:p>
            <a:r>
              <a:rPr lang="en-GB" sz="1800" dirty="0">
                <a:solidFill>
                  <a:srgbClr val="FFFFFF"/>
                </a:solidFill>
              </a:rPr>
              <a:t>71% not receiving adequate or any treatment at all.</a:t>
            </a:r>
          </a:p>
          <a:p>
            <a:endParaRPr lang="en-GB" sz="1100" dirty="0">
              <a:solidFill>
                <a:srgbClr val="FFFFFF"/>
              </a:solidFill>
            </a:endParaRPr>
          </a:p>
          <a:p>
            <a:endParaRPr lang="en-GB" sz="1100" dirty="0">
              <a:solidFill>
                <a:srgbClr val="FFFFFF"/>
              </a:solidFill>
            </a:endParaRPr>
          </a:p>
        </p:txBody>
      </p:sp>
    </p:spTree>
    <p:extLst>
      <p:ext uri="{BB962C8B-B14F-4D97-AF65-F5344CB8AC3E}">
        <p14:creationId xmlns:p14="http://schemas.microsoft.com/office/powerpoint/2010/main" val="1043152012"/>
      </p:ext>
    </p:extLst>
  </p:cSld>
  <p:clrMapOvr>
    <a:overrideClrMapping bg1="dk1" tx1="lt1" bg2="dk2" tx2="lt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228552E-C8B1-4A80-8448-0787CE0FC7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Digital art of brain">
            <a:extLst>
              <a:ext uri="{FF2B5EF4-FFF2-40B4-BE49-F238E27FC236}">
                <a16:creationId xmlns:a16="http://schemas.microsoft.com/office/drawing/2014/main" id="{E7AD7541-3DE6-4B94-0044-D66994393594}"/>
              </a:ext>
            </a:extLst>
          </p:cNvPr>
          <p:cNvPicPr>
            <a:picLocks noChangeAspect="1"/>
          </p:cNvPicPr>
          <p:nvPr/>
        </p:nvPicPr>
        <p:blipFill>
          <a:blip r:embed="rId3">
            <a:alphaModFix amt="35000"/>
          </a:blip>
          <a:srcRect/>
          <a:stretch>
            <a:fill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5E2651F2-026D-F824-64EE-66DA3E5312FB}"/>
              </a:ext>
            </a:extLst>
          </p:cNvPr>
          <p:cNvSpPr>
            <a:spLocks noGrp="1"/>
          </p:cNvSpPr>
          <p:nvPr>
            <p:ph type="title"/>
          </p:nvPr>
        </p:nvSpPr>
        <p:spPr>
          <a:xfrm>
            <a:off x="838200" y="365125"/>
            <a:ext cx="10515600" cy="1325563"/>
          </a:xfrm>
        </p:spPr>
        <p:txBody>
          <a:bodyPr>
            <a:normAutofit/>
          </a:bodyPr>
          <a:lstStyle/>
          <a:p>
            <a:r>
              <a:rPr lang="en-GB">
                <a:solidFill>
                  <a:srgbClr val="FFFFFF"/>
                </a:solidFill>
              </a:rPr>
              <a:t>EPIDEMIOLOGY</a:t>
            </a:r>
          </a:p>
        </p:txBody>
      </p:sp>
      <p:sp>
        <p:nvSpPr>
          <p:cNvPr id="3" name="Content Placeholder 2">
            <a:extLst>
              <a:ext uri="{FF2B5EF4-FFF2-40B4-BE49-F238E27FC236}">
                <a16:creationId xmlns:a16="http://schemas.microsoft.com/office/drawing/2014/main" id="{889F5623-51BB-B388-303C-5243C259000A}"/>
              </a:ext>
            </a:extLst>
          </p:cNvPr>
          <p:cNvSpPr>
            <a:spLocks noGrp="1"/>
          </p:cNvSpPr>
          <p:nvPr>
            <p:ph idx="1"/>
          </p:nvPr>
        </p:nvSpPr>
        <p:spPr>
          <a:xfrm>
            <a:off x="838200" y="1825625"/>
            <a:ext cx="10515600" cy="4351338"/>
          </a:xfrm>
        </p:spPr>
        <p:txBody>
          <a:bodyPr>
            <a:normAutofit fontScale="92500" lnSpcReduction="20000"/>
          </a:bodyPr>
          <a:lstStyle/>
          <a:p>
            <a:r>
              <a:rPr lang="en-GB" sz="2200" dirty="0">
                <a:solidFill>
                  <a:srgbClr val="FFFFFF"/>
                </a:solidFill>
              </a:rPr>
              <a:t>In South Africa:</a:t>
            </a:r>
          </a:p>
          <a:p>
            <a:endParaRPr lang="en-GB" sz="2200" dirty="0">
              <a:solidFill>
                <a:srgbClr val="FFFFFF"/>
              </a:solidFill>
            </a:endParaRPr>
          </a:p>
          <a:p>
            <a:r>
              <a:rPr lang="en-GB" sz="2200" dirty="0">
                <a:solidFill>
                  <a:srgbClr val="FFFFFF"/>
                </a:solidFill>
              </a:rPr>
              <a:t>13-16% ( 1in 6 people) of the population prevalence of mental disorders</a:t>
            </a:r>
          </a:p>
          <a:p>
            <a:endParaRPr lang="en-GB" sz="2200" dirty="0">
              <a:solidFill>
                <a:srgbClr val="FFFFFF"/>
              </a:solidFill>
            </a:endParaRPr>
          </a:p>
          <a:p>
            <a:r>
              <a:rPr lang="en-GB" sz="2200" dirty="0">
                <a:solidFill>
                  <a:srgbClr val="FFFFFF"/>
                </a:solidFill>
              </a:rPr>
              <a:t>30% lifetime chance of mental disorder ( 1in 3 people)</a:t>
            </a:r>
          </a:p>
          <a:p>
            <a:endParaRPr lang="en-GB" sz="2200" dirty="0">
              <a:solidFill>
                <a:srgbClr val="FFFFFF"/>
              </a:solidFill>
            </a:endParaRPr>
          </a:p>
          <a:p>
            <a:r>
              <a:rPr lang="en-GB" sz="2200" dirty="0">
                <a:solidFill>
                  <a:srgbClr val="FFFFFF"/>
                </a:solidFill>
              </a:rPr>
              <a:t>Largest contributing disorders are depression and anxiety and substance use.</a:t>
            </a:r>
          </a:p>
          <a:p>
            <a:endParaRPr lang="en-GB" sz="2200" dirty="0">
              <a:solidFill>
                <a:srgbClr val="FFFFFF"/>
              </a:solidFill>
            </a:endParaRPr>
          </a:p>
          <a:p>
            <a:r>
              <a:rPr lang="en-GB" sz="2200" dirty="0">
                <a:solidFill>
                  <a:srgbClr val="FFFFFF"/>
                </a:solidFill>
              </a:rPr>
              <a:t>ADHD is the most common disorder in children with about 1 in 20 children being diagnosed, this followed by other neurodevelopmental d/o such as intellectual disability and learning disorders and Autism spectrum disorders. And impulse control disorder such as Oppositional defiant disorder and Conduct d/o</a:t>
            </a:r>
          </a:p>
          <a:p>
            <a:r>
              <a:rPr lang="en-GB" sz="2200" dirty="0">
                <a:solidFill>
                  <a:srgbClr val="FFFFFF"/>
                </a:solidFill>
              </a:rPr>
              <a:t>91 % of severely mentally ill lack access to adequate treatment.</a:t>
            </a:r>
          </a:p>
        </p:txBody>
      </p:sp>
    </p:spTree>
    <p:extLst>
      <p:ext uri="{BB962C8B-B14F-4D97-AF65-F5344CB8AC3E}">
        <p14:creationId xmlns:p14="http://schemas.microsoft.com/office/powerpoint/2010/main" val="4289335715"/>
      </p:ext>
    </p:extLst>
  </p:cSld>
  <p:clrMapOvr>
    <a:overrideClrMapping bg1="dk1" tx1="lt1" bg2="dk2" tx2="lt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228552E-C8B1-4A80-8448-0787CE0FC7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Digital art of brain">
            <a:extLst>
              <a:ext uri="{FF2B5EF4-FFF2-40B4-BE49-F238E27FC236}">
                <a16:creationId xmlns:a16="http://schemas.microsoft.com/office/drawing/2014/main" id="{DDCE13E6-9EFA-46F9-BD70-77258636A7DF}"/>
              </a:ext>
            </a:extLst>
          </p:cNvPr>
          <p:cNvPicPr>
            <a:picLocks noChangeAspect="1"/>
          </p:cNvPicPr>
          <p:nvPr/>
        </p:nvPicPr>
        <p:blipFill>
          <a:blip r:embed="rId3">
            <a:alphaModFix amt="35000"/>
          </a:blip>
          <a:srcRect/>
          <a:stretch>
            <a:fill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72C029D2-3D97-FCF1-BA13-117187FA6799}"/>
              </a:ext>
            </a:extLst>
          </p:cNvPr>
          <p:cNvSpPr>
            <a:spLocks noGrp="1"/>
          </p:cNvSpPr>
          <p:nvPr>
            <p:ph type="title"/>
          </p:nvPr>
        </p:nvSpPr>
        <p:spPr>
          <a:xfrm>
            <a:off x="838200" y="365125"/>
            <a:ext cx="10515600" cy="1325563"/>
          </a:xfrm>
        </p:spPr>
        <p:txBody>
          <a:bodyPr>
            <a:normAutofit/>
          </a:bodyPr>
          <a:lstStyle/>
          <a:p>
            <a:pPr marL="228600" marR="0" lvl="0" indent="-228600" defTabSz="914400" rtl="0" eaLnBrk="1" fontAlgn="auto" latinLnBrk="0" hangingPunct="1">
              <a:spcBef>
                <a:spcPts val="1000"/>
              </a:spcBef>
              <a:spcAft>
                <a:spcPts val="0"/>
              </a:spcAft>
              <a:tabLst>
                <a:tab pos="726440" algn="l"/>
              </a:tabLst>
              <a:defRPr/>
            </a:pPr>
            <a:r>
              <a:rPr kumimoji="0" lang="en-GB" b="0" i="0" strike="noStrike" kern="1200" cap="none" spc="0" normalizeH="0" baseline="0" noProof="0" dirty="0">
                <a:ln>
                  <a:noFill/>
                </a:ln>
                <a:solidFill>
                  <a:srgbClr val="FFFFFF"/>
                </a:solidFill>
                <a:effectLst/>
                <a:uLnTx/>
                <a:uFillTx/>
                <a:latin typeface="Aptos" panose="020B0004020202020204" pitchFamily="34" charset="0"/>
                <a:ea typeface="Aptos" panose="020B0004020202020204" pitchFamily="34" charset="0"/>
                <a:cs typeface="Times New Roman" panose="02020603050405020304" pitchFamily="18" charset="0"/>
              </a:rPr>
              <a:t>Socio-economic impact of mental illness</a:t>
            </a:r>
            <a:endParaRPr lang="en-GB" dirty="0">
              <a:solidFill>
                <a:srgbClr val="FFFFFF"/>
              </a:solidFill>
            </a:endParaRPr>
          </a:p>
        </p:txBody>
      </p:sp>
      <p:sp>
        <p:nvSpPr>
          <p:cNvPr id="3" name="Content Placeholder 2">
            <a:extLst>
              <a:ext uri="{FF2B5EF4-FFF2-40B4-BE49-F238E27FC236}">
                <a16:creationId xmlns:a16="http://schemas.microsoft.com/office/drawing/2014/main" id="{CCD5EAE7-36E5-4751-22CD-029700FB9E53}"/>
              </a:ext>
            </a:extLst>
          </p:cNvPr>
          <p:cNvSpPr>
            <a:spLocks noGrp="1"/>
          </p:cNvSpPr>
          <p:nvPr>
            <p:ph idx="1"/>
          </p:nvPr>
        </p:nvSpPr>
        <p:spPr>
          <a:xfrm>
            <a:off x="838200" y="1825625"/>
            <a:ext cx="10515600" cy="4351338"/>
          </a:xfrm>
        </p:spPr>
        <p:txBody>
          <a:bodyPr>
            <a:normAutofit/>
          </a:bodyPr>
          <a:lstStyle/>
          <a:p>
            <a:pPr>
              <a:buNone/>
              <a:tabLst>
                <a:tab pos="726440" algn="l"/>
              </a:tabLst>
            </a:pPr>
            <a:r>
              <a:rPr lang="en-GB" sz="15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rPr>
              <a:t>Presenteeism</a:t>
            </a:r>
            <a:endParaRPr lang="en-ZA" sz="15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endParaRPr>
          </a:p>
          <a:p>
            <a:pPr>
              <a:buNone/>
              <a:tabLst>
                <a:tab pos="726440" algn="l"/>
              </a:tabLst>
            </a:pPr>
            <a:r>
              <a:rPr lang="en-GB" sz="15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rPr>
              <a:t>Absenteeism</a:t>
            </a:r>
            <a:endParaRPr lang="en-ZA" sz="15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endParaRPr>
          </a:p>
          <a:p>
            <a:pPr>
              <a:buNone/>
              <a:tabLst>
                <a:tab pos="726440" algn="l"/>
              </a:tabLst>
            </a:pPr>
            <a:r>
              <a:rPr lang="en-GB" sz="15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rPr>
              <a:t> Low work productivity</a:t>
            </a:r>
            <a:endParaRPr lang="en-ZA" sz="15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endParaRPr>
          </a:p>
          <a:p>
            <a:pPr>
              <a:buNone/>
              <a:tabLst>
                <a:tab pos="726440" algn="l"/>
              </a:tabLst>
            </a:pPr>
            <a:r>
              <a:rPr lang="en-GB" sz="15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rPr>
              <a:t>Disrupted education</a:t>
            </a:r>
            <a:endParaRPr lang="en-ZA" sz="15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endParaRPr>
          </a:p>
          <a:p>
            <a:pPr>
              <a:buNone/>
              <a:tabLst>
                <a:tab pos="726440" algn="l"/>
              </a:tabLst>
            </a:pPr>
            <a:r>
              <a:rPr lang="en-GB" sz="15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rPr>
              <a:t>Low education levels</a:t>
            </a:r>
            <a:endParaRPr lang="en-ZA" sz="15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endParaRPr>
          </a:p>
          <a:p>
            <a:pPr>
              <a:buNone/>
              <a:tabLst>
                <a:tab pos="726440" algn="l"/>
              </a:tabLst>
            </a:pPr>
            <a:r>
              <a:rPr lang="en-GB" sz="15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rPr>
              <a:t>Less/reduced earning potential</a:t>
            </a:r>
            <a:endParaRPr lang="en-ZA" sz="15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endParaRPr>
          </a:p>
          <a:p>
            <a:pPr>
              <a:buNone/>
              <a:tabLst>
                <a:tab pos="726440" algn="l"/>
              </a:tabLst>
            </a:pPr>
            <a:r>
              <a:rPr lang="en-GB" sz="15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rPr>
              <a:t>Economic/ financial instability</a:t>
            </a:r>
            <a:endParaRPr lang="en-ZA" sz="15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endParaRPr>
          </a:p>
          <a:p>
            <a:pPr>
              <a:buNone/>
              <a:tabLst>
                <a:tab pos="726440" algn="l"/>
              </a:tabLst>
            </a:pPr>
            <a:r>
              <a:rPr lang="en-GB" sz="15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rPr>
              <a:t> </a:t>
            </a:r>
            <a:endParaRPr lang="en-ZA" sz="15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endParaRPr>
          </a:p>
          <a:p>
            <a:pPr>
              <a:buNone/>
              <a:tabLst>
                <a:tab pos="726440" algn="l"/>
              </a:tabLst>
            </a:pPr>
            <a:r>
              <a:rPr lang="en-GB" sz="15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rPr>
              <a:t>Financial crisis/Poverty .</a:t>
            </a:r>
            <a:endParaRPr lang="en-ZA" sz="15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endParaRPr>
          </a:p>
          <a:p>
            <a:pPr>
              <a:buNone/>
              <a:tabLst>
                <a:tab pos="726440" algn="l"/>
              </a:tabLst>
            </a:pPr>
            <a:r>
              <a:rPr lang="en-GB" sz="15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rPr>
              <a:t>Family dysfunction.</a:t>
            </a:r>
            <a:endParaRPr lang="en-ZA" sz="15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endParaRPr>
          </a:p>
          <a:p>
            <a:pPr>
              <a:buNone/>
              <a:tabLst>
                <a:tab pos="726440" algn="l"/>
              </a:tabLst>
            </a:pPr>
            <a:r>
              <a:rPr lang="en-GB" sz="15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rPr>
              <a:t>Increased caregiver burden and burnout.</a:t>
            </a:r>
            <a:endParaRPr lang="en-ZA" sz="15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endParaRPr>
          </a:p>
          <a:p>
            <a:pPr>
              <a:buNone/>
              <a:tabLst>
                <a:tab pos="726440" algn="l"/>
              </a:tabLst>
            </a:pPr>
            <a:r>
              <a:rPr lang="en-GB" sz="15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rPr>
              <a:t>Reduced work hours or take off from school to care for patient  and more financial strife.</a:t>
            </a:r>
            <a:endParaRPr lang="en-ZA" sz="15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endParaRPr>
          </a:p>
          <a:p>
            <a:endParaRPr lang="en-GB" sz="1500" dirty="0">
              <a:solidFill>
                <a:srgbClr val="FFFFFF"/>
              </a:solidFill>
            </a:endParaRPr>
          </a:p>
        </p:txBody>
      </p:sp>
    </p:spTree>
    <p:extLst>
      <p:ext uri="{BB962C8B-B14F-4D97-AF65-F5344CB8AC3E}">
        <p14:creationId xmlns:p14="http://schemas.microsoft.com/office/powerpoint/2010/main" val="884496353"/>
      </p:ext>
    </p:extLst>
  </p:cSld>
  <p:clrMapOvr>
    <a:overrideClrMapping bg1="dk1" tx1="lt1" bg2="dk2" tx2="lt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228552E-C8B1-4A80-8448-0787CE0FC7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Digital art of brain">
            <a:extLst>
              <a:ext uri="{FF2B5EF4-FFF2-40B4-BE49-F238E27FC236}">
                <a16:creationId xmlns:a16="http://schemas.microsoft.com/office/drawing/2014/main" id="{D3D904B9-E16C-B425-6845-191771EB5362}"/>
              </a:ext>
            </a:extLst>
          </p:cNvPr>
          <p:cNvPicPr>
            <a:picLocks noChangeAspect="1"/>
          </p:cNvPicPr>
          <p:nvPr/>
        </p:nvPicPr>
        <p:blipFill>
          <a:blip r:embed="rId3">
            <a:alphaModFix amt="35000"/>
          </a:blip>
          <a:srcRect/>
          <a:stretch>
            <a:fill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E663680E-01F8-4C64-70CD-A41687637243}"/>
              </a:ext>
            </a:extLst>
          </p:cNvPr>
          <p:cNvSpPr>
            <a:spLocks noGrp="1"/>
          </p:cNvSpPr>
          <p:nvPr>
            <p:ph type="title"/>
          </p:nvPr>
        </p:nvSpPr>
        <p:spPr>
          <a:xfrm>
            <a:off x="838200" y="365125"/>
            <a:ext cx="10515600" cy="1325563"/>
          </a:xfrm>
        </p:spPr>
        <p:txBody>
          <a:bodyPr>
            <a:normAutofit/>
          </a:bodyPr>
          <a:lstStyle/>
          <a:p>
            <a:r>
              <a:rPr lang="en-GB" dirty="0">
                <a:solidFill>
                  <a:srgbClr val="FFFFFF"/>
                </a:solidFill>
              </a:rPr>
              <a:t>Socio-economic impact of Mental illness.</a:t>
            </a:r>
          </a:p>
        </p:txBody>
      </p:sp>
      <p:sp>
        <p:nvSpPr>
          <p:cNvPr id="3" name="Content Placeholder 2">
            <a:extLst>
              <a:ext uri="{FF2B5EF4-FFF2-40B4-BE49-F238E27FC236}">
                <a16:creationId xmlns:a16="http://schemas.microsoft.com/office/drawing/2014/main" id="{90E942C8-97CA-260E-851B-3C6E81E205BC}"/>
              </a:ext>
            </a:extLst>
          </p:cNvPr>
          <p:cNvSpPr>
            <a:spLocks noGrp="1"/>
          </p:cNvSpPr>
          <p:nvPr>
            <p:ph idx="1"/>
          </p:nvPr>
        </p:nvSpPr>
        <p:spPr>
          <a:xfrm>
            <a:off x="838200" y="1825625"/>
            <a:ext cx="10515600" cy="4351338"/>
          </a:xfrm>
        </p:spPr>
        <p:txBody>
          <a:bodyPr>
            <a:normAutofit lnSpcReduction="10000"/>
          </a:bodyPr>
          <a:lstStyle/>
          <a:p>
            <a:r>
              <a:rPr lang="en-GB" dirty="0">
                <a:solidFill>
                  <a:srgbClr val="FFFFFF"/>
                </a:solidFill>
              </a:rPr>
              <a:t>Minimum wage in SA IS R30.23/ Hour.</a:t>
            </a:r>
          </a:p>
          <a:p>
            <a:pPr marL="0" indent="0">
              <a:buNone/>
            </a:pPr>
            <a:endParaRPr lang="en-GB" dirty="0">
              <a:solidFill>
                <a:srgbClr val="FFFFFF"/>
              </a:solidFill>
            </a:endParaRPr>
          </a:p>
          <a:p>
            <a:r>
              <a:rPr lang="en-GB" dirty="0">
                <a:solidFill>
                  <a:srgbClr val="FFFFFF"/>
                </a:solidFill>
              </a:rPr>
              <a:t>R1,200/ Week.</a:t>
            </a:r>
          </a:p>
          <a:p>
            <a:pPr marL="0" indent="0">
              <a:buNone/>
            </a:pPr>
            <a:endParaRPr lang="en-GB" dirty="0">
              <a:solidFill>
                <a:srgbClr val="FFFFFF"/>
              </a:solidFill>
            </a:endParaRPr>
          </a:p>
          <a:p>
            <a:r>
              <a:rPr lang="en-GB" dirty="0">
                <a:solidFill>
                  <a:srgbClr val="FFFFFF"/>
                </a:solidFill>
              </a:rPr>
              <a:t>R4,800-R5,000/ Month.</a:t>
            </a:r>
          </a:p>
          <a:p>
            <a:endParaRPr lang="en-GB" dirty="0">
              <a:solidFill>
                <a:srgbClr val="FFFFFF"/>
              </a:solidFill>
            </a:endParaRPr>
          </a:p>
          <a:p>
            <a:r>
              <a:rPr lang="en-GB" dirty="0">
                <a:solidFill>
                  <a:srgbClr val="FFFFFF"/>
                </a:solidFill>
              </a:rPr>
              <a:t>R58,000/  Year</a:t>
            </a:r>
          </a:p>
          <a:p>
            <a:endParaRPr lang="en-GB" dirty="0">
              <a:solidFill>
                <a:srgbClr val="FFFFFF"/>
              </a:solidFill>
            </a:endParaRPr>
          </a:p>
          <a:p>
            <a:pPr>
              <a:buNone/>
            </a:pPr>
            <a:r>
              <a:rPr lang="en-GB" dirty="0">
                <a:solidFill>
                  <a:srgbClr val="FFFFFF"/>
                </a:solidFill>
              </a:rPr>
              <a:t>(SASSA  - Disability granny  is </a:t>
            </a:r>
            <a:r>
              <a:rPr lang="en-GB" sz="2800" dirty="0">
                <a:effectLst/>
                <a:latin typeface="Calibri" panose="020F0502020204030204" pitchFamily="34" charset="0"/>
                <a:ea typeface="Times New Roman" panose="02020603050405020304" pitchFamily="18" charset="0"/>
                <a:cs typeface="Times New Roman" panose="02020603050405020304" pitchFamily="18" charset="0"/>
                <a:sym typeface="Symbol" pitchFamily="2" charset="2"/>
              </a:rPr>
              <a:t></a:t>
            </a:r>
            <a:r>
              <a:rPr lang="en-GB" dirty="0">
                <a:solidFill>
                  <a:srgbClr val="FFFFFF"/>
                </a:solidFill>
              </a:rPr>
              <a:t>R2,400).</a:t>
            </a:r>
          </a:p>
          <a:p>
            <a:endParaRPr lang="en-GB" dirty="0">
              <a:solidFill>
                <a:srgbClr val="FFFFFF"/>
              </a:solidFill>
            </a:endParaRPr>
          </a:p>
          <a:p>
            <a:endParaRPr lang="en-GB" dirty="0">
              <a:solidFill>
                <a:srgbClr val="FFFFFF"/>
              </a:solidFill>
            </a:endParaRPr>
          </a:p>
        </p:txBody>
      </p:sp>
    </p:spTree>
    <p:extLst>
      <p:ext uri="{BB962C8B-B14F-4D97-AF65-F5344CB8AC3E}">
        <p14:creationId xmlns:p14="http://schemas.microsoft.com/office/powerpoint/2010/main" val="2875426304"/>
      </p:ext>
    </p:extLst>
  </p:cSld>
  <p:clrMapOvr>
    <a:overrideClrMapping bg1="dk1" tx1="lt1" bg2="dk2" tx2="lt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3F29798-D584-4792-9B62-3F5F5C36D6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94CD9F1-D536-9B43-63CC-F3698A242F09}"/>
              </a:ext>
            </a:extLst>
          </p:cNvPr>
          <p:cNvSpPr>
            <a:spLocks noGrp="1"/>
          </p:cNvSpPr>
          <p:nvPr>
            <p:ph type="title"/>
          </p:nvPr>
        </p:nvSpPr>
        <p:spPr>
          <a:xfrm>
            <a:off x="838200" y="184805"/>
            <a:ext cx="10515600" cy="1505883"/>
          </a:xfrm>
        </p:spPr>
        <p:txBody>
          <a:bodyPr vert="horz" lIns="91440" tIns="45720" rIns="91440" bIns="45720" rtlCol="0" anchor="ctr">
            <a:normAutofit/>
          </a:bodyPr>
          <a:lstStyle/>
          <a:p>
            <a:r>
              <a:rPr lang="en-US" sz="5200" kern="1200">
                <a:solidFill>
                  <a:schemeClr val="tx1"/>
                </a:solidFill>
                <a:latin typeface="+mj-lt"/>
                <a:ea typeface="+mj-ea"/>
                <a:cs typeface="+mj-cs"/>
              </a:rPr>
              <a:t>Determinant of negative mental health.</a:t>
            </a:r>
          </a:p>
        </p:txBody>
      </p:sp>
      <p:graphicFrame>
        <p:nvGraphicFramePr>
          <p:cNvPr id="4" name="Content Placeholder 3">
            <a:extLst>
              <a:ext uri="{FF2B5EF4-FFF2-40B4-BE49-F238E27FC236}">
                <a16:creationId xmlns:a16="http://schemas.microsoft.com/office/drawing/2014/main" id="{D27FF84F-A742-D8F8-D0E5-C151494BCF60}"/>
              </a:ext>
            </a:extLst>
          </p:cNvPr>
          <p:cNvGraphicFramePr>
            <a:graphicFrameLocks noGrp="1"/>
          </p:cNvGraphicFramePr>
          <p:nvPr>
            <p:ph idx="1"/>
            <p:extLst>
              <p:ext uri="{D42A27DB-BD31-4B8C-83A1-F6EECF244321}">
                <p14:modId xmlns:p14="http://schemas.microsoft.com/office/powerpoint/2010/main" val="4271031850"/>
              </p:ext>
            </p:extLst>
          </p:nvPr>
        </p:nvGraphicFramePr>
        <p:xfrm>
          <a:off x="1037968" y="1482811"/>
          <a:ext cx="10095470" cy="4829970"/>
        </p:xfrm>
        <a:graphic>
          <a:graphicData uri="http://schemas.openxmlformats.org/drawingml/2006/table">
            <a:tbl>
              <a:tblPr firstRow="1" firstCol="1" bandRow="1">
                <a:solidFill>
                  <a:schemeClr val="accent1">
                    <a:lumMod val="20000"/>
                    <a:lumOff val="80000"/>
                  </a:schemeClr>
                </a:solidFill>
              </a:tblPr>
              <a:tblGrid>
                <a:gridCol w="3406480">
                  <a:extLst>
                    <a:ext uri="{9D8B030D-6E8A-4147-A177-3AD203B41FA5}">
                      <a16:colId xmlns:a16="http://schemas.microsoft.com/office/drawing/2014/main" val="955317387"/>
                    </a:ext>
                  </a:extLst>
                </a:gridCol>
                <a:gridCol w="3368773">
                  <a:extLst>
                    <a:ext uri="{9D8B030D-6E8A-4147-A177-3AD203B41FA5}">
                      <a16:colId xmlns:a16="http://schemas.microsoft.com/office/drawing/2014/main" val="1166658631"/>
                    </a:ext>
                  </a:extLst>
                </a:gridCol>
                <a:gridCol w="3320217">
                  <a:extLst>
                    <a:ext uri="{9D8B030D-6E8A-4147-A177-3AD203B41FA5}">
                      <a16:colId xmlns:a16="http://schemas.microsoft.com/office/drawing/2014/main" val="3832895984"/>
                    </a:ext>
                  </a:extLst>
                </a:gridCol>
              </a:tblGrid>
              <a:tr h="473378">
                <a:tc>
                  <a:txBody>
                    <a:bodyPr/>
                    <a:lstStyle/>
                    <a:p>
                      <a:pPr algn="l">
                        <a:buNone/>
                        <a:tabLst>
                          <a:tab pos="726440" algn="l"/>
                        </a:tabLst>
                      </a:pPr>
                      <a:r>
                        <a:rPr lang="en-GB" sz="1100" b="1" cap="all" spc="6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BIOLOGICAL</a:t>
                      </a:r>
                      <a:endParaRPr lang="en-ZA" sz="1100" b="1" cap="all" spc="6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121587" marR="121587" marT="121587" marB="121587" anchor="ctr">
                    <a:lnL w="12700" cmpd="sng">
                      <a:noFill/>
                    </a:lnL>
                    <a:lnR w="12700" cmpd="sng">
                      <a:noFill/>
                    </a:lnR>
                    <a:lnT w="12700" cmpd="sng">
                      <a:noFill/>
                    </a:lnT>
                    <a:lnB w="38100" cmpd="sng">
                      <a:noFill/>
                    </a:lnB>
                    <a:solidFill>
                      <a:schemeClr val="accent2">
                        <a:lumMod val="60000"/>
                        <a:lumOff val="40000"/>
                      </a:schemeClr>
                    </a:solidFill>
                  </a:tcPr>
                </a:tc>
                <a:tc>
                  <a:txBody>
                    <a:bodyPr/>
                    <a:lstStyle/>
                    <a:p>
                      <a:pPr algn="l">
                        <a:buNone/>
                        <a:tabLst>
                          <a:tab pos="726440" algn="l"/>
                        </a:tabLst>
                      </a:pPr>
                      <a:r>
                        <a:rPr lang="en-GB" sz="1100" b="1" cap="all" spc="6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PSYCHOLOGICAL/ INDIVIDUAL</a:t>
                      </a:r>
                      <a:endParaRPr lang="en-ZA" sz="1100" b="1" cap="all" spc="6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121587" marR="121587" marT="121587" marB="121587" anchor="ctr">
                    <a:lnL w="12700" cmpd="sng">
                      <a:noFill/>
                    </a:lnL>
                    <a:lnR w="12700" cmpd="sng">
                      <a:noFill/>
                    </a:lnR>
                    <a:lnT w="12700" cmpd="sng">
                      <a:noFill/>
                    </a:lnT>
                    <a:lnB w="38100" cmpd="sng">
                      <a:noFill/>
                    </a:lnB>
                    <a:solidFill>
                      <a:schemeClr val="accent2">
                        <a:lumMod val="40000"/>
                        <a:lumOff val="60000"/>
                      </a:schemeClr>
                    </a:solidFill>
                  </a:tcPr>
                </a:tc>
                <a:tc>
                  <a:txBody>
                    <a:bodyPr/>
                    <a:lstStyle/>
                    <a:p>
                      <a:pPr algn="l">
                        <a:buNone/>
                        <a:tabLst>
                          <a:tab pos="726440" algn="l"/>
                        </a:tabLst>
                      </a:pPr>
                      <a:r>
                        <a:rPr lang="en-GB" sz="1100" b="1" cap="all" spc="6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SOCIAL / ENVIRONMENTAL</a:t>
                      </a:r>
                      <a:endParaRPr lang="en-ZA" sz="1100" b="1" cap="all" spc="6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121587" marR="121587" marT="121587" marB="121587" anchor="ctr">
                    <a:lnL w="12700" cmpd="sng">
                      <a:noFill/>
                    </a:lnL>
                    <a:lnR w="12700" cmpd="sng">
                      <a:noFill/>
                    </a:lnR>
                    <a:lnT w="12700" cmpd="sng">
                      <a:noFill/>
                    </a:lnT>
                    <a:lnB w="38100" cmpd="sng">
                      <a:noFill/>
                    </a:lnB>
                    <a:solidFill>
                      <a:schemeClr val="accent2">
                        <a:lumMod val="60000"/>
                        <a:lumOff val="40000"/>
                      </a:schemeClr>
                    </a:solidFill>
                  </a:tcPr>
                </a:tc>
                <a:extLst>
                  <a:ext uri="{0D108BD9-81ED-4DB2-BD59-A6C34878D82A}">
                    <a16:rowId xmlns:a16="http://schemas.microsoft.com/office/drawing/2014/main" val="482678335"/>
                  </a:ext>
                </a:extLst>
              </a:tr>
              <a:tr h="4339541">
                <a:tc>
                  <a:txBody>
                    <a:bodyPr/>
                    <a:lstStyle/>
                    <a:p>
                      <a:pPr marL="342900" lvl="0" indent="-342900" algn="l">
                        <a:buFont typeface="Calibri" panose="020F0502020204030204" pitchFamily="34" charset="0"/>
                        <a:buChar char="•"/>
                        <a:tabLst>
                          <a:tab pos="228600" algn="l"/>
                          <a:tab pos="726440" algn="l"/>
                        </a:tabLst>
                      </a:pPr>
                      <a:r>
                        <a:rPr lang="en-GB" sz="1100" b="1" cap="none" spc="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Genetic disorders e.g.  Downs syndromes/ </a:t>
                      </a:r>
                      <a:endParaRPr lang="en-ZA" sz="1100" b="1" cap="none" spc="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gn="l">
                        <a:buFont typeface="Calibri" panose="020F0502020204030204" pitchFamily="34" charset="0"/>
                        <a:buChar char="•"/>
                        <a:tabLst>
                          <a:tab pos="228600" algn="l"/>
                          <a:tab pos="726440" algn="l"/>
                        </a:tabLst>
                      </a:pPr>
                      <a:r>
                        <a:rPr lang="en-GB" sz="1100" b="1" cap="none" spc="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Familial disorders ( strong family history)</a:t>
                      </a:r>
                      <a:endParaRPr lang="en-ZA" sz="1100" b="1" cap="none" spc="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gn="l">
                        <a:buFont typeface="Calibri" panose="020F0502020204030204" pitchFamily="34" charset="0"/>
                        <a:buChar char="•"/>
                        <a:tabLst>
                          <a:tab pos="228600" algn="l"/>
                          <a:tab pos="726440" algn="l"/>
                        </a:tabLst>
                      </a:pPr>
                      <a:r>
                        <a:rPr lang="en-GB" sz="1100" b="1" cap="none" spc="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Congenital syndromes</a:t>
                      </a:r>
                      <a:endParaRPr lang="en-ZA" sz="1100" b="1" cap="none" spc="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gn="l">
                        <a:buFont typeface="Calibri" panose="020F0502020204030204" pitchFamily="34" charset="0"/>
                        <a:buChar char="•"/>
                        <a:tabLst>
                          <a:tab pos="228600" algn="l"/>
                          <a:tab pos="726440" algn="l"/>
                        </a:tabLst>
                      </a:pPr>
                      <a:r>
                        <a:rPr lang="en-GB" sz="1100" b="1" cap="none" spc="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Inborn errors of metabolism</a:t>
                      </a:r>
                      <a:endParaRPr lang="en-ZA" sz="1100" b="1" cap="none" spc="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gn="l">
                        <a:buFont typeface="Calibri" panose="020F0502020204030204" pitchFamily="34" charset="0"/>
                        <a:buChar char="•"/>
                        <a:tabLst>
                          <a:tab pos="228600" algn="l"/>
                          <a:tab pos="726440" algn="l"/>
                        </a:tabLst>
                      </a:pPr>
                      <a:r>
                        <a:rPr lang="en-GB" sz="1100" b="1" cap="none" spc="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Perinatal problems e.g. LBW, exposure to certain medication</a:t>
                      </a:r>
                      <a:endParaRPr lang="en-ZA" sz="1100" b="1" cap="none" spc="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gn="l">
                        <a:buFont typeface="Calibri" panose="020F0502020204030204" pitchFamily="34" charset="0"/>
                        <a:buChar char="•"/>
                        <a:tabLst>
                          <a:tab pos="228600" algn="l"/>
                          <a:tab pos="726440" algn="l"/>
                        </a:tabLst>
                      </a:pPr>
                      <a:r>
                        <a:rPr lang="en-GB" sz="1100" b="1" cap="none" spc="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Incapacitating states e.g. Strokes, </a:t>
                      </a:r>
                      <a:endParaRPr lang="en-ZA" sz="1100" b="1" cap="none" spc="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gn="l">
                        <a:buFont typeface="Calibri" panose="020F0502020204030204" pitchFamily="34" charset="0"/>
                        <a:buChar char="•"/>
                        <a:tabLst>
                          <a:tab pos="228600" algn="l"/>
                          <a:tab pos="726440" algn="l"/>
                        </a:tabLst>
                      </a:pPr>
                      <a:r>
                        <a:rPr lang="en-GB" sz="1100" b="1" cap="none" spc="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Traumatic Brian Injury,</a:t>
                      </a:r>
                      <a:endParaRPr lang="en-ZA" sz="1100" b="1" cap="none" spc="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gn="l">
                        <a:buFont typeface="Calibri" panose="020F0502020204030204" pitchFamily="34" charset="0"/>
                        <a:buChar char="•"/>
                        <a:tabLst>
                          <a:tab pos="228600" algn="l"/>
                          <a:tab pos="726440" algn="l"/>
                        </a:tabLst>
                      </a:pPr>
                      <a:r>
                        <a:rPr lang="en-GB" sz="1100" b="1" cap="none" spc="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Epilepsy</a:t>
                      </a:r>
                    </a:p>
                    <a:p>
                      <a:pPr marL="342900" marR="0" lvl="0" indent="-342900" algn="l" defTabSz="914400" rtl="0" eaLnBrk="1" fontAlgn="auto" latinLnBrk="0" hangingPunct="1">
                        <a:lnSpc>
                          <a:spcPct val="100000"/>
                        </a:lnSpc>
                        <a:spcBef>
                          <a:spcPts val="0"/>
                        </a:spcBef>
                        <a:spcAft>
                          <a:spcPts val="0"/>
                        </a:spcAft>
                        <a:buClrTx/>
                        <a:buSzTx/>
                        <a:buFont typeface="Calibri" panose="020F0502020204030204" pitchFamily="34" charset="0"/>
                        <a:buChar char="•"/>
                        <a:tabLst>
                          <a:tab pos="228600" algn="l"/>
                          <a:tab pos="726440" algn="l"/>
                        </a:tabLst>
                        <a:defRPr/>
                      </a:pPr>
                      <a:r>
                        <a:rPr kumimoji="0" lang="en-GB" sz="1100" b="1" i="0" u="none" strike="noStrike" kern="12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rPr>
                        <a:t>Chronic pain syndromes. </a:t>
                      </a:r>
                      <a:endParaRPr lang="en-ZA" sz="1100" b="1" cap="none" spc="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gn="l">
                        <a:buFont typeface="Calibri" panose="020F0502020204030204" pitchFamily="34" charset="0"/>
                        <a:buChar char="•"/>
                        <a:tabLst>
                          <a:tab pos="228600" algn="l"/>
                          <a:tab pos="726440" algn="l"/>
                        </a:tabLst>
                      </a:pPr>
                      <a:r>
                        <a:rPr lang="en-GB" sz="1100" b="1" cap="none" spc="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Substance use </a:t>
                      </a:r>
                      <a:endParaRPr lang="en-ZA" sz="1100" b="1" cap="none" spc="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gn="l">
                        <a:buFont typeface="Calibri" panose="020F0502020204030204" pitchFamily="34" charset="0"/>
                        <a:buChar char="•"/>
                        <a:tabLst>
                          <a:tab pos="228600" algn="l"/>
                          <a:tab pos="726440" algn="l"/>
                        </a:tabLst>
                      </a:pPr>
                      <a:r>
                        <a:rPr lang="en-GB" sz="1100" b="1" cap="none" spc="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Medication use/abuse</a:t>
                      </a:r>
                      <a:endParaRPr lang="en-ZA" sz="1100" b="1" cap="none" spc="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gn="l">
                        <a:buFont typeface="Calibri" panose="020F0502020204030204" pitchFamily="34" charset="0"/>
                        <a:buChar char="•"/>
                        <a:tabLst>
                          <a:tab pos="228600" algn="l"/>
                          <a:tab pos="726440" algn="l"/>
                        </a:tabLst>
                      </a:pPr>
                      <a:r>
                        <a:rPr lang="en-GB" sz="1100" b="1" cap="none" spc="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Metabolic disorders (DM/ HPT/ Dyslipidaemia )</a:t>
                      </a:r>
                      <a:endParaRPr lang="en-ZA" sz="1100" b="1" cap="none" spc="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gn="l">
                        <a:buFont typeface="Calibri" panose="020F0502020204030204" pitchFamily="34" charset="0"/>
                        <a:buChar char="•"/>
                        <a:tabLst>
                          <a:tab pos="228600" algn="l"/>
                          <a:tab pos="726440" algn="l"/>
                        </a:tabLst>
                      </a:pPr>
                      <a:r>
                        <a:rPr lang="en-GB" sz="1100" b="1" cap="none" spc="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HIV</a:t>
                      </a:r>
                      <a:endParaRPr lang="en-ZA" sz="1100" b="1" cap="none" spc="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gn="l">
                        <a:buFont typeface="Calibri" panose="020F0502020204030204" pitchFamily="34" charset="0"/>
                        <a:buChar char="•"/>
                        <a:tabLst>
                          <a:tab pos="228600" algn="l"/>
                          <a:tab pos="726440" algn="l"/>
                        </a:tabLst>
                      </a:pPr>
                      <a:r>
                        <a:rPr lang="en-GB" sz="1100" b="1" cap="none" spc="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Neurological disorders</a:t>
                      </a:r>
                      <a:endParaRPr lang="en-ZA" sz="1100" b="1" cap="none" spc="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p>
                      <a:pPr algn="l">
                        <a:buNone/>
                        <a:tabLst>
                          <a:tab pos="726440" algn="l"/>
                        </a:tabLst>
                      </a:pPr>
                      <a:r>
                        <a:rPr lang="en-GB" sz="1100" b="1" cap="none" spc="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 </a:t>
                      </a:r>
                      <a:endParaRPr lang="en-ZA" sz="1100" b="1" cap="none" spc="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49452" marR="49452" marT="8334" marB="81058">
                    <a:lnL w="12700" cmpd="sng">
                      <a:noFill/>
                      <a:prstDash val="solid"/>
                    </a:lnL>
                    <a:lnR w="12700" cmpd="sng">
                      <a:noFill/>
                      <a:prstDash val="solid"/>
                    </a:lnR>
                    <a:lnT w="38100" cmpd="sng">
                      <a:noFill/>
                    </a:lnT>
                    <a:lnB w="12700" cmpd="sng">
                      <a:noFill/>
                      <a:prstDash val="solid"/>
                    </a:lnB>
                    <a:solidFill>
                      <a:schemeClr val="accent2">
                        <a:lumMod val="40000"/>
                        <a:lumOff val="60000"/>
                      </a:schemeClr>
                    </a:solidFill>
                  </a:tcPr>
                </a:tc>
                <a:tc>
                  <a:txBody>
                    <a:bodyPr/>
                    <a:lstStyle/>
                    <a:p>
                      <a:pPr marL="342900" lvl="0" indent="-342900" algn="l">
                        <a:buFont typeface="Calibri" panose="020F0502020204030204" pitchFamily="34" charset="0"/>
                        <a:buChar char="•"/>
                        <a:tabLst>
                          <a:tab pos="228600" algn="l"/>
                          <a:tab pos="726440" algn="l"/>
                        </a:tabLst>
                      </a:pPr>
                      <a:r>
                        <a:rPr lang="en-GB" sz="1400" cap="none" spc="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Attachment (bonds children form with caregivers).</a:t>
                      </a:r>
                    </a:p>
                    <a:p>
                      <a:pPr marL="342900" marR="0" lvl="0" indent="-342900" algn="l" defTabSz="914400" rtl="0" eaLnBrk="1" fontAlgn="auto" latinLnBrk="0" hangingPunct="1">
                        <a:lnSpc>
                          <a:spcPct val="100000"/>
                        </a:lnSpc>
                        <a:spcBef>
                          <a:spcPts val="0"/>
                        </a:spcBef>
                        <a:spcAft>
                          <a:spcPts val="0"/>
                        </a:spcAft>
                        <a:buClrTx/>
                        <a:buSzTx/>
                        <a:buFont typeface="Calibri" panose="020F0502020204030204" pitchFamily="34" charset="0"/>
                        <a:buChar char="•"/>
                        <a:tabLst>
                          <a:tab pos="228600" algn="l"/>
                          <a:tab pos="726440" algn="l"/>
                        </a:tabLst>
                        <a:defRPr/>
                      </a:pPr>
                      <a:r>
                        <a:rPr kumimoji="0" lang="en-GB" sz="1400" b="0" i="0" u="none" strike="noStrike" kern="12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rPr>
                        <a:t>Temperament (overly anxious/ irritable children/poor frustration tolerance)</a:t>
                      </a:r>
                      <a:endParaRPr lang="en-ZA" sz="1400" cap="none" spc="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gn="l">
                        <a:buFont typeface="Calibri" panose="020F0502020204030204" pitchFamily="34" charset="0"/>
                        <a:buChar char="•"/>
                        <a:tabLst>
                          <a:tab pos="228600" algn="l"/>
                          <a:tab pos="726440" algn="l"/>
                        </a:tabLst>
                      </a:pPr>
                      <a:r>
                        <a:rPr lang="en-GB" sz="1400" cap="none" spc="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Adverse childhood events.</a:t>
                      </a:r>
                      <a:endParaRPr lang="en-ZA" sz="1400" cap="none" spc="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gn="l">
                        <a:buFont typeface="Calibri" panose="020F0502020204030204" pitchFamily="34" charset="0"/>
                        <a:buChar char="•"/>
                        <a:tabLst>
                          <a:tab pos="228600" algn="l"/>
                          <a:tab pos="726440" algn="l"/>
                        </a:tabLst>
                      </a:pPr>
                      <a:r>
                        <a:rPr lang="en-GB" sz="1400" cap="none" spc="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Early loss of a caregiver.</a:t>
                      </a:r>
                      <a:endParaRPr lang="en-ZA" sz="1400" cap="none" spc="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gn="l">
                        <a:buFont typeface="Calibri" panose="020F0502020204030204" pitchFamily="34" charset="0"/>
                        <a:buChar char="•"/>
                        <a:tabLst>
                          <a:tab pos="228600" algn="l"/>
                          <a:tab pos="726440" algn="l"/>
                        </a:tabLst>
                      </a:pPr>
                      <a:r>
                        <a:rPr lang="en-GB" sz="1400" cap="none" spc="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Neglect</a:t>
                      </a:r>
                    </a:p>
                    <a:p>
                      <a:pPr marL="342900" marR="0" lvl="0" indent="-342900" algn="l" defTabSz="914400" rtl="0" eaLnBrk="1" fontAlgn="auto" latinLnBrk="0" hangingPunct="1">
                        <a:lnSpc>
                          <a:spcPct val="100000"/>
                        </a:lnSpc>
                        <a:spcBef>
                          <a:spcPts val="0"/>
                        </a:spcBef>
                        <a:spcAft>
                          <a:spcPts val="0"/>
                        </a:spcAft>
                        <a:buClrTx/>
                        <a:buSzTx/>
                        <a:buFont typeface="Calibri" panose="020F0502020204030204" pitchFamily="34" charset="0"/>
                        <a:buChar char="•"/>
                        <a:tabLst>
                          <a:tab pos="228600" algn="l"/>
                          <a:tab pos="726440" algn="l"/>
                        </a:tabLst>
                        <a:defRPr/>
                      </a:pPr>
                      <a:r>
                        <a:rPr kumimoji="0" lang="en-GB" sz="1400" b="0" i="0" u="none" strike="noStrike" kern="12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rPr>
                        <a:t>Low baseline functioning/ neurodevelopmental disorders.</a:t>
                      </a:r>
                      <a:endParaRPr lang="en-ZA" sz="1400" cap="none" spc="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gn="l">
                        <a:buFont typeface="Calibri" panose="020F0502020204030204" pitchFamily="34" charset="0"/>
                        <a:buChar char="•"/>
                        <a:tabLst>
                          <a:tab pos="228600" algn="l"/>
                          <a:tab pos="726440" algn="l"/>
                        </a:tabLst>
                      </a:pPr>
                      <a:r>
                        <a:rPr lang="en-GB" sz="1400" cap="none" spc="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Physical and sexual abuse</a:t>
                      </a:r>
                      <a:endParaRPr lang="en-ZA" sz="1400" cap="none" spc="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gn="l">
                        <a:buFont typeface="Calibri" panose="020F0502020204030204" pitchFamily="34" charset="0"/>
                        <a:buChar char="•"/>
                        <a:tabLst>
                          <a:tab pos="228600" algn="l"/>
                          <a:tab pos="726440" algn="l"/>
                        </a:tabLst>
                      </a:pPr>
                      <a:r>
                        <a:rPr lang="en-GB" sz="1400" cap="none" spc="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Bullying</a:t>
                      </a:r>
                      <a:endParaRPr lang="en-ZA" sz="1400" cap="none" spc="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gn="l">
                        <a:buFont typeface="Calibri" panose="020F0502020204030204" pitchFamily="34" charset="0"/>
                        <a:buChar char="•"/>
                        <a:tabLst>
                          <a:tab pos="228600" algn="l"/>
                          <a:tab pos="726440" algn="l"/>
                        </a:tabLst>
                      </a:pPr>
                      <a:r>
                        <a:rPr lang="en-GB" sz="1400" cap="none" spc="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Punitive parenting</a:t>
                      </a:r>
                      <a:endParaRPr lang="en-ZA" sz="1400" cap="none" spc="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gn="l">
                        <a:buFont typeface="Calibri" panose="020F0502020204030204" pitchFamily="34" charset="0"/>
                        <a:buChar char="•"/>
                        <a:tabLst>
                          <a:tab pos="228600" algn="l"/>
                          <a:tab pos="726440" algn="l"/>
                        </a:tabLst>
                      </a:pPr>
                      <a:r>
                        <a:rPr lang="en-GB" sz="1400" cap="none" spc="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Personality traits _ highly paranoid, anxious, dependent, avoidant</a:t>
                      </a:r>
                      <a:endParaRPr lang="en-ZA" sz="1400" cap="none" spc="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gn="l">
                        <a:buFont typeface="Calibri" panose="020F0502020204030204" pitchFamily="34" charset="0"/>
                        <a:buChar char="•"/>
                        <a:tabLst>
                          <a:tab pos="228600" algn="l"/>
                          <a:tab pos="726440" algn="l"/>
                        </a:tabLst>
                      </a:pPr>
                      <a:r>
                        <a:rPr lang="en-GB" sz="1400" cap="none" spc="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increasing age.</a:t>
                      </a:r>
                      <a:endParaRPr lang="en-ZA" sz="1400" cap="none" spc="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gn="l">
                        <a:buFont typeface="Calibri" panose="020F0502020204030204" pitchFamily="34" charset="0"/>
                        <a:buChar char="•"/>
                        <a:tabLst>
                          <a:tab pos="228600" algn="l"/>
                          <a:tab pos="726440" algn="l"/>
                        </a:tabLst>
                      </a:pPr>
                      <a:r>
                        <a:rPr lang="en-GB" sz="1400" cap="none" spc="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Lower level of education.</a:t>
                      </a:r>
                    </a:p>
                    <a:p>
                      <a:pPr marL="342900" lvl="0" indent="-342900" algn="l">
                        <a:buFont typeface="Calibri" panose="020F0502020204030204" pitchFamily="34" charset="0"/>
                        <a:buChar char="•"/>
                        <a:tabLst>
                          <a:tab pos="228600" algn="l"/>
                          <a:tab pos="726440" algn="l"/>
                        </a:tabLst>
                      </a:pPr>
                      <a:r>
                        <a:rPr kumimoji="0" lang="en-GB" sz="1400" b="0" i="0" u="none" strike="noStrike" kern="12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rPr>
                        <a:t>Unemployment/ stressful jobs.</a:t>
                      </a:r>
                    </a:p>
                    <a:p>
                      <a:pPr marL="342900" marR="0" lvl="0" indent="-342900" algn="l" defTabSz="914400" rtl="0" eaLnBrk="1" fontAlgn="auto" latinLnBrk="0" hangingPunct="1">
                        <a:lnSpc>
                          <a:spcPct val="100000"/>
                        </a:lnSpc>
                        <a:spcBef>
                          <a:spcPts val="0"/>
                        </a:spcBef>
                        <a:spcAft>
                          <a:spcPts val="0"/>
                        </a:spcAft>
                        <a:buClrTx/>
                        <a:buSzTx/>
                        <a:buFont typeface="Calibri" panose="020F0502020204030204" pitchFamily="34" charset="0"/>
                        <a:buChar char="•"/>
                        <a:tabLst>
                          <a:tab pos="228600" algn="l"/>
                          <a:tab pos="726440" algn="l"/>
                        </a:tabLst>
                        <a:defRPr/>
                      </a:pPr>
                      <a:r>
                        <a:rPr kumimoji="0" lang="en-GB" sz="1400" b="0" i="0" u="none" strike="noStrike" kern="12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rPr>
                        <a:t>Life altering events e.g. having a child, separation, divorce.</a:t>
                      </a:r>
                      <a:endParaRPr kumimoji="0" lang="en-ZA" sz="1400" b="0" i="0" u="none" strike="noStrike" kern="12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endParaRPr>
                    </a:p>
                  </a:txBody>
                  <a:tcPr marL="49452" marR="49452" marT="8334" marB="81058">
                    <a:lnL w="12700" cmpd="sng">
                      <a:noFill/>
                      <a:prstDash val="solid"/>
                    </a:lnL>
                    <a:lnR w="12700" cmpd="sng">
                      <a:noFill/>
                      <a:prstDash val="solid"/>
                    </a:lnR>
                    <a:lnT w="38100" cmpd="sng">
                      <a:noFill/>
                    </a:lnT>
                    <a:lnB w="12700" cmpd="sng">
                      <a:noFill/>
                      <a:prstDash val="solid"/>
                    </a:lnB>
                    <a:solidFill>
                      <a:schemeClr val="accent2">
                        <a:lumMod val="60000"/>
                        <a:lumOff val="40000"/>
                      </a:schemeClr>
                    </a:solidFill>
                  </a:tcPr>
                </a:tc>
                <a:tc>
                  <a:txBody>
                    <a:bodyPr/>
                    <a:lstStyle/>
                    <a:p>
                      <a:pPr marL="342900" lvl="0" indent="-342900" algn="l">
                        <a:buFont typeface="Calibri" panose="020F0502020204030204" pitchFamily="34" charset="0"/>
                        <a:buChar char="•"/>
                        <a:tabLst>
                          <a:tab pos="228600" algn="l"/>
                          <a:tab pos="726440" algn="l"/>
                        </a:tabLst>
                      </a:pPr>
                      <a:r>
                        <a:rPr lang="en-GB" sz="1400" cap="none" spc="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Poverty</a:t>
                      </a:r>
                      <a:endParaRPr lang="en-ZA" sz="1400" cap="none" spc="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gn="l">
                        <a:buFont typeface="Calibri" panose="020F0502020204030204" pitchFamily="34" charset="0"/>
                        <a:buChar char="•"/>
                        <a:tabLst>
                          <a:tab pos="228600" algn="l"/>
                          <a:tab pos="726440" algn="l"/>
                        </a:tabLst>
                      </a:pPr>
                      <a:r>
                        <a:rPr lang="en-GB" sz="1400" cap="none" spc="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GBV</a:t>
                      </a:r>
                      <a:endParaRPr lang="en-ZA" sz="1400" cap="none" spc="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gn="l">
                        <a:buFont typeface="Calibri" panose="020F0502020204030204" pitchFamily="34" charset="0"/>
                        <a:buChar char="•"/>
                        <a:tabLst>
                          <a:tab pos="228600" algn="l"/>
                          <a:tab pos="726440" algn="l"/>
                        </a:tabLst>
                      </a:pPr>
                      <a:r>
                        <a:rPr lang="en-GB" sz="1400" cap="none" spc="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High Crime rates/Dangerous neighbourhoods and communities.</a:t>
                      </a:r>
                      <a:endParaRPr lang="en-ZA" sz="1400" cap="none" spc="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gn="l">
                        <a:buFont typeface="Calibri" panose="020F0502020204030204" pitchFamily="34" charset="0"/>
                        <a:buChar char="•"/>
                        <a:tabLst>
                          <a:tab pos="228600" algn="l"/>
                          <a:tab pos="726440" algn="l"/>
                        </a:tabLst>
                      </a:pPr>
                      <a:r>
                        <a:rPr lang="en-GB" sz="1400" cap="none" spc="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Cultural /societal expectations expectation i.e. academic, marriage, infertility, self-image/ beauty standards.</a:t>
                      </a:r>
                      <a:endParaRPr lang="en-ZA" sz="1400" cap="none" spc="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gn="l">
                        <a:buFont typeface="Calibri" panose="020F0502020204030204" pitchFamily="34" charset="0"/>
                        <a:buChar char="•"/>
                        <a:tabLst>
                          <a:tab pos="228600" algn="l"/>
                          <a:tab pos="726440" algn="l"/>
                        </a:tabLst>
                      </a:pPr>
                      <a:r>
                        <a:rPr lang="en-GB" sz="1400" cap="none" spc="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Wars</a:t>
                      </a:r>
                      <a:endParaRPr lang="en-ZA" sz="1400" cap="none" spc="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gn="l">
                        <a:buFont typeface="Calibri" panose="020F0502020204030204" pitchFamily="34" charset="0"/>
                        <a:buChar char="•"/>
                        <a:tabLst>
                          <a:tab pos="228600" algn="l"/>
                          <a:tab pos="726440" algn="l"/>
                        </a:tabLst>
                      </a:pPr>
                      <a:r>
                        <a:rPr lang="en-GB" sz="1400" cap="none" spc="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Community Unrest</a:t>
                      </a:r>
                      <a:endParaRPr lang="en-ZA" sz="1400" cap="none" spc="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gn="l">
                        <a:buFont typeface="Calibri" panose="020F0502020204030204" pitchFamily="34" charset="0"/>
                        <a:buChar char="•"/>
                        <a:tabLst>
                          <a:tab pos="228600" algn="l"/>
                          <a:tab pos="726440" algn="l"/>
                        </a:tabLst>
                      </a:pPr>
                      <a:r>
                        <a:rPr lang="en-GB" sz="1400" cap="none" spc="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Economic instability (COVID)</a:t>
                      </a:r>
                      <a:endParaRPr lang="en-ZA" sz="1400" cap="none" spc="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gn="l">
                        <a:buFont typeface="Arial" panose="020B0604020202020204" pitchFamily="34" charset="0"/>
                        <a:buChar char="•"/>
                        <a:tabLst>
                          <a:tab pos="457200" algn="l"/>
                          <a:tab pos="726440" algn="l"/>
                        </a:tabLst>
                      </a:pPr>
                      <a:r>
                        <a:rPr lang="en-GB" sz="1400" cap="none" spc="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      Increasing Inequality</a:t>
                      </a:r>
                      <a:endParaRPr lang="en-ZA" sz="1400" cap="none" spc="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49452" marR="49452" marT="8334" marB="81058">
                    <a:lnL w="12700" cmpd="sng">
                      <a:noFill/>
                      <a:prstDash val="solid"/>
                    </a:lnL>
                    <a:lnR w="12700" cmpd="sng">
                      <a:noFill/>
                      <a:prstDash val="solid"/>
                    </a:lnR>
                    <a:lnT w="38100" cmpd="sng">
                      <a:noFill/>
                    </a:lnT>
                    <a:lnB w="12700" cmpd="sng">
                      <a:noFill/>
                      <a:prstDash val="solid"/>
                    </a:lnB>
                    <a:solidFill>
                      <a:schemeClr val="accent2">
                        <a:lumMod val="40000"/>
                        <a:lumOff val="60000"/>
                      </a:schemeClr>
                    </a:solidFill>
                  </a:tcPr>
                </a:tc>
                <a:extLst>
                  <a:ext uri="{0D108BD9-81ED-4DB2-BD59-A6C34878D82A}">
                    <a16:rowId xmlns:a16="http://schemas.microsoft.com/office/drawing/2014/main" val="2185296457"/>
                  </a:ext>
                </a:extLst>
              </a:tr>
            </a:tbl>
          </a:graphicData>
        </a:graphic>
      </p:graphicFrame>
    </p:spTree>
    <p:extLst>
      <p:ext uri="{BB962C8B-B14F-4D97-AF65-F5344CB8AC3E}">
        <p14:creationId xmlns:p14="http://schemas.microsoft.com/office/powerpoint/2010/main" val="11234357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descr="Digital art of brain">
            <a:extLst>
              <a:ext uri="{FF2B5EF4-FFF2-40B4-BE49-F238E27FC236}">
                <a16:creationId xmlns:a16="http://schemas.microsoft.com/office/drawing/2014/main" id="{8FDF072B-EAEF-74EE-EB2B-E59AB70D7569}"/>
              </a:ext>
            </a:extLst>
          </p:cNvPr>
          <p:cNvPicPr>
            <a:picLocks noChangeAspect="1"/>
          </p:cNvPicPr>
          <p:nvPr/>
        </p:nvPicPr>
        <p:blipFill>
          <a:blip r:embed="rId3">
            <a:alphaModFix amt="35000"/>
          </a:blip>
          <a:srcRect/>
          <a:stretch>
            <a:fill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EF49C69B-070A-5ECD-4B12-6588F1975132}"/>
              </a:ext>
            </a:extLst>
          </p:cNvPr>
          <p:cNvSpPr>
            <a:spLocks noGrp="1"/>
          </p:cNvSpPr>
          <p:nvPr>
            <p:ph type="title"/>
          </p:nvPr>
        </p:nvSpPr>
        <p:spPr>
          <a:xfrm>
            <a:off x="1676400" y="2539914"/>
            <a:ext cx="10515600" cy="1574886"/>
          </a:xfrm>
        </p:spPr>
        <p:txBody>
          <a:bodyPr>
            <a:normAutofit/>
          </a:bodyPr>
          <a:lstStyle/>
          <a:p>
            <a:pPr algn="ctr"/>
            <a:r>
              <a:rPr lang="en-GB" dirty="0">
                <a:solidFill>
                  <a:srgbClr val="FFFFFF"/>
                </a:solidFill>
                <a:latin typeface="Aptos" panose="020B0004020202020204" pitchFamily="34" charset="0"/>
                <a:ea typeface="Aptos" panose="020B0004020202020204" pitchFamily="34" charset="0"/>
                <a:cs typeface="Times New Roman" panose="02020603050405020304" pitchFamily="18" charset="0"/>
              </a:rPr>
              <a:t>Multisectoral approach</a:t>
            </a:r>
            <a:br>
              <a:rPr lang="en-ZA" dirty="0">
                <a:solidFill>
                  <a:srgbClr val="FFFFFF"/>
                </a:solidFill>
                <a:latin typeface="Aptos" panose="020B0004020202020204" pitchFamily="34" charset="0"/>
                <a:ea typeface="Aptos" panose="020B0004020202020204" pitchFamily="34" charset="0"/>
                <a:cs typeface="Times New Roman" panose="02020603050405020304" pitchFamily="18" charset="0"/>
              </a:rPr>
            </a:br>
            <a:endParaRPr lang="en-GB" dirty="0">
              <a:solidFill>
                <a:srgbClr val="FFFFFF"/>
              </a:solidFill>
            </a:endParaRPr>
          </a:p>
        </p:txBody>
      </p:sp>
      <p:sp>
        <p:nvSpPr>
          <p:cNvPr id="3" name="Content Placeholder 2">
            <a:extLst>
              <a:ext uri="{FF2B5EF4-FFF2-40B4-BE49-F238E27FC236}">
                <a16:creationId xmlns:a16="http://schemas.microsoft.com/office/drawing/2014/main" id="{78B65DFC-625D-92A1-0C48-23C193CF19B5}"/>
              </a:ext>
            </a:extLst>
          </p:cNvPr>
          <p:cNvSpPr>
            <a:spLocks noGrp="1"/>
          </p:cNvSpPr>
          <p:nvPr>
            <p:ph idx="4294967295"/>
          </p:nvPr>
        </p:nvSpPr>
        <p:spPr>
          <a:xfrm>
            <a:off x="0" y="1825625"/>
            <a:ext cx="10515600" cy="4351338"/>
          </a:xfrm>
        </p:spPr>
        <p:txBody>
          <a:bodyPr>
            <a:normAutofit/>
          </a:bodyPr>
          <a:lstStyle/>
          <a:p>
            <a:pPr>
              <a:buNone/>
              <a:tabLst>
                <a:tab pos="726440" algn="l"/>
              </a:tabLst>
            </a:pPr>
            <a:r>
              <a:rPr lang="en-GB" sz="2200" u="none" strike="noStrike" dirty="0">
                <a:solidFill>
                  <a:srgbClr val="FFFFFF"/>
                </a:solidFill>
                <a:effectLst/>
                <a:latin typeface="Aptos" panose="020B0004020202020204" pitchFamily="34" charset="0"/>
                <a:ea typeface="Aptos" panose="020B0004020202020204" pitchFamily="34" charset="0"/>
                <a:cs typeface="Times New Roman" panose="02020603050405020304" pitchFamily="18" charset="0"/>
              </a:rPr>
              <a:t> </a:t>
            </a:r>
            <a:endParaRPr lang="en-ZA" sz="22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endParaRPr>
          </a:p>
          <a:p>
            <a:endParaRPr lang="en-GB" sz="2200" dirty="0">
              <a:solidFill>
                <a:srgbClr val="FFFFFF"/>
              </a:solidFill>
            </a:endParaRPr>
          </a:p>
        </p:txBody>
      </p:sp>
    </p:spTree>
    <p:extLst>
      <p:ext uri="{BB962C8B-B14F-4D97-AF65-F5344CB8AC3E}">
        <p14:creationId xmlns:p14="http://schemas.microsoft.com/office/powerpoint/2010/main" val="276318950"/>
      </p:ext>
    </p:extLst>
  </p:cSld>
  <p:clrMapOvr>
    <a:overrideClrMapping bg1="dk1" tx1="lt1" bg2="dk2" tx2="lt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6" name="Content Placeholder 5">
            <a:extLst>
              <a:ext uri="{FF2B5EF4-FFF2-40B4-BE49-F238E27FC236}">
                <a16:creationId xmlns:a16="http://schemas.microsoft.com/office/drawing/2014/main" id="{DA74FA0E-5ADC-ECFD-A7CC-AD4FED46813E}"/>
              </a:ext>
            </a:extLst>
          </p:cNvPr>
          <p:cNvGraphicFramePr>
            <a:graphicFrameLocks noGrp="1"/>
          </p:cNvGraphicFramePr>
          <p:nvPr>
            <p:ph idx="1"/>
            <p:extLst>
              <p:ext uri="{D42A27DB-BD31-4B8C-83A1-F6EECF244321}">
                <p14:modId xmlns:p14="http://schemas.microsoft.com/office/powerpoint/2010/main" val="890166642"/>
              </p:ext>
            </p:extLst>
          </p:nvPr>
        </p:nvGraphicFramePr>
        <p:xfrm>
          <a:off x="344557" y="164630"/>
          <a:ext cx="11449880" cy="6353186"/>
        </p:xfrm>
        <a:graphic>
          <a:graphicData uri="http://schemas.openxmlformats.org/drawingml/2006/table">
            <a:tbl>
              <a:tblPr firstRow="1" firstCol="1" bandRow="1">
                <a:solidFill>
                  <a:srgbClr val="F2F2F2">
                    <a:alpha val="30196"/>
                  </a:srgbClr>
                </a:solidFill>
                <a:tableStyleId>{5C22544A-7EE6-4342-B048-85BDC9FD1C3A}</a:tableStyleId>
              </a:tblPr>
              <a:tblGrid>
                <a:gridCol w="1749788">
                  <a:extLst>
                    <a:ext uri="{9D8B030D-6E8A-4147-A177-3AD203B41FA5}">
                      <a16:colId xmlns:a16="http://schemas.microsoft.com/office/drawing/2014/main" val="4193621073"/>
                    </a:ext>
                  </a:extLst>
                </a:gridCol>
                <a:gridCol w="1986261">
                  <a:extLst>
                    <a:ext uri="{9D8B030D-6E8A-4147-A177-3AD203B41FA5}">
                      <a16:colId xmlns:a16="http://schemas.microsoft.com/office/drawing/2014/main" val="3035597590"/>
                    </a:ext>
                  </a:extLst>
                </a:gridCol>
                <a:gridCol w="2631311">
                  <a:extLst>
                    <a:ext uri="{9D8B030D-6E8A-4147-A177-3AD203B41FA5}">
                      <a16:colId xmlns:a16="http://schemas.microsoft.com/office/drawing/2014/main" val="1914379667"/>
                    </a:ext>
                  </a:extLst>
                </a:gridCol>
                <a:gridCol w="1766866">
                  <a:extLst>
                    <a:ext uri="{9D8B030D-6E8A-4147-A177-3AD203B41FA5}">
                      <a16:colId xmlns:a16="http://schemas.microsoft.com/office/drawing/2014/main" val="2515821557"/>
                    </a:ext>
                  </a:extLst>
                </a:gridCol>
                <a:gridCol w="1657827">
                  <a:extLst>
                    <a:ext uri="{9D8B030D-6E8A-4147-A177-3AD203B41FA5}">
                      <a16:colId xmlns:a16="http://schemas.microsoft.com/office/drawing/2014/main" val="350709272"/>
                    </a:ext>
                  </a:extLst>
                </a:gridCol>
                <a:gridCol w="1657827">
                  <a:extLst>
                    <a:ext uri="{9D8B030D-6E8A-4147-A177-3AD203B41FA5}">
                      <a16:colId xmlns:a16="http://schemas.microsoft.com/office/drawing/2014/main" val="3620862339"/>
                    </a:ext>
                  </a:extLst>
                </a:gridCol>
              </a:tblGrid>
              <a:tr h="581224">
                <a:tc>
                  <a:txBody>
                    <a:bodyPr/>
                    <a:lstStyle/>
                    <a:p>
                      <a:pPr>
                        <a:buNone/>
                        <a:tabLst>
                          <a:tab pos="726440" algn="l"/>
                        </a:tabLst>
                      </a:pPr>
                      <a:r>
                        <a:rPr lang="en-GB" sz="1300" b="0" cap="none" spc="0">
                          <a:solidFill>
                            <a:schemeClr val="bg1"/>
                          </a:solidFill>
                          <a:effectLst/>
                        </a:rPr>
                        <a:t>PSYCHIATRIST</a:t>
                      </a:r>
                      <a:endParaRPr lang="en-ZA" sz="1300" b="0" cap="none" spc="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109555" marR="24621" marT="84273" marB="84273" anchor="ctr">
                    <a:lnL w="19050" cap="flat" cmpd="sng" algn="ctr">
                      <a:noFill/>
                      <a:prstDash val="solid"/>
                    </a:lnL>
                    <a:lnR w="12700" cmpd="sng">
                      <a:noFill/>
                    </a:lnR>
                    <a:lnT w="19050" cap="flat" cmpd="sng" algn="ctr">
                      <a:noFill/>
                      <a:prstDash val="solid"/>
                    </a:lnT>
                    <a:lnB w="38100" cmpd="sng">
                      <a:noFill/>
                    </a:lnB>
                    <a:solidFill>
                      <a:schemeClr val="accent2">
                        <a:lumMod val="75000"/>
                      </a:schemeClr>
                    </a:solidFill>
                  </a:tcPr>
                </a:tc>
                <a:tc>
                  <a:txBody>
                    <a:bodyPr/>
                    <a:lstStyle/>
                    <a:p>
                      <a:pPr>
                        <a:buNone/>
                        <a:tabLst>
                          <a:tab pos="726440" algn="l"/>
                        </a:tabLst>
                      </a:pPr>
                      <a:r>
                        <a:rPr lang="en-GB" sz="1300" b="0" cap="none" spc="0">
                          <a:solidFill>
                            <a:schemeClr val="bg1"/>
                          </a:solidFill>
                          <a:effectLst/>
                        </a:rPr>
                        <a:t>PSYCHOLOGIST</a:t>
                      </a:r>
                      <a:endParaRPr lang="en-ZA" sz="1300" b="0" cap="none" spc="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109555" marR="24621" marT="84273" marB="84273" anchor="ctr">
                    <a:lnL w="12700" cmpd="sng">
                      <a:noFill/>
                    </a:lnL>
                    <a:lnR w="12700" cmpd="sng">
                      <a:noFill/>
                    </a:lnR>
                    <a:lnT w="19050" cap="flat" cmpd="sng" algn="ctr">
                      <a:noFill/>
                      <a:prstDash val="solid"/>
                    </a:lnT>
                    <a:lnB w="38100" cmpd="sng">
                      <a:noFill/>
                    </a:lnB>
                    <a:solidFill>
                      <a:schemeClr val="accent2">
                        <a:lumMod val="75000"/>
                      </a:schemeClr>
                    </a:solidFill>
                  </a:tcPr>
                </a:tc>
                <a:tc>
                  <a:txBody>
                    <a:bodyPr/>
                    <a:lstStyle/>
                    <a:p>
                      <a:pPr>
                        <a:buNone/>
                        <a:tabLst>
                          <a:tab pos="726440" algn="l"/>
                        </a:tabLst>
                      </a:pPr>
                      <a:r>
                        <a:rPr lang="en-GB" sz="1300" b="0" cap="none" spc="0">
                          <a:solidFill>
                            <a:schemeClr val="bg1"/>
                          </a:solidFill>
                          <a:effectLst/>
                        </a:rPr>
                        <a:t>SOCIAL WORKER</a:t>
                      </a:r>
                      <a:endParaRPr lang="en-ZA" sz="1300" b="0" cap="none" spc="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109555" marR="24621" marT="84273" marB="84273" anchor="ctr">
                    <a:lnL w="12700" cmpd="sng">
                      <a:noFill/>
                    </a:lnL>
                    <a:lnR w="12700" cmpd="sng">
                      <a:noFill/>
                    </a:lnR>
                    <a:lnT w="19050" cap="flat" cmpd="sng" algn="ctr">
                      <a:noFill/>
                      <a:prstDash val="solid"/>
                    </a:lnT>
                    <a:lnB w="38100" cmpd="sng">
                      <a:noFill/>
                    </a:lnB>
                    <a:solidFill>
                      <a:schemeClr val="accent2">
                        <a:lumMod val="75000"/>
                      </a:schemeClr>
                    </a:solidFill>
                  </a:tcPr>
                </a:tc>
                <a:tc>
                  <a:txBody>
                    <a:bodyPr/>
                    <a:lstStyle/>
                    <a:p>
                      <a:pPr>
                        <a:buNone/>
                        <a:tabLst>
                          <a:tab pos="726440" algn="l"/>
                        </a:tabLst>
                      </a:pPr>
                      <a:r>
                        <a:rPr lang="en-GB" sz="1300" b="0" cap="none" spc="0">
                          <a:solidFill>
                            <a:schemeClr val="bg1"/>
                          </a:solidFill>
                          <a:effectLst/>
                        </a:rPr>
                        <a:t>OCCUPATIONAL THERAPY</a:t>
                      </a:r>
                      <a:endParaRPr lang="en-ZA" sz="1300" b="0" cap="none" spc="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109555" marR="24621" marT="84273" marB="84273" anchor="ctr">
                    <a:lnL w="12700" cmpd="sng">
                      <a:noFill/>
                    </a:lnL>
                    <a:lnR w="12700" cmpd="sng">
                      <a:noFill/>
                    </a:lnR>
                    <a:lnT w="19050" cap="flat" cmpd="sng" algn="ctr">
                      <a:noFill/>
                      <a:prstDash val="solid"/>
                    </a:lnT>
                    <a:lnB w="38100" cmpd="sng">
                      <a:noFill/>
                    </a:lnB>
                    <a:solidFill>
                      <a:schemeClr val="accent2">
                        <a:lumMod val="75000"/>
                      </a:schemeClr>
                    </a:solidFill>
                  </a:tcPr>
                </a:tc>
                <a:tc>
                  <a:txBody>
                    <a:bodyPr/>
                    <a:lstStyle/>
                    <a:p>
                      <a:pPr>
                        <a:buNone/>
                        <a:tabLst>
                          <a:tab pos="726440" algn="l"/>
                        </a:tabLst>
                      </a:pPr>
                      <a:r>
                        <a:rPr lang="en-GB" sz="1300" b="0" cap="none" spc="0" dirty="0">
                          <a:solidFill>
                            <a:schemeClr val="bg1"/>
                          </a:solidFill>
                          <a:effectLst/>
                        </a:rPr>
                        <a:t>NURSES </a:t>
                      </a:r>
                      <a:endParaRPr lang="en-ZA" sz="1300" b="0" cap="none" spc="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109555" marR="24621" marT="84273" marB="84273" anchor="ctr">
                    <a:lnL w="12700" cmpd="sng">
                      <a:noFill/>
                    </a:lnL>
                    <a:lnR w="12700" cmpd="sng">
                      <a:noFill/>
                    </a:lnR>
                    <a:lnT w="19050" cap="flat" cmpd="sng" algn="ctr">
                      <a:noFill/>
                      <a:prstDash val="solid"/>
                    </a:lnT>
                    <a:lnB w="38100" cmpd="sng">
                      <a:noFill/>
                    </a:lnB>
                    <a:solidFill>
                      <a:schemeClr val="accent2">
                        <a:lumMod val="75000"/>
                      </a:schemeClr>
                    </a:solidFill>
                  </a:tcPr>
                </a:tc>
                <a:tc>
                  <a:txBody>
                    <a:bodyPr/>
                    <a:lstStyle/>
                    <a:p>
                      <a:pPr>
                        <a:buNone/>
                        <a:tabLst>
                          <a:tab pos="726440" algn="l"/>
                        </a:tabLst>
                      </a:pPr>
                      <a:r>
                        <a:rPr lang="en-ZA" sz="1300" b="0" cap="none" spc="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Liaison Psychiatry</a:t>
                      </a:r>
                    </a:p>
                  </a:txBody>
                  <a:tcPr marL="109555" marR="24621" marT="84273" marB="84273" anchor="ctr">
                    <a:lnL w="12700" cmpd="sng">
                      <a:noFill/>
                    </a:lnL>
                    <a:lnR w="12700" cmpd="sng">
                      <a:noFill/>
                    </a:lnR>
                    <a:lnT w="19050" cap="flat" cmpd="sng" algn="ctr">
                      <a:noFill/>
                      <a:prstDash val="solid"/>
                    </a:lnT>
                    <a:lnB w="38100" cmpd="sng">
                      <a:noFill/>
                    </a:lnB>
                    <a:solidFill>
                      <a:schemeClr val="accent2">
                        <a:lumMod val="75000"/>
                      </a:schemeClr>
                    </a:solidFill>
                  </a:tcPr>
                </a:tc>
                <a:extLst>
                  <a:ext uri="{0D108BD9-81ED-4DB2-BD59-A6C34878D82A}">
                    <a16:rowId xmlns:a16="http://schemas.microsoft.com/office/drawing/2014/main" val="1245632134"/>
                  </a:ext>
                </a:extLst>
              </a:tr>
              <a:tr h="5771962">
                <a:tc>
                  <a:txBody>
                    <a:bodyPr/>
                    <a:lstStyle/>
                    <a:p>
                      <a:pPr marL="342900" lvl="0" indent="-342900">
                        <a:buFont typeface="Symbol" pitchFamily="2" charset="2"/>
                        <a:buChar char=""/>
                        <a:tabLst>
                          <a:tab pos="726440" algn="l"/>
                        </a:tabLst>
                      </a:pPr>
                      <a:r>
                        <a:rPr lang="en-GB" sz="1300" cap="none" spc="0" dirty="0">
                          <a:solidFill>
                            <a:schemeClr val="tx1"/>
                          </a:solidFill>
                          <a:effectLst/>
                        </a:rPr>
                        <a:t>Screen and assess the patient</a:t>
                      </a:r>
                      <a:endParaRPr lang="en-ZA" sz="1300" cap="none" spc="0" dirty="0">
                        <a:solidFill>
                          <a:schemeClr val="tx1"/>
                        </a:solidFill>
                        <a:effectLst/>
                      </a:endParaRPr>
                    </a:p>
                    <a:p>
                      <a:pPr marL="342900" lvl="0" indent="-342900">
                        <a:buFont typeface="Symbol" pitchFamily="2" charset="2"/>
                        <a:buChar char=""/>
                        <a:tabLst>
                          <a:tab pos="726440" algn="l"/>
                        </a:tabLst>
                      </a:pPr>
                      <a:r>
                        <a:rPr lang="en-GB" sz="1300" cap="none" spc="0" dirty="0">
                          <a:solidFill>
                            <a:schemeClr val="tx1"/>
                          </a:solidFill>
                          <a:effectLst/>
                        </a:rPr>
                        <a:t>Conduct any relevant medical investigations</a:t>
                      </a:r>
                      <a:endParaRPr lang="en-ZA" sz="1300" cap="none" spc="0" dirty="0">
                        <a:solidFill>
                          <a:schemeClr val="tx1"/>
                        </a:solidFill>
                        <a:effectLst/>
                      </a:endParaRPr>
                    </a:p>
                    <a:p>
                      <a:pPr marL="342900" lvl="0" indent="-342900">
                        <a:buFont typeface="Symbol" pitchFamily="2" charset="2"/>
                        <a:buChar char=""/>
                        <a:tabLst>
                          <a:tab pos="726440" algn="l"/>
                        </a:tabLst>
                      </a:pPr>
                      <a:r>
                        <a:rPr lang="en-GB" sz="1300" cap="none" spc="0" dirty="0">
                          <a:solidFill>
                            <a:schemeClr val="tx1"/>
                          </a:solidFill>
                          <a:effectLst/>
                        </a:rPr>
                        <a:t>Diagnose mental and medical disorders</a:t>
                      </a:r>
                      <a:endParaRPr lang="en-ZA" sz="1300" cap="none" spc="0" dirty="0">
                        <a:solidFill>
                          <a:schemeClr val="tx1"/>
                        </a:solidFill>
                        <a:effectLst/>
                      </a:endParaRPr>
                    </a:p>
                    <a:p>
                      <a:pPr marL="342900" lvl="0" indent="-342900">
                        <a:buFont typeface="Symbol" pitchFamily="2" charset="2"/>
                        <a:buChar char=""/>
                        <a:tabLst>
                          <a:tab pos="726440" algn="l"/>
                        </a:tabLst>
                      </a:pPr>
                      <a:r>
                        <a:rPr lang="en-GB" sz="1300" cap="none" spc="0" dirty="0">
                          <a:solidFill>
                            <a:schemeClr val="tx1"/>
                          </a:solidFill>
                          <a:effectLst/>
                        </a:rPr>
                        <a:t>Provide medical/ pharmacological treatment for the mental disorders.</a:t>
                      </a:r>
                      <a:endParaRPr lang="en-ZA" sz="1300" cap="none" spc="0" dirty="0">
                        <a:solidFill>
                          <a:schemeClr val="tx1"/>
                        </a:solidFill>
                        <a:effectLst/>
                      </a:endParaRPr>
                    </a:p>
                    <a:p>
                      <a:pPr marL="342900" lvl="0" indent="-342900">
                        <a:buFont typeface="Symbol" pitchFamily="2" charset="2"/>
                        <a:buChar char=""/>
                        <a:tabLst>
                          <a:tab pos="726440" algn="l"/>
                        </a:tabLst>
                      </a:pPr>
                      <a:r>
                        <a:rPr lang="en-GB" sz="1300" cap="none" spc="0" dirty="0">
                          <a:solidFill>
                            <a:schemeClr val="tx1"/>
                          </a:solidFill>
                          <a:effectLst/>
                        </a:rPr>
                        <a:t>Manage co-morbid medical disorders.</a:t>
                      </a:r>
                      <a:endParaRPr lang="en-ZA" sz="1300" cap="none" spc="0" dirty="0">
                        <a:solidFill>
                          <a:schemeClr val="tx1"/>
                        </a:solidFill>
                        <a:effectLst/>
                      </a:endParaRPr>
                    </a:p>
                    <a:p>
                      <a:pPr marL="342900" lvl="0" indent="-342900">
                        <a:buFont typeface="Symbol" pitchFamily="2" charset="2"/>
                        <a:buChar char=""/>
                        <a:tabLst>
                          <a:tab pos="726440" algn="l"/>
                        </a:tabLst>
                      </a:pPr>
                      <a:r>
                        <a:rPr lang="en-GB" sz="1300" cap="none" spc="0" dirty="0">
                          <a:solidFill>
                            <a:schemeClr val="tx1"/>
                          </a:solidFill>
                          <a:effectLst/>
                        </a:rPr>
                        <a:t>Community outreach programmes for mental health promotion and mental illness prevention.</a:t>
                      </a:r>
                      <a:endParaRPr lang="en-ZA" sz="1300" cap="none" spc="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109555" marR="24621" marT="84273" marB="84273">
                    <a:lnL w="38100" cap="flat" cmpd="sng" algn="ctr">
                      <a:noFill/>
                      <a:prstDash val="solid"/>
                    </a:lnL>
                    <a:lnR w="6350" cap="flat" cmpd="sng" algn="ctr">
                      <a:solidFill>
                        <a:schemeClr val="tx1">
                          <a:lumMod val="75000"/>
                          <a:lumOff val="25000"/>
                        </a:schemeClr>
                      </a:solidFill>
                      <a:prstDash val="solid"/>
                    </a:lnR>
                    <a:lnT w="38100" cmpd="sng">
                      <a:noFill/>
                    </a:lnT>
                    <a:lnB w="38100" cap="flat" cmpd="sng" algn="ctr">
                      <a:noFill/>
                      <a:prstDash val="solid"/>
                    </a:lnB>
                    <a:solidFill>
                      <a:schemeClr val="accent2">
                        <a:lumMod val="40000"/>
                        <a:lumOff val="60000"/>
                        <a:alpha val="30196"/>
                      </a:schemeClr>
                    </a:solidFill>
                  </a:tcPr>
                </a:tc>
                <a:tc>
                  <a:txBody>
                    <a:bodyPr/>
                    <a:lstStyle/>
                    <a:p>
                      <a:pPr marL="342900" lvl="0" indent="-342900">
                        <a:buFont typeface="Symbol" pitchFamily="2" charset="2"/>
                        <a:buChar char=""/>
                        <a:tabLst>
                          <a:tab pos="726440" algn="l"/>
                        </a:tabLst>
                      </a:pPr>
                      <a:r>
                        <a:rPr lang="en-GB" sz="1300" cap="none" spc="0" dirty="0">
                          <a:solidFill>
                            <a:schemeClr val="tx1"/>
                          </a:solidFill>
                          <a:effectLst/>
                        </a:rPr>
                        <a:t>Screening and assessment of patients.</a:t>
                      </a:r>
                      <a:endParaRPr lang="en-ZA" sz="1300" cap="none" spc="0" dirty="0">
                        <a:solidFill>
                          <a:schemeClr val="tx1"/>
                        </a:solidFill>
                        <a:effectLst/>
                      </a:endParaRPr>
                    </a:p>
                    <a:p>
                      <a:pPr marL="342900" lvl="0" indent="-342900">
                        <a:buFont typeface="Symbol" pitchFamily="2" charset="2"/>
                        <a:buChar char=""/>
                        <a:tabLst>
                          <a:tab pos="726440" algn="l"/>
                        </a:tabLst>
                      </a:pPr>
                      <a:r>
                        <a:rPr lang="en-GB" sz="1300" cap="none" spc="0" dirty="0">
                          <a:solidFill>
                            <a:schemeClr val="tx1"/>
                          </a:solidFill>
                          <a:effectLst/>
                        </a:rPr>
                        <a:t>Assis I diagnosis of mental disorders.</a:t>
                      </a:r>
                      <a:endParaRPr lang="en-ZA" sz="1300" cap="none" spc="0" dirty="0">
                        <a:solidFill>
                          <a:schemeClr val="tx1"/>
                        </a:solidFill>
                        <a:effectLst/>
                      </a:endParaRPr>
                    </a:p>
                    <a:p>
                      <a:pPr marL="342900" lvl="0" indent="-342900">
                        <a:buFont typeface="Symbol" pitchFamily="2" charset="2"/>
                        <a:buChar char=""/>
                        <a:tabLst>
                          <a:tab pos="726440" algn="l"/>
                        </a:tabLst>
                      </a:pPr>
                      <a:r>
                        <a:rPr lang="en-GB" sz="1300" cap="none" spc="0" dirty="0">
                          <a:solidFill>
                            <a:schemeClr val="tx1"/>
                          </a:solidFill>
                          <a:effectLst/>
                        </a:rPr>
                        <a:t>Administer psychometric test e.g. IQ tests, behavioural assessments, personality assessments.</a:t>
                      </a:r>
                      <a:endParaRPr lang="en-ZA" sz="1300" cap="none" spc="0" dirty="0">
                        <a:solidFill>
                          <a:schemeClr val="tx1"/>
                        </a:solidFill>
                        <a:effectLst/>
                      </a:endParaRPr>
                    </a:p>
                    <a:p>
                      <a:pPr>
                        <a:buNone/>
                        <a:tabLst>
                          <a:tab pos="726440" algn="l"/>
                        </a:tabLst>
                      </a:pPr>
                      <a:r>
                        <a:rPr lang="en-GB" sz="1300" cap="none" spc="0" dirty="0">
                          <a:solidFill>
                            <a:schemeClr val="tx1"/>
                          </a:solidFill>
                          <a:effectLst/>
                        </a:rPr>
                        <a:t> </a:t>
                      </a:r>
                      <a:endParaRPr lang="en-ZA" sz="1300" cap="none" spc="0" dirty="0">
                        <a:solidFill>
                          <a:schemeClr val="tx1"/>
                        </a:solidFill>
                        <a:effectLst/>
                      </a:endParaRPr>
                    </a:p>
                    <a:p>
                      <a:pPr marL="342900" lvl="0" indent="-342900">
                        <a:buFont typeface="Symbol" pitchFamily="2" charset="2"/>
                        <a:buChar char=""/>
                        <a:tabLst>
                          <a:tab pos="726440" algn="l"/>
                        </a:tabLst>
                      </a:pPr>
                      <a:r>
                        <a:rPr lang="en-GB" sz="1300" cap="none" spc="0" dirty="0">
                          <a:solidFill>
                            <a:schemeClr val="tx1"/>
                          </a:solidFill>
                          <a:effectLst/>
                        </a:rPr>
                        <a:t>Provide the appropriate / most suitable evidence- based therapy for the mental disorder.</a:t>
                      </a:r>
                      <a:endParaRPr lang="en-ZA" sz="1300" cap="none" spc="0" dirty="0">
                        <a:solidFill>
                          <a:schemeClr val="tx1"/>
                        </a:solidFill>
                        <a:effectLst/>
                      </a:endParaRPr>
                    </a:p>
                    <a:p>
                      <a:pPr marL="342900" lvl="0" indent="-342900">
                        <a:buFont typeface="Symbol" pitchFamily="2" charset="2"/>
                        <a:buChar char=""/>
                        <a:tabLst>
                          <a:tab pos="726440" algn="l"/>
                        </a:tabLst>
                      </a:pPr>
                      <a:r>
                        <a:rPr lang="en-GB" sz="1300" cap="none" spc="0" dirty="0">
                          <a:solidFill>
                            <a:schemeClr val="tx1"/>
                          </a:solidFill>
                          <a:effectLst/>
                        </a:rPr>
                        <a:t>Cognitive rehabilitation</a:t>
                      </a:r>
                      <a:endParaRPr lang="en-ZA" sz="1300" cap="none" spc="0" dirty="0">
                        <a:solidFill>
                          <a:schemeClr val="tx1"/>
                        </a:solidFill>
                        <a:effectLst/>
                      </a:endParaRPr>
                    </a:p>
                    <a:p>
                      <a:pPr marL="342900" lvl="0" indent="-342900">
                        <a:buFont typeface="Symbol" pitchFamily="2" charset="2"/>
                        <a:buChar char=""/>
                        <a:tabLst>
                          <a:tab pos="726440" algn="l"/>
                        </a:tabLst>
                      </a:pPr>
                      <a:r>
                        <a:rPr lang="en-GB" sz="1300" cap="none" spc="0" dirty="0">
                          <a:solidFill>
                            <a:schemeClr val="tx1"/>
                          </a:solidFill>
                          <a:effectLst/>
                        </a:rPr>
                        <a:t>Community outreach programmes for mental promotion and mental illness prevention.</a:t>
                      </a:r>
                      <a:endParaRPr lang="en-ZA" sz="1300" cap="none" spc="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109555" marR="24621" marT="84273" marB="84273">
                    <a:lnL w="6350" cap="flat" cmpd="sng" algn="ctr">
                      <a:solidFill>
                        <a:schemeClr val="tx1">
                          <a:lumMod val="75000"/>
                          <a:lumOff val="25000"/>
                        </a:schemeClr>
                      </a:solidFill>
                      <a:prstDash val="solid"/>
                    </a:lnL>
                    <a:lnR w="6350" cap="flat" cmpd="sng" algn="ctr">
                      <a:solidFill>
                        <a:schemeClr val="tx1">
                          <a:lumMod val="75000"/>
                          <a:lumOff val="25000"/>
                        </a:schemeClr>
                      </a:solidFill>
                      <a:prstDash val="solid"/>
                    </a:lnR>
                    <a:lnT w="38100" cmpd="sng">
                      <a:noFill/>
                    </a:lnT>
                    <a:lnB w="38100" cap="flat" cmpd="sng" algn="ctr">
                      <a:noFill/>
                      <a:prstDash val="solid"/>
                    </a:lnB>
                    <a:solidFill>
                      <a:schemeClr val="accent2">
                        <a:lumMod val="40000"/>
                        <a:lumOff val="60000"/>
                        <a:alpha val="30196"/>
                      </a:schemeClr>
                    </a:solidFill>
                  </a:tcPr>
                </a:tc>
                <a:tc>
                  <a:txBody>
                    <a:bodyPr/>
                    <a:lstStyle/>
                    <a:p>
                      <a:pPr marL="342900" lvl="0" indent="-342900">
                        <a:buFont typeface="Symbol" pitchFamily="2" charset="2"/>
                        <a:buChar char=""/>
                        <a:tabLst>
                          <a:tab pos="726440" algn="l"/>
                        </a:tabLst>
                      </a:pPr>
                      <a:r>
                        <a:rPr lang="en-GB" sz="1300" cap="none" spc="0" dirty="0">
                          <a:solidFill>
                            <a:schemeClr val="tx1"/>
                          </a:solidFill>
                          <a:effectLst/>
                        </a:rPr>
                        <a:t>Case manager</a:t>
                      </a:r>
                      <a:endParaRPr lang="en-ZA" sz="1300" cap="none" spc="0" dirty="0">
                        <a:solidFill>
                          <a:schemeClr val="tx1"/>
                        </a:solidFill>
                        <a:effectLst/>
                      </a:endParaRPr>
                    </a:p>
                    <a:p>
                      <a:pPr marL="342900" lvl="0" indent="-342900">
                        <a:buFont typeface="Symbol" pitchFamily="2" charset="2"/>
                        <a:buChar char=""/>
                        <a:tabLst>
                          <a:tab pos="726440" algn="l"/>
                        </a:tabLst>
                      </a:pPr>
                      <a:r>
                        <a:rPr lang="en-GB" sz="1300" cap="none" spc="0" dirty="0">
                          <a:solidFill>
                            <a:schemeClr val="tx1"/>
                          </a:solidFill>
                          <a:effectLst/>
                        </a:rPr>
                        <a:t>Ensuring protection of rights of MHCU and children in accordance with MHCA, CCA,</a:t>
                      </a:r>
                      <a:endParaRPr lang="en-ZA" sz="1300" cap="none" spc="0" dirty="0">
                        <a:solidFill>
                          <a:schemeClr val="tx1"/>
                        </a:solidFill>
                        <a:effectLst/>
                      </a:endParaRPr>
                    </a:p>
                    <a:p>
                      <a:pPr marL="342900" lvl="0" indent="-342900">
                        <a:buFont typeface="Symbol" pitchFamily="2" charset="2"/>
                        <a:buChar char=""/>
                        <a:tabLst>
                          <a:tab pos="726440" algn="l"/>
                        </a:tabLst>
                      </a:pPr>
                      <a:r>
                        <a:rPr lang="en-GB" sz="1300" cap="none" spc="0" dirty="0">
                          <a:solidFill>
                            <a:schemeClr val="tx1"/>
                          </a:solidFill>
                          <a:effectLst/>
                        </a:rPr>
                        <a:t>Assists with reintegrating patient back into community.</a:t>
                      </a:r>
                      <a:endParaRPr lang="en-ZA" sz="1300" cap="none" spc="0" dirty="0">
                        <a:solidFill>
                          <a:schemeClr val="tx1"/>
                        </a:solidFill>
                        <a:effectLst/>
                      </a:endParaRPr>
                    </a:p>
                    <a:p>
                      <a:pPr marL="342900" lvl="0" indent="-342900">
                        <a:buFont typeface="Symbol" pitchFamily="2" charset="2"/>
                        <a:buChar char=""/>
                        <a:tabLst>
                          <a:tab pos="726440" algn="l"/>
                        </a:tabLst>
                      </a:pPr>
                      <a:r>
                        <a:rPr lang="en-GB" sz="1300" cap="none" spc="0" dirty="0">
                          <a:solidFill>
                            <a:schemeClr val="tx1"/>
                          </a:solidFill>
                          <a:effectLst/>
                        </a:rPr>
                        <a:t>Facilitates family and MDT interface liaison.</a:t>
                      </a:r>
                      <a:endParaRPr lang="en-ZA" sz="1300" cap="none" spc="0" dirty="0">
                        <a:solidFill>
                          <a:schemeClr val="tx1"/>
                        </a:solidFill>
                        <a:effectLst/>
                      </a:endParaRPr>
                    </a:p>
                    <a:p>
                      <a:pPr marL="342900" lvl="0" indent="-342900">
                        <a:buFont typeface="Symbol" pitchFamily="2" charset="2"/>
                        <a:buChar char=""/>
                        <a:tabLst>
                          <a:tab pos="726440" algn="l"/>
                        </a:tabLst>
                      </a:pPr>
                      <a:r>
                        <a:rPr lang="en-GB" sz="1300" cap="none" spc="0" dirty="0">
                          <a:solidFill>
                            <a:schemeClr val="tx1"/>
                          </a:solidFill>
                          <a:effectLst/>
                        </a:rPr>
                        <a:t>Facilitates access to social programmes</a:t>
                      </a:r>
                      <a:endParaRPr lang="en-ZA" sz="1300" cap="none" spc="0" dirty="0">
                        <a:solidFill>
                          <a:schemeClr val="tx1"/>
                        </a:solidFill>
                        <a:effectLst/>
                      </a:endParaRPr>
                    </a:p>
                    <a:p>
                      <a:pPr marL="342900" lvl="0" indent="-342900">
                        <a:buFont typeface="Symbol" pitchFamily="2" charset="2"/>
                        <a:buChar char=""/>
                        <a:tabLst>
                          <a:tab pos="726440" algn="l"/>
                        </a:tabLst>
                      </a:pPr>
                      <a:r>
                        <a:rPr lang="en-GB" sz="1300" cap="none" spc="0" dirty="0" err="1">
                          <a:solidFill>
                            <a:schemeClr val="tx1"/>
                          </a:solidFill>
                          <a:effectLst/>
                        </a:rPr>
                        <a:t>i.e</a:t>
                      </a:r>
                      <a:r>
                        <a:rPr lang="en-GB" sz="1300" cap="none" spc="0" dirty="0">
                          <a:solidFill>
                            <a:schemeClr val="tx1"/>
                          </a:solidFill>
                          <a:effectLst/>
                        </a:rPr>
                        <a:t> substance rehab,  community programmes, home visits to ensure adherence, SASSA grant applications, food parcel programmes.</a:t>
                      </a:r>
                      <a:endParaRPr lang="en-ZA" sz="1300" cap="none" spc="0" dirty="0">
                        <a:solidFill>
                          <a:schemeClr val="tx1"/>
                        </a:solidFill>
                        <a:effectLst/>
                      </a:endParaRPr>
                    </a:p>
                    <a:p>
                      <a:pPr marL="342900" lvl="0" indent="-342900">
                        <a:buFont typeface="Symbol" pitchFamily="2" charset="2"/>
                        <a:buChar char=""/>
                        <a:tabLst>
                          <a:tab pos="726440" algn="l"/>
                        </a:tabLst>
                      </a:pPr>
                      <a:r>
                        <a:rPr lang="en-GB" sz="1300" cap="none" spc="0" dirty="0">
                          <a:solidFill>
                            <a:schemeClr val="tx1"/>
                          </a:solidFill>
                          <a:effectLst/>
                        </a:rPr>
                        <a:t>Placement in. suitable environments.</a:t>
                      </a:r>
                      <a:endParaRPr lang="en-ZA" sz="1300" cap="none" spc="0" dirty="0">
                        <a:solidFill>
                          <a:schemeClr val="tx1"/>
                        </a:solidFill>
                        <a:effectLst/>
                      </a:endParaRPr>
                    </a:p>
                    <a:p>
                      <a:pPr marL="342900" lvl="0" indent="-342900">
                        <a:buFont typeface="Symbol" pitchFamily="2" charset="2"/>
                        <a:buChar char=""/>
                        <a:tabLst>
                          <a:tab pos="726440" algn="l"/>
                        </a:tabLst>
                      </a:pPr>
                      <a:r>
                        <a:rPr lang="en-GB" sz="1300" cap="none" spc="0" dirty="0">
                          <a:solidFill>
                            <a:schemeClr val="tx1"/>
                          </a:solidFill>
                          <a:effectLst/>
                        </a:rPr>
                        <a:t>Mediation. </a:t>
                      </a:r>
                      <a:endParaRPr lang="en-ZA" sz="1300" cap="none" spc="0" dirty="0">
                        <a:solidFill>
                          <a:schemeClr val="tx1"/>
                        </a:solidFill>
                        <a:effectLst/>
                      </a:endParaRPr>
                    </a:p>
                    <a:p>
                      <a:pPr marL="342900" lvl="0" indent="-342900">
                        <a:buFont typeface="Symbol" pitchFamily="2" charset="2"/>
                        <a:buChar char=""/>
                        <a:tabLst>
                          <a:tab pos="726440" algn="l"/>
                        </a:tabLst>
                      </a:pPr>
                      <a:r>
                        <a:rPr lang="en-GB" sz="1300" cap="none" spc="0" dirty="0">
                          <a:solidFill>
                            <a:schemeClr val="tx1"/>
                          </a:solidFill>
                          <a:effectLst/>
                        </a:rPr>
                        <a:t>Community outreach programmes for mental promotion and mental illness prevention.</a:t>
                      </a:r>
                      <a:endParaRPr lang="en-ZA" sz="1300" cap="none" spc="0" dirty="0">
                        <a:solidFill>
                          <a:schemeClr val="tx1"/>
                        </a:solidFill>
                        <a:effectLst/>
                      </a:endParaRPr>
                    </a:p>
                  </a:txBody>
                  <a:tcPr marL="109555" marR="24621" marT="84273" marB="84273">
                    <a:lnL w="6350" cap="flat" cmpd="sng" algn="ctr">
                      <a:solidFill>
                        <a:schemeClr val="tx1">
                          <a:lumMod val="75000"/>
                          <a:lumOff val="25000"/>
                        </a:schemeClr>
                      </a:solidFill>
                      <a:prstDash val="solid"/>
                    </a:lnL>
                    <a:lnR w="6350" cap="flat" cmpd="sng" algn="ctr">
                      <a:solidFill>
                        <a:schemeClr val="tx1">
                          <a:lumMod val="75000"/>
                          <a:lumOff val="25000"/>
                        </a:schemeClr>
                      </a:solidFill>
                      <a:prstDash val="solid"/>
                    </a:lnR>
                    <a:lnT w="38100" cmpd="sng">
                      <a:noFill/>
                    </a:lnT>
                    <a:lnB w="38100" cap="flat" cmpd="sng" algn="ctr">
                      <a:noFill/>
                      <a:prstDash val="solid"/>
                    </a:lnB>
                    <a:solidFill>
                      <a:schemeClr val="accent2">
                        <a:lumMod val="40000"/>
                        <a:lumOff val="60000"/>
                        <a:alpha val="30196"/>
                      </a:schemeClr>
                    </a:solidFill>
                  </a:tcPr>
                </a:tc>
                <a:tc>
                  <a:txBody>
                    <a:bodyPr/>
                    <a:lstStyle/>
                    <a:p>
                      <a:pPr marL="342900" lvl="0" indent="-342900">
                        <a:buFont typeface="Symbol" pitchFamily="2" charset="2"/>
                        <a:buChar char=""/>
                        <a:tabLst>
                          <a:tab pos="726440" algn="l"/>
                        </a:tabLst>
                      </a:pPr>
                      <a:r>
                        <a:rPr lang="en-GB" sz="1300" cap="none" spc="0">
                          <a:solidFill>
                            <a:schemeClr val="tx1"/>
                          </a:solidFill>
                          <a:effectLst/>
                        </a:rPr>
                        <a:t>Routine screening and assessments.</a:t>
                      </a:r>
                      <a:endParaRPr lang="en-ZA" sz="1300" cap="none" spc="0">
                        <a:solidFill>
                          <a:schemeClr val="tx1"/>
                        </a:solidFill>
                        <a:effectLst/>
                      </a:endParaRPr>
                    </a:p>
                    <a:p>
                      <a:pPr marL="342900" lvl="0" indent="-342900">
                        <a:buFont typeface="Symbol" pitchFamily="2" charset="2"/>
                        <a:buChar char=""/>
                        <a:tabLst>
                          <a:tab pos="726440" algn="l"/>
                        </a:tabLst>
                      </a:pPr>
                      <a:r>
                        <a:rPr lang="en-GB" sz="1300" cap="none" spc="0">
                          <a:solidFill>
                            <a:schemeClr val="tx1"/>
                          </a:solidFill>
                          <a:effectLst/>
                        </a:rPr>
                        <a:t>Prevention, education, Health promotion and counselling</a:t>
                      </a:r>
                      <a:endParaRPr lang="en-ZA" sz="1300" cap="none" spc="0">
                        <a:solidFill>
                          <a:schemeClr val="tx1"/>
                        </a:solidFill>
                        <a:effectLst/>
                      </a:endParaRPr>
                    </a:p>
                    <a:p>
                      <a:pPr marL="342900" lvl="0" indent="-342900">
                        <a:buFont typeface="Symbol" pitchFamily="2" charset="2"/>
                        <a:buChar char=""/>
                        <a:tabLst>
                          <a:tab pos="726440" algn="l"/>
                        </a:tabLst>
                      </a:pPr>
                      <a:r>
                        <a:rPr lang="en-GB" sz="1300" cap="none" spc="0">
                          <a:solidFill>
                            <a:schemeClr val="tx1"/>
                          </a:solidFill>
                          <a:effectLst/>
                        </a:rPr>
                        <a:t>Functional assessment.</a:t>
                      </a:r>
                      <a:endParaRPr lang="en-ZA" sz="1300" cap="none" spc="0">
                        <a:solidFill>
                          <a:schemeClr val="tx1"/>
                        </a:solidFill>
                        <a:effectLst/>
                      </a:endParaRPr>
                    </a:p>
                    <a:p>
                      <a:pPr marL="342900" lvl="0" indent="-342900">
                        <a:buFont typeface="Symbol" pitchFamily="2" charset="2"/>
                        <a:buChar char=""/>
                        <a:tabLst>
                          <a:tab pos="726440" algn="l"/>
                        </a:tabLst>
                      </a:pPr>
                      <a:r>
                        <a:rPr lang="en-GB" sz="1300" cap="none" spc="0">
                          <a:solidFill>
                            <a:schemeClr val="tx1"/>
                          </a:solidFill>
                          <a:effectLst/>
                        </a:rPr>
                        <a:t>( SASSA grant &amp; Work assessments</a:t>
                      </a:r>
                      <a:endParaRPr lang="en-ZA" sz="1300" cap="none" spc="0">
                        <a:solidFill>
                          <a:schemeClr val="tx1"/>
                        </a:solidFill>
                        <a:effectLst/>
                      </a:endParaRPr>
                    </a:p>
                    <a:p>
                      <a:pPr marL="342900" lvl="0" indent="-342900">
                        <a:buFont typeface="Symbol" pitchFamily="2" charset="2"/>
                        <a:buChar char=""/>
                        <a:tabLst>
                          <a:tab pos="726440" algn="l"/>
                        </a:tabLst>
                      </a:pPr>
                      <a:r>
                        <a:rPr lang="en-GB" sz="1300" cap="none" spc="0">
                          <a:solidFill>
                            <a:schemeClr val="tx1"/>
                          </a:solidFill>
                          <a:effectLst/>
                        </a:rPr>
                        <a:t>Community outreach programmes.</a:t>
                      </a:r>
                      <a:endParaRPr lang="en-ZA" sz="1300" cap="none" spc="0">
                        <a:solidFill>
                          <a:schemeClr val="tx1"/>
                        </a:solidFill>
                        <a:effectLst/>
                      </a:endParaRPr>
                    </a:p>
                    <a:p>
                      <a:pPr marL="342900" lvl="0" indent="-342900">
                        <a:buFont typeface="Symbol" pitchFamily="2" charset="2"/>
                        <a:buChar char=""/>
                        <a:tabLst>
                          <a:tab pos="726440" algn="l"/>
                        </a:tabLst>
                      </a:pPr>
                      <a:r>
                        <a:rPr lang="en-GB" sz="1300" cap="none" spc="0">
                          <a:solidFill>
                            <a:schemeClr val="tx1"/>
                          </a:solidFill>
                          <a:effectLst/>
                        </a:rPr>
                        <a:t>Vocational rehab programmes</a:t>
                      </a:r>
                      <a:endParaRPr lang="en-ZA" sz="1300" cap="none" spc="0">
                        <a:solidFill>
                          <a:schemeClr val="tx1"/>
                        </a:solidFill>
                        <a:effectLst/>
                      </a:endParaRPr>
                    </a:p>
                    <a:p>
                      <a:pPr marL="342900" lvl="0" indent="-342900">
                        <a:buFont typeface="Symbol" pitchFamily="2" charset="2"/>
                        <a:buChar char=""/>
                        <a:tabLst>
                          <a:tab pos="726440" algn="l"/>
                        </a:tabLst>
                      </a:pPr>
                      <a:r>
                        <a:rPr lang="en-GB" sz="1300" cap="none" spc="0">
                          <a:solidFill>
                            <a:schemeClr val="tx1"/>
                          </a:solidFill>
                          <a:effectLst/>
                        </a:rPr>
                        <a:t>Learnership placements.</a:t>
                      </a:r>
                      <a:endParaRPr lang="en-ZA" sz="1300" cap="none" spc="0">
                        <a:solidFill>
                          <a:schemeClr val="tx1"/>
                        </a:solidFill>
                        <a:effectLst/>
                      </a:endParaRPr>
                    </a:p>
                    <a:p>
                      <a:pPr marL="342900" lvl="0" indent="-342900">
                        <a:buFont typeface="Symbol" pitchFamily="2" charset="2"/>
                        <a:buChar char=""/>
                        <a:tabLst>
                          <a:tab pos="726440" algn="l"/>
                        </a:tabLst>
                      </a:pPr>
                      <a:r>
                        <a:rPr lang="en-GB" sz="1300" cap="none" spc="0">
                          <a:solidFill>
                            <a:schemeClr val="tx1"/>
                          </a:solidFill>
                          <a:effectLst/>
                        </a:rPr>
                        <a:t>Learning disability assessment</a:t>
                      </a:r>
                      <a:endParaRPr lang="en-ZA" sz="1300" cap="none" spc="0">
                        <a:solidFill>
                          <a:schemeClr val="tx1"/>
                        </a:solidFill>
                        <a:effectLst/>
                      </a:endParaRPr>
                    </a:p>
                    <a:p>
                      <a:pPr marL="342900" lvl="0" indent="-342900">
                        <a:buFont typeface="Symbol" pitchFamily="2" charset="2"/>
                        <a:buChar char=""/>
                        <a:tabLst>
                          <a:tab pos="726440" algn="l"/>
                        </a:tabLst>
                      </a:pPr>
                      <a:r>
                        <a:rPr lang="en-GB" sz="1300" cap="none" spc="0">
                          <a:solidFill>
                            <a:schemeClr val="tx1"/>
                          </a:solidFill>
                          <a:effectLst/>
                        </a:rPr>
                        <a:t>Activities of daily living (ADLs, use of leisure time retraining</a:t>
                      </a:r>
                      <a:endParaRPr lang="en-ZA" sz="1300" cap="none" spc="0">
                        <a:solidFill>
                          <a:schemeClr val="tx1"/>
                        </a:solidFill>
                        <a:effectLst/>
                      </a:endParaRPr>
                    </a:p>
                    <a:p>
                      <a:pPr marL="342900" lvl="0" indent="-342900">
                        <a:buFont typeface="Symbol" pitchFamily="2" charset="2"/>
                        <a:buChar char=""/>
                        <a:tabLst>
                          <a:tab pos="726440" algn="l"/>
                        </a:tabLst>
                      </a:pPr>
                      <a:r>
                        <a:rPr lang="en-GB" sz="1300" cap="none" spc="0">
                          <a:solidFill>
                            <a:schemeClr val="tx1"/>
                          </a:solidFill>
                          <a:effectLst/>
                        </a:rPr>
                        <a:t>Personal stress management</a:t>
                      </a:r>
                      <a:endParaRPr lang="en-ZA" sz="1300" cap="none" spc="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109555" marR="24621" marT="84273" marB="84273">
                    <a:lnL w="6350" cap="flat" cmpd="sng" algn="ctr">
                      <a:solidFill>
                        <a:schemeClr val="tx1">
                          <a:lumMod val="75000"/>
                          <a:lumOff val="25000"/>
                        </a:schemeClr>
                      </a:solidFill>
                      <a:prstDash val="solid"/>
                    </a:lnL>
                    <a:lnR w="6350" cap="flat" cmpd="sng" algn="ctr">
                      <a:solidFill>
                        <a:schemeClr val="tx1">
                          <a:lumMod val="75000"/>
                          <a:lumOff val="25000"/>
                        </a:schemeClr>
                      </a:solidFill>
                      <a:prstDash val="solid"/>
                    </a:lnR>
                    <a:lnT w="38100" cmpd="sng">
                      <a:noFill/>
                    </a:lnT>
                    <a:lnB w="38100" cap="flat" cmpd="sng" algn="ctr">
                      <a:noFill/>
                      <a:prstDash val="solid"/>
                    </a:lnB>
                    <a:solidFill>
                      <a:schemeClr val="accent2">
                        <a:lumMod val="40000"/>
                        <a:lumOff val="60000"/>
                        <a:alpha val="30196"/>
                      </a:schemeClr>
                    </a:solidFill>
                  </a:tcPr>
                </a:tc>
                <a:tc>
                  <a:txBody>
                    <a:bodyPr/>
                    <a:lstStyle/>
                    <a:p>
                      <a:pPr marL="342900" lvl="0" indent="-342900">
                        <a:buFont typeface="Symbol" pitchFamily="2" charset="2"/>
                        <a:buChar char=""/>
                        <a:tabLst>
                          <a:tab pos="726440" algn="l"/>
                        </a:tabLst>
                      </a:pPr>
                      <a:r>
                        <a:rPr lang="en-GB" sz="1300" cap="none" spc="0" dirty="0">
                          <a:solidFill>
                            <a:schemeClr val="tx1"/>
                          </a:solidFill>
                          <a:effectLst/>
                        </a:rPr>
                        <a:t>Monitor progress.</a:t>
                      </a:r>
                      <a:endParaRPr lang="en-ZA" sz="1300" cap="none" spc="0" dirty="0">
                        <a:solidFill>
                          <a:schemeClr val="tx1"/>
                        </a:solidFill>
                        <a:effectLst/>
                      </a:endParaRPr>
                    </a:p>
                    <a:p>
                      <a:pPr marL="342900" lvl="0" indent="-342900">
                        <a:buFont typeface="Symbol" pitchFamily="2" charset="2"/>
                        <a:buChar char=""/>
                        <a:tabLst>
                          <a:tab pos="726440" algn="l"/>
                        </a:tabLst>
                      </a:pPr>
                      <a:r>
                        <a:rPr lang="en-GB" sz="1300" cap="none" spc="0" dirty="0">
                          <a:solidFill>
                            <a:schemeClr val="tx1"/>
                          </a:solidFill>
                          <a:effectLst/>
                        </a:rPr>
                        <a:t>Ensure that care and treatment are delivered daily.</a:t>
                      </a:r>
                      <a:endParaRPr lang="en-ZA" sz="1300" cap="none" spc="0" dirty="0">
                        <a:solidFill>
                          <a:schemeClr val="tx1"/>
                        </a:solidFill>
                        <a:effectLst/>
                      </a:endParaRPr>
                    </a:p>
                    <a:p>
                      <a:pPr marL="342900" lvl="0" indent="-342900">
                        <a:buFont typeface="Symbol" pitchFamily="2" charset="2"/>
                        <a:buChar char=""/>
                        <a:tabLst>
                          <a:tab pos="726440" algn="l"/>
                        </a:tabLst>
                      </a:pPr>
                      <a:r>
                        <a:rPr lang="en-GB" sz="1300" cap="none" spc="0" dirty="0">
                          <a:solidFill>
                            <a:schemeClr val="tx1"/>
                          </a:solidFill>
                          <a:effectLst/>
                        </a:rPr>
                        <a:t>Facilitating the care plan</a:t>
                      </a:r>
                      <a:endParaRPr lang="en-ZA" sz="1300" cap="none" spc="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109555" marR="24621" marT="84273" marB="84273">
                    <a:lnL w="6350" cap="flat" cmpd="sng" algn="ctr">
                      <a:solidFill>
                        <a:schemeClr val="tx1">
                          <a:lumMod val="75000"/>
                          <a:lumOff val="25000"/>
                        </a:schemeClr>
                      </a:solidFill>
                      <a:prstDash val="solid"/>
                    </a:lnL>
                    <a:lnR w="6350" cap="flat" cmpd="sng" algn="ctr">
                      <a:solidFill>
                        <a:schemeClr val="tx1">
                          <a:lumMod val="75000"/>
                          <a:lumOff val="25000"/>
                        </a:schemeClr>
                      </a:solidFill>
                      <a:prstDash val="solid"/>
                      <a:round/>
                      <a:headEnd type="none" w="med" len="med"/>
                      <a:tailEnd type="none" w="med" len="med"/>
                    </a:lnR>
                    <a:lnT w="38100" cmpd="sng">
                      <a:noFill/>
                    </a:lnT>
                    <a:lnB w="38100" cap="flat" cmpd="sng" algn="ctr">
                      <a:noFill/>
                      <a:prstDash val="solid"/>
                    </a:lnB>
                    <a:solidFill>
                      <a:schemeClr val="accent2">
                        <a:lumMod val="40000"/>
                        <a:lumOff val="60000"/>
                        <a:alpha val="30196"/>
                      </a:schemeClr>
                    </a:solidFill>
                  </a:tcPr>
                </a:tc>
                <a:tc>
                  <a:txBody>
                    <a:bodyPr/>
                    <a:lstStyle/>
                    <a:p>
                      <a:pPr marL="342900" lvl="0" indent="-342900">
                        <a:buFont typeface="Symbol" pitchFamily="2" charset="2"/>
                        <a:buChar char=""/>
                        <a:tabLst>
                          <a:tab pos="726440" algn="l"/>
                        </a:tabLst>
                      </a:pPr>
                      <a:r>
                        <a:rPr lang="en-ZA" sz="1300" cap="none" spc="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Obstetricians&amp; Gynae</a:t>
                      </a:r>
                    </a:p>
                    <a:p>
                      <a:pPr marL="342900" lvl="0" indent="-342900">
                        <a:buFont typeface="Symbol" pitchFamily="2" charset="2"/>
                        <a:buChar char=""/>
                        <a:tabLst>
                          <a:tab pos="726440" algn="l"/>
                        </a:tabLst>
                      </a:pPr>
                      <a:r>
                        <a:rPr lang="en-ZA" sz="1300" cap="none" spc="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Paediatrician</a:t>
                      </a:r>
                    </a:p>
                    <a:p>
                      <a:pPr marL="342900" lvl="0" indent="-342900">
                        <a:buFont typeface="Symbol" pitchFamily="2" charset="2"/>
                        <a:buChar char=""/>
                        <a:tabLst>
                          <a:tab pos="726440" algn="l"/>
                        </a:tabLst>
                      </a:pPr>
                      <a:r>
                        <a:rPr lang="en-ZA" sz="1300" cap="none" spc="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Family Medicine</a:t>
                      </a:r>
                    </a:p>
                    <a:p>
                      <a:pPr marL="342900" lvl="0" indent="-342900">
                        <a:buFont typeface="Symbol" pitchFamily="2" charset="2"/>
                        <a:buChar char=""/>
                        <a:tabLst>
                          <a:tab pos="726440" algn="l"/>
                        </a:tabLst>
                      </a:pPr>
                      <a:r>
                        <a:rPr lang="en-ZA" sz="1300" cap="none" spc="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Internal medicine</a:t>
                      </a:r>
                    </a:p>
                  </a:txBody>
                  <a:tcPr marL="109555" marR="24621" marT="84273" marB="84273">
                    <a:lnL w="6350" cap="flat" cmpd="sng" algn="ctr">
                      <a:solidFill>
                        <a:schemeClr val="tx1">
                          <a:lumMod val="75000"/>
                          <a:lumOff val="25000"/>
                        </a:schemeClr>
                      </a:solidFill>
                      <a:prstDash val="solid"/>
                    </a:lnL>
                    <a:lnR w="38100" cap="flat" cmpd="sng" algn="ctr">
                      <a:noFill/>
                      <a:prstDash val="solid"/>
                    </a:lnR>
                    <a:lnT w="38100" cmpd="sng">
                      <a:noFill/>
                    </a:lnT>
                    <a:lnB w="38100" cap="flat" cmpd="sng" algn="ctr">
                      <a:noFill/>
                      <a:prstDash val="solid"/>
                    </a:lnB>
                    <a:solidFill>
                      <a:schemeClr val="accent2">
                        <a:lumMod val="40000"/>
                        <a:lumOff val="60000"/>
                        <a:alpha val="30196"/>
                      </a:schemeClr>
                    </a:solidFill>
                  </a:tcPr>
                </a:tc>
                <a:extLst>
                  <a:ext uri="{0D108BD9-81ED-4DB2-BD59-A6C34878D82A}">
                    <a16:rowId xmlns:a16="http://schemas.microsoft.com/office/drawing/2014/main" val="969536005"/>
                  </a:ext>
                </a:extLst>
              </a:tr>
            </a:tbl>
          </a:graphicData>
        </a:graphic>
      </p:graphicFrame>
    </p:spTree>
    <p:extLst>
      <p:ext uri="{BB962C8B-B14F-4D97-AF65-F5344CB8AC3E}">
        <p14:creationId xmlns:p14="http://schemas.microsoft.com/office/powerpoint/2010/main" val="33953478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228552E-C8B1-4A80-8448-0787CE0FC7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Digital art of brain">
            <a:extLst>
              <a:ext uri="{FF2B5EF4-FFF2-40B4-BE49-F238E27FC236}">
                <a16:creationId xmlns:a16="http://schemas.microsoft.com/office/drawing/2014/main" id="{9EAE0E31-3CD7-1C18-8714-F4AB0CA1F787}"/>
              </a:ext>
            </a:extLst>
          </p:cNvPr>
          <p:cNvPicPr>
            <a:picLocks noChangeAspect="1"/>
          </p:cNvPicPr>
          <p:nvPr/>
        </p:nvPicPr>
        <p:blipFill>
          <a:blip r:embed="rId3">
            <a:alphaModFix amt="35000"/>
          </a:blip>
          <a:srcRect/>
          <a:stretch>
            <a:fill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E1DBBE83-E169-C35B-4F49-E135805C726D}"/>
              </a:ext>
            </a:extLst>
          </p:cNvPr>
          <p:cNvSpPr>
            <a:spLocks noGrp="1"/>
          </p:cNvSpPr>
          <p:nvPr>
            <p:ph type="title"/>
          </p:nvPr>
        </p:nvSpPr>
        <p:spPr>
          <a:xfrm>
            <a:off x="838200" y="365125"/>
            <a:ext cx="10515600" cy="1325563"/>
          </a:xfrm>
        </p:spPr>
        <p:txBody>
          <a:bodyPr>
            <a:normAutofit fontScale="90000"/>
          </a:bodyPr>
          <a:lstStyle/>
          <a:p>
            <a:r>
              <a:rPr lang="en-GB" dirty="0">
                <a:solidFill>
                  <a:srgbClr val="FFFFFF"/>
                </a:solidFill>
                <a:latin typeface="Aptos" panose="020B0004020202020204" pitchFamily="34" charset="0"/>
                <a:ea typeface="Aptos" panose="020B0004020202020204" pitchFamily="34" charset="0"/>
                <a:cs typeface="Times New Roman" panose="02020603050405020304" pitchFamily="18" charset="0"/>
              </a:rPr>
              <a:t> Justice, Crime prevention and security clusters</a:t>
            </a:r>
            <a:br>
              <a:rPr lang="en-ZA" dirty="0">
                <a:solidFill>
                  <a:srgbClr val="FFFFFF"/>
                </a:solidFill>
                <a:latin typeface="Aptos" panose="020B0004020202020204" pitchFamily="34" charset="0"/>
                <a:ea typeface="Aptos" panose="020B0004020202020204" pitchFamily="34" charset="0"/>
                <a:cs typeface="Times New Roman" panose="02020603050405020304" pitchFamily="18" charset="0"/>
              </a:rPr>
            </a:br>
            <a:endParaRPr lang="en-GB" dirty="0">
              <a:solidFill>
                <a:srgbClr val="FFFFFF"/>
              </a:solidFill>
            </a:endParaRPr>
          </a:p>
        </p:txBody>
      </p:sp>
      <p:sp>
        <p:nvSpPr>
          <p:cNvPr id="3" name="Content Placeholder 2">
            <a:extLst>
              <a:ext uri="{FF2B5EF4-FFF2-40B4-BE49-F238E27FC236}">
                <a16:creationId xmlns:a16="http://schemas.microsoft.com/office/drawing/2014/main" id="{71FE05AD-DABF-C198-FD74-07A8F1BD4C0D}"/>
              </a:ext>
            </a:extLst>
          </p:cNvPr>
          <p:cNvSpPr>
            <a:spLocks noGrp="1"/>
          </p:cNvSpPr>
          <p:nvPr>
            <p:ph idx="1"/>
          </p:nvPr>
        </p:nvSpPr>
        <p:spPr>
          <a:xfrm>
            <a:off x="838200" y="1444487"/>
            <a:ext cx="10515600" cy="4732476"/>
          </a:xfrm>
        </p:spPr>
        <p:txBody>
          <a:bodyPr>
            <a:normAutofit/>
          </a:bodyPr>
          <a:lstStyle/>
          <a:p>
            <a:pPr>
              <a:buNone/>
              <a:tabLst>
                <a:tab pos="726440" algn="l"/>
              </a:tabLst>
            </a:pPr>
            <a:r>
              <a:rPr lang="en-GB" sz="2000" b="1" u="none" strike="noStrike" dirty="0">
                <a:solidFill>
                  <a:srgbClr val="FFFFFF"/>
                </a:solidFill>
                <a:effectLst/>
                <a:latin typeface="Aptos" panose="020B0004020202020204" pitchFamily="34" charset="0"/>
                <a:ea typeface="Aptos" panose="020B0004020202020204" pitchFamily="34" charset="0"/>
                <a:cs typeface="Times New Roman" panose="02020603050405020304" pitchFamily="18" charset="0"/>
              </a:rPr>
              <a:t>Criminal procedure Act 51 of 1977</a:t>
            </a:r>
          </a:p>
          <a:p>
            <a:pPr>
              <a:buNone/>
              <a:tabLst>
                <a:tab pos="726440" algn="l"/>
              </a:tabLst>
            </a:pPr>
            <a:r>
              <a:rPr lang="en-GB" sz="2000" b="1" dirty="0">
                <a:solidFill>
                  <a:srgbClr val="FFFFFF"/>
                </a:solidFill>
                <a:latin typeface="Aptos" panose="020B0004020202020204" pitchFamily="34" charset="0"/>
                <a:ea typeface="Aptos" panose="020B0004020202020204" pitchFamily="34" charset="0"/>
                <a:cs typeface="Times New Roman" panose="02020603050405020304" pitchFamily="18" charset="0"/>
              </a:rPr>
              <a:t>Prevention of and Treatment for Substance abuse Act.</a:t>
            </a:r>
          </a:p>
          <a:p>
            <a:pPr>
              <a:buNone/>
              <a:tabLst>
                <a:tab pos="726440" algn="l"/>
              </a:tabLst>
            </a:pPr>
            <a:endParaRPr lang="en-ZA" sz="15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buFont typeface="Symbol" pitchFamily="2" charset="2"/>
              <a:buChar char=""/>
              <a:tabLst>
                <a:tab pos="726440" algn="l"/>
              </a:tabLst>
            </a:pPr>
            <a:r>
              <a:rPr lang="en-GB" sz="15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rPr>
              <a:t>Responding to crime and violence in communities including.</a:t>
            </a:r>
            <a:endParaRPr lang="en-ZA" sz="15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buFont typeface="Symbol" pitchFamily="2" charset="2"/>
              <a:buChar char=""/>
              <a:tabLst>
                <a:tab pos="726440" algn="l"/>
              </a:tabLst>
            </a:pPr>
            <a:r>
              <a:rPr lang="en-GB" sz="15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rPr>
              <a:t>Appropriate handling of GBV and sexual assault cases. </a:t>
            </a:r>
            <a:r>
              <a:rPr lang="en-GB" sz="1500" dirty="0" err="1">
                <a:solidFill>
                  <a:srgbClr val="FFFFFF"/>
                </a:solidFill>
                <a:effectLst/>
                <a:latin typeface="Aptos" panose="020B0004020202020204" pitchFamily="34" charset="0"/>
                <a:ea typeface="Aptos" panose="020B0004020202020204" pitchFamily="34" charset="0"/>
                <a:cs typeface="Times New Roman" panose="02020603050405020304" pitchFamily="18" charset="0"/>
              </a:rPr>
              <a:t>i.e</a:t>
            </a:r>
            <a:r>
              <a:rPr lang="en-GB" sz="15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rPr>
              <a:t> sensitivity and discretion, privacy.</a:t>
            </a:r>
            <a:endParaRPr lang="en-ZA" sz="15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buFont typeface="Symbol" pitchFamily="2" charset="2"/>
              <a:buChar char=""/>
              <a:tabLst>
                <a:tab pos="726440" algn="l"/>
              </a:tabLst>
            </a:pPr>
            <a:r>
              <a:rPr lang="en-GB" sz="15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rPr>
              <a:t>Reduction of backlog for  facilities to conduct 30-day observations for assessment for fitness to stand trial and criminal responsibility.</a:t>
            </a:r>
            <a:endParaRPr lang="en-ZA" sz="15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buFont typeface="Symbol" pitchFamily="2" charset="2"/>
              <a:buChar char=""/>
              <a:tabLst>
                <a:tab pos="726440" algn="l"/>
              </a:tabLst>
            </a:pPr>
            <a:r>
              <a:rPr lang="en-GB" sz="15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rPr>
              <a:t>Diversion programmes for pre-adolescents and adolescents.</a:t>
            </a:r>
          </a:p>
          <a:p>
            <a:pPr marL="342900" lvl="0" indent="-342900">
              <a:buFont typeface="Symbol" pitchFamily="2" charset="2"/>
              <a:buChar char=""/>
              <a:tabLst>
                <a:tab pos="726440" algn="l"/>
              </a:tabLst>
            </a:pPr>
            <a:r>
              <a:rPr lang="en-ZA" sz="15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rPr>
              <a:t>Decisive action on illicit substance use:</a:t>
            </a:r>
          </a:p>
          <a:p>
            <a:pPr marL="800100" lvl="1" indent="-342900">
              <a:buFont typeface="Symbol" pitchFamily="2" charset="2"/>
              <a:buChar char=""/>
              <a:tabLst>
                <a:tab pos="726440" algn="l"/>
              </a:tabLst>
            </a:pPr>
            <a:r>
              <a:rPr lang="en-ZA" sz="14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rPr>
              <a:t>drug dealers.</a:t>
            </a:r>
          </a:p>
          <a:p>
            <a:pPr marL="800100" lvl="1" indent="-342900">
              <a:buFont typeface="Symbol" pitchFamily="2" charset="2"/>
              <a:buChar char=""/>
              <a:tabLst>
                <a:tab pos="726440" algn="l"/>
              </a:tabLst>
            </a:pPr>
            <a:r>
              <a:rPr lang="en-ZA" sz="14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rPr>
              <a:t>drug labs including. </a:t>
            </a:r>
          </a:p>
          <a:p>
            <a:pPr marL="800100" lvl="1" indent="-342900">
              <a:buFont typeface="Symbol" pitchFamily="2" charset="2"/>
              <a:buChar char=""/>
              <a:tabLst>
                <a:tab pos="726440" algn="l"/>
              </a:tabLst>
            </a:pPr>
            <a:r>
              <a:rPr lang="en-ZA" sz="14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rPr>
              <a:t>underage alcohol/illicit substance use.</a:t>
            </a:r>
          </a:p>
          <a:p>
            <a:endParaRPr lang="en-GB" sz="1500" dirty="0">
              <a:solidFill>
                <a:srgbClr val="FFFFFF"/>
              </a:solidFill>
            </a:endParaRPr>
          </a:p>
        </p:txBody>
      </p:sp>
    </p:spTree>
    <p:extLst>
      <p:ext uri="{BB962C8B-B14F-4D97-AF65-F5344CB8AC3E}">
        <p14:creationId xmlns:p14="http://schemas.microsoft.com/office/powerpoint/2010/main" val="601197079"/>
      </p:ext>
    </p:extLst>
  </p:cSld>
  <p:clrMapOvr>
    <a:overrideClrMapping bg1="dk1" tx1="lt1" bg2="dk2" tx2="lt2" accent1="accent1" accent2="accent2" accent3="accent3" accent4="accent4" accent5="accent5" accent6="accent6" hlink="hlink" folHlink="folHlink"/>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96CF2A2B-0745-440C-9224-C5C6A0A428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Rectangle 16">
            <a:extLst>
              <a:ext uri="{FF2B5EF4-FFF2-40B4-BE49-F238E27FC236}">
                <a16:creationId xmlns:a16="http://schemas.microsoft.com/office/drawing/2014/main" id="{75BE6D6B-84C9-4D2B-97EB-773B7369EF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pic>
        <p:nvPicPr>
          <p:cNvPr id="4" name="Picture 3" descr="Digital art of brain">
            <a:extLst>
              <a:ext uri="{FF2B5EF4-FFF2-40B4-BE49-F238E27FC236}">
                <a16:creationId xmlns:a16="http://schemas.microsoft.com/office/drawing/2014/main" id="{D346C279-D9BA-979C-6FCA-BA20DC97F435}"/>
              </a:ext>
            </a:extLst>
          </p:cNvPr>
          <p:cNvPicPr>
            <a:picLocks noChangeAspect="1"/>
          </p:cNvPicPr>
          <p:nvPr/>
        </p:nvPicPr>
        <p:blipFill>
          <a:blip r:embed="rId3">
            <a:alphaModFix amt="60000"/>
          </a:blip>
          <a:srcRect/>
          <a:stretch>
            <a:fillRect/>
          </a:stretch>
        </p:blipFill>
        <p:spPr>
          <a:xfrm>
            <a:off x="-1" y="10"/>
            <a:ext cx="12192001" cy="6857990"/>
          </a:xfrm>
          <a:prstGeom prst="rect">
            <a:avLst/>
          </a:prstGeom>
        </p:spPr>
      </p:pic>
      <p:sp>
        <p:nvSpPr>
          <p:cNvPr id="2" name="Title 1">
            <a:extLst>
              <a:ext uri="{FF2B5EF4-FFF2-40B4-BE49-F238E27FC236}">
                <a16:creationId xmlns:a16="http://schemas.microsoft.com/office/drawing/2014/main" id="{9DBB25C0-8FDC-72F4-B1DB-7941BB445529}"/>
              </a:ext>
            </a:extLst>
          </p:cNvPr>
          <p:cNvSpPr>
            <a:spLocks noGrp="1"/>
          </p:cNvSpPr>
          <p:nvPr>
            <p:ph type="title"/>
          </p:nvPr>
        </p:nvSpPr>
        <p:spPr>
          <a:xfrm>
            <a:off x="1198181" y="728906"/>
            <a:ext cx="9792471" cy="2057037"/>
          </a:xfrm>
        </p:spPr>
        <p:txBody>
          <a:bodyPr>
            <a:normAutofit/>
          </a:bodyPr>
          <a:lstStyle/>
          <a:p>
            <a:r>
              <a:rPr lang="en-GB" b="1" i="1" dirty="0">
                <a:solidFill>
                  <a:srgbClr val="FFFFFF"/>
                </a:solidFill>
              </a:rPr>
              <a:t>Firearms Control act 60 of 2000</a:t>
            </a:r>
            <a:br>
              <a:rPr lang="en-ZA" dirty="0">
                <a:solidFill>
                  <a:srgbClr val="FFFFFF"/>
                </a:solidFill>
              </a:rPr>
            </a:br>
            <a:endParaRPr lang="en-GB" dirty="0">
              <a:solidFill>
                <a:srgbClr val="FFFFFF"/>
              </a:solidFill>
            </a:endParaRPr>
          </a:p>
        </p:txBody>
      </p:sp>
      <p:graphicFrame>
        <p:nvGraphicFramePr>
          <p:cNvPr id="5" name="Content Placeholder 2">
            <a:extLst>
              <a:ext uri="{FF2B5EF4-FFF2-40B4-BE49-F238E27FC236}">
                <a16:creationId xmlns:a16="http://schemas.microsoft.com/office/drawing/2014/main" id="{22C20105-BBB1-C438-4817-687A6509BE40}"/>
              </a:ext>
            </a:extLst>
          </p:cNvPr>
          <p:cNvGraphicFramePr>
            <a:graphicFrameLocks noGrp="1"/>
          </p:cNvGraphicFramePr>
          <p:nvPr>
            <p:ph idx="1"/>
            <p:extLst>
              <p:ext uri="{D42A27DB-BD31-4B8C-83A1-F6EECF244321}">
                <p14:modId xmlns:p14="http://schemas.microsoft.com/office/powerpoint/2010/main" val="104226641"/>
              </p:ext>
            </p:extLst>
          </p:nvPr>
        </p:nvGraphicFramePr>
        <p:xfrm>
          <a:off x="1198181" y="2957665"/>
          <a:ext cx="9792471" cy="317142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5617482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228552E-C8B1-4A80-8448-0787CE0FC7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Digital art of brain">
            <a:extLst>
              <a:ext uri="{FF2B5EF4-FFF2-40B4-BE49-F238E27FC236}">
                <a16:creationId xmlns:a16="http://schemas.microsoft.com/office/drawing/2014/main" id="{BAF4F031-BEA0-3AEA-21D1-101213CC1F00}"/>
              </a:ext>
            </a:extLst>
          </p:cNvPr>
          <p:cNvPicPr>
            <a:picLocks noChangeAspect="1"/>
          </p:cNvPicPr>
          <p:nvPr/>
        </p:nvPicPr>
        <p:blipFill>
          <a:blip r:embed="rId3">
            <a:alphaModFix amt="35000"/>
          </a:blip>
          <a:srcRect/>
          <a:stretch>
            <a:fill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0702B054-C15D-E962-BBA4-34CCB1FC8BEA}"/>
              </a:ext>
            </a:extLst>
          </p:cNvPr>
          <p:cNvSpPr>
            <a:spLocks noGrp="1"/>
          </p:cNvSpPr>
          <p:nvPr>
            <p:ph type="title"/>
          </p:nvPr>
        </p:nvSpPr>
        <p:spPr>
          <a:xfrm>
            <a:off x="662609" y="365125"/>
            <a:ext cx="10691191" cy="1325563"/>
          </a:xfrm>
        </p:spPr>
        <p:txBody>
          <a:bodyPr>
            <a:normAutofit fontScale="90000"/>
          </a:bodyPr>
          <a:lstStyle/>
          <a:p>
            <a:r>
              <a:rPr lang="en-GB" sz="2800" b="1" i="1" dirty="0">
                <a:solidFill>
                  <a:srgbClr val="FFFFFF"/>
                </a:solidFill>
                <a:latin typeface="Aptos" panose="020B0004020202020204" pitchFamily="34" charset="0"/>
                <a:ea typeface="Aptos" panose="020B0004020202020204" pitchFamily="34" charset="0"/>
                <a:cs typeface="Times New Roman" panose="02020603050405020304" pitchFamily="18" charset="0"/>
              </a:rPr>
              <a:t>Labour law( Labour relations Act, Basic Conditions of Employment Act 7</a:t>
            </a:r>
            <a:r>
              <a:rPr lang="en-GB" sz="2800" dirty="0">
                <a:solidFill>
                  <a:srgbClr val="FFFFFF"/>
                </a:solidFill>
                <a:latin typeface="Aptos" panose="020B0004020202020204" pitchFamily="34" charset="0"/>
                <a:ea typeface="Aptos" panose="020B0004020202020204" pitchFamily="34" charset="0"/>
                <a:cs typeface="Times New Roman" panose="02020603050405020304" pitchFamily="18" charset="0"/>
              </a:rPr>
              <a:t>, </a:t>
            </a:r>
            <a:r>
              <a:rPr lang="en-GB" sz="2800" b="1" dirty="0">
                <a:solidFill>
                  <a:srgbClr val="FFFFFF"/>
                </a:solidFill>
                <a:latin typeface="Aptos" panose="020B0004020202020204" pitchFamily="34" charset="0"/>
                <a:ea typeface="Aptos" panose="020B0004020202020204" pitchFamily="34" charset="0"/>
                <a:cs typeface="Times New Roman" panose="02020603050405020304" pitchFamily="18" charset="0"/>
              </a:rPr>
              <a:t>Occupational Health and Safety Act 85 0f 1993. </a:t>
            </a:r>
            <a:br>
              <a:rPr lang="en-ZA" sz="2800" dirty="0">
                <a:solidFill>
                  <a:srgbClr val="FFFFFF"/>
                </a:solidFill>
                <a:latin typeface="Aptos" panose="020B0004020202020204" pitchFamily="34" charset="0"/>
                <a:ea typeface="Aptos" panose="020B0004020202020204" pitchFamily="34" charset="0"/>
                <a:cs typeface="Times New Roman" panose="02020603050405020304" pitchFamily="18" charset="0"/>
              </a:rPr>
            </a:br>
            <a:endParaRPr lang="en-GB" sz="2800" dirty="0">
              <a:solidFill>
                <a:srgbClr val="FFFFFF"/>
              </a:solidFill>
            </a:endParaRPr>
          </a:p>
        </p:txBody>
      </p:sp>
      <p:sp>
        <p:nvSpPr>
          <p:cNvPr id="3" name="Content Placeholder 2">
            <a:extLst>
              <a:ext uri="{FF2B5EF4-FFF2-40B4-BE49-F238E27FC236}">
                <a16:creationId xmlns:a16="http://schemas.microsoft.com/office/drawing/2014/main" id="{BDA611E1-DC1D-2541-A6CD-F4A19EE6175B}"/>
              </a:ext>
            </a:extLst>
          </p:cNvPr>
          <p:cNvSpPr>
            <a:spLocks noGrp="1"/>
          </p:cNvSpPr>
          <p:nvPr>
            <p:ph idx="1"/>
          </p:nvPr>
        </p:nvSpPr>
        <p:spPr>
          <a:xfrm>
            <a:off x="838200" y="1825625"/>
            <a:ext cx="10515600" cy="4351338"/>
          </a:xfrm>
        </p:spPr>
        <p:txBody>
          <a:bodyPr>
            <a:normAutofit/>
          </a:bodyPr>
          <a:lstStyle/>
          <a:p>
            <a:pPr marL="342900" lvl="0" indent="-342900">
              <a:buFont typeface="Symbol" pitchFamily="2" charset="2"/>
              <a:buChar char=""/>
              <a:tabLst>
                <a:tab pos="726440" algn="l"/>
              </a:tabLst>
            </a:pPr>
            <a:r>
              <a:rPr lang="en-GB" sz="20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rPr>
              <a:t>Work environments are major precipitants of stress, burnout, depression and anxiety.</a:t>
            </a:r>
            <a:endParaRPr lang="en-ZA" sz="20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buFont typeface="Symbol" pitchFamily="2" charset="2"/>
              <a:buChar char=""/>
              <a:tabLst>
                <a:tab pos="726440" algn="l"/>
              </a:tabLst>
            </a:pPr>
            <a:r>
              <a:rPr lang="en-GB" sz="20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rPr>
              <a:t>Flexible working hours/ hybrid work models.</a:t>
            </a:r>
          </a:p>
          <a:p>
            <a:pPr marL="342900" lvl="0" indent="-342900">
              <a:buFont typeface="Symbol" pitchFamily="2" charset="2"/>
              <a:buChar char=""/>
              <a:tabLst>
                <a:tab pos="726440" algn="l"/>
              </a:tabLst>
            </a:pPr>
            <a:r>
              <a:rPr lang="en-ZA" sz="20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rPr>
              <a:t>Require employers to address: workplace stress, burnout, bullying &amp; harassment.</a:t>
            </a:r>
          </a:p>
          <a:p>
            <a:pPr marL="342900" lvl="0" indent="-342900">
              <a:buFont typeface="Symbol" pitchFamily="2" charset="2"/>
              <a:buChar char=""/>
              <a:tabLst>
                <a:tab pos="726440" algn="l"/>
              </a:tabLst>
            </a:pPr>
            <a:r>
              <a:rPr lang="en-GB" sz="20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rPr>
              <a:t>Prevention of stress and burnout for high-risk professionals </a:t>
            </a:r>
            <a:r>
              <a:rPr lang="en-GB" sz="2000" dirty="0" err="1">
                <a:solidFill>
                  <a:srgbClr val="FFFFFF"/>
                </a:solidFill>
                <a:effectLst/>
                <a:latin typeface="Aptos" panose="020B0004020202020204" pitchFamily="34" charset="0"/>
                <a:ea typeface="Aptos" panose="020B0004020202020204" pitchFamily="34" charset="0"/>
                <a:cs typeface="Times New Roman" panose="02020603050405020304" pitchFamily="18" charset="0"/>
              </a:rPr>
              <a:t>i.e</a:t>
            </a:r>
            <a:r>
              <a:rPr lang="en-GB" sz="20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rPr>
              <a:t> health care workers, police  officers, social workers.</a:t>
            </a:r>
          </a:p>
          <a:p>
            <a:pPr lvl="1">
              <a:buFont typeface="Wingdings" pitchFamily="2" charset="2"/>
              <a:buChar char="Ø"/>
              <a:tabLst>
                <a:tab pos="726440" algn="l"/>
              </a:tabLst>
            </a:pPr>
            <a:r>
              <a:rPr lang="en-GB" sz="1600" dirty="0">
                <a:solidFill>
                  <a:srgbClr val="FFFFFF"/>
                </a:solidFill>
                <a:latin typeface="Aptos" panose="020B0004020202020204" pitchFamily="34" charset="0"/>
                <a:ea typeface="Aptos" panose="020B0004020202020204" pitchFamily="34" charset="0"/>
                <a:cs typeface="Times New Roman" panose="02020603050405020304" pitchFamily="18" charset="0"/>
              </a:rPr>
              <a:t>Mental health days.</a:t>
            </a:r>
          </a:p>
          <a:p>
            <a:pPr lvl="1">
              <a:buFont typeface="Wingdings" pitchFamily="2" charset="2"/>
              <a:buChar char="Ø"/>
              <a:tabLst>
                <a:tab pos="726440" algn="l"/>
              </a:tabLst>
            </a:pPr>
            <a:r>
              <a:rPr lang="en-GB" sz="1600" dirty="0">
                <a:solidFill>
                  <a:srgbClr val="FFFFFF"/>
                </a:solidFill>
                <a:latin typeface="Aptos" panose="020B0004020202020204" pitchFamily="34" charset="0"/>
                <a:ea typeface="Aptos" panose="020B0004020202020204" pitchFamily="34" charset="0"/>
                <a:cs typeface="Times New Roman" panose="02020603050405020304" pitchFamily="18" charset="0"/>
              </a:rPr>
              <a:t>Subsidised for consultation for psychotherapy.</a:t>
            </a:r>
          </a:p>
          <a:p>
            <a:pPr lvl="1">
              <a:buFont typeface="Wingdings" pitchFamily="2" charset="2"/>
              <a:buChar char="Ø"/>
              <a:tabLst>
                <a:tab pos="726440" algn="l"/>
              </a:tabLst>
            </a:pPr>
            <a:r>
              <a:rPr lang="en-ZA" sz="16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rPr>
              <a:t>Fair compensation.</a:t>
            </a:r>
          </a:p>
          <a:p>
            <a:pPr marL="342900" lvl="0" indent="-342900">
              <a:buFont typeface="Symbol" pitchFamily="2" charset="2"/>
              <a:buChar char=""/>
              <a:tabLst>
                <a:tab pos="726440" algn="l"/>
              </a:tabLst>
            </a:pPr>
            <a:r>
              <a:rPr lang="en-GB" sz="20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rPr>
              <a:t>Employers should be required to provide: employee wellness programmes, confidential counselling services , anonymous work grievance protocols and mental health days.</a:t>
            </a:r>
            <a:endParaRPr lang="en-ZA" sz="20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3825181174"/>
      </p:ext>
    </p:extLst>
  </p:cSld>
  <p:clrMapOvr>
    <a:overrideClrMapping bg1="dk1" tx1="lt1" bg2="dk2" tx2="lt2" accent1="accent1" accent2="accent2" accent3="accent3" accent4="accent4" accent5="accent5" accent6="accent6" hlink="hlink" folHlink="folHlink"/>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228552E-C8B1-4A80-8448-0787CE0FC7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Digital art of brain">
            <a:extLst>
              <a:ext uri="{FF2B5EF4-FFF2-40B4-BE49-F238E27FC236}">
                <a16:creationId xmlns:a16="http://schemas.microsoft.com/office/drawing/2014/main" id="{6B736101-AE4C-D4CA-5345-E4D57E418E89}"/>
              </a:ext>
            </a:extLst>
          </p:cNvPr>
          <p:cNvPicPr>
            <a:picLocks noChangeAspect="1"/>
          </p:cNvPicPr>
          <p:nvPr/>
        </p:nvPicPr>
        <p:blipFill>
          <a:blip r:embed="rId3">
            <a:alphaModFix amt="35000"/>
          </a:blip>
          <a:srcRect/>
          <a:stretch>
            <a:fill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E37C96AA-E39F-2549-9DF1-ACE58873BFC7}"/>
              </a:ext>
            </a:extLst>
          </p:cNvPr>
          <p:cNvSpPr>
            <a:spLocks noGrp="1"/>
          </p:cNvSpPr>
          <p:nvPr>
            <p:ph type="title"/>
          </p:nvPr>
        </p:nvSpPr>
        <p:spPr>
          <a:xfrm>
            <a:off x="838200" y="365125"/>
            <a:ext cx="10515600" cy="1325563"/>
          </a:xfrm>
        </p:spPr>
        <p:txBody>
          <a:bodyPr>
            <a:normAutofit/>
          </a:bodyPr>
          <a:lstStyle/>
          <a:p>
            <a:r>
              <a:rPr lang="en-GB" b="1" i="1" dirty="0">
                <a:solidFill>
                  <a:srgbClr val="FFFFFF"/>
                </a:solidFill>
              </a:rPr>
              <a:t>Child justice act 75 of 2008</a:t>
            </a:r>
            <a:br>
              <a:rPr lang="en-ZA" dirty="0">
                <a:solidFill>
                  <a:srgbClr val="FFFFFF"/>
                </a:solidFill>
              </a:rPr>
            </a:br>
            <a:endParaRPr lang="en-GB" dirty="0">
              <a:solidFill>
                <a:srgbClr val="FFFFFF"/>
              </a:solidFill>
            </a:endParaRPr>
          </a:p>
        </p:txBody>
      </p:sp>
      <p:sp>
        <p:nvSpPr>
          <p:cNvPr id="3" name="Content Placeholder 2">
            <a:extLst>
              <a:ext uri="{FF2B5EF4-FFF2-40B4-BE49-F238E27FC236}">
                <a16:creationId xmlns:a16="http://schemas.microsoft.com/office/drawing/2014/main" id="{52D1831C-DADD-6D85-AB39-6165F49A4332}"/>
              </a:ext>
            </a:extLst>
          </p:cNvPr>
          <p:cNvSpPr>
            <a:spLocks noGrp="1"/>
          </p:cNvSpPr>
          <p:nvPr>
            <p:ph idx="1"/>
          </p:nvPr>
        </p:nvSpPr>
        <p:spPr>
          <a:xfrm>
            <a:off x="622852" y="1351722"/>
            <a:ext cx="10730948" cy="4825241"/>
          </a:xfrm>
        </p:spPr>
        <p:txBody>
          <a:bodyPr>
            <a:normAutofit/>
          </a:bodyPr>
          <a:lstStyle/>
          <a:p>
            <a:pPr>
              <a:tabLst>
                <a:tab pos="726440" algn="l"/>
              </a:tabLst>
            </a:pPr>
            <a:r>
              <a:rPr lang="en-GB" sz="20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rPr>
              <a:t>Identify children exposed to violence, abuse or neglect.</a:t>
            </a:r>
            <a:endParaRPr lang="en-ZA" sz="20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endParaRPr>
          </a:p>
          <a:p>
            <a:pPr>
              <a:tabLst>
                <a:tab pos="726440" algn="l"/>
              </a:tabLst>
            </a:pPr>
            <a:r>
              <a:rPr lang="en-GB" sz="20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rPr>
              <a:t>For those children</a:t>
            </a:r>
            <a:r>
              <a:rPr lang="en-GB" sz="2000" dirty="0">
                <a:solidFill>
                  <a:srgbClr val="FFFFFF"/>
                </a:solidFill>
                <a:latin typeface="Aptos" panose="020B0004020202020204" pitchFamily="34" charset="0"/>
                <a:ea typeface="Aptos" panose="020B0004020202020204" pitchFamily="34" charset="0"/>
                <a:cs typeface="Times New Roman" panose="02020603050405020304" pitchFamily="18" charset="0"/>
              </a:rPr>
              <a:t> to be</a:t>
            </a:r>
            <a:r>
              <a:rPr lang="en-GB" sz="20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rPr>
              <a:t> removed and placed in places of safety.</a:t>
            </a:r>
            <a:endParaRPr lang="en-ZA" sz="20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endParaRPr>
          </a:p>
          <a:p>
            <a:pPr>
              <a:tabLst>
                <a:tab pos="726440" algn="l"/>
              </a:tabLst>
            </a:pPr>
            <a:r>
              <a:rPr lang="en-GB" sz="20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rPr>
              <a:t>Connect those children with psychologists and social workers.</a:t>
            </a:r>
            <a:endParaRPr lang="en-ZA" sz="20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endParaRPr>
          </a:p>
          <a:p>
            <a:pPr>
              <a:tabLst>
                <a:tab pos="726440" algn="l"/>
              </a:tabLst>
            </a:pPr>
            <a:r>
              <a:rPr lang="en-GB" sz="20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rPr>
              <a:t>Offering trauma counselling, school reintegration or , family counselling and placement with known vetted family members or foster families</a:t>
            </a:r>
          </a:p>
          <a:p>
            <a:pPr>
              <a:tabLst>
                <a:tab pos="726440" algn="l"/>
              </a:tabLst>
            </a:pPr>
            <a:r>
              <a:rPr lang="en-GB" sz="20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rPr>
              <a:t> Substance use treatment if necessary.</a:t>
            </a:r>
            <a:endParaRPr lang="en-ZA" sz="20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endParaRPr>
          </a:p>
          <a:p>
            <a:pPr>
              <a:tabLst>
                <a:tab pos="726440" algn="l"/>
              </a:tabLst>
            </a:pPr>
            <a:r>
              <a:rPr lang="en-GB" sz="20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rPr>
              <a:t>Encourages diversion from formal court towards rehabilitation programmes.</a:t>
            </a:r>
            <a:endParaRPr lang="en-ZA" sz="20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endParaRPr>
          </a:p>
          <a:p>
            <a:pPr>
              <a:tabLst>
                <a:tab pos="726440" algn="l"/>
              </a:tabLst>
            </a:pPr>
            <a:r>
              <a:rPr lang="en-GB" sz="20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rPr>
              <a:t>Screening for child offenders: </a:t>
            </a:r>
          </a:p>
          <a:p>
            <a:pPr lvl="1">
              <a:tabLst>
                <a:tab pos="726440" algn="l"/>
              </a:tabLst>
            </a:pPr>
            <a:r>
              <a:rPr lang="en-GB" sz="16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rPr>
              <a:t>as evidence shows that youth offenders are usually exposed to trauma and substance use and commonly have neurodevelopmental disorders associated with behavioural problems.</a:t>
            </a:r>
            <a:endParaRPr lang="en-ZA" sz="16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endParaRPr>
          </a:p>
          <a:p>
            <a:pPr>
              <a:tabLst>
                <a:tab pos="726440" algn="l"/>
              </a:tabLst>
            </a:pPr>
            <a:r>
              <a:rPr lang="en-GB" sz="2000" i="1" dirty="0">
                <a:solidFill>
                  <a:srgbClr val="FFFFFF"/>
                </a:solidFill>
                <a:effectLst/>
                <a:latin typeface="Aptos" panose="020B0004020202020204" pitchFamily="34" charset="0"/>
                <a:ea typeface="Aptos" panose="020B0004020202020204" pitchFamily="34" charset="0"/>
                <a:cs typeface="Times New Roman" panose="02020603050405020304" pitchFamily="18" charset="0"/>
              </a:rPr>
              <a:t>Thereby preventing progression of risk factors and childhood behavioural problems </a:t>
            </a:r>
            <a:r>
              <a:rPr lang="en-GB" sz="2000" i="1" dirty="0" err="1">
                <a:solidFill>
                  <a:srgbClr val="FFFFFF"/>
                </a:solidFill>
                <a:effectLst/>
                <a:latin typeface="Aptos" panose="020B0004020202020204" pitchFamily="34" charset="0"/>
                <a:ea typeface="Aptos" panose="020B0004020202020204" pitchFamily="34" charset="0"/>
                <a:cs typeface="Times New Roman" panose="02020603050405020304" pitchFamily="18" charset="0"/>
              </a:rPr>
              <a:t>ie</a:t>
            </a:r>
            <a:r>
              <a:rPr lang="en-GB" sz="2000" i="1" dirty="0">
                <a:solidFill>
                  <a:srgbClr val="FFFFFF"/>
                </a:solidFill>
                <a:effectLst/>
                <a:latin typeface="Aptos" panose="020B0004020202020204" pitchFamily="34" charset="0"/>
                <a:ea typeface="Aptos" panose="020B0004020202020204" pitchFamily="34" charset="0"/>
                <a:cs typeface="Times New Roman" panose="02020603050405020304" pitchFamily="18" charset="0"/>
              </a:rPr>
              <a:t>. Conduct disorders into adult criminality, substance use.</a:t>
            </a:r>
            <a:endParaRPr lang="en-ZA" sz="20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endParaRPr>
          </a:p>
          <a:p>
            <a:pPr>
              <a:buNone/>
              <a:tabLst>
                <a:tab pos="726440" algn="l"/>
              </a:tabLst>
            </a:pPr>
            <a:r>
              <a:rPr lang="en-GB" sz="2000" i="1" dirty="0">
                <a:solidFill>
                  <a:srgbClr val="FFFFFF"/>
                </a:solidFill>
                <a:effectLst/>
                <a:latin typeface="Aptos" panose="020B0004020202020204" pitchFamily="34" charset="0"/>
                <a:ea typeface="Aptos" panose="020B0004020202020204" pitchFamily="34" charset="0"/>
                <a:cs typeface="Times New Roman" panose="02020603050405020304" pitchFamily="18" charset="0"/>
              </a:rPr>
              <a:t> </a:t>
            </a:r>
            <a:endParaRPr lang="en-ZA" sz="20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endParaRPr>
          </a:p>
          <a:p>
            <a:endParaRPr lang="en-GB" sz="2000" dirty="0">
              <a:solidFill>
                <a:srgbClr val="FFFFFF"/>
              </a:solidFill>
            </a:endParaRPr>
          </a:p>
        </p:txBody>
      </p:sp>
    </p:spTree>
    <p:extLst>
      <p:ext uri="{BB962C8B-B14F-4D97-AF65-F5344CB8AC3E}">
        <p14:creationId xmlns:p14="http://schemas.microsoft.com/office/powerpoint/2010/main" val="2434196670"/>
      </p:ext>
    </p:extLst>
  </p:cSld>
  <p:clrMapOvr>
    <a:overrideClrMapping bg1="dk1" tx1="lt1" bg2="dk2" tx2="lt2" accent1="accent1" accent2="accent2" accent3="accent3" accent4="accent4" accent5="accent5" accent6="accent6" hlink="hlink" folHlink="folHlink"/>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228552E-C8B1-4A80-8448-0787CE0FC7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Digital art of brain">
            <a:extLst>
              <a:ext uri="{FF2B5EF4-FFF2-40B4-BE49-F238E27FC236}">
                <a16:creationId xmlns:a16="http://schemas.microsoft.com/office/drawing/2014/main" id="{93F50230-9725-471A-9133-5A84D416149C}"/>
              </a:ext>
            </a:extLst>
          </p:cNvPr>
          <p:cNvPicPr>
            <a:picLocks noChangeAspect="1"/>
          </p:cNvPicPr>
          <p:nvPr/>
        </p:nvPicPr>
        <p:blipFill>
          <a:blip r:embed="rId3">
            <a:alphaModFix amt="35000"/>
          </a:blip>
          <a:srcRect/>
          <a:stretch>
            <a:fill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B059775B-0997-920F-7308-E020FB9613AF}"/>
              </a:ext>
            </a:extLst>
          </p:cNvPr>
          <p:cNvSpPr>
            <a:spLocks noGrp="1"/>
          </p:cNvSpPr>
          <p:nvPr>
            <p:ph type="title"/>
          </p:nvPr>
        </p:nvSpPr>
        <p:spPr>
          <a:xfrm>
            <a:off x="838200" y="365125"/>
            <a:ext cx="10515600" cy="1325563"/>
          </a:xfrm>
        </p:spPr>
        <p:txBody>
          <a:bodyPr>
            <a:normAutofit/>
          </a:bodyPr>
          <a:lstStyle/>
          <a:p>
            <a:pPr>
              <a:tabLst>
                <a:tab pos="726440" algn="l"/>
              </a:tabLst>
            </a:pPr>
            <a:r>
              <a:rPr lang="en-GB" b="1" i="1" dirty="0">
                <a:solidFill>
                  <a:srgbClr val="FFFFFF"/>
                </a:solidFill>
                <a:effectLst/>
                <a:latin typeface="Aptos" panose="020B0004020202020204" pitchFamily="34" charset="0"/>
                <a:ea typeface="Aptos" panose="020B0004020202020204" pitchFamily="34" charset="0"/>
                <a:cs typeface="Times New Roman" panose="02020603050405020304" pitchFamily="18" charset="0"/>
              </a:rPr>
              <a:t>Education</a:t>
            </a:r>
            <a:endParaRPr lang="en-GB" dirty="0">
              <a:solidFill>
                <a:srgbClr val="FFFFFF"/>
              </a:solidFill>
            </a:endParaRPr>
          </a:p>
        </p:txBody>
      </p:sp>
      <p:sp>
        <p:nvSpPr>
          <p:cNvPr id="3" name="Content Placeholder 2">
            <a:extLst>
              <a:ext uri="{FF2B5EF4-FFF2-40B4-BE49-F238E27FC236}">
                <a16:creationId xmlns:a16="http://schemas.microsoft.com/office/drawing/2014/main" id="{20A6245F-D87B-FEE3-BC1B-EDA8DDD6F3D3}"/>
              </a:ext>
            </a:extLst>
          </p:cNvPr>
          <p:cNvSpPr>
            <a:spLocks noGrp="1"/>
          </p:cNvSpPr>
          <p:nvPr>
            <p:ph idx="1"/>
          </p:nvPr>
        </p:nvSpPr>
        <p:spPr>
          <a:xfrm>
            <a:off x="596348" y="1825625"/>
            <a:ext cx="10757452" cy="4351338"/>
          </a:xfrm>
        </p:spPr>
        <p:txBody>
          <a:bodyPr>
            <a:normAutofit/>
          </a:bodyPr>
          <a:lstStyle/>
          <a:p>
            <a:pPr>
              <a:buNone/>
              <a:tabLst>
                <a:tab pos="726440" algn="l"/>
              </a:tabLst>
            </a:pPr>
            <a:r>
              <a:rPr lang="en-GB" sz="2600" b="1" dirty="0">
                <a:solidFill>
                  <a:srgbClr val="FFFFFF"/>
                </a:solidFill>
                <a:effectLst/>
                <a:latin typeface="Aptos" panose="020B0004020202020204" pitchFamily="34" charset="0"/>
                <a:ea typeface="Aptos" panose="020B0004020202020204" pitchFamily="34" charset="0"/>
                <a:cs typeface="Times New Roman" panose="02020603050405020304" pitchFamily="18" charset="0"/>
              </a:rPr>
              <a:t>South African schools Act of 84 of 1996</a:t>
            </a:r>
            <a:br>
              <a:rPr lang="en-GB" sz="2600" b="1" dirty="0">
                <a:solidFill>
                  <a:srgbClr val="FFFFFF"/>
                </a:solidFill>
                <a:effectLst/>
                <a:latin typeface="Aptos" panose="020B0004020202020204" pitchFamily="34" charset="0"/>
                <a:ea typeface="Aptos" panose="020B0004020202020204" pitchFamily="34" charset="0"/>
                <a:cs typeface="Times New Roman" panose="02020603050405020304" pitchFamily="18" charset="0"/>
              </a:rPr>
            </a:br>
            <a:endParaRPr lang="en-GB" sz="2600" b="1" dirty="0">
              <a:solidFill>
                <a:srgbClr val="FFFFFF"/>
              </a:solidFill>
              <a:effectLst/>
              <a:latin typeface="Aptos" panose="020B0004020202020204" pitchFamily="34" charset="0"/>
              <a:ea typeface="Aptos" panose="020B0004020202020204" pitchFamily="34" charset="0"/>
              <a:cs typeface="Times New Roman" panose="02020603050405020304" pitchFamily="18" charset="0"/>
            </a:endParaRPr>
          </a:p>
          <a:p>
            <a:pPr>
              <a:buNone/>
              <a:tabLst>
                <a:tab pos="726440" algn="l"/>
              </a:tabLst>
            </a:pPr>
            <a:r>
              <a:rPr lang="en-GB" sz="26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rPr>
              <a:t>   The department of basic education has a Screening, Identification, assessment and Support policy (SIAS) which has been designed to assist with identification of learner who may have learning problems.  This is a multilevel referral pathway that  If implemented correctly, can assist with mental health promotion, early identification of mental illness, encourage collaboration with parents and prevention of long-term negative prognosis and support inclusive education:</a:t>
            </a:r>
            <a:endParaRPr lang="en-ZA" sz="26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endParaRPr>
          </a:p>
          <a:p>
            <a:endParaRPr lang="en-GB" sz="2600" dirty="0">
              <a:solidFill>
                <a:srgbClr val="FFFFFF"/>
              </a:solidFill>
            </a:endParaRPr>
          </a:p>
        </p:txBody>
      </p:sp>
    </p:spTree>
    <p:extLst>
      <p:ext uri="{BB962C8B-B14F-4D97-AF65-F5344CB8AC3E}">
        <p14:creationId xmlns:p14="http://schemas.microsoft.com/office/powerpoint/2010/main" val="3374561193"/>
      </p:ext>
    </p:extLst>
  </p:cSld>
  <p:clrMapOvr>
    <a:overrideClrMapping bg1="dk1" tx1="lt1" bg2="dk2" tx2="lt2" accent1="accent1" accent2="accent2" accent3="accent3" accent4="accent4" accent5="accent5" accent6="accent6" hlink="hlink" folHlink="folHlink"/>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228552E-C8B1-4A80-8448-0787CE0FC7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Digital art of brain">
            <a:extLst>
              <a:ext uri="{FF2B5EF4-FFF2-40B4-BE49-F238E27FC236}">
                <a16:creationId xmlns:a16="http://schemas.microsoft.com/office/drawing/2014/main" id="{EEC7CE42-3C72-26B1-3D85-EFA2A0B0E9C5}"/>
              </a:ext>
            </a:extLst>
          </p:cNvPr>
          <p:cNvPicPr>
            <a:picLocks noChangeAspect="1"/>
          </p:cNvPicPr>
          <p:nvPr/>
        </p:nvPicPr>
        <p:blipFill>
          <a:blip r:embed="rId3">
            <a:alphaModFix amt="35000"/>
          </a:blip>
          <a:srcRect/>
          <a:stretch>
            <a:fill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AB25169B-06F6-C40A-E3F4-247DD5C93567}"/>
              </a:ext>
            </a:extLst>
          </p:cNvPr>
          <p:cNvSpPr>
            <a:spLocks noGrp="1"/>
          </p:cNvSpPr>
          <p:nvPr>
            <p:ph type="title"/>
          </p:nvPr>
        </p:nvSpPr>
        <p:spPr>
          <a:xfrm>
            <a:off x="838200" y="365125"/>
            <a:ext cx="10515600" cy="1325563"/>
          </a:xfrm>
        </p:spPr>
        <p:txBody>
          <a:bodyPr>
            <a:normAutofit/>
          </a:bodyPr>
          <a:lstStyle/>
          <a:p>
            <a:r>
              <a:rPr lang="en-GB" b="1" i="1" dirty="0">
                <a:solidFill>
                  <a:srgbClr val="FFFFFF"/>
                </a:solidFill>
                <a:latin typeface="Aptos" panose="020B0004020202020204" pitchFamily="34" charset="0"/>
                <a:ea typeface="Aptos" panose="020B0004020202020204" pitchFamily="34" charset="0"/>
                <a:cs typeface="Times New Roman" panose="02020603050405020304" pitchFamily="18" charset="0"/>
              </a:rPr>
              <a:t>Education </a:t>
            </a:r>
            <a:endParaRPr lang="en-GB" dirty="0">
              <a:solidFill>
                <a:srgbClr val="FFFFFF"/>
              </a:solidFill>
            </a:endParaRPr>
          </a:p>
        </p:txBody>
      </p:sp>
      <p:sp>
        <p:nvSpPr>
          <p:cNvPr id="3" name="Content Placeholder 2">
            <a:extLst>
              <a:ext uri="{FF2B5EF4-FFF2-40B4-BE49-F238E27FC236}">
                <a16:creationId xmlns:a16="http://schemas.microsoft.com/office/drawing/2014/main" id="{016B4646-F6F6-8A9A-3D27-1DC5684F751B}"/>
              </a:ext>
            </a:extLst>
          </p:cNvPr>
          <p:cNvSpPr>
            <a:spLocks noGrp="1"/>
          </p:cNvSpPr>
          <p:nvPr>
            <p:ph idx="1"/>
          </p:nvPr>
        </p:nvSpPr>
        <p:spPr>
          <a:xfrm>
            <a:off x="838200" y="1825625"/>
            <a:ext cx="10515600" cy="4351338"/>
          </a:xfrm>
        </p:spPr>
        <p:txBody>
          <a:bodyPr>
            <a:normAutofit/>
          </a:bodyPr>
          <a:lstStyle/>
          <a:p>
            <a:pPr>
              <a:buNone/>
              <a:tabLst>
                <a:tab pos="726440" algn="l"/>
              </a:tabLst>
            </a:pPr>
            <a:r>
              <a:rPr lang="en-GB" sz="15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rPr>
              <a:t>SIAS requires teachers to screen learners who show learning problems and to administer classroom-based interventions.</a:t>
            </a:r>
            <a:endParaRPr lang="en-ZA" sz="15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endParaRPr>
          </a:p>
          <a:p>
            <a:pPr>
              <a:buNone/>
              <a:tabLst>
                <a:tab pos="726440" algn="l"/>
              </a:tabLst>
            </a:pPr>
            <a:r>
              <a:rPr lang="en-GB" sz="15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rPr>
              <a:t>Some of these problems include: </a:t>
            </a:r>
            <a:endParaRPr lang="en-ZA" sz="15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buFont typeface="Symbol" pitchFamily="2" charset="2"/>
              <a:buChar char=""/>
              <a:tabLst>
                <a:tab pos="726440" algn="l"/>
              </a:tabLst>
            </a:pPr>
            <a:r>
              <a:rPr lang="en-GB" sz="15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rPr>
              <a:t>Attention and concentration problems</a:t>
            </a:r>
            <a:endParaRPr lang="en-ZA" sz="15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buFont typeface="Symbol" pitchFamily="2" charset="2"/>
              <a:buChar char=""/>
              <a:tabLst>
                <a:tab pos="726440" algn="l"/>
              </a:tabLst>
            </a:pPr>
            <a:r>
              <a:rPr lang="en-GB" sz="15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rPr>
              <a:t>Learning problems</a:t>
            </a:r>
            <a:endParaRPr lang="en-ZA" sz="15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buFont typeface="Symbol" pitchFamily="2" charset="2"/>
              <a:buChar char=""/>
              <a:tabLst>
                <a:tab pos="726440" algn="l"/>
              </a:tabLst>
            </a:pPr>
            <a:r>
              <a:rPr lang="en-GB" sz="15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rPr>
              <a:t>Behavioural problems</a:t>
            </a:r>
            <a:endParaRPr lang="en-ZA" sz="15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buFont typeface="Symbol" pitchFamily="2" charset="2"/>
              <a:buChar char=""/>
              <a:tabLst>
                <a:tab pos="726440" algn="l"/>
              </a:tabLst>
            </a:pPr>
            <a:r>
              <a:rPr lang="en-GB" sz="15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rPr>
              <a:t>Anxiety or depression</a:t>
            </a:r>
            <a:endParaRPr lang="en-ZA" sz="15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buFont typeface="Symbol" pitchFamily="2" charset="2"/>
              <a:buChar char=""/>
              <a:tabLst>
                <a:tab pos="726440" algn="l"/>
              </a:tabLst>
            </a:pPr>
            <a:r>
              <a:rPr lang="en-GB" sz="15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rPr>
              <a:t>Signs of abuse/ neglect.</a:t>
            </a:r>
            <a:endParaRPr lang="en-ZA" sz="15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buFont typeface="Symbol" pitchFamily="2" charset="2"/>
              <a:buChar char=""/>
              <a:tabLst>
                <a:tab pos="726440" algn="l"/>
              </a:tabLst>
            </a:pPr>
            <a:r>
              <a:rPr lang="en-GB" sz="15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rPr>
              <a:t>Problems due to poverty.</a:t>
            </a:r>
            <a:endParaRPr lang="en-ZA" sz="15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endParaRPr>
          </a:p>
          <a:p>
            <a:pPr>
              <a:buNone/>
              <a:tabLst>
                <a:tab pos="726440" algn="l"/>
              </a:tabLst>
            </a:pPr>
            <a:r>
              <a:rPr lang="en-GB" sz="15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rPr>
              <a:t> </a:t>
            </a:r>
            <a:endParaRPr lang="en-ZA" sz="15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endParaRPr>
          </a:p>
          <a:p>
            <a:pPr>
              <a:buNone/>
              <a:tabLst>
                <a:tab pos="726440" algn="l"/>
              </a:tabLst>
            </a:pPr>
            <a:r>
              <a:rPr lang="en-GB" sz="15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rPr>
              <a:t>In the case of a classroom-based intervention not being efficacious then a teacher can refer learner to the School based support team SBST.   </a:t>
            </a:r>
            <a:endParaRPr lang="en-ZA" sz="15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endParaRPr>
          </a:p>
          <a:p>
            <a:pPr>
              <a:buNone/>
              <a:tabLst>
                <a:tab pos="726440" algn="l"/>
              </a:tabLst>
            </a:pPr>
            <a:r>
              <a:rPr lang="en-GB" sz="15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rPr>
              <a:t>The SBST can develop support plans individualised for the learner.</a:t>
            </a:r>
            <a:endParaRPr lang="en-ZA" sz="15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endParaRPr>
          </a:p>
          <a:p>
            <a:pPr>
              <a:buNone/>
              <a:tabLst>
                <a:tab pos="726440" algn="l"/>
              </a:tabLst>
            </a:pPr>
            <a:r>
              <a:rPr lang="en-GB" sz="15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rPr>
              <a:t>Schools can refer for further psychosocial support if required.</a:t>
            </a:r>
            <a:endParaRPr lang="en-ZA" sz="15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endParaRPr>
          </a:p>
          <a:p>
            <a:endParaRPr lang="en-GB" sz="1500" dirty="0">
              <a:solidFill>
                <a:srgbClr val="FFFFFF"/>
              </a:solidFill>
            </a:endParaRPr>
          </a:p>
        </p:txBody>
      </p:sp>
    </p:spTree>
    <p:extLst>
      <p:ext uri="{BB962C8B-B14F-4D97-AF65-F5344CB8AC3E}">
        <p14:creationId xmlns:p14="http://schemas.microsoft.com/office/powerpoint/2010/main" val="1379821979"/>
      </p:ext>
    </p:extLst>
  </p:cSld>
  <p:clrMapOvr>
    <a:overrideClrMapping bg1="dk1" tx1="lt1" bg2="dk2" tx2="lt2" accent1="accent1" accent2="accent2" accent3="accent3" accent4="accent4" accent5="accent5" accent6="accent6" hlink="hlink" folHlink="folHlink"/>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228552E-C8B1-4A80-8448-0787CE0FC7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Digital art of brain">
            <a:extLst>
              <a:ext uri="{FF2B5EF4-FFF2-40B4-BE49-F238E27FC236}">
                <a16:creationId xmlns:a16="http://schemas.microsoft.com/office/drawing/2014/main" id="{258B8368-D9D1-222E-6891-44B38A854392}"/>
              </a:ext>
            </a:extLst>
          </p:cNvPr>
          <p:cNvPicPr>
            <a:picLocks noChangeAspect="1"/>
          </p:cNvPicPr>
          <p:nvPr/>
        </p:nvPicPr>
        <p:blipFill>
          <a:blip r:embed="rId3">
            <a:alphaModFix amt="35000"/>
          </a:blip>
          <a:srcRect/>
          <a:stretch>
            <a:fill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96F54F42-C3B6-BBF6-AE3A-16B138C5E2BA}"/>
              </a:ext>
            </a:extLst>
          </p:cNvPr>
          <p:cNvSpPr>
            <a:spLocks noGrp="1"/>
          </p:cNvSpPr>
          <p:nvPr>
            <p:ph type="title"/>
          </p:nvPr>
        </p:nvSpPr>
        <p:spPr>
          <a:xfrm>
            <a:off x="838200" y="365125"/>
            <a:ext cx="10515600" cy="1325563"/>
          </a:xfrm>
        </p:spPr>
        <p:txBody>
          <a:bodyPr>
            <a:normAutofit/>
          </a:bodyPr>
          <a:lstStyle/>
          <a:p>
            <a:r>
              <a:rPr lang="en-GB" b="1" i="1" dirty="0">
                <a:solidFill>
                  <a:srgbClr val="FFFFFF"/>
                </a:solidFill>
                <a:latin typeface="Aptos" panose="020B0004020202020204" pitchFamily="34" charset="0"/>
                <a:ea typeface="Aptos" panose="020B0004020202020204" pitchFamily="34" charset="0"/>
                <a:cs typeface="Times New Roman" panose="02020603050405020304" pitchFamily="18" charset="0"/>
              </a:rPr>
              <a:t>Education </a:t>
            </a:r>
            <a:endParaRPr lang="en-GB" dirty="0">
              <a:solidFill>
                <a:srgbClr val="FFFFFF"/>
              </a:solidFill>
            </a:endParaRPr>
          </a:p>
        </p:txBody>
      </p:sp>
      <p:sp>
        <p:nvSpPr>
          <p:cNvPr id="3" name="Content Placeholder 2">
            <a:extLst>
              <a:ext uri="{FF2B5EF4-FFF2-40B4-BE49-F238E27FC236}">
                <a16:creationId xmlns:a16="http://schemas.microsoft.com/office/drawing/2014/main" id="{58D3C224-A608-B707-EC9E-D590AFB822F8}"/>
              </a:ext>
            </a:extLst>
          </p:cNvPr>
          <p:cNvSpPr>
            <a:spLocks noGrp="1"/>
          </p:cNvSpPr>
          <p:nvPr>
            <p:ph idx="1"/>
          </p:nvPr>
        </p:nvSpPr>
        <p:spPr>
          <a:xfrm>
            <a:off x="838200" y="1825625"/>
            <a:ext cx="10515600" cy="4351338"/>
          </a:xfrm>
        </p:spPr>
        <p:txBody>
          <a:bodyPr>
            <a:normAutofit fontScale="92500" lnSpcReduction="20000"/>
          </a:bodyPr>
          <a:lstStyle/>
          <a:p>
            <a:pPr>
              <a:buNone/>
              <a:tabLst>
                <a:tab pos="726440" algn="l"/>
              </a:tabLst>
            </a:pPr>
            <a:r>
              <a:rPr lang="en-GB" sz="13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rPr>
              <a:t>  </a:t>
            </a:r>
            <a:endParaRPr lang="en-ZA" sz="13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endParaRPr>
          </a:p>
          <a:p>
            <a:pPr>
              <a:tabLst>
                <a:tab pos="726440" algn="l"/>
              </a:tabLst>
            </a:pPr>
            <a:r>
              <a:rPr lang="en-GB" sz="1800" dirty="0">
                <a:solidFill>
                  <a:srgbClr val="FFFFFF"/>
                </a:solidFill>
                <a:latin typeface="Aptos" panose="020B0004020202020204" pitchFamily="34" charset="0"/>
                <a:ea typeface="Aptos" panose="020B0004020202020204" pitchFamily="34" charset="0"/>
                <a:cs typeface="Times New Roman" panose="02020603050405020304" pitchFamily="18" charset="0"/>
              </a:rPr>
              <a:t>I</a:t>
            </a:r>
            <a:r>
              <a:rPr lang="en-GB" sz="18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rPr>
              <a:t>f school level interventions are still insufficient then SIAS allows for escalation to District based support teams, which can help connect the struggling learner with educational psychologists.</a:t>
            </a:r>
          </a:p>
          <a:p>
            <a:pPr marL="0" indent="0">
              <a:buNone/>
              <a:tabLst>
                <a:tab pos="726440" algn="l"/>
              </a:tabLst>
            </a:pPr>
            <a:endParaRPr lang="en-ZA" sz="18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endParaRPr>
          </a:p>
          <a:p>
            <a:pPr>
              <a:tabLst>
                <a:tab pos="726440" algn="l"/>
              </a:tabLst>
            </a:pPr>
            <a:r>
              <a:rPr lang="en-GB" sz="18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rPr>
              <a:t>Clinical psychologist, social workers, psychiatric doctor or other mental health workers.</a:t>
            </a:r>
            <a:endParaRPr lang="en-ZA" sz="18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endParaRPr>
          </a:p>
          <a:p>
            <a:pPr marL="0" indent="0">
              <a:buNone/>
              <a:tabLst>
                <a:tab pos="726440" algn="l"/>
              </a:tabLst>
            </a:pPr>
            <a:endParaRPr lang="en-ZA" sz="18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endParaRPr>
          </a:p>
          <a:p>
            <a:pPr>
              <a:tabLst>
                <a:tab pos="726440" algn="l"/>
              </a:tabLst>
            </a:pPr>
            <a:r>
              <a:rPr lang="en-GB" sz="18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rPr>
              <a:t>SIAS also requires family involvement and the collaboration with parents for support planning.   With this collaboration, hopefully there is better awareness and insight of learning or psychological challenges faced by the learner.</a:t>
            </a:r>
          </a:p>
          <a:p>
            <a:pPr>
              <a:tabLst>
                <a:tab pos="726440" algn="l"/>
              </a:tabLst>
            </a:pPr>
            <a:endParaRPr lang="en-ZA" sz="18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endParaRPr>
          </a:p>
          <a:p>
            <a:pPr>
              <a:tabLst>
                <a:tab pos="726440" algn="l"/>
              </a:tabLst>
            </a:pPr>
            <a:r>
              <a:rPr lang="en-GB" sz="18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rPr>
              <a:t>Improved treatment/intervention adherence.</a:t>
            </a:r>
            <a:endParaRPr lang="en-ZA" sz="18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endParaRPr>
          </a:p>
          <a:p>
            <a:pPr marL="0" indent="0">
              <a:buNone/>
              <a:tabLst>
                <a:tab pos="726440" algn="l"/>
              </a:tabLst>
            </a:pPr>
            <a:endParaRPr lang="en-ZA" sz="18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endParaRPr>
          </a:p>
          <a:p>
            <a:pPr>
              <a:tabLst>
                <a:tab pos="726440" algn="l"/>
              </a:tabLst>
            </a:pPr>
            <a:r>
              <a:rPr lang="en-GB" sz="18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rPr>
              <a:t>Data that is collected through SIAs can also be used for mental health planning in schools and communities school counselling, school nurse and psychologist, social worker allocation and the  relevant mental health programmes.</a:t>
            </a:r>
            <a:endParaRPr lang="en-ZA" sz="18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endParaRPr>
          </a:p>
          <a:p>
            <a:pPr>
              <a:buNone/>
              <a:tabLst>
                <a:tab pos="726440" algn="l"/>
              </a:tabLst>
            </a:pPr>
            <a:r>
              <a:rPr lang="en-GB" sz="13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rPr>
              <a:t> </a:t>
            </a:r>
            <a:endParaRPr lang="en-ZA" sz="13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endParaRPr>
          </a:p>
          <a:p>
            <a:endParaRPr lang="en-GB" sz="1300" dirty="0">
              <a:solidFill>
                <a:srgbClr val="FFFFFF"/>
              </a:solidFill>
            </a:endParaRPr>
          </a:p>
        </p:txBody>
      </p:sp>
    </p:spTree>
    <p:extLst>
      <p:ext uri="{BB962C8B-B14F-4D97-AF65-F5344CB8AC3E}">
        <p14:creationId xmlns:p14="http://schemas.microsoft.com/office/powerpoint/2010/main" val="4234260467"/>
      </p:ext>
    </p:extLst>
  </p:cSld>
  <p:clrMapOvr>
    <a:overrideClrMapping bg1="dk1" tx1="lt1" bg2="dk2" tx2="lt2" accent1="accent1" accent2="accent2" accent3="accent3" accent4="accent4" accent5="accent5" accent6="accent6" hlink="hlink" folHlink="folHlink"/>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228552E-C8B1-4A80-8448-0787CE0FC7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Digital art of brain">
            <a:extLst>
              <a:ext uri="{FF2B5EF4-FFF2-40B4-BE49-F238E27FC236}">
                <a16:creationId xmlns:a16="http://schemas.microsoft.com/office/drawing/2014/main" id="{58AA1C54-68B4-7132-FAB5-F076A6CCB926}"/>
              </a:ext>
            </a:extLst>
          </p:cNvPr>
          <p:cNvPicPr>
            <a:picLocks noChangeAspect="1"/>
          </p:cNvPicPr>
          <p:nvPr/>
        </p:nvPicPr>
        <p:blipFill>
          <a:blip r:embed="rId3">
            <a:alphaModFix amt="35000"/>
          </a:blip>
          <a:srcRect/>
          <a:stretch>
            <a:fill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B6F2053B-6FB9-0DB2-230B-5E34E51FC321}"/>
              </a:ext>
            </a:extLst>
          </p:cNvPr>
          <p:cNvSpPr>
            <a:spLocks noGrp="1"/>
          </p:cNvSpPr>
          <p:nvPr>
            <p:ph type="title"/>
          </p:nvPr>
        </p:nvSpPr>
        <p:spPr>
          <a:xfrm>
            <a:off x="838200" y="365125"/>
            <a:ext cx="10515600" cy="1325563"/>
          </a:xfrm>
        </p:spPr>
        <p:txBody>
          <a:bodyPr>
            <a:normAutofit/>
          </a:bodyPr>
          <a:lstStyle/>
          <a:p>
            <a:r>
              <a:rPr lang="en-GB" b="1" i="1" dirty="0">
                <a:solidFill>
                  <a:srgbClr val="FFFFFF"/>
                </a:solidFill>
                <a:latin typeface="Aptos" panose="020B0004020202020204" pitchFamily="34" charset="0"/>
                <a:ea typeface="Aptos" panose="020B0004020202020204" pitchFamily="34" charset="0"/>
                <a:cs typeface="Times New Roman" panose="02020603050405020304" pitchFamily="18" charset="0"/>
              </a:rPr>
              <a:t>Education </a:t>
            </a:r>
            <a:endParaRPr lang="en-GB" dirty="0">
              <a:solidFill>
                <a:srgbClr val="FFFFFF"/>
              </a:solidFill>
            </a:endParaRPr>
          </a:p>
        </p:txBody>
      </p:sp>
      <p:sp>
        <p:nvSpPr>
          <p:cNvPr id="3" name="Content Placeholder 2">
            <a:extLst>
              <a:ext uri="{FF2B5EF4-FFF2-40B4-BE49-F238E27FC236}">
                <a16:creationId xmlns:a16="http://schemas.microsoft.com/office/drawing/2014/main" id="{F0A47D8D-CF9E-C282-A5D3-34135161AA4D}"/>
              </a:ext>
            </a:extLst>
          </p:cNvPr>
          <p:cNvSpPr>
            <a:spLocks noGrp="1"/>
          </p:cNvSpPr>
          <p:nvPr>
            <p:ph idx="1"/>
          </p:nvPr>
        </p:nvSpPr>
        <p:spPr>
          <a:xfrm>
            <a:off x="838200" y="1587062"/>
            <a:ext cx="10515600" cy="4589901"/>
          </a:xfrm>
        </p:spPr>
        <p:txBody>
          <a:bodyPr>
            <a:normAutofit/>
          </a:bodyPr>
          <a:lstStyle/>
          <a:p>
            <a:pPr marL="0" indent="0">
              <a:buNone/>
            </a:pPr>
            <a:r>
              <a:rPr lang="en-GB" sz="1600" b="1" u="sng" dirty="0">
                <a:solidFill>
                  <a:srgbClr val="FFFFFF"/>
                </a:solidFill>
              </a:rPr>
              <a:t>Curriculum and  Assessment Policy (CAPS)</a:t>
            </a:r>
          </a:p>
          <a:p>
            <a:pPr marL="0" indent="0">
              <a:buNone/>
            </a:pPr>
            <a:r>
              <a:rPr lang="en-GB" sz="1300" dirty="0">
                <a:solidFill>
                  <a:srgbClr val="FFFFFF"/>
                </a:solidFill>
              </a:rPr>
              <a:t>School subjects can play a significant role in mental health some of the practical ways that a school subjects can be used include teaching learners: </a:t>
            </a:r>
            <a:endParaRPr lang="en-ZA" sz="1300" dirty="0">
              <a:solidFill>
                <a:srgbClr val="FFFFFF"/>
              </a:solidFill>
            </a:endParaRPr>
          </a:p>
          <a:p>
            <a:pPr lvl="1">
              <a:lnSpc>
                <a:spcPct val="150000"/>
              </a:lnSpc>
            </a:pPr>
            <a:r>
              <a:rPr lang="en-GB" sz="1200" dirty="0">
                <a:solidFill>
                  <a:srgbClr val="FFFFFF"/>
                </a:solidFill>
              </a:rPr>
              <a:t>How to recognize symptoms of anxiety, depression and trauma.</a:t>
            </a:r>
            <a:endParaRPr lang="en-ZA" sz="1200" dirty="0">
              <a:solidFill>
                <a:srgbClr val="FFFFFF"/>
              </a:solidFill>
            </a:endParaRPr>
          </a:p>
          <a:p>
            <a:pPr lvl="1">
              <a:lnSpc>
                <a:spcPct val="150000"/>
              </a:lnSpc>
            </a:pPr>
            <a:r>
              <a:rPr lang="en-GB" sz="1200" dirty="0">
                <a:solidFill>
                  <a:srgbClr val="FFFFFF"/>
                </a:solidFill>
              </a:rPr>
              <a:t>Basic coping and emotional skills ( mood regulations and resilience)</a:t>
            </a:r>
            <a:endParaRPr lang="en-ZA" sz="1200" dirty="0">
              <a:solidFill>
                <a:srgbClr val="FFFFFF"/>
              </a:solidFill>
            </a:endParaRPr>
          </a:p>
          <a:p>
            <a:pPr lvl="1">
              <a:lnSpc>
                <a:spcPct val="150000"/>
              </a:lnSpc>
            </a:pPr>
            <a:r>
              <a:rPr lang="en-GB" sz="1200" dirty="0">
                <a:solidFill>
                  <a:srgbClr val="FFFFFF"/>
                </a:solidFill>
              </a:rPr>
              <a:t>Mindfulness.</a:t>
            </a:r>
            <a:endParaRPr lang="en-ZA" sz="1200" dirty="0">
              <a:solidFill>
                <a:srgbClr val="FFFFFF"/>
              </a:solidFill>
            </a:endParaRPr>
          </a:p>
          <a:p>
            <a:pPr lvl="1">
              <a:lnSpc>
                <a:spcPct val="150000"/>
              </a:lnSpc>
            </a:pPr>
            <a:r>
              <a:rPr lang="en-GB" sz="1200" dirty="0">
                <a:solidFill>
                  <a:srgbClr val="FFFFFF"/>
                </a:solidFill>
              </a:rPr>
              <a:t>Help seeking behaviour i.e. how to go about  going to local clinic to access social services in case of abuse/neglect.</a:t>
            </a:r>
          </a:p>
          <a:p>
            <a:pPr lvl="1">
              <a:lnSpc>
                <a:spcPct val="150000"/>
              </a:lnSpc>
            </a:pPr>
            <a:r>
              <a:rPr lang="en-GB" sz="1200" dirty="0">
                <a:solidFill>
                  <a:srgbClr val="FFFFFF"/>
                </a:solidFill>
              </a:rPr>
              <a:t>Childline.</a:t>
            </a:r>
            <a:endParaRPr lang="en-ZA" sz="1200" dirty="0">
              <a:solidFill>
                <a:srgbClr val="FFFFFF"/>
              </a:solidFill>
            </a:endParaRPr>
          </a:p>
          <a:p>
            <a:pPr lvl="1">
              <a:lnSpc>
                <a:spcPct val="150000"/>
              </a:lnSpc>
            </a:pPr>
            <a:r>
              <a:rPr lang="en-GB" sz="1200" dirty="0">
                <a:solidFill>
                  <a:srgbClr val="FFFFFF"/>
                </a:solidFill>
              </a:rPr>
              <a:t>Information about substance use and mental health</a:t>
            </a:r>
            <a:endParaRPr lang="en-ZA" sz="1200" dirty="0">
              <a:solidFill>
                <a:srgbClr val="FFFFFF"/>
              </a:solidFill>
            </a:endParaRPr>
          </a:p>
          <a:p>
            <a:pPr lvl="1">
              <a:lnSpc>
                <a:spcPct val="150000"/>
              </a:lnSpc>
            </a:pPr>
            <a:r>
              <a:rPr lang="en-GB" sz="1200" dirty="0">
                <a:solidFill>
                  <a:srgbClr val="FFFFFF"/>
                </a:solidFill>
              </a:rPr>
              <a:t>Social  media awareness.</a:t>
            </a:r>
            <a:endParaRPr lang="en-ZA" sz="1200" dirty="0">
              <a:solidFill>
                <a:srgbClr val="FFFFFF"/>
              </a:solidFill>
            </a:endParaRPr>
          </a:p>
          <a:p>
            <a:pPr lvl="1">
              <a:lnSpc>
                <a:spcPct val="150000"/>
              </a:lnSpc>
            </a:pPr>
            <a:r>
              <a:rPr lang="en-GB" sz="1200" dirty="0">
                <a:solidFill>
                  <a:srgbClr val="FFFFFF"/>
                </a:solidFill>
              </a:rPr>
              <a:t>Social determinants of mental health.</a:t>
            </a:r>
            <a:endParaRPr lang="en-ZA" sz="1200" dirty="0">
              <a:solidFill>
                <a:srgbClr val="FFFFFF"/>
              </a:solidFill>
            </a:endParaRPr>
          </a:p>
          <a:p>
            <a:pPr lvl="1">
              <a:lnSpc>
                <a:spcPct val="150000"/>
              </a:lnSpc>
            </a:pPr>
            <a:r>
              <a:rPr lang="en-GB" sz="1200" dirty="0">
                <a:solidFill>
                  <a:srgbClr val="FFFFFF"/>
                </a:solidFill>
              </a:rPr>
              <a:t>Effects of trauma on learning.</a:t>
            </a:r>
            <a:endParaRPr lang="en-ZA" sz="1200" dirty="0">
              <a:solidFill>
                <a:srgbClr val="FFFFFF"/>
              </a:solidFill>
            </a:endParaRPr>
          </a:p>
          <a:p>
            <a:pPr lvl="1">
              <a:lnSpc>
                <a:spcPct val="150000"/>
              </a:lnSpc>
            </a:pPr>
            <a:r>
              <a:rPr lang="en-GB" sz="1200" dirty="0">
                <a:solidFill>
                  <a:srgbClr val="FFFFFF"/>
                </a:solidFill>
              </a:rPr>
              <a:t>Encourage collaborative learning instead of competitiveness.</a:t>
            </a:r>
            <a:endParaRPr lang="en-ZA" sz="1200" dirty="0">
              <a:solidFill>
                <a:srgbClr val="FFFFFF"/>
              </a:solidFill>
            </a:endParaRPr>
          </a:p>
          <a:p>
            <a:pPr lvl="1">
              <a:lnSpc>
                <a:spcPct val="150000"/>
              </a:lnSpc>
            </a:pPr>
            <a:r>
              <a:rPr lang="en-GB" sz="1200" dirty="0">
                <a:solidFill>
                  <a:srgbClr val="FFFFFF"/>
                </a:solidFill>
              </a:rPr>
              <a:t>Address bullying in decisively</a:t>
            </a:r>
            <a:endParaRPr lang="en-ZA" sz="1200" dirty="0">
              <a:solidFill>
                <a:srgbClr val="FFFFFF"/>
              </a:solidFill>
            </a:endParaRPr>
          </a:p>
          <a:p>
            <a:endParaRPr lang="en-GB" sz="1300" dirty="0">
              <a:solidFill>
                <a:srgbClr val="FFFFFF"/>
              </a:solidFill>
            </a:endParaRPr>
          </a:p>
        </p:txBody>
      </p:sp>
    </p:spTree>
    <p:extLst>
      <p:ext uri="{BB962C8B-B14F-4D97-AF65-F5344CB8AC3E}">
        <p14:creationId xmlns:p14="http://schemas.microsoft.com/office/powerpoint/2010/main" val="3370477146"/>
      </p:ext>
    </p:extLst>
  </p:cSld>
  <p:clrMapOvr>
    <a:overrideClrMapping bg1="dk1" tx1="lt1" bg2="dk2" tx2="lt2" accent1="accent1" accent2="accent2" accent3="accent3" accent4="accent4" accent5="accent5" accent6="accent6" hlink="hlink" folHlink="folHlink"/>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228552E-C8B1-4A80-8448-0787CE0FC7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Digital art of brain">
            <a:extLst>
              <a:ext uri="{FF2B5EF4-FFF2-40B4-BE49-F238E27FC236}">
                <a16:creationId xmlns:a16="http://schemas.microsoft.com/office/drawing/2014/main" id="{78603E53-93C2-818B-E83E-111C5D127DF7}"/>
              </a:ext>
            </a:extLst>
          </p:cNvPr>
          <p:cNvPicPr>
            <a:picLocks noChangeAspect="1"/>
          </p:cNvPicPr>
          <p:nvPr/>
        </p:nvPicPr>
        <p:blipFill>
          <a:blip r:embed="rId3">
            <a:alphaModFix amt="35000"/>
          </a:blip>
          <a:srcRect/>
          <a:stretch>
            <a:fill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DEB19398-39D6-A855-C1A2-3341E1F75B83}"/>
              </a:ext>
            </a:extLst>
          </p:cNvPr>
          <p:cNvSpPr>
            <a:spLocks noGrp="1"/>
          </p:cNvSpPr>
          <p:nvPr>
            <p:ph type="title"/>
          </p:nvPr>
        </p:nvSpPr>
        <p:spPr>
          <a:xfrm>
            <a:off x="838200" y="365125"/>
            <a:ext cx="10515600" cy="1325563"/>
          </a:xfrm>
        </p:spPr>
        <p:txBody>
          <a:bodyPr>
            <a:normAutofit/>
          </a:bodyPr>
          <a:lstStyle/>
          <a:p>
            <a:r>
              <a:rPr lang="en-GB" dirty="0">
                <a:solidFill>
                  <a:srgbClr val="FFFFFF"/>
                </a:solidFill>
              </a:rPr>
              <a:t>Media </a:t>
            </a:r>
          </a:p>
        </p:txBody>
      </p:sp>
      <p:sp>
        <p:nvSpPr>
          <p:cNvPr id="3" name="Content Placeholder 2">
            <a:extLst>
              <a:ext uri="{FF2B5EF4-FFF2-40B4-BE49-F238E27FC236}">
                <a16:creationId xmlns:a16="http://schemas.microsoft.com/office/drawing/2014/main" id="{5F6082B3-9759-D48D-1B6D-6DF7FAD0066B}"/>
              </a:ext>
            </a:extLst>
          </p:cNvPr>
          <p:cNvSpPr>
            <a:spLocks noGrp="1"/>
          </p:cNvSpPr>
          <p:nvPr>
            <p:ph idx="1"/>
          </p:nvPr>
        </p:nvSpPr>
        <p:spPr>
          <a:xfrm>
            <a:off x="838200" y="1825625"/>
            <a:ext cx="10515600" cy="4351338"/>
          </a:xfrm>
        </p:spPr>
        <p:txBody>
          <a:bodyPr>
            <a:normAutofit/>
          </a:bodyPr>
          <a:lstStyle/>
          <a:p>
            <a:pPr marL="0" indent="0">
              <a:buNone/>
            </a:pPr>
            <a:r>
              <a:rPr lang="en-GB" sz="2600" dirty="0">
                <a:solidFill>
                  <a:srgbClr val="FFFFFF"/>
                </a:solidFill>
              </a:rPr>
              <a:t>Media influences how mental illness is portrayed through:</a:t>
            </a:r>
          </a:p>
          <a:p>
            <a:pPr lvl="1">
              <a:lnSpc>
                <a:spcPct val="200000"/>
              </a:lnSpc>
            </a:pPr>
            <a:r>
              <a:rPr lang="en-GB" sz="2200" dirty="0">
                <a:solidFill>
                  <a:srgbClr val="FFFFFF"/>
                </a:solidFill>
              </a:rPr>
              <a:t> </a:t>
            </a:r>
            <a:r>
              <a:rPr lang="en-GB" sz="2800" dirty="0">
                <a:solidFill>
                  <a:srgbClr val="FFFFFF"/>
                </a:solidFill>
              </a:rPr>
              <a:t>How information spreads. </a:t>
            </a:r>
          </a:p>
          <a:p>
            <a:pPr lvl="1">
              <a:lnSpc>
                <a:spcPct val="200000"/>
              </a:lnSpc>
            </a:pPr>
            <a:r>
              <a:rPr lang="en-GB" sz="2800" dirty="0">
                <a:solidFill>
                  <a:srgbClr val="FFFFFF"/>
                </a:solidFill>
              </a:rPr>
              <a:t> How society understands mental wellbeing.</a:t>
            </a:r>
          </a:p>
          <a:p>
            <a:pPr lvl="1">
              <a:lnSpc>
                <a:spcPct val="200000"/>
              </a:lnSpc>
            </a:pPr>
            <a:r>
              <a:rPr lang="en-GB" sz="2800" dirty="0">
                <a:solidFill>
                  <a:srgbClr val="FFFFFF"/>
                </a:solidFill>
              </a:rPr>
              <a:t>  Shapes public belief, stigma and help-seeking behaviour</a:t>
            </a:r>
            <a:endParaRPr lang="en-ZA" sz="2800" dirty="0">
              <a:solidFill>
                <a:srgbClr val="FFFFFF"/>
              </a:solidFill>
            </a:endParaRPr>
          </a:p>
          <a:p>
            <a:pPr marL="457200" lvl="1" indent="0">
              <a:lnSpc>
                <a:spcPct val="200000"/>
              </a:lnSpc>
              <a:buNone/>
            </a:pPr>
            <a:endParaRPr lang="en-ZA" sz="2800" dirty="0">
              <a:solidFill>
                <a:srgbClr val="FFFFFF"/>
              </a:solidFill>
            </a:endParaRPr>
          </a:p>
          <a:p>
            <a:pPr marL="0" indent="0">
              <a:buNone/>
            </a:pPr>
            <a:endParaRPr lang="en-ZA" sz="2600" dirty="0">
              <a:solidFill>
                <a:srgbClr val="FFFFFF"/>
              </a:solidFill>
            </a:endParaRPr>
          </a:p>
        </p:txBody>
      </p:sp>
    </p:spTree>
    <p:extLst>
      <p:ext uri="{BB962C8B-B14F-4D97-AF65-F5344CB8AC3E}">
        <p14:creationId xmlns:p14="http://schemas.microsoft.com/office/powerpoint/2010/main" val="507957227"/>
      </p:ext>
    </p:extLst>
  </p:cSld>
  <p:clrMapOvr>
    <a:overrideClrMapping bg1="dk1" tx1="lt1" bg2="dk2" tx2="lt2" accent1="accent1" accent2="accent2" accent3="accent3" accent4="accent4" accent5="accent5" accent6="accent6" hlink="hlink" folHlink="folHlink"/>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228552E-C8B1-4A80-8448-0787CE0FC7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Digital art of brain">
            <a:extLst>
              <a:ext uri="{FF2B5EF4-FFF2-40B4-BE49-F238E27FC236}">
                <a16:creationId xmlns:a16="http://schemas.microsoft.com/office/drawing/2014/main" id="{3A309CA1-E083-3B52-FE86-846D25B48760}"/>
              </a:ext>
            </a:extLst>
          </p:cNvPr>
          <p:cNvPicPr>
            <a:picLocks noChangeAspect="1"/>
          </p:cNvPicPr>
          <p:nvPr/>
        </p:nvPicPr>
        <p:blipFill>
          <a:blip r:embed="rId3">
            <a:alphaModFix amt="35000"/>
          </a:blip>
          <a:srcRect/>
          <a:stretch>
            <a:fill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2F95B3D9-8DDF-B2FA-D416-A0C3E2E36DC4}"/>
              </a:ext>
            </a:extLst>
          </p:cNvPr>
          <p:cNvSpPr>
            <a:spLocks noGrp="1"/>
          </p:cNvSpPr>
          <p:nvPr>
            <p:ph type="title"/>
          </p:nvPr>
        </p:nvSpPr>
        <p:spPr>
          <a:xfrm>
            <a:off x="838200" y="365125"/>
            <a:ext cx="10515600" cy="1325563"/>
          </a:xfrm>
        </p:spPr>
        <p:txBody>
          <a:bodyPr>
            <a:normAutofit/>
          </a:bodyPr>
          <a:lstStyle/>
          <a:p>
            <a:r>
              <a:rPr lang="en-GB">
                <a:solidFill>
                  <a:srgbClr val="FFFFFF"/>
                </a:solidFill>
              </a:rPr>
              <a:t>Media </a:t>
            </a:r>
          </a:p>
        </p:txBody>
      </p:sp>
      <p:sp>
        <p:nvSpPr>
          <p:cNvPr id="3" name="Content Placeholder 2">
            <a:extLst>
              <a:ext uri="{FF2B5EF4-FFF2-40B4-BE49-F238E27FC236}">
                <a16:creationId xmlns:a16="http://schemas.microsoft.com/office/drawing/2014/main" id="{1E89306B-FCDC-C824-2D07-8DAB2C71CA72}"/>
              </a:ext>
            </a:extLst>
          </p:cNvPr>
          <p:cNvSpPr>
            <a:spLocks noGrp="1"/>
          </p:cNvSpPr>
          <p:nvPr>
            <p:ph idx="1"/>
          </p:nvPr>
        </p:nvSpPr>
        <p:spPr>
          <a:xfrm>
            <a:off x="838200" y="1825625"/>
            <a:ext cx="10515600" cy="4351338"/>
          </a:xfrm>
        </p:spPr>
        <p:txBody>
          <a:bodyPr>
            <a:normAutofit/>
          </a:bodyPr>
          <a:lstStyle/>
          <a:p>
            <a:r>
              <a:rPr lang="en-GB" sz="1500" dirty="0">
                <a:solidFill>
                  <a:srgbClr val="FFFFFF"/>
                </a:solidFill>
              </a:rPr>
              <a:t>Reducing stigma</a:t>
            </a:r>
            <a:endParaRPr lang="en-ZA" sz="1500" dirty="0">
              <a:solidFill>
                <a:srgbClr val="FFFFFF"/>
              </a:solidFill>
            </a:endParaRPr>
          </a:p>
          <a:p>
            <a:r>
              <a:rPr lang="en-GB" sz="1500" dirty="0">
                <a:solidFill>
                  <a:srgbClr val="FFFFFF"/>
                </a:solidFill>
              </a:rPr>
              <a:t>Encourage accurate portrayal of mental illness.</a:t>
            </a:r>
            <a:endParaRPr lang="en-ZA" sz="1500" dirty="0">
              <a:solidFill>
                <a:srgbClr val="FFFFFF"/>
              </a:solidFill>
            </a:endParaRPr>
          </a:p>
          <a:p>
            <a:r>
              <a:rPr lang="en-GB" sz="1500" dirty="0">
                <a:solidFill>
                  <a:srgbClr val="FFFFFF"/>
                </a:solidFill>
              </a:rPr>
              <a:t>Avoid harmful stereotypes and graphic violence</a:t>
            </a:r>
            <a:endParaRPr lang="en-ZA" sz="1500" dirty="0">
              <a:solidFill>
                <a:srgbClr val="FFFFFF"/>
              </a:solidFill>
            </a:endParaRPr>
          </a:p>
          <a:p>
            <a:r>
              <a:rPr lang="en-GB" sz="1500" dirty="0">
                <a:solidFill>
                  <a:srgbClr val="FFFFFF"/>
                </a:solidFill>
              </a:rPr>
              <a:t>Balanced portrayal of people with mental illness.</a:t>
            </a:r>
            <a:endParaRPr lang="en-ZA" sz="1500" dirty="0">
              <a:solidFill>
                <a:srgbClr val="FFFFFF"/>
              </a:solidFill>
            </a:endParaRPr>
          </a:p>
          <a:p>
            <a:r>
              <a:rPr lang="en-GB" sz="1500" dirty="0">
                <a:solidFill>
                  <a:srgbClr val="FFFFFF"/>
                </a:solidFill>
              </a:rPr>
              <a:t>Regular consultation of mental experts in programming.</a:t>
            </a:r>
            <a:endParaRPr lang="en-ZA" sz="1500" dirty="0">
              <a:solidFill>
                <a:srgbClr val="FFFFFF"/>
              </a:solidFill>
            </a:endParaRPr>
          </a:p>
          <a:p>
            <a:r>
              <a:rPr lang="en-GB" sz="1500" dirty="0">
                <a:solidFill>
                  <a:srgbClr val="FFFFFF"/>
                </a:solidFill>
              </a:rPr>
              <a:t>Normalise help seeking behaviour.</a:t>
            </a:r>
            <a:endParaRPr lang="en-ZA" sz="1500" dirty="0">
              <a:solidFill>
                <a:srgbClr val="FFFFFF"/>
              </a:solidFill>
            </a:endParaRPr>
          </a:p>
          <a:p>
            <a:r>
              <a:rPr lang="en-GB" sz="1500" dirty="0">
                <a:solidFill>
                  <a:srgbClr val="FFFFFF"/>
                </a:solidFill>
              </a:rPr>
              <a:t>Do not normalise substance misuse</a:t>
            </a:r>
          </a:p>
          <a:p>
            <a:pPr marL="0" indent="0">
              <a:buNone/>
            </a:pPr>
            <a:endParaRPr lang="en-GB" sz="1500" dirty="0">
              <a:solidFill>
                <a:srgbClr val="FFFFFF"/>
              </a:solidFill>
            </a:endParaRPr>
          </a:p>
          <a:p>
            <a:pPr marL="0" indent="0">
              <a:buNone/>
            </a:pPr>
            <a:r>
              <a:rPr lang="en-GB" sz="1500" dirty="0">
                <a:solidFill>
                  <a:srgbClr val="FFFFFF"/>
                </a:solidFill>
              </a:rPr>
              <a:t>Provide information on access to resources: </a:t>
            </a:r>
            <a:endParaRPr lang="en-ZA" sz="1500" dirty="0">
              <a:solidFill>
                <a:srgbClr val="FFFFFF"/>
              </a:solidFill>
            </a:endParaRPr>
          </a:p>
          <a:p>
            <a:r>
              <a:rPr lang="en-GB" sz="1500" dirty="0">
                <a:solidFill>
                  <a:srgbClr val="FFFFFF"/>
                </a:solidFill>
              </a:rPr>
              <a:t>Crisis helplines</a:t>
            </a:r>
            <a:endParaRPr lang="en-ZA" sz="1500" dirty="0">
              <a:solidFill>
                <a:srgbClr val="FFFFFF"/>
              </a:solidFill>
            </a:endParaRPr>
          </a:p>
          <a:p>
            <a:r>
              <a:rPr lang="en-GB" sz="1500" dirty="0">
                <a:solidFill>
                  <a:srgbClr val="FFFFFF"/>
                </a:solidFill>
              </a:rPr>
              <a:t>Mental health support resources</a:t>
            </a:r>
            <a:endParaRPr lang="en-ZA" sz="1500" dirty="0">
              <a:solidFill>
                <a:srgbClr val="FFFFFF"/>
              </a:solidFill>
            </a:endParaRPr>
          </a:p>
          <a:p>
            <a:r>
              <a:rPr lang="en-GB" sz="1500" dirty="0">
                <a:solidFill>
                  <a:srgbClr val="FFFFFF"/>
                </a:solidFill>
              </a:rPr>
              <a:t>Community services</a:t>
            </a:r>
            <a:endParaRPr lang="en-ZA" sz="1500" dirty="0">
              <a:solidFill>
                <a:srgbClr val="FFFFFF"/>
              </a:solidFill>
            </a:endParaRPr>
          </a:p>
          <a:p>
            <a:pPr marL="0" indent="0">
              <a:buNone/>
            </a:pPr>
            <a:endParaRPr lang="en-ZA" sz="1500" dirty="0">
              <a:solidFill>
                <a:srgbClr val="FFFFFF"/>
              </a:solidFill>
            </a:endParaRPr>
          </a:p>
        </p:txBody>
      </p:sp>
    </p:spTree>
    <p:extLst>
      <p:ext uri="{BB962C8B-B14F-4D97-AF65-F5344CB8AC3E}">
        <p14:creationId xmlns:p14="http://schemas.microsoft.com/office/powerpoint/2010/main" val="2241113610"/>
      </p:ext>
    </p:extLst>
  </p:cSld>
  <p:clrMapOvr>
    <a:overrideClrMapping bg1="dk1" tx1="lt1" bg2="dk2" tx2="lt2" accent1="accent1" accent2="accent2" accent3="accent3" accent4="accent4" accent5="accent5" accent6="accent6" hlink="hlink" folHlink="folHlink"/>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228552E-C8B1-4A80-8448-0787CE0FC7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Digital art of brain">
            <a:extLst>
              <a:ext uri="{FF2B5EF4-FFF2-40B4-BE49-F238E27FC236}">
                <a16:creationId xmlns:a16="http://schemas.microsoft.com/office/drawing/2014/main" id="{0259777F-0CB9-5EA2-BF23-B2005312BEBE}"/>
              </a:ext>
            </a:extLst>
          </p:cNvPr>
          <p:cNvPicPr>
            <a:picLocks noChangeAspect="1"/>
          </p:cNvPicPr>
          <p:nvPr/>
        </p:nvPicPr>
        <p:blipFill>
          <a:blip r:embed="rId3">
            <a:alphaModFix amt="35000"/>
          </a:blip>
          <a:srcRect/>
          <a:stretch>
            <a:fill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FAC80F02-552C-A6B4-2A55-2AE122CB2AB1}"/>
              </a:ext>
            </a:extLst>
          </p:cNvPr>
          <p:cNvSpPr>
            <a:spLocks noGrp="1"/>
          </p:cNvSpPr>
          <p:nvPr>
            <p:ph type="title"/>
          </p:nvPr>
        </p:nvSpPr>
        <p:spPr>
          <a:xfrm>
            <a:off x="838200" y="365125"/>
            <a:ext cx="10515600" cy="1325563"/>
          </a:xfrm>
        </p:spPr>
        <p:txBody>
          <a:bodyPr>
            <a:normAutofit/>
          </a:bodyPr>
          <a:lstStyle/>
          <a:p>
            <a:r>
              <a:rPr lang="en-GB">
                <a:solidFill>
                  <a:srgbClr val="FFFFFF"/>
                </a:solidFill>
              </a:rPr>
              <a:t>Media </a:t>
            </a:r>
          </a:p>
        </p:txBody>
      </p:sp>
      <p:sp>
        <p:nvSpPr>
          <p:cNvPr id="3" name="Content Placeholder 2">
            <a:extLst>
              <a:ext uri="{FF2B5EF4-FFF2-40B4-BE49-F238E27FC236}">
                <a16:creationId xmlns:a16="http://schemas.microsoft.com/office/drawing/2014/main" id="{A8E7C81F-FB4C-FB6D-1197-CCEDE53CA0E8}"/>
              </a:ext>
            </a:extLst>
          </p:cNvPr>
          <p:cNvSpPr>
            <a:spLocks noGrp="1"/>
          </p:cNvSpPr>
          <p:nvPr>
            <p:ph idx="1"/>
          </p:nvPr>
        </p:nvSpPr>
        <p:spPr>
          <a:xfrm>
            <a:off x="838200" y="1825625"/>
            <a:ext cx="10515600" cy="4351338"/>
          </a:xfrm>
        </p:spPr>
        <p:txBody>
          <a:bodyPr>
            <a:normAutofit lnSpcReduction="10000"/>
          </a:bodyPr>
          <a:lstStyle/>
          <a:p>
            <a:r>
              <a:rPr lang="en-GB" sz="2200" dirty="0">
                <a:solidFill>
                  <a:srgbClr val="FFFFFF"/>
                </a:solidFill>
              </a:rPr>
              <a:t>Responsible reporting on mental health and suicide and reducing risk of suicide contagion by: </a:t>
            </a:r>
            <a:endParaRPr lang="en-ZA" sz="2200" dirty="0">
              <a:solidFill>
                <a:srgbClr val="FFFFFF"/>
              </a:solidFill>
            </a:endParaRPr>
          </a:p>
          <a:p>
            <a:endParaRPr lang="en-ZA" sz="2200" dirty="0">
              <a:solidFill>
                <a:srgbClr val="FFFFFF"/>
              </a:solidFill>
            </a:endParaRPr>
          </a:p>
          <a:p>
            <a:r>
              <a:rPr lang="en-GB" sz="2200" dirty="0">
                <a:solidFill>
                  <a:srgbClr val="FFFFFF"/>
                </a:solidFill>
              </a:rPr>
              <a:t>Avoiding sensationalising suicide</a:t>
            </a:r>
            <a:endParaRPr lang="en-ZA" sz="2200" dirty="0">
              <a:solidFill>
                <a:srgbClr val="FFFFFF"/>
              </a:solidFill>
            </a:endParaRPr>
          </a:p>
          <a:p>
            <a:r>
              <a:rPr lang="en-GB" sz="2200" dirty="0">
                <a:solidFill>
                  <a:srgbClr val="FFFFFF"/>
                </a:solidFill>
              </a:rPr>
              <a:t>Avoid explicit description of suicide methods</a:t>
            </a:r>
            <a:endParaRPr lang="en-ZA" sz="2200" dirty="0">
              <a:solidFill>
                <a:srgbClr val="FFFFFF"/>
              </a:solidFill>
            </a:endParaRPr>
          </a:p>
          <a:p>
            <a:r>
              <a:rPr lang="en-GB" sz="2200" dirty="0">
                <a:solidFill>
                  <a:srgbClr val="FFFFFF"/>
                </a:solidFill>
              </a:rPr>
              <a:t>Provide info on where people can get help</a:t>
            </a:r>
            <a:endParaRPr lang="en-ZA" sz="2200" dirty="0">
              <a:solidFill>
                <a:srgbClr val="FFFFFF"/>
              </a:solidFill>
            </a:endParaRPr>
          </a:p>
          <a:p>
            <a:r>
              <a:rPr lang="en-GB" sz="2200" dirty="0">
                <a:solidFill>
                  <a:srgbClr val="FFFFFF"/>
                </a:solidFill>
              </a:rPr>
              <a:t>Highlight recovery stories.</a:t>
            </a:r>
          </a:p>
          <a:p>
            <a:endParaRPr lang="en-GB" sz="2200" dirty="0">
              <a:solidFill>
                <a:srgbClr val="FFFFFF"/>
              </a:solidFill>
            </a:endParaRPr>
          </a:p>
          <a:p>
            <a:r>
              <a:rPr lang="en-ZA" sz="2200" dirty="0">
                <a:solidFill>
                  <a:srgbClr val="FFFFFF"/>
                </a:solidFill>
              </a:rPr>
              <a:t>Stricter  social media surveillance and monitoring  ( esp. underage users)</a:t>
            </a:r>
          </a:p>
          <a:p>
            <a:r>
              <a:rPr lang="en-GB" sz="2200" dirty="0">
                <a:solidFill>
                  <a:srgbClr val="FFFFFF"/>
                </a:solidFill>
              </a:rPr>
              <a:t>Limit cyberbullying and harassment.</a:t>
            </a:r>
            <a:endParaRPr lang="en-ZA" sz="2200" dirty="0">
              <a:solidFill>
                <a:srgbClr val="FFFFFF"/>
              </a:solidFill>
            </a:endParaRPr>
          </a:p>
          <a:p>
            <a:r>
              <a:rPr lang="en-GB" sz="2200" dirty="0">
                <a:solidFill>
                  <a:srgbClr val="FFFFFF"/>
                </a:solidFill>
              </a:rPr>
              <a:t>Promote digital wellbeing content.</a:t>
            </a:r>
            <a:endParaRPr lang="en-ZA" sz="2200" dirty="0">
              <a:solidFill>
                <a:srgbClr val="FFFFFF"/>
              </a:solidFill>
            </a:endParaRPr>
          </a:p>
          <a:p>
            <a:pPr marL="0" indent="0">
              <a:buNone/>
            </a:pPr>
            <a:endParaRPr lang="en-ZA" sz="2200" dirty="0">
              <a:solidFill>
                <a:srgbClr val="FFFFFF"/>
              </a:solidFill>
            </a:endParaRPr>
          </a:p>
          <a:p>
            <a:endParaRPr lang="en-GB" sz="2200" dirty="0">
              <a:solidFill>
                <a:srgbClr val="FFFFFF"/>
              </a:solidFill>
            </a:endParaRPr>
          </a:p>
        </p:txBody>
      </p:sp>
    </p:spTree>
    <p:extLst>
      <p:ext uri="{BB962C8B-B14F-4D97-AF65-F5344CB8AC3E}">
        <p14:creationId xmlns:p14="http://schemas.microsoft.com/office/powerpoint/2010/main" val="1468947710"/>
      </p:ext>
    </p:extLst>
  </p:cSld>
  <p:clrMapOvr>
    <a:overrideClrMapping bg1="dk1" tx1="lt1" bg2="dk2" tx2="lt2" accent1="accent1" accent2="accent2" accent3="accent3" accent4="accent4" accent5="accent5" accent6="accent6" hlink="hlink" folHlink="folHlink"/>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9228552E-C8B1-4A80-8448-0787CE0FC7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Digital art of brain">
            <a:extLst>
              <a:ext uri="{FF2B5EF4-FFF2-40B4-BE49-F238E27FC236}">
                <a16:creationId xmlns:a16="http://schemas.microsoft.com/office/drawing/2014/main" id="{7D16CD75-BA65-250E-020F-5183129EFE31}"/>
              </a:ext>
            </a:extLst>
          </p:cNvPr>
          <p:cNvPicPr>
            <a:picLocks noChangeAspect="1"/>
          </p:cNvPicPr>
          <p:nvPr/>
        </p:nvPicPr>
        <p:blipFill>
          <a:blip r:embed="rId3">
            <a:alphaModFix amt="35000"/>
          </a:blip>
          <a:srcRect/>
          <a:stretch>
            <a:fillRect/>
          </a:stretch>
        </p:blipFill>
        <p:spPr>
          <a:xfrm>
            <a:off x="20" y="10"/>
            <a:ext cx="12191980" cy="6857990"/>
          </a:xfrm>
          <a:prstGeom prst="rect">
            <a:avLst/>
          </a:prstGeom>
        </p:spPr>
      </p:pic>
      <p:sp>
        <p:nvSpPr>
          <p:cNvPr id="4" name="Title 3">
            <a:extLst>
              <a:ext uri="{FF2B5EF4-FFF2-40B4-BE49-F238E27FC236}">
                <a16:creationId xmlns:a16="http://schemas.microsoft.com/office/drawing/2014/main" id="{3FA97D5E-DBA3-6060-1A5D-10DA636582F8}"/>
              </a:ext>
            </a:extLst>
          </p:cNvPr>
          <p:cNvSpPr>
            <a:spLocks noGrp="1"/>
          </p:cNvSpPr>
          <p:nvPr>
            <p:ph type="title"/>
          </p:nvPr>
        </p:nvSpPr>
        <p:spPr>
          <a:xfrm>
            <a:off x="838200" y="365125"/>
            <a:ext cx="10515600" cy="1325563"/>
          </a:xfrm>
        </p:spPr>
        <p:txBody>
          <a:bodyPr>
            <a:normAutofit/>
          </a:bodyPr>
          <a:lstStyle/>
          <a:p>
            <a:r>
              <a:rPr lang="en-GB" dirty="0">
                <a:solidFill>
                  <a:srgbClr val="FFFFFF"/>
                </a:solidFill>
              </a:rPr>
              <a:t>Systems challenges</a:t>
            </a:r>
          </a:p>
        </p:txBody>
      </p:sp>
      <p:sp>
        <p:nvSpPr>
          <p:cNvPr id="5" name="Content Placeholder 4">
            <a:extLst>
              <a:ext uri="{FF2B5EF4-FFF2-40B4-BE49-F238E27FC236}">
                <a16:creationId xmlns:a16="http://schemas.microsoft.com/office/drawing/2014/main" id="{3C6B6A2A-84F7-D95A-1C0D-19BD7FD5F956}"/>
              </a:ext>
            </a:extLst>
          </p:cNvPr>
          <p:cNvSpPr>
            <a:spLocks noGrp="1"/>
          </p:cNvSpPr>
          <p:nvPr>
            <p:ph idx="1"/>
          </p:nvPr>
        </p:nvSpPr>
        <p:spPr>
          <a:xfrm>
            <a:off x="838200" y="1825624"/>
            <a:ext cx="10515600" cy="4575175"/>
          </a:xfrm>
        </p:spPr>
        <p:txBody>
          <a:bodyPr>
            <a:normAutofit fontScale="77500" lnSpcReduction="20000"/>
          </a:bodyPr>
          <a:lstStyle/>
          <a:p>
            <a:r>
              <a:rPr lang="en-GB" dirty="0">
                <a:solidFill>
                  <a:srgbClr val="FFFFFF"/>
                </a:solidFill>
              </a:rPr>
              <a:t>Poor coordination between sectors.</a:t>
            </a:r>
          </a:p>
          <a:p>
            <a:pPr lvl="1"/>
            <a:r>
              <a:rPr lang="en-GB" sz="1800" dirty="0">
                <a:solidFill>
                  <a:srgbClr val="FFFFFF"/>
                </a:solidFill>
              </a:rPr>
              <a:t>Different sectors often operate independently, with limited collaboration. This may lead to fragmented services or duplicate services.</a:t>
            </a:r>
          </a:p>
          <a:p>
            <a:pPr lvl="1"/>
            <a:r>
              <a:rPr lang="en-GB" sz="1800" i="1" dirty="0">
                <a:solidFill>
                  <a:schemeClr val="accent6">
                    <a:lumMod val="60000"/>
                    <a:lumOff val="40000"/>
                  </a:schemeClr>
                </a:solidFill>
              </a:rPr>
              <a:t>Formation of intersectoral committees with regular meetings. </a:t>
            </a:r>
          </a:p>
          <a:p>
            <a:pPr lvl="1"/>
            <a:r>
              <a:rPr lang="en-GB" sz="1800" i="1" dirty="0">
                <a:solidFill>
                  <a:schemeClr val="accent6">
                    <a:lumMod val="60000"/>
                    <a:lumOff val="40000"/>
                  </a:schemeClr>
                </a:solidFill>
              </a:rPr>
              <a:t>Create referral pathways.</a:t>
            </a:r>
          </a:p>
          <a:p>
            <a:endParaRPr lang="en-GB" sz="1800" dirty="0">
              <a:solidFill>
                <a:srgbClr val="FFFFFF"/>
              </a:solidFill>
            </a:endParaRPr>
          </a:p>
          <a:p>
            <a:r>
              <a:rPr lang="en-GB" dirty="0">
                <a:solidFill>
                  <a:srgbClr val="FFFFFF"/>
                </a:solidFill>
              </a:rPr>
              <a:t>Unclear roles</a:t>
            </a:r>
          </a:p>
          <a:p>
            <a:pPr lvl="1"/>
            <a:r>
              <a:rPr lang="en-GB" sz="1800" dirty="0">
                <a:solidFill>
                  <a:srgbClr val="FFFFFF"/>
                </a:solidFill>
              </a:rPr>
              <a:t>Certain sectors may not be sure who is responsible for what services and extent or scope of responsibility in that service </a:t>
            </a:r>
            <a:r>
              <a:rPr lang="en-GB" sz="1800" dirty="0" err="1">
                <a:solidFill>
                  <a:srgbClr val="FFFFFF"/>
                </a:solidFill>
              </a:rPr>
              <a:t>e.g</a:t>
            </a:r>
            <a:r>
              <a:rPr lang="en-GB" sz="1800" dirty="0">
                <a:solidFill>
                  <a:srgbClr val="FFFFFF"/>
                </a:solidFill>
              </a:rPr>
              <a:t> assessment of children for learning problem.</a:t>
            </a:r>
          </a:p>
          <a:p>
            <a:pPr lvl="1"/>
            <a:r>
              <a:rPr lang="en-GB" sz="1800" i="1" dirty="0">
                <a:solidFill>
                  <a:schemeClr val="accent6">
                    <a:lumMod val="60000"/>
                    <a:lumOff val="40000"/>
                  </a:schemeClr>
                </a:solidFill>
              </a:rPr>
              <a:t>Assign specific responsibilities to specific departments.</a:t>
            </a:r>
          </a:p>
          <a:p>
            <a:pPr lvl="1"/>
            <a:r>
              <a:rPr lang="en-GB" sz="1800" i="1" dirty="0">
                <a:solidFill>
                  <a:schemeClr val="accent6">
                    <a:lumMod val="60000"/>
                    <a:lumOff val="40000"/>
                  </a:schemeClr>
                </a:solidFill>
              </a:rPr>
              <a:t>Clear referral pathways.</a:t>
            </a:r>
          </a:p>
          <a:p>
            <a:endParaRPr lang="en-GB" sz="2200" dirty="0">
              <a:solidFill>
                <a:srgbClr val="FFFFFF"/>
              </a:solidFill>
            </a:endParaRPr>
          </a:p>
          <a:p>
            <a:r>
              <a:rPr lang="en-GB" dirty="0">
                <a:solidFill>
                  <a:srgbClr val="FFFFFF"/>
                </a:solidFill>
              </a:rPr>
              <a:t>Weak Policy implementation</a:t>
            </a:r>
          </a:p>
          <a:p>
            <a:pPr lvl="1"/>
            <a:r>
              <a:rPr lang="en-GB" sz="1900" dirty="0" err="1">
                <a:solidFill>
                  <a:srgbClr val="FFFFFF"/>
                </a:solidFill>
              </a:rPr>
              <a:t>W.r.t.</a:t>
            </a:r>
            <a:r>
              <a:rPr lang="en-GB" sz="1900" dirty="0">
                <a:solidFill>
                  <a:srgbClr val="FFFFFF"/>
                </a:solidFill>
              </a:rPr>
              <a:t> policy implementation, even with polices such as the national mental health policy framework and strategic plan, implementation can be inconsistent due to lack of monitoring, funding and assertive determined leadership.</a:t>
            </a:r>
          </a:p>
          <a:p>
            <a:pPr lvl="1"/>
            <a:r>
              <a:rPr lang="en-GB" sz="1600" i="1" dirty="0">
                <a:solidFill>
                  <a:schemeClr val="accent6">
                    <a:lumMod val="60000"/>
                    <a:lumOff val="40000"/>
                  </a:schemeClr>
                </a:solidFill>
              </a:rPr>
              <a:t>MHCA 17of 2002, National Mental Health Policy Framework and Strategic Plan.</a:t>
            </a:r>
          </a:p>
          <a:p>
            <a:pPr lvl="1"/>
            <a:r>
              <a:rPr lang="en-GB" sz="1600" i="1" dirty="0">
                <a:solidFill>
                  <a:schemeClr val="accent6">
                    <a:lumMod val="60000"/>
                    <a:lumOff val="40000"/>
                  </a:schemeClr>
                </a:solidFill>
              </a:rPr>
              <a:t>Clear monitoring and evaluation frameworks.</a:t>
            </a:r>
          </a:p>
          <a:p>
            <a:pPr lvl="1"/>
            <a:r>
              <a:rPr lang="en-GB" sz="1600" i="1" dirty="0">
                <a:solidFill>
                  <a:schemeClr val="accent6">
                    <a:lumMod val="60000"/>
                    <a:lumOff val="40000"/>
                  </a:schemeClr>
                </a:solidFill>
              </a:rPr>
              <a:t>Track progress using measurable indicators. ( service delivery indicators/ human resource indicator, finance indictors, quarterly reports, outcomes indicators)</a:t>
            </a:r>
          </a:p>
          <a:p>
            <a:endParaRPr lang="en-GB" sz="1900" dirty="0">
              <a:solidFill>
                <a:srgbClr val="FFFFFF"/>
              </a:solidFill>
            </a:endParaRPr>
          </a:p>
          <a:p>
            <a:endParaRPr lang="en-GB" dirty="0">
              <a:solidFill>
                <a:srgbClr val="FFFFFF"/>
              </a:solidFill>
            </a:endParaRPr>
          </a:p>
        </p:txBody>
      </p:sp>
    </p:spTree>
    <p:extLst>
      <p:ext uri="{BB962C8B-B14F-4D97-AF65-F5344CB8AC3E}">
        <p14:creationId xmlns:p14="http://schemas.microsoft.com/office/powerpoint/2010/main" val="3067810897"/>
      </p:ext>
    </p:extLst>
  </p:cSld>
  <p:clrMapOvr>
    <a:overrideClrMapping bg1="dk1" tx1="lt1" bg2="dk2" tx2="lt2" accent1="accent1" accent2="accent2" accent3="accent3" accent4="accent4" accent5="accent5" accent6="accent6" hlink="hlink" folHlink="folHlink"/>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C0A1ED06-4733-4020-9C60-81D4D80140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0CA3509-3AF9-45FE-93ED-57BB5D5E8E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7388" y="181576"/>
            <a:ext cx="11823637" cy="6501088"/>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Digital art of brain">
            <a:extLst>
              <a:ext uri="{FF2B5EF4-FFF2-40B4-BE49-F238E27FC236}">
                <a16:creationId xmlns:a16="http://schemas.microsoft.com/office/drawing/2014/main" id="{0D154FF6-6087-B519-E3BA-5F51261B0944}"/>
              </a:ext>
            </a:extLst>
          </p:cNvPr>
          <p:cNvPicPr>
            <a:picLocks noChangeAspect="1"/>
          </p:cNvPicPr>
          <p:nvPr/>
        </p:nvPicPr>
        <p:blipFill>
          <a:blip r:embed="rId3">
            <a:alphaModFix amt="34000"/>
          </a:blip>
          <a:srcRect b="2270"/>
          <a:stretch>
            <a:fillRect/>
          </a:stretch>
        </p:blipFill>
        <p:spPr>
          <a:xfrm>
            <a:off x="-1" y="0"/>
            <a:ext cx="12471385" cy="6858000"/>
          </a:xfrm>
          <a:prstGeom prst="rect">
            <a:avLst/>
          </a:prstGeom>
        </p:spPr>
      </p:pic>
      <p:sp>
        <p:nvSpPr>
          <p:cNvPr id="2" name="Title 1">
            <a:extLst>
              <a:ext uri="{FF2B5EF4-FFF2-40B4-BE49-F238E27FC236}">
                <a16:creationId xmlns:a16="http://schemas.microsoft.com/office/drawing/2014/main" id="{79EC6DDE-CA0B-F96D-BCB7-1A0B90A593E2}"/>
              </a:ext>
            </a:extLst>
          </p:cNvPr>
          <p:cNvSpPr>
            <a:spLocks noGrp="1"/>
          </p:cNvSpPr>
          <p:nvPr>
            <p:ph type="title"/>
          </p:nvPr>
        </p:nvSpPr>
        <p:spPr>
          <a:xfrm>
            <a:off x="838200" y="525195"/>
            <a:ext cx="10165218" cy="1019965"/>
          </a:xfrm>
        </p:spPr>
        <p:txBody>
          <a:bodyPr anchor="b">
            <a:normAutofit/>
          </a:bodyPr>
          <a:lstStyle/>
          <a:p>
            <a:r>
              <a:rPr lang="en-GB" sz="4000" dirty="0">
                <a:solidFill>
                  <a:srgbClr val="FFFFFF"/>
                </a:solidFill>
              </a:rPr>
              <a:t>Resource challenges</a:t>
            </a:r>
          </a:p>
        </p:txBody>
      </p:sp>
      <p:graphicFrame>
        <p:nvGraphicFramePr>
          <p:cNvPr id="7" name="Content Placeholder 6">
            <a:extLst>
              <a:ext uri="{FF2B5EF4-FFF2-40B4-BE49-F238E27FC236}">
                <a16:creationId xmlns:a16="http://schemas.microsoft.com/office/drawing/2014/main" id="{1B82F408-5E29-831D-176B-715641D6B510}"/>
              </a:ext>
            </a:extLst>
          </p:cNvPr>
          <p:cNvGraphicFramePr>
            <a:graphicFrameLocks noGrp="1"/>
          </p:cNvGraphicFramePr>
          <p:nvPr>
            <p:ph idx="1"/>
            <p:extLst>
              <p:ext uri="{D42A27DB-BD31-4B8C-83A1-F6EECF244321}">
                <p14:modId xmlns:p14="http://schemas.microsoft.com/office/powerpoint/2010/main" val="2699626182"/>
              </p:ext>
            </p:extLst>
          </p:nvPr>
        </p:nvGraphicFramePr>
        <p:xfrm>
          <a:off x="1073426" y="1976284"/>
          <a:ext cx="9929992" cy="3854671"/>
        </p:xfrm>
        <a:graphic>
          <a:graphicData uri="http://schemas.openxmlformats.org/drawingml/2006/table">
            <a:tbl>
              <a:tblPr firstRow="1" firstCol="1" bandRow="1"/>
              <a:tblGrid>
                <a:gridCol w="3309630">
                  <a:extLst>
                    <a:ext uri="{9D8B030D-6E8A-4147-A177-3AD203B41FA5}">
                      <a16:colId xmlns:a16="http://schemas.microsoft.com/office/drawing/2014/main" val="3172777261"/>
                    </a:ext>
                  </a:extLst>
                </a:gridCol>
                <a:gridCol w="3309630">
                  <a:extLst>
                    <a:ext uri="{9D8B030D-6E8A-4147-A177-3AD203B41FA5}">
                      <a16:colId xmlns:a16="http://schemas.microsoft.com/office/drawing/2014/main" val="226028622"/>
                    </a:ext>
                  </a:extLst>
                </a:gridCol>
                <a:gridCol w="3310732">
                  <a:extLst>
                    <a:ext uri="{9D8B030D-6E8A-4147-A177-3AD203B41FA5}">
                      <a16:colId xmlns:a16="http://schemas.microsoft.com/office/drawing/2014/main" val="2288221147"/>
                    </a:ext>
                  </a:extLst>
                </a:gridCol>
              </a:tblGrid>
              <a:tr h="306712">
                <a:tc>
                  <a:txBody>
                    <a:bodyPr/>
                    <a:lstStyle/>
                    <a:p>
                      <a:pPr>
                        <a:buNone/>
                        <a:tabLst>
                          <a:tab pos="726440" algn="l"/>
                        </a:tabLst>
                      </a:pPr>
                      <a:r>
                        <a:rPr lang="en-GB" sz="2000" b="1"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Funding</a:t>
                      </a:r>
                      <a:endParaRPr lang="en-ZA" sz="20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tabLst>
                          <a:tab pos="726440" algn="l"/>
                        </a:tabLst>
                      </a:pPr>
                      <a:r>
                        <a:rPr lang="en-GB" sz="2000" b="1"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Competing priorities</a:t>
                      </a:r>
                      <a:endParaRPr lang="en-ZA" sz="20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tabLst>
                          <a:tab pos="726440" algn="l"/>
                        </a:tabLst>
                      </a:pPr>
                      <a:r>
                        <a:rPr lang="en-GB" sz="2000" b="1"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Human resources</a:t>
                      </a:r>
                      <a:endParaRPr lang="en-ZA" sz="20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4009328736"/>
                  </a:ext>
                </a:extLst>
              </a:tr>
              <a:tr h="2365306">
                <a:tc>
                  <a:txBody>
                    <a:bodyPr/>
                    <a:lstStyle/>
                    <a:p>
                      <a:pPr marL="342900" lvl="0" indent="-342900">
                        <a:buFont typeface="Symbol" pitchFamily="2" charset="2"/>
                        <a:buChar char=""/>
                        <a:tabLst>
                          <a:tab pos="726440" algn="l"/>
                        </a:tabLst>
                      </a:pPr>
                      <a:r>
                        <a:rPr lang="en-GB" sz="16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Limited funding for mental health</a:t>
                      </a:r>
                      <a:endParaRPr lang="en-ZA" sz="16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marL="342900" lvl="0" indent="-342900">
                        <a:buFont typeface="Symbol" pitchFamily="2" charset="2"/>
                        <a:buChar char=""/>
                        <a:tabLst>
                          <a:tab pos="726440" algn="l"/>
                        </a:tabLst>
                      </a:pPr>
                      <a:r>
                        <a:rPr lang="en-GB" sz="1600">
                          <a:solidFill>
                            <a:schemeClr val="bg1"/>
                          </a:solidFill>
                          <a:effectLst/>
                          <a:latin typeface="Aptos" panose="020B0004020202020204" pitchFamily="34" charset="0"/>
                          <a:ea typeface="Aptos" panose="020B0004020202020204" pitchFamily="34" charset="0"/>
                          <a:cs typeface="Times New Roman" panose="02020603050405020304" pitchFamily="18" charset="0"/>
                        </a:rPr>
                        <a:t>Competing priorities across different sectors.</a:t>
                      </a:r>
                      <a:endParaRPr lang="en-ZA" sz="160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marL="342900" lvl="0" indent="-342900">
                        <a:buFont typeface="Symbol" pitchFamily="2" charset="2"/>
                        <a:buChar char=""/>
                        <a:tabLst>
                          <a:tab pos="726440" algn="l"/>
                        </a:tabLst>
                      </a:pPr>
                      <a:r>
                        <a:rPr lang="en-GB" sz="16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Shortage of human resources.</a:t>
                      </a:r>
                      <a:endParaRPr lang="en-ZA" sz="16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buFont typeface="Symbol" pitchFamily="2" charset="2"/>
                        <a:buChar char=""/>
                        <a:tabLst>
                          <a:tab pos="726440" algn="l"/>
                        </a:tabLst>
                      </a:pPr>
                      <a:r>
                        <a:rPr lang="en-GB" sz="16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3 provinces have child psychiatrist in the public sector.</a:t>
                      </a:r>
                      <a:endParaRPr lang="en-ZA" sz="16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buFont typeface="Symbol" pitchFamily="2" charset="2"/>
                        <a:buChar char=""/>
                        <a:tabLst>
                          <a:tab pos="726440" algn="l"/>
                        </a:tabLst>
                      </a:pPr>
                      <a:r>
                        <a:rPr lang="en-GB" sz="16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50% of state hospitals offering psychiatric services do not have a psychiatrist</a:t>
                      </a:r>
                      <a:endParaRPr lang="en-ZA" sz="16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4113001169"/>
                  </a:ext>
                </a:extLst>
              </a:tr>
              <a:tr h="1182653">
                <a:tc>
                  <a:txBody>
                    <a:bodyPr/>
                    <a:lstStyle/>
                    <a:p>
                      <a:pPr marL="342900" lvl="0" indent="-342900">
                        <a:buFont typeface="Symbol" pitchFamily="2" charset="2"/>
                        <a:buChar char=""/>
                        <a:tabLst>
                          <a:tab pos="726440" algn="l"/>
                        </a:tabLst>
                      </a:pPr>
                      <a:r>
                        <a:rPr lang="en-GB" sz="1600" dirty="0">
                          <a:solidFill>
                            <a:schemeClr val="accent6"/>
                          </a:solidFill>
                          <a:effectLst/>
                          <a:latin typeface="Aptos" panose="020B0004020202020204" pitchFamily="34" charset="0"/>
                          <a:ea typeface="Aptos" panose="020B0004020202020204" pitchFamily="34" charset="0"/>
                          <a:cs typeface="Times New Roman" panose="02020603050405020304" pitchFamily="18" charset="0"/>
                        </a:rPr>
                        <a:t>More funding for outpatient psychiatric care.</a:t>
                      </a:r>
                      <a:endParaRPr lang="en-ZA" sz="1600" dirty="0">
                        <a:solidFill>
                          <a:schemeClr val="accent6"/>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marL="342900" lvl="0" indent="-342900">
                        <a:buFont typeface="Symbol" pitchFamily="2" charset="2"/>
                        <a:buChar char=""/>
                        <a:tabLst>
                          <a:tab pos="726440" algn="l"/>
                        </a:tabLst>
                      </a:pPr>
                      <a:r>
                        <a:rPr lang="en-GB" sz="1600">
                          <a:solidFill>
                            <a:schemeClr val="accent6"/>
                          </a:solidFill>
                          <a:effectLst/>
                          <a:latin typeface="Aptos" panose="020B0004020202020204" pitchFamily="34" charset="0"/>
                          <a:ea typeface="Aptos" panose="020B0004020202020204" pitchFamily="34" charset="0"/>
                          <a:cs typeface="Times New Roman" panose="02020603050405020304" pitchFamily="18" charset="0"/>
                        </a:rPr>
                        <a:t>Coordinated efforts through local, provincial programmes.</a:t>
                      </a:r>
                      <a:endParaRPr lang="en-ZA" sz="1600">
                        <a:solidFill>
                          <a:schemeClr val="accent6"/>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marL="342900" lvl="0" indent="-342900">
                        <a:buFont typeface="Symbol" pitchFamily="2" charset="2"/>
                        <a:buChar char=""/>
                        <a:tabLst>
                          <a:tab pos="726440" algn="l"/>
                        </a:tabLst>
                      </a:pPr>
                      <a:r>
                        <a:rPr lang="en-GB" sz="1600" dirty="0">
                          <a:solidFill>
                            <a:schemeClr val="accent6"/>
                          </a:solidFill>
                          <a:effectLst/>
                          <a:latin typeface="Aptos" panose="020B0004020202020204" pitchFamily="34" charset="0"/>
                          <a:ea typeface="Aptos" panose="020B0004020202020204" pitchFamily="34" charset="0"/>
                          <a:cs typeface="Times New Roman" panose="02020603050405020304" pitchFamily="18" charset="0"/>
                        </a:rPr>
                        <a:t>Task sharing</a:t>
                      </a:r>
                      <a:endParaRPr lang="en-ZA" sz="1600" dirty="0">
                        <a:solidFill>
                          <a:schemeClr val="accent6"/>
                        </a:solidFill>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buFont typeface="Symbol" pitchFamily="2" charset="2"/>
                        <a:buChar char=""/>
                        <a:tabLst>
                          <a:tab pos="726440" algn="l"/>
                        </a:tabLst>
                      </a:pPr>
                      <a:r>
                        <a:rPr lang="en-GB" sz="1600" dirty="0">
                          <a:solidFill>
                            <a:schemeClr val="accent6"/>
                          </a:solidFill>
                          <a:effectLst/>
                          <a:latin typeface="Aptos" panose="020B0004020202020204" pitchFamily="34" charset="0"/>
                          <a:ea typeface="Aptos" panose="020B0004020202020204" pitchFamily="34" charset="0"/>
                          <a:cs typeface="Times New Roman" panose="02020603050405020304" pitchFamily="18" charset="0"/>
                        </a:rPr>
                        <a:t>Partnerships with private health for training of specialists.</a:t>
                      </a:r>
                    </a:p>
                    <a:p>
                      <a:pPr marL="342900" lvl="0" indent="-342900">
                        <a:buFont typeface="Symbol" pitchFamily="2" charset="2"/>
                        <a:buChar char=""/>
                        <a:tabLst>
                          <a:tab pos="726440" algn="l"/>
                        </a:tabLst>
                      </a:pPr>
                      <a:r>
                        <a:rPr lang="en-GB" sz="1600" dirty="0">
                          <a:solidFill>
                            <a:schemeClr val="accent6"/>
                          </a:solidFill>
                          <a:effectLst/>
                          <a:latin typeface="Aptos" panose="020B0004020202020204" pitchFamily="34" charset="0"/>
                          <a:ea typeface="Aptos" panose="020B0004020202020204" pitchFamily="34" charset="0"/>
                          <a:cs typeface="Times New Roman" panose="02020603050405020304" pitchFamily="18" charset="0"/>
                        </a:rPr>
                        <a:t>?NHI</a:t>
                      </a:r>
                      <a:endParaRPr lang="en-ZA" sz="1600" dirty="0">
                        <a:solidFill>
                          <a:schemeClr val="accent6"/>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911482241"/>
                  </a:ext>
                </a:extLst>
              </a:tr>
            </a:tbl>
          </a:graphicData>
        </a:graphic>
      </p:graphicFrame>
    </p:spTree>
    <p:extLst>
      <p:ext uri="{BB962C8B-B14F-4D97-AF65-F5344CB8AC3E}">
        <p14:creationId xmlns:p14="http://schemas.microsoft.com/office/powerpoint/2010/main" val="388135729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228552E-C8B1-4A80-8448-0787CE0FC7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Digital art of brain">
            <a:extLst>
              <a:ext uri="{FF2B5EF4-FFF2-40B4-BE49-F238E27FC236}">
                <a16:creationId xmlns:a16="http://schemas.microsoft.com/office/drawing/2014/main" id="{C598A9BE-72FD-A6D5-A5C3-DEB78C5D846E}"/>
              </a:ext>
            </a:extLst>
          </p:cNvPr>
          <p:cNvPicPr>
            <a:picLocks noChangeAspect="1"/>
          </p:cNvPicPr>
          <p:nvPr/>
        </p:nvPicPr>
        <p:blipFill>
          <a:blip r:embed="rId3">
            <a:alphaModFix amt="35000"/>
          </a:blip>
          <a:srcRect/>
          <a:stretch>
            <a:fill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BB10F7B1-5965-C17E-173B-1F4646057C7B}"/>
              </a:ext>
            </a:extLst>
          </p:cNvPr>
          <p:cNvSpPr>
            <a:spLocks noGrp="1"/>
          </p:cNvSpPr>
          <p:nvPr>
            <p:ph type="title"/>
          </p:nvPr>
        </p:nvSpPr>
        <p:spPr>
          <a:xfrm>
            <a:off x="838200" y="365125"/>
            <a:ext cx="10515600" cy="1325563"/>
          </a:xfrm>
        </p:spPr>
        <p:txBody>
          <a:bodyPr>
            <a:normAutofit/>
          </a:bodyPr>
          <a:lstStyle/>
          <a:p>
            <a:r>
              <a:rPr lang="en-GB" dirty="0">
                <a:solidFill>
                  <a:srgbClr val="FFFFFF"/>
                </a:solidFill>
              </a:rPr>
              <a:t>Social and knowledge challenges</a:t>
            </a:r>
          </a:p>
        </p:txBody>
      </p:sp>
      <p:sp>
        <p:nvSpPr>
          <p:cNvPr id="3" name="Content Placeholder 2">
            <a:extLst>
              <a:ext uri="{FF2B5EF4-FFF2-40B4-BE49-F238E27FC236}">
                <a16:creationId xmlns:a16="http://schemas.microsoft.com/office/drawing/2014/main" id="{40A32765-51EE-6211-B552-33878490D07E}"/>
              </a:ext>
            </a:extLst>
          </p:cNvPr>
          <p:cNvSpPr>
            <a:spLocks noGrp="1"/>
          </p:cNvSpPr>
          <p:nvPr>
            <p:ph idx="1"/>
          </p:nvPr>
        </p:nvSpPr>
        <p:spPr>
          <a:xfrm>
            <a:off x="838200" y="1825625"/>
            <a:ext cx="10515600" cy="4351338"/>
          </a:xfrm>
        </p:spPr>
        <p:txBody>
          <a:bodyPr>
            <a:normAutofit fontScale="92500" lnSpcReduction="20000"/>
          </a:bodyPr>
          <a:lstStyle/>
          <a:p>
            <a:r>
              <a:rPr lang="en-GB" dirty="0">
                <a:solidFill>
                  <a:srgbClr val="FFFFFF"/>
                </a:solidFill>
              </a:rPr>
              <a:t>Stigma and low mental health literacy.</a:t>
            </a:r>
          </a:p>
          <a:p>
            <a:pPr lvl="1"/>
            <a:r>
              <a:rPr lang="en-GB" sz="1900" dirty="0">
                <a:solidFill>
                  <a:srgbClr val="FFFFFF"/>
                </a:solidFill>
              </a:rPr>
              <a:t>Employers, teachers and police officers may not understand mental conditions.  This can result in poor support for affected individuals.</a:t>
            </a:r>
          </a:p>
          <a:p>
            <a:pPr lvl="1"/>
            <a:r>
              <a:rPr lang="en-GB" sz="1700" i="1" dirty="0">
                <a:solidFill>
                  <a:schemeClr val="accent6">
                    <a:lumMod val="60000"/>
                    <a:lumOff val="40000"/>
                  </a:schemeClr>
                </a:solidFill>
              </a:rPr>
              <a:t>Provide mental health literacy training .</a:t>
            </a:r>
          </a:p>
          <a:p>
            <a:pPr lvl="1"/>
            <a:endParaRPr lang="en-GB" dirty="0">
              <a:solidFill>
                <a:srgbClr val="FFFFFF"/>
              </a:solidFill>
            </a:endParaRPr>
          </a:p>
          <a:p>
            <a:r>
              <a:rPr lang="en-GB" dirty="0">
                <a:solidFill>
                  <a:srgbClr val="FFFFFF"/>
                </a:solidFill>
              </a:rPr>
              <a:t>Poor data sharing between sectors.</a:t>
            </a:r>
          </a:p>
          <a:p>
            <a:pPr lvl="1"/>
            <a:r>
              <a:rPr lang="en-GB" sz="1800" dirty="0">
                <a:solidFill>
                  <a:srgbClr val="FFFFFF"/>
                </a:solidFill>
              </a:rPr>
              <a:t>Many sectors collect data but in separate systems, making it hard to share information or track progress and outcomes across services.</a:t>
            </a:r>
          </a:p>
          <a:p>
            <a:pPr lvl="1"/>
            <a:r>
              <a:rPr lang="en-GB" sz="1700" i="1" dirty="0">
                <a:solidFill>
                  <a:schemeClr val="accent6">
                    <a:lumMod val="60000"/>
                    <a:lumOff val="40000"/>
                  </a:schemeClr>
                </a:solidFill>
              </a:rPr>
              <a:t>Develop shared data bases.</a:t>
            </a:r>
          </a:p>
          <a:p>
            <a:pPr lvl="1"/>
            <a:r>
              <a:rPr lang="en-GB" sz="1700" i="1" dirty="0">
                <a:solidFill>
                  <a:schemeClr val="accent6">
                    <a:lumMod val="60000"/>
                    <a:lumOff val="40000"/>
                  </a:schemeClr>
                </a:solidFill>
              </a:rPr>
              <a:t>Improve mental health surveillance and research.</a:t>
            </a:r>
          </a:p>
          <a:p>
            <a:pPr lvl="1"/>
            <a:endParaRPr lang="en-GB" dirty="0">
              <a:solidFill>
                <a:srgbClr val="FFFFFF"/>
              </a:solidFill>
            </a:endParaRPr>
          </a:p>
          <a:p>
            <a:r>
              <a:rPr lang="en-GB" dirty="0">
                <a:solidFill>
                  <a:srgbClr val="FFFFFF"/>
                </a:solidFill>
              </a:rPr>
              <a:t>Limited community awareness.</a:t>
            </a:r>
          </a:p>
          <a:p>
            <a:pPr lvl="1"/>
            <a:r>
              <a:rPr lang="en-GB" sz="1700" dirty="0">
                <a:solidFill>
                  <a:schemeClr val="accent6">
                    <a:lumMod val="60000"/>
                    <a:lumOff val="40000"/>
                  </a:schemeClr>
                </a:solidFill>
              </a:rPr>
              <a:t>National mental  health awareness campaigns</a:t>
            </a:r>
          </a:p>
          <a:p>
            <a:pPr lvl="1"/>
            <a:r>
              <a:rPr lang="en-GB" sz="1700" dirty="0">
                <a:solidFill>
                  <a:schemeClr val="accent6">
                    <a:lumMod val="60000"/>
                    <a:lumOff val="40000"/>
                  </a:schemeClr>
                </a:solidFill>
              </a:rPr>
              <a:t>Mental health education in schools and workplaces</a:t>
            </a:r>
          </a:p>
          <a:p>
            <a:pPr lvl="1"/>
            <a:r>
              <a:rPr lang="en-GB" sz="1700" dirty="0">
                <a:solidFill>
                  <a:schemeClr val="accent6">
                    <a:lumMod val="60000"/>
                    <a:lumOff val="40000"/>
                  </a:schemeClr>
                </a:solidFill>
              </a:rPr>
              <a:t>Partnerships with media to promote responsible reporting</a:t>
            </a:r>
          </a:p>
        </p:txBody>
      </p:sp>
    </p:spTree>
    <p:extLst>
      <p:ext uri="{BB962C8B-B14F-4D97-AF65-F5344CB8AC3E}">
        <p14:creationId xmlns:p14="http://schemas.microsoft.com/office/powerpoint/2010/main" val="3746963822"/>
      </p:ext>
    </p:extLst>
  </p:cSld>
  <p:clrMapOvr>
    <a:overrideClrMapping bg1="dk1" tx1="lt1" bg2="dk2" tx2="lt2" accent1="accent1" accent2="accent2" accent3="accent3" accent4="accent4" accent5="accent5" accent6="accent6" hlink="hlink" folHlink="folHlink"/>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228552E-C8B1-4A80-8448-0787CE0FC7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Digital art of brain">
            <a:extLst>
              <a:ext uri="{FF2B5EF4-FFF2-40B4-BE49-F238E27FC236}">
                <a16:creationId xmlns:a16="http://schemas.microsoft.com/office/drawing/2014/main" id="{D2352865-8F21-E6E0-FD20-D787F797EDEB}"/>
              </a:ext>
            </a:extLst>
          </p:cNvPr>
          <p:cNvPicPr>
            <a:picLocks noChangeAspect="1"/>
          </p:cNvPicPr>
          <p:nvPr/>
        </p:nvPicPr>
        <p:blipFill>
          <a:blip r:embed="rId3">
            <a:alphaModFix amt="35000"/>
          </a:blip>
          <a:srcRect/>
          <a:stretch>
            <a:fillRect/>
          </a:stretch>
        </p:blipFill>
        <p:spPr>
          <a:xfrm>
            <a:off x="20" y="10"/>
            <a:ext cx="12191980" cy="6857990"/>
          </a:xfrm>
          <a:prstGeom prst="rect">
            <a:avLst/>
          </a:prstGeom>
        </p:spPr>
      </p:pic>
      <p:sp>
        <p:nvSpPr>
          <p:cNvPr id="3" name="Content Placeholder 2">
            <a:extLst>
              <a:ext uri="{FF2B5EF4-FFF2-40B4-BE49-F238E27FC236}">
                <a16:creationId xmlns:a16="http://schemas.microsoft.com/office/drawing/2014/main" id="{9852179B-134B-EDFB-873E-6B4C108E4375}"/>
              </a:ext>
            </a:extLst>
          </p:cNvPr>
          <p:cNvSpPr>
            <a:spLocks noGrp="1"/>
          </p:cNvSpPr>
          <p:nvPr>
            <p:ph idx="1"/>
          </p:nvPr>
        </p:nvSpPr>
        <p:spPr>
          <a:xfrm>
            <a:off x="838200" y="1109272"/>
            <a:ext cx="10515600" cy="5067691"/>
          </a:xfrm>
        </p:spPr>
        <p:txBody>
          <a:bodyPr>
            <a:normAutofit/>
          </a:bodyPr>
          <a:lstStyle/>
          <a:p>
            <a:pPr marL="0" indent="0">
              <a:lnSpc>
                <a:spcPct val="150000"/>
              </a:lnSpc>
              <a:buNone/>
            </a:pPr>
            <a:r>
              <a:rPr lang="en-GB" sz="2400" i="1" dirty="0">
                <a:solidFill>
                  <a:srgbClr val="FFFFFF"/>
                </a:solidFill>
                <a:latin typeface="Cordia New" panose="020B0304020202020204" pitchFamily="34" charset="-34"/>
                <a:cs typeface="Cordia New" panose="020B0304020202020204" pitchFamily="34" charset="-34"/>
              </a:rPr>
              <a:t>In private healthcare, people often pay with money.  They pay for quicker appointment, faster referrals and faster access to the best medical care.  In state/public healthcare, many people pay with something else, their time.  Hours spent in queues, sometimes months waiting for specialist care. But mental health introduces an additional complexity.  Even with the best treatment and quickest access to care, recovery is not always immediate.  Mental illness does not follow predictable timelines. Recovery often requires sustained support, patience and stability.  When care is delayed, that lost time can deepen the suffering and disrupt work, education and family life.  Ultimately access to healthcare determines who gets more time, not just to be treated, but time to recover live well and longer.  So when we contend for health, what are a really fighting for is more time and the ability to make the most of that time.</a:t>
            </a:r>
          </a:p>
          <a:p>
            <a:endParaRPr lang="en-GB" sz="2200" dirty="0">
              <a:solidFill>
                <a:srgbClr val="FFFFFF"/>
              </a:solidFill>
            </a:endParaRPr>
          </a:p>
          <a:p>
            <a:endParaRPr lang="en-GB" sz="2200" dirty="0">
              <a:solidFill>
                <a:srgbClr val="FFFFFF"/>
              </a:solidFill>
            </a:endParaRPr>
          </a:p>
        </p:txBody>
      </p:sp>
    </p:spTree>
    <p:extLst>
      <p:ext uri="{BB962C8B-B14F-4D97-AF65-F5344CB8AC3E}">
        <p14:creationId xmlns:p14="http://schemas.microsoft.com/office/powerpoint/2010/main" val="2589666864"/>
      </p:ext>
    </p:extLst>
  </p:cSld>
  <p:clrMapOvr>
    <a:overrideClrMapping bg1="dk1" tx1="lt1" bg2="dk2" tx2="lt2" accent1="accent1" accent2="accent2" accent3="accent3" accent4="accent4" accent5="accent5" accent6="accent6" hlink="hlink" folHlink="folHlink"/>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8F4AFFA4-6D02-2875-BC6D-40FD25F25D64}"/>
              </a:ext>
            </a:extLst>
          </p:cNvPr>
          <p:cNvSpPr>
            <a:spLocks noGrp="1"/>
          </p:cNvSpPr>
          <p:nvPr>
            <p:ph type="title"/>
          </p:nvPr>
        </p:nvSpPr>
        <p:spPr/>
        <p:txBody>
          <a:bodyPr/>
          <a:lstStyle/>
          <a:p>
            <a:r>
              <a:rPr lang="en-GB" dirty="0"/>
              <a:t>Resources.</a:t>
            </a:r>
          </a:p>
        </p:txBody>
      </p:sp>
      <p:sp>
        <p:nvSpPr>
          <p:cNvPr id="5" name="Rectangle 2">
            <a:extLst>
              <a:ext uri="{FF2B5EF4-FFF2-40B4-BE49-F238E27FC236}">
                <a16:creationId xmlns:a16="http://schemas.microsoft.com/office/drawing/2014/main" id="{E1D32261-4C75-2D11-18B9-F23BED6E9C06}"/>
              </a:ext>
            </a:extLst>
          </p:cNvPr>
          <p:cNvSpPr>
            <a:spLocks noGrp="1" noChangeArrowheads="1"/>
          </p:cNvSpPr>
          <p:nvPr>
            <p:ph sz="half" idx="1"/>
          </p:nvPr>
        </p:nvSpPr>
        <p:spPr bwMode="auto">
          <a:xfrm>
            <a:off x="838201" y="1690688"/>
            <a:ext cx="5181600" cy="49552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effectLst/>
                <a:latin typeface="+mn-lt"/>
                <a:cs typeface="Arial" panose="020B0604020202020204" pitchFamily="34" charset="0"/>
              </a:rPr>
              <a:t>24-HOUR TOLL-FREE EMERGENCY HELPLINES</a:t>
            </a:r>
            <a:endParaRPr kumimoji="0" lang="en-US" altLang="en-US" sz="1400" b="0" i="0" u="none" strike="noStrike" cap="none" normalizeH="0" baseline="0" dirty="0">
              <a:ln>
                <a:noFill/>
              </a:ln>
              <a:effectLst/>
              <a:latin typeface="+mn-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effectLst/>
                <a:latin typeface="+mn-lt"/>
                <a:cs typeface="Arial" panose="020B0604020202020204" pitchFamily="34" charset="0"/>
              </a:rPr>
              <a:t>Suicide Crisis Helpline</a:t>
            </a:r>
            <a:br>
              <a:rPr kumimoji="0" lang="en-US" altLang="en-US" sz="1400" b="1" i="0" u="none" strike="noStrike" cap="none" normalizeH="0" baseline="0" dirty="0">
                <a:ln>
                  <a:noFill/>
                </a:ln>
                <a:effectLst/>
                <a:latin typeface="+mn-lt"/>
                <a:cs typeface="Arial" panose="020B0604020202020204" pitchFamily="34" charset="0"/>
              </a:rPr>
            </a:br>
            <a:r>
              <a:rPr kumimoji="0" lang="en-US" altLang="en-US" sz="1400" b="0" i="0" u="none" strike="noStrike" cap="none" normalizeH="0" baseline="0" dirty="0">
                <a:ln>
                  <a:noFill/>
                </a:ln>
                <a:effectLst/>
                <a:latin typeface="+mn-lt"/>
                <a:cs typeface="Arial" panose="020B0604020202020204" pitchFamily="34" charset="0"/>
              </a:rPr>
              <a:t>0800 567 567</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effectLst/>
              <a:latin typeface="+mn-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effectLst/>
                <a:latin typeface="+mn-lt"/>
                <a:cs typeface="Arial" panose="020B0604020202020204" pitchFamily="34" charset="0"/>
              </a:rPr>
              <a:t>Department of Social Development Substance Abuse Helpline</a:t>
            </a:r>
            <a:br>
              <a:rPr kumimoji="0" lang="en-US" altLang="en-US" sz="1400" b="0" i="0" u="none" strike="noStrike" cap="none" normalizeH="0" baseline="0" dirty="0">
                <a:ln>
                  <a:noFill/>
                </a:ln>
                <a:effectLst/>
                <a:latin typeface="+mn-lt"/>
                <a:cs typeface="Arial" panose="020B0604020202020204" pitchFamily="34" charset="0"/>
              </a:rPr>
            </a:br>
            <a:r>
              <a:rPr kumimoji="0" lang="en-US" altLang="en-US" sz="1400" b="0" i="0" u="none" strike="noStrike" cap="none" normalizeH="0" baseline="0" dirty="0">
                <a:ln>
                  <a:noFill/>
                </a:ln>
                <a:effectLst/>
                <a:latin typeface="+mn-lt"/>
                <a:cs typeface="Arial" panose="020B0604020202020204" pitchFamily="34" charset="0"/>
              </a:rPr>
              <a:t>0800 12 13 14</a:t>
            </a:r>
            <a:br>
              <a:rPr kumimoji="0" lang="en-US" altLang="en-US" sz="1400" b="0" i="0" u="none" strike="noStrike" cap="none" normalizeH="0" baseline="0" dirty="0">
                <a:ln>
                  <a:noFill/>
                </a:ln>
                <a:effectLst/>
                <a:latin typeface="+mn-lt"/>
                <a:cs typeface="Arial" panose="020B0604020202020204" pitchFamily="34" charset="0"/>
              </a:rPr>
            </a:br>
            <a:r>
              <a:rPr kumimoji="0" lang="en-US" altLang="en-US" sz="1400" b="0" i="0" u="none" strike="noStrike" cap="none" normalizeH="0" baseline="0" dirty="0">
                <a:ln>
                  <a:noFill/>
                </a:ln>
                <a:effectLst/>
                <a:latin typeface="+mn-lt"/>
                <a:cs typeface="Arial" panose="020B0604020202020204" pitchFamily="34" charset="0"/>
              </a:rPr>
              <a:t>SMS 32312</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effectLst/>
              <a:latin typeface="+mn-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effectLst/>
                <a:latin typeface="+mn-lt"/>
                <a:cs typeface="Arial" panose="020B0604020202020204" pitchFamily="34" charset="0"/>
              </a:rPr>
              <a:t>Cipla Mental Health Helpline</a:t>
            </a:r>
            <a:br>
              <a:rPr kumimoji="0" lang="en-US" altLang="en-US" sz="1400" b="0" i="0" u="none" strike="noStrike" cap="none" normalizeH="0" baseline="0" dirty="0">
                <a:ln>
                  <a:noFill/>
                </a:ln>
                <a:effectLst/>
                <a:latin typeface="+mn-lt"/>
                <a:cs typeface="Arial" panose="020B0604020202020204" pitchFamily="34" charset="0"/>
              </a:rPr>
            </a:br>
            <a:r>
              <a:rPr kumimoji="0" lang="en-US" altLang="en-US" sz="1400" b="0" i="0" u="none" strike="noStrike" cap="none" normalizeH="0" baseline="0" dirty="0">
                <a:ln>
                  <a:noFill/>
                </a:ln>
                <a:effectLst/>
                <a:latin typeface="+mn-lt"/>
                <a:cs typeface="Arial" panose="020B0604020202020204" pitchFamily="34" charset="0"/>
              </a:rPr>
              <a:t>0800 456 789</a:t>
            </a:r>
            <a:br>
              <a:rPr kumimoji="0" lang="en-US" altLang="en-US" sz="1400" b="0" i="0" u="none" strike="noStrike" cap="none" normalizeH="0" baseline="0" dirty="0">
                <a:ln>
                  <a:noFill/>
                </a:ln>
                <a:effectLst/>
                <a:latin typeface="+mn-lt"/>
                <a:cs typeface="Arial" panose="020B0604020202020204" pitchFamily="34" charset="0"/>
              </a:rPr>
            </a:br>
            <a:r>
              <a:rPr kumimoji="0" lang="en-US" altLang="en-US" sz="1400" b="0" i="0" u="none" strike="noStrike" cap="none" normalizeH="0" baseline="0" dirty="0">
                <a:ln>
                  <a:noFill/>
                </a:ln>
                <a:effectLst/>
                <a:latin typeface="+mn-lt"/>
                <a:cs typeface="Arial" panose="020B0604020202020204" pitchFamily="34" charset="0"/>
              </a:rPr>
              <a:t>SMS 31393</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effectLst/>
              <a:latin typeface="+mn-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err="1">
                <a:ln>
                  <a:noFill/>
                </a:ln>
                <a:effectLst/>
                <a:latin typeface="+mn-lt"/>
                <a:cs typeface="Arial" panose="020B0604020202020204" pitchFamily="34" charset="0"/>
              </a:rPr>
              <a:t>NPOwer</a:t>
            </a:r>
            <a:r>
              <a:rPr kumimoji="0" lang="en-US" altLang="en-US" sz="1400" b="1" i="0" u="none" strike="noStrike" cap="none" normalizeH="0" baseline="0" dirty="0">
                <a:ln>
                  <a:noFill/>
                </a:ln>
                <a:effectLst/>
                <a:latin typeface="+mn-lt"/>
                <a:cs typeface="Arial" panose="020B0604020202020204" pitchFamily="34" charset="0"/>
              </a:rPr>
              <a:t> SA Helpline</a:t>
            </a:r>
            <a:br>
              <a:rPr kumimoji="0" lang="en-US" altLang="en-US" sz="1400" b="0" i="0" u="none" strike="noStrike" cap="none" normalizeH="0" baseline="0" dirty="0">
                <a:ln>
                  <a:noFill/>
                </a:ln>
                <a:effectLst/>
                <a:latin typeface="+mn-lt"/>
                <a:cs typeface="Arial" panose="020B0604020202020204" pitchFamily="34" charset="0"/>
              </a:rPr>
            </a:br>
            <a:r>
              <a:rPr kumimoji="0" lang="en-US" altLang="en-US" sz="1400" b="0" i="0" u="none" strike="noStrike" cap="none" normalizeH="0" baseline="0" dirty="0">
                <a:ln>
                  <a:noFill/>
                </a:ln>
                <a:effectLst/>
                <a:latin typeface="+mn-lt"/>
                <a:cs typeface="Arial" panose="020B0604020202020204" pitchFamily="34" charset="0"/>
              </a:rPr>
              <a:t>0800 515 515 </a:t>
            </a:r>
            <a:br>
              <a:rPr kumimoji="0" lang="en-US" altLang="en-US" sz="1400" b="0" i="0" u="none" strike="noStrike" cap="none" normalizeH="0" baseline="0" dirty="0">
                <a:ln>
                  <a:noFill/>
                </a:ln>
                <a:effectLst/>
                <a:latin typeface="+mn-lt"/>
                <a:cs typeface="Arial" panose="020B0604020202020204" pitchFamily="34" charset="0"/>
              </a:rPr>
            </a:br>
            <a:r>
              <a:rPr kumimoji="0" lang="en-US" altLang="en-US" sz="1400" b="0" i="0" u="none" strike="noStrike" cap="none" normalizeH="0" baseline="0" dirty="0">
                <a:ln>
                  <a:noFill/>
                </a:ln>
                <a:effectLst/>
                <a:latin typeface="+mn-lt"/>
                <a:cs typeface="Arial" panose="020B0604020202020204" pitchFamily="34" charset="0"/>
              </a:rPr>
              <a:t>SMS 43010</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effectLst/>
              <a:latin typeface="+mn-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effectLst/>
                <a:latin typeface="+mn-lt"/>
                <a:cs typeface="Arial" panose="020B0604020202020204" pitchFamily="34" charset="0"/>
              </a:rPr>
              <a:t>Healthcare Workers Care Network Helpline</a:t>
            </a:r>
            <a:br>
              <a:rPr kumimoji="0" lang="en-US" altLang="en-US" sz="1400" b="0" i="0" u="none" strike="noStrike" cap="none" normalizeH="0" baseline="0" dirty="0">
                <a:ln>
                  <a:noFill/>
                </a:ln>
                <a:effectLst/>
                <a:latin typeface="+mn-lt"/>
                <a:cs typeface="Arial" panose="020B0604020202020204" pitchFamily="34" charset="0"/>
              </a:rPr>
            </a:br>
            <a:r>
              <a:rPr kumimoji="0" lang="en-US" altLang="en-US" sz="1400" b="0" i="0" u="none" strike="noStrike" cap="none" normalizeH="0" baseline="0" dirty="0">
                <a:ln>
                  <a:noFill/>
                </a:ln>
                <a:effectLst/>
                <a:latin typeface="+mn-lt"/>
                <a:cs typeface="Arial" panose="020B0604020202020204" pitchFamily="34" charset="0"/>
              </a:rPr>
              <a:t>0800 21 21 21</a:t>
            </a:r>
            <a:br>
              <a:rPr kumimoji="0" lang="en-US" altLang="en-US" sz="1400" b="0" i="0" u="none" strike="noStrike" cap="none" normalizeH="0" baseline="0" dirty="0">
                <a:ln>
                  <a:noFill/>
                </a:ln>
                <a:effectLst/>
                <a:latin typeface="+mn-lt"/>
                <a:cs typeface="Arial" panose="020B0604020202020204" pitchFamily="34" charset="0"/>
              </a:rPr>
            </a:br>
            <a:r>
              <a:rPr kumimoji="0" lang="en-US" altLang="en-US" sz="1400" b="0" i="0" u="none" strike="noStrike" cap="none" normalizeH="0" baseline="0" dirty="0">
                <a:ln>
                  <a:noFill/>
                </a:ln>
                <a:effectLst/>
                <a:latin typeface="+mn-lt"/>
                <a:cs typeface="Arial" panose="020B0604020202020204" pitchFamily="34" charset="0"/>
              </a:rPr>
              <a:t>SMS 43001</a:t>
            </a:r>
            <a:endParaRPr kumimoji="0" lang="en-US" altLang="en-US" sz="1400" b="0" i="0" u="none" strike="noStrike" cap="none" normalizeH="0" baseline="0" dirty="0">
              <a:ln>
                <a:noFill/>
              </a:ln>
              <a:effectLst/>
              <a:latin typeface="+mn-lt"/>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dirty="0">
                <a:ln>
                  <a:noFill/>
                </a:ln>
                <a:solidFill>
                  <a:schemeClr val="tx1"/>
                </a:solidFill>
                <a:effectLst/>
                <a:latin typeface="Arial" panose="020B0604020202020204" pitchFamily="34" charset="0"/>
              </a:rPr>
            </a:b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Content Placeholder 6">
            <a:extLst>
              <a:ext uri="{FF2B5EF4-FFF2-40B4-BE49-F238E27FC236}">
                <a16:creationId xmlns:a16="http://schemas.microsoft.com/office/drawing/2014/main" id="{CD072F77-1C3C-3A12-029B-277A59B97549}"/>
              </a:ext>
            </a:extLst>
          </p:cNvPr>
          <p:cNvSpPr>
            <a:spLocks noGrp="1"/>
          </p:cNvSpPr>
          <p:nvPr>
            <p:ph sz="half" idx="2"/>
          </p:nvPr>
        </p:nvSpPr>
        <p:spPr/>
        <p:txBody>
          <a:bodyPr>
            <a:normAutofit/>
          </a:bodyPr>
          <a:lstStyle/>
          <a:p>
            <a:pPr marL="0" indent="0">
              <a:buNone/>
            </a:pPr>
            <a:r>
              <a:rPr lang="en-GB" sz="1600" b="1" dirty="0"/>
              <a:t>South African Society Of Psychiatrists (SASOP).</a:t>
            </a:r>
          </a:p>
          <a:p>
            <a:pPr marL="0" indent="0">
              <a:buNone/>
            </a:pPr>
            <a:endParaRPr lang="en-GB" sz="1600" b="1" dirty="0"/>
          </a:p>
          <a:p>
            <a:pPr marL="0" indent="0">
              <a:buNone/>
            </a:pPr>
            <a:r>
              <a:rPr lang="en-GB" sz="1600" b="1" dirty="0"/>
              <a:t>UFS #Fair Kitchens Chefs Helpline</a:t>
            </a:r>
            <a:br>
              <a:rPr lang="en-GB" sz="1600" dirty="0"/>
            </a:br>
            <a:r>
              <a:rPr lang="en-GB" sz="1600" dirty="0"/>
              <a:t>0800 006 333</a:t>
            </a:r>
          </a:p>
          <a:p>
            <a:pPr marL="0" indent="0">
              <a:buNone/>
            </a:pPr>
            <a:endParaRPr lang="en-GB" sz="1600" dirty="0"/>
          </a:p>
          <a:p>
            <a:pPr marL="0" indent="0">
              <a:buNone/>
            </a:pPr>
            <a:r>
              <a:rPr lang="en-GB" sz="1600" b="1" dirty="0"/>
              <a:t>Cipla Chat Line</a:t>
            </a:r>
          </a:p>
          <a:p>
            <a:pPr marL="0" indent="0">
              <a:buNone/>
            </a:pPr>
            <a:r>
              <a:rPr lang="en-GB" sz="1600" dirty="0"/>
              <a:t>076 882 2775</a:t>
            </a:r>
          </a:p>
          <a:p>
            <a:pPr marL="0" indent="0">
              <a:buNone/>
            </a:pPr>
            <a:endParaRPr lang="en-GB" sz="1600" dirty="0"/>
          </a:p>
          <a:p>
            <a:pPr marL="0" indent="0">
              <a:buNone/>
            </a:pPr>
            <a:r>
              <a:rPr lang="en-GB" sz="1600" b="1" dirty="0"/>
              <a:t>Maybelline </a:t>
            </a:r>
            <a:r>
              <a:rPr lang="en-GB" sz="1600" b="1" dirty="0" err="1"/>
              <a:t>BraveTogether</a:t>
            </a:r>
            <a:endParaRPr lang="en-GB" sz="1600" b="1" dirty="0"/>
          </a:p>
          <a:p>
            <a:pPr marL="0" indent="0">
              <a:buNone/>
            </a:pPr>
            <a:r>
              <a:rPr lang="en-GB" sz="1600" dirty="0"/>
              <a:t>087 163 2030</a:t>
            </a:r>
          </a:p>
          <a:p>
            <a:pPr marL="0" indent="0">
              <a:buNone/>
            </a:pPr>
            <a:endParaRPr lang="en-GB" sz="1600" dirty="0"/>
          </a:p>
          <a:p>
            <a:pPr marL="0" indent="0">
              <a:buNone/>
            </a:pPr>
            <a:r>
              <a:rPr lang="en-GB" sz="1600" b="1" dirty="0"/>
              <a:t>SMS (SADAG)</a:t>
            </a:r>
          </a:p>
          <a:p>
            <a:pPr marL="0" indent="0">
              <a:buNone/>
            </a:pPr>
            <a:r>
              <a:rPr lang="en-GB" sz="1600" dirty="0"/>
              <a:t>31393</a:t>
            </a:r>
          </a:p>
          <a:p>
            <a:endParaRPr lang="en-GB" dirty="0"/>
          </a:p>
        </p:txBody>
      </p:sp>
      <p:pic>
        <p:nvPicPr>
          <p:cNvPr id="12" name="Picture 11" descr="Digital art of brain">
            <a:extLst>
              <a:ext uri="{FF2B5EF4-FFF2-40B4-BE49-F238E27FC236}">
                <a16:creationId xmlns:a16="http://schemas.microsoft.com/office/drawing/2014/main" id="{80FCB357-873E-199E-E2A2-21D269046DD1}"/>
              </a:ext>
            </a:extLst>
          </p:cNvPr>
          <p:cNvPicPr>
            <a:picLocks noChangeAspect="1"/>
          </p:cNvPicPr>
          <p:nvPr/>
        </p:nvPicPr>
        <p:blipFill>
          <a:blip r:embed="rId3">
            <a:alphaModFix amt="35000"/>
          </a:blip>
          <a:srcRect/>
          <a:stretch>
            <a:fillRect/>
          </a:stretch>
        </p:blipFill>
        <p:spPr>
          <a:xfrm>
            <a:off x="20" y="10"/>
            <a:ext cx="12191980" cy="6857990"/>
          </a:xfrm>
          <a:prstGeom prst="rect">
            <a:avLst/>
          </a:prstGeom>
        </p:spPr>
      </p:pic>
    </p:spTree>
    <p:extLst>
      <p:ext uri="{BB962C8B-B14F-4D97-AF65-F5344CB8AC3E}">
        <p14:creationId xmlns:p14="http://schemas.microsoft.com/office/powerpoint/2010/main" val="66488681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9228552E-C8B1-4A80-8448-0787CE0FC7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Files in folders">
            <a:extLst>
              <a:ext uri="{FF2B5EF4-FFF2-40B4-BE49-F238E27FC236}">
                <a16:creationId xmlns:a16="http://schemas.microsoft.com/office/drawing/2014/main" id="{3F3A2D10-DB07-4950-F709-08E5B5B7D819}"/>
              </a:ext>
            </a:extLst>
          </p:cNvPr>
          <p:cNvPicPr>
            <a:picLocks noChangeAspect="1"/>
          </p:cNvPicPr>
          <p:nvPr/>
        </p:nvPicPr>
        <p:blipFill>
          <a:blip r:embed="rId3">
            <a:alphaModFix amt="35000"/>
          </a:blip>
          <a:srcRect t="3026" b="12704"/>
          <a:stretch>
            <a:fill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24B6764F-BA08-9BEF-48A2-F0369F85A75E}"/>
              </a:ext>
            </a:extLst>
          </p:cNvPr>
          <p:cNvSpPr>
            <a:spLocks noGrp="1"/>
          </p:cNvSpPr>
          <p:nvPr>
            <p:ph type="title"/>
          </p:nvPr>
        </p:nvSpPr>
        <p:spPr>
          <a:xfrm>
            <a:off x="838200" y="365125"/>
            <a:ext cx="10515600" cy="1325563"/>
          </a:xfrm>
        </p:spPr>
        <p:txBody>
          <a:bodyPr>
            <a:normAutofit/>
          </a:bodyPr>
          <a:lstStyle/>
          <a:p>
            <a:r>
              <a:rPr lang="en-GB">
                <a:solidFill>
                  <a:srgbClr val="FFFFFF"/>
                </a:solidFill>
              </a:rPr>
              <a:t>References </a:t>
            </a:r>
            <a:br>
              <a:rPr lang="en-GB">
                <a:solidFill>
                  <a:srgbClr val="FFFFFF"/>
                </a:solidFill>
              </a:rPr>
            </a:br>
            <a:endParaRPr lang="en-GB">
              <a:solidFill>
                <a:srgbClr val="FFFFFF"/>
              </a:solidFill>
            </a:endParaRPr>
          </a:p>
        </p:txBody>
      </p:sp>
      <p:sp>
        <p:nvSpPr>
          <p:cNvPr id="3" name="Content Placeholder 2">
            <a:extLst>
              <a:ext uri="{FF2B5EF4-FFF2-40B4-BE49-F238E27FC236}">
                <a16:creationId xmlns:a16="http://schemas.microsoft.com/office/drawing/2014/main" id="{DAC06E19-74ED-26F6-7622-8D40E1DAE7EC}"/>
              </a:ext>
            </a:extLst>
          </p:cNvPr>
          <p:cNvSpPr>
            <a:spLocks noGrp="1"/>
          </p:cNvSpPr>
          <p:nvPr>
            <p:ph idx="1"/>
          </p:nvPr>
        </p:nvSpPr>
        <p:spPr>
          <a:xfrm>
            <a:off x="838200" y="1031630"/>
            <a:ext cx="10814538" cy="5603632"/>
          </a:xfrm>
        </p:spPr>
        <p:txBody>
          <a:bodyPr>
            <a:normAutofit/>
          </a:bodyPr>
          <a:lstStyle/>
          <a:p>
            <a:pPr>
              <a:buFont typeface="+mj-lt"/>
              <a:buAutoNum type="arabicPeriod"/>
            </a:pPr>
            <a:r>
              <a:rPr lang="en-GB" sz="1200" dirty="0">
                <a:solidFill>
                  <a:srgbClr val="FFFFFF"/>
                </a:solidFill>
              </a:rPr>
              <a:t>World Health Organization.  World mental today: global estimates and trends in mental health conditions.  Geneva: World Health Organization;2025 </a:t>
            </a:r>
          </a:p>
          <a:p>
            <a:pPr>
              <a:buFont typeface="+mj-lt"/>
              <a:buAutoNum type="arabicPeriod"/>
            </a:pPr>
            <a:r>
              <a:rPr lang="en-GB" sz="1200" dirty="0">
                <a:solidFill>
                  <a:srgbClr val="FFFFFF"/>
                </a:solidFill>
              </a:rPr>
              <a:t>World Health Organization. Multi-sectoral action for mental health: thematic brief on mental health. Geneva: World Health Organization; 2018.</a:t>
            </a:r>
          </a:p>
          <a:p>
            <a:pPr>
              <a:buFont typeface="+mj-lt"/>
              <a:buAutoNum type="arabicPeriod"/>
            </a:pPr>
            <a:r>
              <a:rPr lang="en-GB" sz="1200" dirty="0">
                <a:solidFill>
                  <a:srgbClr val="FFFFFF"/>
                </a:solidFill>
              </a:rPr>
              <a:t>National Mental health Policy Framework 2023-2030 ( online PDF, government publication).  Department of Health, Republic of South Africa.  National Mental Health Policy Framework and Strategic Plan 2023-2030. Pretoria: Department of Health;2023.</a:t>
            </a:r>
          </a:p>
          <a:p>
            <a:pPr>
              <a:buFont typeface="+mj-lt"/>
              <a:buAutoNum type="arabicPeriod"/>
            </a:pPr>
            <a:r>
              <a:rPr lang="en-GB" sz="1200" dirty="0">
                <a:solidFill>
                  <a:srgbClr val="FFFFFF"/>
                </a:solidFill>
              </a:rPr>
              <a:t>American Psychiatric Association. Diagnostic and statistical manual of mental disorders. 5</a:t>
            </a:r>
            <a:r>
              <a:rPr lang="en-GB" sz="1200" baseline="30000" dirty="0">
                <a:solidFill>
                  <a:srgbClr val="FFFFFF"/>
                </a:solidFill>
              </a:rPr>
              <a:t>th</a:t>
            </a:r>
            <a:r>
              <a:rPr lang="en-GB" sz="1200" dirty="0">
                <a:solidFill>
                  <a:srgbClr val="FFFFFF"/>
                </a:solidFill>
              </a:rPr>
              <a:t> ed., text rev. Arlington (VA): American Psychiatric Association; 2022.</a:t>
            </a:r>
          </a:p>
          <a:p>
            <a:pPr>
              <a:buFont typeface="+mj-lt"/>
              <a:buAutoNum type="arabicPeriod"/>
            </a:pPr>
            <a:r>
              <a:rPr lang="en-GB" sz="1200" dirty="0" err="1">
                <a:solidFill>
                  <a:srgbClr val="FFFFFF"/>
                </a:solidFill>
              </a:rPr>
              <a:t>Docrat</a:t>
            </a:r>
            <a:r>
              <a:rPr lang="en-GB" sz="1200" dirty="0">
                <a:solidFill>
                  <a:srgbClr val="FFFFFF"/>
                </a:solidFill>
              </a:rPr>
              <a:t> S, Besada D, Cleary S, Daviaud E, Lund C. Mental health system costs, resources and constraints in South Africa: a national survey. Health Policy Plan 2019; 34: 706–19.</a:t>
            </a:r>
          </a:p>
          <a:p>
            <a:pPr>
              <a:buFont typeface="+mj-lt"/>
              <a:buAutoNum type="arabicPeriod"/>
            </a:pPr>
            <a:r>
              <a:rPr lang="en-GB" sz="1200" dirty="0">
                <a:solidFill>
                  <a:srgbClr val="FFFFFF"/>
                </a:solidFill>
              </a:rPr>
              <a:t>Morar T, </a:t>
            </a:r>
            <a:r>
              <a:rPr lang="en-GB" sz="1200" dirty="0" err="1">
                <a:solidFill>
                  <a:srgbClr val="FFFFFF"/>
                </a:solidFill>
              </a:rPr>
              <a:t>Breedt</a:t>
            </a:r>
            <a:r>
              <a:rPr lang="en-GB" sz="1200" dirty="0">
                <a:solidFill>
                  <a:srgbClr val="FFFFFF"/>
                </a:solidFill>
              </a:rPr>
              <a:t> JE, Mdaka N, </a:t>
            </a:r>
            <a:r>
              <a:rPr lang="en-GB" sz="1200" dirty="0" err="1">
                <a:solidFill>
                  <a:srgbClr val="FFFFFF"/>
                </a:solidFill>
              </a:rPr>
              <a:t>Maaroganye</a:t>
            </a:r>
            <a:r>
              <a:rPr lang="en-GB" sz="1200" dirty="0">
                <a:solidFill>
                  <a:srgbClr val="FFFFFF"/>
                </a:solidFill>
              </a:rPr>
              <a:t> K, Robertson L. Is mental health in South Africa moving forward? </a:t>
            </a:r>
            <a:r>
              <a:rPr lang="en-GB" sz="1200" dirty="0" err="1">
                <a:solidFill>
                  <a:srgbClr val="FFFFFF"/>
                </a:solidFill>
              </a:rPr>
              <a:t>BJPsych</a:t>
            </a:r>
            <a:r>
              <a:rPr lang="en-GB" sz="1200" dirty="0">
                <a:solidFill>
                  <a:srgbClr val="FFFFFF"/>
                </a:solidFill>
              </a:rPr>
              <a:t> International. 2024;21(1):1-3. doi:10.1192/bji.2023.32</a:t>
            </a:r>
          </a:p>
          <a:p>
            <a:pPr>
              <a:buFont typeface="+mj-lt"/>
              <a:buAutoNum type="arabicPeriod"/>
            </a:pPr>
            <a:r>
              <a:rPr lang="en-GB" sz="1200" dirty="0">
                <a:solidFill>
                  <a:srgbClr val="FFFFFF"/>
                </a:solidFill>
              </a:rPr>
              <a:t>Herman AA, Williams DR, Stein DJ, Seedat S, Heeringa S, </a:t>
            </a:r>
            <a:r>
              <a:rPr lang="en-GB" sz="1200" dirty="0" err="1">
                <a:solidFill>
                  <a:srgbClr val="FFFFFF"/>
                </a:solidFill>
              </a:rPr>
              <a:t>Moomal</a:t>
            </a:r>
            <a:r>
              <a:rPr lang="en-GB" sz="1200" dirty="0">
                <a:solidFill>
                  <a:srgbClr val="FFFFFF"/>
                </a:solidFill>
              </a:rPr>
              <a:t> H. The South African Stress and Health study (SASH). S </a:t>
            </a:r>
            <a:r>
              <a:rPr lang="en-GB" sz="1200" dirty="0" err="1">
                <a:solidFill>
                  <a:srgbClr val="FFFFFF"/>
                </a:solidFill>
              </a:rPr>
              <a:t>Afr</a:t>
            </a:r>
            <a:r>
              <a:rPr lang="en-GB" sz="1200" dirty="0">
                <a:solidFill>
                  <a:srgbClr val="FFFFFF"/>
                </a:solidFill>
              </a:rPr>
              <a:t> Med J 2009;99(5):339–44.</a:t>
            </a:r>
          </a:p>
          <a:p>
            <a:pPr>
              <a:buFont typeface="+mj-lt"/>
              <a:buAutoNum type="arabicPeriod"/>
            </a:pPr>
            <a:r>
              <a:rPr lang="en-GB" sz="1200" dirty="0">
                <a:solidFill>
                  <a:srgbClr val="FFFFFF"/>
                </a:solidFill>
              </a:rPr>
              <a:t>South African Society of Psychiatrist. Mental health care out of reach from most South African[Internet]. Johannesburg:SASOP;2025</a:t>
            </a:r>
          </a:p>
          <a:p>
            <a:pPr>
              <a:buFont typeface="+mj-lt"/>
              <a:buAutoNum type="arabicPeriod"/>
            </a:pPr>
            <a:r>
              <a:rPr lang="en-GB" sz="1200" dirty="0">
                <a:solidFill>
                  <a:srgbClr val="FFFFFF"/>
                </a:solidFill>
              </a:rPr>
              <a:t>Criminal procedure Act 51 of 1977. Republic of South Africa. </a:t>
            </a:r>
          </a:p>
          <a:p>
            <a:pPr>
              <a:buFont typeface="+mj-lt"/>
              <a:buAutoNum type="arabicPeriod"/>
            </a:pPr>
            <a:r>
              <a:rPr lang="en-GB" sz="1200" dirty="0">
                <a:solidFill>
                  <a:srgbClr val="FFFFFF"/>
                </a:solidFill>
              </a:rPr>
              <a:t>Firearms Controls Act 60 of 2000. Republic of South Africa</a:t>
            </a:r>
          </a:p>
          <a:p>
            <a:pPr>
              <a:buFont typeface="+mj-lt"/>
              <a:buAutoNum type="arabicPeriod"/>
            </a:pPr>
            <a:r>
              <a:rPr lang="en-GB" sz="1200" dirty="0">
                <a:solidFill>
                  <a:srgbClr val="FFFFFF"/>
                </a:solidFill>
              </a:rPr>
              <a:t>Child Justice Act 75 of 2008. Republic of South Africa</a:t>
            </a:r>
          </a:p>
          <a:p>
            <a:pPr>
              <a:buFont typeface="+mj-lt"/>
              <a:buAutoNum type="arabicPeriod"/>
            </a:pPr>
            <a:r>
              <a:rPr lang="en-GB" sz="1200" dirty="0">
                <a:solidFill>
                  <a:srgbClr val="FFFFFF"/>
                </a:solidFill>
              </a:rPr>
              <a:t>Labour Relations Act 66 of 1995. Republic of South Africa</a:t>
            </a:r>
          </a:p>
          <a:p>
            <a:pPr>
              <a:buFont typeface="+mj-lt"/>
              <a:buAutoNum type="arabicPeriod"/>
            </a:pPr>
            <a:r>
              <a:rPr lang="en-GB" sz="1200" dirty="0">
                <a:solidFill>
                  <a:srgbClr val="FFFFFF"/>
                </a:solidFill>
              </a:rPr>
              <a:t>Basic Conditions of Employment Act 75 of 1997.</a:t>
            </a:r>
          </a:p>
          <a:p>
            <a:pPr>
              <a:buFont typeface="+mj-lt"/>
              <a:buAutoNum type="arabicPeriod"/>
            </a:pPr>
            <a:r>
              <a:rPr lang="en-GB" sz="1200" dirty="0">
                <a:solidFill>
                  <a:srgbClr val="FFFFFF"/>
                </a:solidFill>
              </a:rPr>
              <a:t>Occupational Health Safety Act 85 of 1993. Republic of South Africa</a:t>
            </a:r>
          </a:p>
          <a:p>
            <a:pPr>
              <a:buFont typeface="+mj-lt"/>
              <a:buAutoNum type="arabicPeriod"/>
            </a:pPr>
            <a:r>
              <a:rPr lang="en-GB" sz="1200" dirty="0">
                <a:solidFill>
                  <a:srgbClr val="FFFFFF"/>
                </a:solidFill>
              </a:rPr>
              <a:t>South African Schools Act 84 of 1996. Republic of South Africa</a:t>
            </a:r>
          </a:p>
          <a:p>
            <a:pPr marL="0" indent="0">
              <a:buNone/>
            </a:pPr>
            <a:endParaRPr lang="en-GB" sz="1200" dirty="0">
              <a:solidFill>
                <a:srgbClr val="FFFFFF"/>
              </a:solidFill>
            </a:endParaRPr>
          </a:p>
        </p:txBody>
      </p:sp>
    </p:spTree>
    <p:extLst>
      <p:ext uri="{BB962C8B-B14F-4D97-AF65-F5344CB8AC3E}">
        <p14:creationId xmlns:p14="http://schemas.microsoft.com/office/powerpoint/2010/main" val="1069542602"/>
      </p:ext>
    </p:extLst>
  </p:cSld>
  <p:clrMapOvr>
    <a:overrideClrMapping bg1="dk1" tx1="lt1" bg2="dk2" tx2="lt2" accent1="accent1" accent2="accent2" accent3="accent3" accent4="accent4" accent5="accent5" accent6="accent6" hlink="hlink" folHlink="folHlink"/>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1081</TotalTime>
  <Words>5563</Words>
  <Application>Microsoft Macintosh PowerPoint</Application>
  <PresentationFormat>Widescreen</PresentationFormat>
  <Paragraphs>508</Paragraphs>
  <Slides>29</Slides>
  <Notes>29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29</vt:i4>
      </vt:variant>
    </vt:vector>
  </HeadingPairs>
  <TitlesOfParts>
    <vt:vector size="37" baseType="lpstr">
      <vt:lpstr>Aptos</vt:lpstr>
      <vt:lpstr>Aptos Display</vt:lpstr>
      <vt:lpstr>Arial</vt:lpstr>
      <vt:lpstr>Calibri</vt:lpstr>
      <vt:lpstr>Cordia New</vt:lpstr>
      <vt:lpstr>Symbol</vt:lpstr>
      <vt:lpstr>Wingdings</vt:lpstr>
      <vt:lpstr>Office Theme</vt:lpstr>
      <vt:lpstr>Multisectoral Approach to Mental Health.</vt:lpstr>
      <vt:lpstr>Contents  </vt:lpstr>
      <vt:lpstr>Mental health</vt:lpstr>
      <vt:lpstr>Good mental health</vt:lpstr>
      <vt:lpstr>Determinants of good mental health</vt:lpstr>
      <vt:lpstr>Epidemiology </vt:lpstr>
      <vt:lpstr>EPIDEMIOLOGY</vt:lpstr>
      <vt:lpstr>Socio-economic impact of mental illness</vt:lpstr>
      <vt:lpstr>Socio-economic impact of Mental illness.</vt:lpstr>
      <vt:lpstr>Determinant of negative mental health.</vt:lpstr>
      <vt:lpstr>Multisectoral approach </vt:lpstr>
      <vt:lpstr>PowerPoint Presentation</vt:lpstr>
      <vt:lpstr> Justice, Crime prevention and security clusters </vt:lpstr>
      <vt:lpstr>Firearms Control act 60 of 2000 </vt:lpstr>
      <vt:lpstr>Labour law( Labour relations Act, Basic Conditions of Employment Act 7, Occupational Health and Safety Act 85 0f 1993.  </vt:lpstr>
      <vt:lpstr>Child justice act 75 of 2008 </vt:lpstr>
      <vt:lpstr>Education</vt:lpstr>
      <vt:lpstr>Education </vt:lpstr>
      <vt:lpstr>Education </vt:lpstr>
      <vt:lpstr>Education </vt:lpstr>
      <vt:lpstr>Media </vt:lpstr>
      <vt:lpstr>Media </vt:lpstr>
      <vt:lpstr>Media </vt:lpstr>
      <vt:lpstr>Systems challenges</vt:lpstr>
      <vt:lpstr>Resource challenges</vt:lpstr>
      <vt:lpstr>Social and knowledge challenges</vt:lpstr>
      <vt:lpstr>PowerPoint Presentation</vt:lpstr>
      <vt:lpstr>Resources.</vt:lpstr>
      <vt:lpstr>References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Kelebogile Msane</dc:creator>
  <cp:lastModifiedBy>Kelebogile Msane</cp:lastModifiedBy>
  <cp:revision>175</cp:revision>
  <cp:lastPrinted>2026-04-15T15:32:57Z</cp:lastPrinted>
  <dcterms:created xsi:type="dcterms:W3CDTF">2026-04-02T19:31:57Z</dcterms:created>
  <dcterms:modified xsi:type="dcterms:W3CDTF">2026-04-20T13:42:29Z</dcterms:modified>
</cp:coreProperties>
</file>