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webextensions/webextension1.xml" ContentType="application/vnd.ms-office.webextension+xml"/>
  <Override PartName="/ppt/webextensions/webextension2.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3.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79" r:id="rId4"/>
    <p:sldId id="2580" r:id="rId5"/>
    <p:sldId id="258" r:id="rId6"/>
    <p:sldId id="259" r:id="rId7"/>
    <p:sldId id="260" r:id="rId8"/>
    <p:sldId id="261" r:id="rId9"/>
    <p:sldId id="262" r:id="rId10"/>
    <p:sldId id="2578" r:id="rId11"/>
    <p:sldId id="263" r:id="rId12"/>
    <p:sldId id="264" r:id="rId13"/>
    <p:sldId id="2571" r:id="rId14"/>
    <p:sldId id="2574" r:id="rId15"/>
    <p:sldId id="2577"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elhaam Jacobs" userId="14f6ee2820cdadb1" providerId="LiveId" clId="{51665A52-2C40-4613-984E-A9EDE03CF832}"/>
    <pc:docChg chg="custSel delSld modSld">
      <pc:chgData name="Ielhaam Jacobs" userId="14f6ee2820cdadb1" providerId="LiveId" clId="{51665A52-2C40-4613-984E-A9EDE03CF832}" dt="2026-04-20T18:16:07.175" v="449" actId="20577"/>
      <pc:docMkLst>
        <pc:docMk/>
      </pc:docMkLst>
      <pc:sldChg chg="modSp">
        <pc:chgData name="Ielhaam Jacobs" userId="14f6ee2820cdadb1" providerId="LiveId" clId="{51665A52-2C40-4613-984E-A9EDE03CF832}" dt="2026-04-20T18:13:43.119" v="338"/>
        <pc:sldMkLst>
          <pc:docMk/>
          <pc:sldMk cId="3238485368" sldId="257"/>
        </pc:sldMkLst>
        <pc:graphicFrameChg chg="mod">
          <ac:chgData name="Ielhaam Jacobs" userId="14f6ee2820cdadb1" providerId="LiveId" clId="{51665A52-2C40-4613-984E-A9EDE03CF832}" dt="2026-04-20T18:13:43.119" v="338"/>
          <ac:graphicFrameMkLst>
            <pc:docMk/>
            <pc:sldMk cId="3238485368" sldId="257"/>
            <ac:graphicFrameMk id="5" creationId="{D0D5CCC5-C239-79A9-8322-D0F216B6A9E3}"/>
          </ac:graphicFrameMkLst>
        </pc:graphicFrameChg>
      </pc:sldChg>
      <pc:sldChg chg="modNotesTx">
        <pc:chgData name="Ielhaam Jacobs" userId="14f6ee2820cdadb1" providerId="LiveId" clId="{51665A52-2C40-4613-984E-A9EDE03CF832}" dt="2026-04-20T18:14:46.764" v="427" actId="20577"/>
        <pc:sldMkLst>
          <pc:docMk/>
          <pc:sldMk cId="3691182275" sldId="258"/>
        </pc:sldMkLst>
      </pc:sldChg>
      <pc:sldChg chg="modSp mod">
        <pc:chgData name="Ielhaam Jacobs" userId="14f6ee2820cdadb1" providerId="LiveId" clId="{51665A52-2C40-4613-984E-A9EDE03CF832}" dt="2026-04-20T18:16:07.175" v="449" actId="20577"/>
        <pc:sldMkLst>
          <pc:docMk/>
          <pc:sldMk cId="2671657096" sldId="259"/>
        </pc:sldMkLst>
        <pc:spChg chg="mod">
          <ac:chgData name="Ielhaam Jacobs" userId="14f6ee2820cdadb1" providerId="LiveId" clId="{51665A52-2C40-4613-984E-A9EDE03CF832}" dt="2026-04-20T18:16:07.175" v="449" actId="20577"/>
          <ac:spMkLst>
            <pc:docMk/>
            <pc:sldMk cId="2671657096" sldId="259"/>
            <ac:spMk id="3" creationId="{267E9C17-4039-BB67-75BF-A9579C68B05A}"/>
          </ac:spMkLst>
        </pc:spChg>
      </pc:sldChg>
      <pc:sldChg chg="modSp mod modNotesTx">
        <pc:chgData name="Ielhaam Jacobs" userId="14f6ee2820cdadb1" providerId="LiveId" clId="{51665A52-2C40-4613-984E-A9EDE03CF832}" dt="2026-04-20T14:17:31.326" v="335" actId="20577"/>
        <pc:sldMkLst>
          <pc:docMk/>
          <pc:sldMk cId="1940962713" sldId="260"/>
        </pc:sldMkLst>
        <pc:spChg chg="mod">
          <ac:chgData name="Ielhaam Jacobs" userId="14f6ee2820cdadb1" providerId="LiveId" clId="{51665A52-2C40-4613-984E-A9EDE03CF832}" dt="2026-04-20T14:17:31.326" v="335" actId="20577"/>
          <ac:spMkLst>
            <pc:docMk/>
            <pc:sldMk cId="1940962713" sldId="260"/>
            <ac:spMk id="3" creationId="{040F272C-DE90-E945-E269-C633B893BFDF}"/>
          </ac:spMkLst>
        </pc:spChg>
      </pc:sldChg>
      <pc:sldChg chg="modNotesTx">
        <pc:chgData name="Ielhaam Jacobs" userId="14f6ee2820cdadb1" providerId="LiveId" clId="{51665A52-2C40-4613-984E-A9EDE03CF832}" dt="2026-04-20T13:03:50.338" v="185" actId="20577"/>
        <pc:sldMkLst>
          <pc:docMk/>
          <pc:sldMk cId="2973142490" sldId="261"/>
        </pc:sldMkLst>
      </pc:sldChg>
      <pc:sldChg chg="modSp">
        <pc:chgData name="Ielhaam Jacobs" userId="14f6ee2820cdadb1" providerId="LiveId" clId="{51665A52-2C40-4613-984E-A9EDE03CF832}" dt="2026-04-20T18:13:21.528" v="336" actId="20577"/>
        <pc:sldMkLst>
          <pc:docMk/>
          <pc:sldMk cId="931125710" sldId="2571"/>
        </pc:sldMkLst>
        <pc:spChg chg="mod">
          <ac:chgData name="Ielhaam Jacobs" userId="14f6ee2820cdadb1" providerId="LiveId" clId="{51665A52-2C40-4613-984E-A9EDE03CF832}" dt="2026-04-20T18:13:21.528" v="336" actId="20577"/>
          <ac:spMkLst>
            <pc:docMk/>
            <pc:sldMk cId="931125710" sldId="2571"/>
            <ac:spMk id="4" creationId="{0FFABF8F-0697-C3CD-A15C-AAE0857092E7}"/>
          </ac:spMkLst>
        </pc:spChg>
      </pc:sldChg>
      <pc:sldChg chg="del">
        <pc:chgData name="Ielhaam Jacobs" userId="14f6ee2820cdadb1" providerId="LiveId" clId="{51665A52-2C40-4613-984E-A9EDE03CF832}" dt="2026-04-20T18:13:30.997" v="337" actId="47"/>
        <pc:sldMkLst>
          <pc:docMk/>
          <pc:sldMk cId="3202436521" sldId="257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E05FB4-3AE1-4BFF-8236-A9A52F3B78FB}"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9BABCEBB-12A8-4E85-95C6-B7F449DE4E04}">
      <dgm:prSet/>
      <dgm:spPr/>
      <dgm:t>
        <a:bodyPr/>
        <a:lstStyle/>
        <a:p>
          <a:r>
            <a:rPr lang="en-US"/>
            <a:t>Assessing Mental Health – Biopsycosocial approach</a:t>
          </a:r>
        </a:p>
      </dgm:t>
    </dgm:pt>
    <dgm:pt modelId="{36B3813B-4A35-4CC4-A976-E055A5A8ACFC}" type="parTrans" cxnId="{012FAFDE-DDB1-44A6-8B5A-54BD86AA1312}">
      <dgm:prSet/>
      <dgm:spPr/>
      <dgm:t>
        <a:bodyPr/>
        <a:lstStyle/>
        <a:p>
          <a:endParaRPr lang="en-US"/>
        </a:p>
      </dgm:t>
    </dgm:pt>
    <dgm:pt modelId="{93BA5A88-5113-4E42-92BD-9442C1A97F7E}" type="sibTrans" cxnId="{012FAFDE-DDB1-44A6-8B5A-54BD86AA1312}">
      <dgm:prSet/>
      <dgm:spPr/>
      <dgm:t>
        <a:bodyPr/>
        <a:lstStyle/>
        <a:p>
          <a:endParaRPr lang="en-US"/>
        </a:p>
      </dgm:t>
    </dgm:pt>
    <dgm:pt modelId="{6C5C1616-3D5A-480B-A158-0F5A4CD0EE7A}">
      <dgm:prSet/>
      <dgm:spPr/>
      <dgm:t>
        <a:bodyPr/>
        <a:lstStyle/>
        <a:p>
          <a:r>
            <a:rPr lang="en-US"/>
            <a:t>Common Mental Health Conditions in PHC </a:t>
          </a:r>
        </a:p>
      </dgm:t>
    </dgm:pt>
    <dgm:pt modelId="{27BB7A82-C0EF-4C0B-8118-1B3EBA180D49}" type="parTrans" cxnId="{262907E5-99B7-4E69-BDBB-A6AC087188D4}">
      <dgm:prSet/>
      <dgm:spPr/>
      <dgm:t>
        <a:bodyPr/>
        <a:lstStyle/>
        <a:p>
          <a:endParaRPr lang="en-US"/>
        </a:p>
      </dgm:t>
    </dgm:pt>
    <dgm:pt modelId="{AC40A62C-CC34-4DAF-97BF-1B3D5BC7CED3}" type="sibTrans" cxnId="{262907E5-99B7-4E69-BDBB-A6AC087188D4}">
      <dgm:prSet/>
      <dgm:spPr/>
      <dgm:t>
        <a:bodyPr/>
        <a:lstStyle/>
        <a:p>
          <a:endParaRPr lang="en-US"/>
        </a:p>
      </dgm:t>
    </dgm:pt>
    <dgm:pt modelId="{F87DC103-D265-4118-AD54-47100435ECFA}">
      <dgm:prSet/>
      <dgm:spPr/>
      <dgm:t>
        <a:bodyPr/>
        <a:lstStyle/>
        <a:p>
          <a:r>
            <a:rPr lang="en-US" dirty="0"/>
            <a:t>Interventions </a:t>
          </a:r>
        </a:p>
      </dgm:t>
    </dgm:pt>
    <dgm:pt modelId="{1F473908-5502-4233-97A5-38101A527EBD}" type="parTrans" cxnId="{A988F156-E1B1-4256-86E7-018E77B74D7F}">
      <dgm:prSet/>
      <dgm:spPr/>
      <dgm:t>
        <a:bodyPr/>
        <a:lstStyle/>
        <a:p>
          <a:endParaRPr lang="en-US"/>
        </a:p>
      </dgm:t>
    </dgm:pt>
    <dgm:pt modelId="{E64EE3E3-F1A8-43F5-BDEC-2F1A43F3180F}" type="sibTrans" cxnId="{A988F156-E1B1-4256-86E7-018E77B74D7F}">
      <dgm:prSet/>
      <dgm:spPr/>
      <dgm:t>
        <a:bodyPr/>
        <a:lstStyle/>
        <a:p>
          <a:endParaRPr lang="en-US"/>
        </a:p>
      </dgm:t>
    </dgm:pt>
    <dgm:pt modelId="{CEA4ABF3-A686-49D5-B0B7-D35BC99D7DE2}">
      <dgm:prSet/>
      <dgm:spPr/>
      <dgm:t>
        <a:bodyPr/>
        <a:lstStyle/>
        <a:p>
          <a:r>
            <a:rPr lang="en-US"/>
            <a:t>Common Mental health conditions in children and interventions </a:t>
          </a:r>
        </a:p>
      </dgm:t>
    </dgm:pt>
    <dgm:pt modelId="{4E9B7F69-35DE-4BEC-B124-D97036C934DE}" type="parTrans" cxnId="{B6189E57-8750-4685-BE01-1912DC14B205}">
      <dgm:prSet/>
      <dgm:spPr/>
      <dgm:t>
        <a:bodyPr/>
        <a:lstStyle/>
        <a:p>
          <a:endParaRPr lang="en-US"/>
        </a:p>
      </dgm:t>
    </dgm:pt>
    <dgm:pt modelId="{03B1386E-04ED-4F1E-BBC8-48745EE8EEC2}" type="sibTrans" cxnId="{B6189E57-8750-4685-BE01-1912DC14B205}">
      <dgm:prSet/>
      <dgm:spPr/>
      <dgm:t>
        <a:bodyPr/>
        <a:lstStyle/>
        <a:p>
          <a:endParaRPr lang="en-US"/>
        </a:p>
      </dgm:t>
    </dgm:pt>
    <dgm:pt modelId="{064F0B39-3017-4112-B9F9-F20E802ECB3F}">
      <dgm:prSet/>
      <dgm:spPr/>
      <dgm:t>
        <a:bodyPr/>
        <a:lstStyle/>
        <a:p>
          <a:r>
            <a:rPr lang="en-US"/>
            <a:t>Referral for severe mental health conditions </a:t>
          </a:r>
        </a:p>
      </dgm:t>
    </dgm:pt>
    <dgm:pt modelId="{E9F21632-8C6E-4D19-A991-181B9A401DFE}" type="parTrans" cxnId="{9C3F1B63-A900-481D-987E-3106763283B5}">
      <dgm:prSet/>
      <dgm:spPr/>
      <dgm:t>
        <a:bodyPr/>
        <a:lstStyle/>
        <a:p>
          <a:endParaRPr lang="en-US"/>
        </a:p>
      </dgm:t>
    </dgm:pt>
    <dgm:pt modelId="{A85F05F8-DD42-4442-8213-CF5C1D71D724}" type="sibTrans" cxnId="{9C3F1B63-A900-481D-987E-3106763283B5}">
      <dgm:prSet/>
      <dgm:spPr/>
      <dgm:t>
        <a:bodyPr/>
        <a:lstStyle/>
        <a:p>
          <a:endParaRPr lang="en-US"/>
        </a:p>
      </dgm:t>
    </dgm:pt>
    <dgm:pt modelId="{E71FDCD2-155B-4F10-A1D1-22B3BDB2CF64}" type="pres">
      <dgm:prSet presAssocID="{D3E05FB4-3AE1-4BFF-8236-A9A52F3B78FB}" presName="Name0" presStyleCnt="0">
        <dgm:presLayoutVars>
          <dgm:dir/>
          <dgm:resizeHandles val="exact"/>
        </dgm:presLayoutVars>
      </dgm:prSet>
      <dgm:spPr/>
    </dgm:pt>
    <dgm:pt modelId="{92D7D0C3-F40D-4C40-AB5F-8EC80D0F31FA}" type="pres">
      <dgm:prSet presAssocID="{9BABCEBB-12A8-4E85-95C6-B7F449DE4E04}" presName="node" presStyleLbl="node1" presStyleIdx="0" presStyleCnt="5">
        <dgm:presLayoutVars>
          <dgm:bulletEnabled val="1"/>
        </dgm:presLayoutVars>
      </dgm:prSet>
      <dgm:spPr/>
    </dgm:pt>
    <dgm:pt modelId="{41BD533F-D3D0-4296-B070-599B91734C7F}" type="pres">
      <dgm:prSet presAssocID="{93BA5A88-5113-4E42-92BD-9442C1A97F7E}" presName="sibTrans" presStyleLbl="sibTrans1D1" presStyleIdx="0" presStyleCnt="4"/>
      <dgm:spPr/>
    </dgm:pt>
    <dgm:pt modelId="{C501CBA4-52AF-4FBF-A496-A88C591E246F}" type="pres">
      <dgm:prSet presAssocID="{93BA5A88-5113-4E42-92BD-9442C1A97F7E}" presName="connectorText" presStyleLbl="sibTrans1D1" presStyleIdx="0" presStyleCnt="4"/>
      <dgm:spPr/>
    </dgm:pt>
    <dgm:pt modelId="{2E56E4D1-D2CB-4E9B-9D4D-1BB01AA9A125}" type="pres">
      <dgm:prSet presAssocID="{6C5C1616-3D5A-480B-A158-0F5A4CD0EE7A}" presName="node" presStyleLbl="node1" presStyleIdx="1" presStyleCnt="5">
        <dgm:presLayoutVars>
          <dgm:bulletEnabled val="1"/>
        </dgm:presLayoutVars>
      </dgm:prSet>
      <dgm:spPr/>
    </dgm:pt>
    <dgm:pt modelId="{9DE05A8F-5FA1-4211-967E-B56109DDA203}" type="pres">
      <dgm:prSet presAssocID="{AC40A62C-CC34-4DAF-97BF-1B3D5BC7CED3}" presName="sibTrans" presStyleLbl="sibTrans1D1" presStyleIdx="1" presStyleCnt="4"/>
      <dgm:spPr/>
    </dgm:pt>
    <dgm:pt modelId="{8C1FC149-F44F-435C-BE11-A2687829BF32}" type="pres">
      <dgm:prSet presAssocID="{AC40A62C-CC34-4DAF-97BF-1B3D5BC7CED3}" presName="connectorText" presStyleLbl="sibTrans1D1" presStyleIdx="1" presStyleCnt="4"/>
      <dgm:spPr/>
    </dgm:pt>
    <dgm:pt modelId="{CA307CB0-C2E4-4856-A676-41D289F30F70}" type="pres">
      <dgm:prSet presAssocID="{F87DC103-D265-4118-AD54-47100435ECFA}" presName="node" presStyleLbl="node1" presStyleIdx="2" presStyleCnt="5">
        <dgm:presLayoutVars>
          <dgm:bulletEnabled val="1"/>
        </dgm:presLayoutVars>
      </dgm:prSet>
      <dgm:spPr/>
    </dgm:pt>
    <dgm:pt modelId="{E3426CE4-C2B7-4B70-BF58-612B2F5C2369}" type="pres">
      <dgm:prSet presAssocID="{E64EE3E3-F1A8-43F5-BDEC-2F1A43F3180F}" presName="sibTrans" presStyleLbl="sibTrans1D1" presStyleIdx="2" presStyleCnt="4"/>
      <dgm:spPr/>
    </dgm:pt>
    <dgm:pt modelId="{45E1BAED-56BF-4DE2-B3EE-CB37F3CF2428}" type="pres">
      <dgm:prSet presAssocID="{E64EE3E3-F1A8-43F5-BDEC-2F1A43F3180F}" presName="connectorText" presStyleLbl="sibTrans1D1" presStyleIdx="2" presStyleCnt="4"/>
      <dgm:spPr/>
    </dgm:pt>
    <dgm:pt modelId="{C33326EA-04B1-4060-BA87-FEF2D626D972}" type="pres">
      <dgm:prSet presAssocID="{CEA4ABF3-A686-49D5-B0B7-D35BC99D7DE2}" presName="node" presStyleLbl="node1" presStyleIdx="3" presStyleCnt="5">
        <dgm:presLayoutVars>
          <dgm:bulletEnabled val="1"/>
        </dgm:presLayoutVars>
      </dgm:prSet>
      <dgm:spPr/>
    </dgm:pt>
    <dgm:pt modelId="{E2748E47-7217-4BC6-93BA-95FF56F18D3E}" type="pres">
      <dgm:prSet presAssocID="{03B1386E-04ED-4F1E-BBC8-48745EE8EEC2}" presName="sibTrans" presStyleLbl="sibTrans1D1" presStyleIdx="3" presStyleCnt="4"/>
      <dgm:spPr/>
    </dgm:pt>
    <dgm:pt modelId="{CF4465C7-44AA-4050-A187-887470B4291B}" type="pres">
      <dgm:prSet presAssocID="{03B1386E-04ED-4F1E-BBC8-48745EE8EEC2}" presName="connectorText" presStyleLbl="sibTrans1D1" presStyleIdx="3" presStyleCnt="4"/>
      <dgm:spPr/>
    </dgm:pt>
    <dgm:pt modelId="{3AE85537-E699-43E2-A80E-CF31E84DF9E1}" type="pres">
      <dgm:prSet presAssocID="{064F0B39-3017-4112-B9F9-F20E802ECB3F}" presName="node" presStyleLbl="node1" presStyleIdx="4" presStyleCnt="5">
        <dgm:presLayoutVars>
          <dgm:bulletEnabled val="1"/>
        </dgm:presLayoutVars>
      </dgm:prSet>
      <dgm:spPr/>
    </dgm:pt>
  </dgm:ptLst>
  <dgm:cxnLst>
    <dgm:cxn modelId="{8D9F033E-1DBE-49D2-8E53-6DB2486911EE}" type="presOf" srcId="{F87DC103-D265-4118-AD54-47100435ECFA}" destId="{CA307CB0-C2E4-4856-A676-41D289F30F70}" srcOrd="0" destOrd="0" presId="urn:microsoft.com/office/officeart/2016/7/layout/RepeatingBendingProcessNew"/>
    <dgm:cxn modelId="{63A7EA5B-AF88-4D84-969B-5ED30D8E97AE}" type="presOf" srcId="{CEA4ABF3-A686-49D5-B0B7-D35BC99D7DE2}" destId="{C33326EA-04B1-4060-BA87-FEF2D626D972}" srcOrd="0" destOrd="0" presId="urn:microsoft.com/office/officeart/2016/7/layout/RepeatingBendingProcessNew"/>
    <dgm:cxn modelId="{9C3F1B63-A900-481D-987E-3106763283B5}" srcId="{D3E05FB4-3AE1-4BFF-8236-A9A52F3B78FB}" destId="{064F0B39-3017-4112-B9F9-F20E802ECB3F}" srcOrd="4" destOrd="0" parTransId="{E9F21632-8C6E-4D19-A991-181B9A401DFE}" sibTransId="{A85F05F8-DD42-4442-8213-CF5C1D71D724}"/>
    <dgm:cxn modelId="{94A3FD67-615E-4DF7-98AD-63FE51857E60}" type="presOf" srcId="{03B1386E-04ED-4F1E-BBC8-48745EE8EEC2}" destId="{CF4465C7-44AA-4050-A187-887470B4291B}" srcOrd="1" destOrd="0" presId="urn:microsoft.com/office/officeart/2016/7/layout/RepeatingBendingProcessNew"/>
    <dgm:cxn modelId="{77406D6B-89DD-4D99-BE09-C9D8A893773D}" type="presOf" srcId="{064F0B39-3017-4112-B9F9-F20E802ECB3F}" destId="{3AE85537-E699-43E2-A80E-CF31E84DF9E1}" srcOrd="0" destOrd="0" presId="urn:microsoft.com/office/officeart/2016/7/layout/RepeatingBendingProcessNew"/>
    <dgm:cxn modelId="{4833DB72-2F2A-4B5C-8F37-A302E38AB583}" type="presOf" srcId="{D3E05FB4-3AE1-4BFF-8236-A9A52F3B78FB}" destId="{E71FDCD2-155B-4F10-A1D1-22B3BDB2CF64}" srcOrd="0" destOrd="0" presId="urn:microsoft.com/office/officeart/2016/7/layout/RepeatingBendingProcessNew"/>
    <dgm:cxn modelId="{A988F156-E1B1-4256-86E7-018E77B74D7F}" srcId="{D3E05FB4-3AE1-4BFF-8236-A9A52F3B78FB}" destId="{F87DC103-D265-4118-AD54-47100435ECFA}" srcOrd="2" destOrd="0" parTransId="{1F473908-5502-4233-97A5-38101A527EBD}" sibTransId="{E64EE3E3-F1A8-43F5-BDEC-2F1A43F3180F}"/>
    <dgm:cxn modelId="{B6189E57-8750-4685-BE01-1912DC14B205}" srcId="{D3E05FB4-3AE1-4BFF-8236-A9A52F3B78FB}" destId="{CEA4ABF3-A686-49D5-B0B7-D35BC99D7DE2}" srcOrd="3" destOrd="0" parTransId="{4E9B7F69-35DE-4BEC-B124-D97036C934DE}" sibTransId="{03B1386E-04ED-4F1E-BBC8-48745EE8EEC2}"/>
    <dgm:cxn modelId="{0C2B529D-92D4-4348-96AB-324D0979C51D}" type="presOf" srcId="{6C5C1616-3D5A-480B-A158-0F5A4CD0EE7A}" destId="{2E56E4D1-D2CB-4E9B-9D4D-1BB01AA9A125}" srcOrd="0" destOrd="0" presId="urn:microsoft.com/office/officeart/2016/7/layout/RepeatingBendingProcessNew"/>
    <dgm:cxn modelId="{5A6AA0A5-9355-4FEB-94CB-412DBE915410}" type="presOf" srcId="{03B1386E-04ED-4F1E-BBC8-48745EE8EEC2}" destId="{E2748E47-7217-4BC6-93BA-95FF56F18D3E}" srcOrd="0" destOrd="0" presId="urn:microsoft.com/office/officeart/2016/7/layout/RepeatingBendingProcessNew"/>
    <dgm:cxn modelId="{8B4E16B5-3371-4981-9B6A-1F8A1AF8518B}" type="presOf" srcId="{93BA5A88-5113-4E42-92BD-9442C1A97F7E}" destId="{41BD533F-D3D0-4296-B070-599B91734C7F}" srcOrd="0" destOrd="0" presId="urn:microsoft.com/office/officeart/2016/7/layout/RepeatingBendingProcessNew"/>
    <dgm:cxn modelId="{6F2531BE-DE65-48FE-ADAC-9613275E412A}" type="presOf" srcId="{E64EE3E3-F1A8-43F5-BDEC-2F1A43F3180F}" destId="{E3426CE4-C2B7-4B70-BF58-612B2F5C2369}" srcOrd="0" destOrd="0" presId="urn:microsoft.com/office/officeart/2016/7/layout/RepeatingBendingProcessNew"/>
    <dgm:cxn modelId="{43917DC4-7078-4FDD-8A44-D106F9F4AE79}" type="presOf" srcId="{93BA5A88-5113-4E42-92BD-9442C1A97F7E}" destId="{C501CBA4-52AF-4FBF-A496-A88C591E246F}" srcOrd="1" destOrd="0" presId="urn:microsoft.com/office/officeart/2016/7/layout/RepeatingBendingProcessNew"/>
    <dgm:cxn modelId="{742973D8-51AB-4928-9C3D-7BBD180ABFD7}" type="presOf" srcId="{AC40A62C-CC34-4DAF-97BF-1B3D5BC7CED3}" destId="{9DE05A8F-5FA1-4211-967E-B56109DDA203}" srcOrd="0" destOrd="0" presId="urn:microsoft.com/office/officeart/2016/7/layout/RepeatingBendingProcessNew"/>
    <dgm:cxn modelId="{4E7732DC-06E7-4904-9A58-DB4FFB490FFF}" type="presOf" srcId="{9BABCEBB-12A8-4E85-95C6-B7F449DE4E04}" destId="{92D7D0C3-F40D-4C40-AB5F-8EC80D0F31FA}" srcOrd="0" destOrd="0" presId="urn:microsoft.com/office/officeart/2016/7/layout/RepeatingBendingProcessNew"/>
    <dgm:cxn modelId="{012FAFDE-DDB1-44A6-8B5A-54BD86AA1312}" srcId="{D3E05FB4-3AE1-4BFF-8236-A9A52F3B78FB}" destId="{9BABCEBB-12A8-4E85-95C6-B7F449DE4E04}" srcOrd="0" destOrd="0" parTransId="{36B3813B-4A35-4CC4-A976-E055A5A8ACFC}" sibTransId="{93BA5A88-5113-4E42-92BD-9442C1A97F7E}"/>
    <dgm:cxn modelId="{262907E5-99B7-4E69-BDBB-A6AC087188D4}" srcId="{D3E05FB4-3AE1-4BFF-8236-A9A52F3B78FB}" destId="{6C5C1616-3D5A-480B-A158-0F5A4CD0EE7A}" srcOrd="1" destOrd="0" parTransId="{27BB7A82-C0EF-4C0B-8118-1B3EBA180D49}" sibTransId="{AC40A62C-CC34-4DAF-97BF-1B3D5BC7CED3}"/>
    <dgm:cxn modelId="{5C8A3FE9-CB0F-4103-B1F6-3BE56574571F}" type="presOf" srcId="{E64EE3E3-F1A8-43F5-BDEC-2F1A43F3180F}" destId="{45E1BAED-56BF-4DE2-B3EE-CB37F3CF2428}" srcOrd="1" destOrd="0" presId="urn:microsoft.com/office/officeart/2016/7/layout/RepeatingBendingProcessNew"/>
    <dgm:cxn modelId="{9AD6A6EA-5581-4877-B204-CC79F87BE07C}" type="presOf" srcId="{AC40A62C-CC34-4DAF-97BF-1B3D5BC7CED3}" destId="{8C1FC149-F44F-435C-BE11-A2687829BF32}" srcOrd="1" destOrd="0" presId="urn:microsoft.com/office/officeart/2016/7/layout/RepeatingBendingProcessNew"/>
    <dgm:cxn modelId="{AD3E5201-50F8-4D4E-84D7-DFE5E72856B3}" type="presParOf" srcId="{E71FDCD2-155B-4F10-A1D1-22B3BDB2CF64}" destId="{92D7D0C3-F40D-4C40-AB5F-8EC80D0F31FA}" srcOrd="0" destOrd="0" presId="urn:microsoft.com/office/officeart/2016/7/layout/RepeatingBendingProcessNew"/>
    <dgm:cxn modelId="{091D26BD-DDF5-4B01-8625-710DE851D6FB}" type="presParOf" srcId="{E71FDCD2-155B-4F10-A1D1-22B3BDB2CF64}" destId="{41BD533F-D3D0-4296-B070-599B91734C7F}" srcOrd="1" destOrd="0" presId="urn:microsoft.com/office/officeart/2016/7/layout/RepeatingBendingProcessNew"/>
    <dgm:cxn modelId="{E31FC41A-21AC-41AA-80BF-98CFAE34A0A1}" type="presParOf" srcId="{41BD533F-D3D0-4296-B070-599B91734C7F}" destId="{C501CBA4-52AF-4FBF-A496-A88C591E246F}" srcOrd="0" destOrd="0" presId="urn:microsoft.com/office/officeart/2016/7/layout/RepeatingBendingProcessNew"/>
    <dgm:cxn modelId="{76522B7A-1C8C-4612-8003-FCD2829205F2}" type="presParOf" srcId="{E71FDCD2-155B-4F10-A1D1-22B3BDB2CF64}" destId="{2E56E4D1-D2CB-4E9B-9D4D-1BB01AA9A125}" srcOrd="2" destOrd="0" presId="urn:microsoft.com/office/officeart/2016/7/layout/RepeatingBendingProcessNew"/>
    <dgm:cxn modelId="{F8DBDEA6-87CA-4E9C-9F3F-171A445831DA}" type="presParOf" srcId="{E71FDCD2-155B-4F10-A1D1-22B3BDB2CF64}" destId="{9DE05A8F-5FA1-4211-967E-B56109DDA203}" srcOrd="3" destOrd="0" presId="urn:microsoft.com/office/officeart/2016/7/layout/RepeatingBendingProcessNew"/>
    <dgm:cxn modelId="{2D451D8C-7116-4589-82E1-DDE0924588DA}" type="presParOf" srcId="{9DE05A8F-5FA1-4211-967E-B56109DDA203}" destId="{8C1FC149-F44F-435C-BE11-A2687829BF32}" srcOrd="0" destOrd="0" presId="urn:microsoft.com/office/officeart/2016/7/layout/RepeatingBendingProcessNew"/>
    <dgm:cxn modelId="{8DBADCF4-25E4-450D-BB05-6B056B32E27E}" type="presParOf" srcId="{E71FDCD2-155B-4F10-A1D1-22B3BDB2CF64}" destId="{CA307CB0-C2E4-4856-A676-41D289F30F70}" srcOrd="4" destOrd="0" presId="urn:microsoft.com/office/officeart/2016/7/layout/RepeatingBendingProcessNew"/>
    <dgm:cxn modelId="{FF0129D4-BAD4-4D29-BA18-B0E04C25CE70}" type="presParOf" srcId="{E71FDCD2-155B-4F10-A1D1-22B3BDB2CF64}" destId="{E3426CE4-C2B7-4B70-BF58-612B2F5C2369}" srcOrd="5" destOrd="0" presId="urn:microsoft.com/office/officeart/2016/7/layout/RepeatingBendingProcessNew"/>
    <dgm:cxn modelId="{7FB9897E-9AA7-4EC3-83D3-DC0E85591C26}" type="presParOf" srcId="{E3426CE4-C2B7-4B70-BF58-612B2F5C2369}" destId="{45E1BAED-56BF-4DE2-B3EE-CB37F3CF2428}" srcOrd="0" destOrd="0" presId="urn:microsoft.com/office/officeart/2016/7/layout/RepeatingBendingProcessNew"/>
    <dgm:cxn modelId="{2FF9835B-DB33-4BCD-8A6F-9ADC905B5FC7}" type="presParOf" srcId="{E71FDCD2-155B-4F10-A1D1-22B3BDB2CF64}" destId="{C33326EA-04B1-4060-BA87-FEF2D626D972}" srcOrd="6" destOrd="0" presId="urn:microsoft.com/office/officeart/2016/7/layout/RepeatingBendingProcessNew"/>
    <dgm:cxn modelId="{C09218DD-74BA-4FC0-BDE1-8790C1097689}" type="presParOf" srcId="{E71FDCD2-155B-4F10-A1D1-22B3BDB2CF64}" destId="{E2748E47-7217-4BC6-93BA-95FF56F18D3E}" srcOrd="7" destOrd="0" presId="urn:microsoft.com/office/officeart/2016/7/layout/RepeatingBendingProcessNew"/>
    <dgm:cxn modelId="{AAA36C03-FC57-4AE0-8D14-9B099AED96E1}" type="presParOf" srcId="{E2748E47-7217-4BC6-93BA-95FF56F18D3E}" destId="{CF4465C7-44AA-4050-A187-887470B4291B}" srcOrd="0" destOrd="0" presId="urn:microsoft.com/office/officeart/2016/7/layout/RepeatingBendingProcessNew"/>
    <dgm:cxn modelId="{9C6B177D-F056-4D17-8F82-EF42AAF1BD40}" type="presParOf" srcId="{E71FDCD2-155B-4F10-A1D1-22B3BDB2CF64}" destId="{3AE85537-E699-43E2-A80E-CF31E84DF9E1}" srcOrd="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D533F-D3D0-4296-B070-599B91734C7F}">
      <dsp:nvSpPr>
        <dsp:cNvPr id="0" name=""/>
        <dsp:cNvSpPr/>
      </dsp:nvSpPr>
      <dsp:spPr>
        <a:xfrm>
          <a:off x="2614981" y="709129"/>
          <a:ext cx="546965" cy="91440"/>
        </a:xfrm>
        <a:custGeom>
          <a:avLst/>
          <a:gdLst/>
          <a:ahLst/>
          <a:cxnLst/>
          <a:rect l="0" t="0" r="0" b="0"/>
          <a:pathLst>
            <a:path>
              <a:moveTo>
                <a:pt x="0" y="45720"/>
              </a:moveTo>
              <a:lnTo>
                <a:pt x="54696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4024" y="751961"/>
        <a:ext cx="28878" cy="5775"/>
      </dsp:txXfrm>
    </dsp:sp>
    <dsp:sp modelId="{92D7D0C3-F40D-4C40-AB5F-8EC80D0F31FA}">
      <dsp:nvSpPr>
        <dsp:cNvPr id="0" name=""/>
        <dsp:cNvSpPr/>
      </dsp:nvSpPr>
      <dsp:spPr>
        <a:xfrm>
          <a:off x="105624" y="1502"/>
          <a:ext cx="2511156" cy="150669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977900">
            <a:lnSpc>
              <a:spcPct val="90000"/>
            </a:lnSpc>
            <a:spcBef>
              <a:spcPct val="0"/>
            </a:spcBef>
            <a:spcAft>
              <a:spcPct val="35000"/>
            </a:spcAft>
            <a:buNone/>
          </a:pPr>
          <a:r>
            <a:rPr lang="en-US" sz="2200" kern="1200"/>
            <a:t>Assessing Mental Health – Biopsycosocial approach</a:t>
          </a:r>
        </a:p>
      </dsp:txBody>
      <dsp:txXfrm>
        <a:off x="105624" y="1502"/>
        <a:ext cx="2511156" cy="1506693"/>
      </dsp:txXfrm>
    </dsp:sp>
    <dsp:sp modelId="{9DE05A8F-5FA1-4211-967E-B56109DDA203}">
      <dsp:nvSpPr>
        <dsp:cNvPr id="0" name=""/>
        <dsp:cNvSpPr/>
      </dsp:nvSpPr>
      <dsp:spPr>
        <a:xfrm>
          <a:off x="1361202" y="1506396"/>
          <a:ext cx="3088722" cy="546965"/>
        </a:xfrm>
        <a:custGeom>
          <a:avLst/>
          <a:gdLst/>
          <a:ahLst/>
          <a:cxnLst/>
          <a:rect l="0" t="0" r="0" b="0"/>
          <a:pathLst>
            <a:path>
              <a:moveTo>
                <a:pt x="3088722" y="0"/>
              </a:moveTo>
              <a:lnTo>
                <a:pt x="3088722" y="290582"/>
              </a:lnTo>
              <a:lnTo>
                <a:pt x="0" y="290582"/>
              </a:lnTo>
              <a:lnTo>
                <a:pt x="0" y="546965"/>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7007" y="1776991"/>
        <a:ext cx="157112" cy="5775"/>
      </dsp:txXfrm>
    </dsp:sp>
    <dsp:sp modelId="{2E56E4D1-D2CB-4E9B-9D4D-1BB01AA9A125}">
      <dsp:nvSpPr>
        <dsp:cNvPr id="0" name=""/>
        <dsp:cNvSpPr/>
      </dsp:nvSpPr>
      <dsp:spPr>
        <a:xfrm>
          <a:off x="3194346" y="1502"/>
          <a:ext cx="2511156" cy="150669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977900">
            <a:lnSpc>
              <a:spcPct val="90000"/>
            </a:lnSpc>
            <a:spcBef>
              <a:spcPct val="0"/>
            </a:spcBef>
            <a:spcAft>
              <a:spcPct val="35000"/>
            </a:spcAft>
            <a:buNone/>
          </a:pPr>
          <a:r>
            <a:rPr lang="en-US" sz="2200" kern="1200"/>
            <a:t>Common Mental Health Conditions in PHC </a:t>
          </a:r>
        </a:p>
      </dsp:txBody>
      <dsp:txXfrm>
        <a:off x="3194346" y="1502"/>
        <a:ext cx="2511156" cy="1506693"/>
      </dsp:txXfrm>
    </dsp:sp>
    <dsp:sp modelId="{E3426CE4-C2B7-4B70-BF58-612B2F5C2369}">
      <dsp:nvSpPr>
        <dsp:cNvPr id="0" name=""/>
        <dsp:cNvSpPr/>
      </dsp:nvSpPr>
      <dsp:spPr>
        <a:xfrm>
          <a:off x="2614981" y="2793389"/>
          <a:ext cx="546965" cy="91440"/>
        </a:xfrm>
        <a:custGeom>
          <a:avLst/>
          <a:gdLst/>
          <a:ahLst/>
          <a:cxnLst/>
          <a:rect l="0" t="0" r="0" b="0"/>
          <a:pathLst>
            <a:path>
              <a:moveTo>
                <a:pt x="0" y="45720"/>
              </a:moveTo>
              <a:lnTo>
                <a:pt x="546965"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4024" y="2836221"/>
        <a:ext cx="28878" cy="5775"/>
      </dsp:txXfrm>
    </dsp:sp>
    <dsp:sp modelId="{CA307CB0-C2E4-4856-A676-41D289F30F70}">
      <dsp:nvSpPr>
        <dsp:cNvPr id="0" name=""/>
        <dsp:cNvSpPr/>
      </dsp:nvSpPr>
      <dsp:spPr>
        <a:xfrm>
          <a:off x="105624" y="2085762"/>
          <a:ext cx="2511156" cy="150669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977900">
            <a:lnSpc>
              <a:spcPct val="90000"/>
            </a:lnSpc>
            <a:spcBef>
              <a:spcPct val="0"/>
            </a:spcBef>
            <a:spcAft>
              <a:spcPct val="35000"/>
            </a:spcAft>
            <a:buNone/>
          </a:pPr>
          <a:r>
            <a:rPr lang="en-US" sz="2200" kern="1200" dirty="0"/>
            <a:t>Interventions </a:t>
          </a:r>
        </a:p>
      </dsp:txBody>
      <dsp:txXfrm>
        <a:off x="105624" y="2085762"/>
        <a:ext cx="2511156" cy="1506693"/>
      </dsp:txXfrm>
    </dsp:sp>
    <dsp:sp modelId="{E2748E47-7217-4BC6-93BA-95FF56F18D3E}">
      <dsp:nvSpPr>
        <dsp:cNvPr id="0" name=""/>
        <dsp:cNvSpPr/>
      </dsp:nvSpPr>
      <dsp:spPr>
        <a:xfrm>
          <a:off x="1361202" y="3590656"/>
          <a:ext cx="3088722" cy="546965"/>
        </a:xfrm>
        <a:custGeom>
          <a:avLst/>
          <a:gdLst/>
          <a:ahLst/>
          <a:cxnLst/>
          <a:rect l="0" t="0" r="0" b="0"/>
          <a:pathLst>
            <a:path>
              <a:moveTo>
                <a:pt x="3088722" y="0"/>
              </a:moveTo>
              <a:lnTo>
                <a:pt x="3088722" y="290582"/>
              </a:lnTo>
              <a:lnTo>
                <a:pt x="0" y="290582"/>
              </a:lnTo>
              <a:lnTo>
                <a:pt x="0" y="546965"/>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7007" y="3861251"/>
        <a:ext cx="157112" cy="5775"/>
      </dsp:txXfrm>
    </dsp:sp>
    <dsp:sp modelId="{C33326EA-04B1-4060-BA87-FEF2D626D972}">
      <dsp:nvSpPr>
        <dsp:cNvPr id="0" name=""/>
        <dsp:cNvSpPr/>
      </dsp:nvSpPr>
      <dsp:spPr>
        <a:xfrm>
          <a:off x="3194346" y="2085762"/>
          <a:ext cx="2511156" cy="150669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977900">
            <a:lnSpc>
              <a:spcPct val="90000"/>
            </a:lnSpc>
            <a:spcBef>
              <a:spcPct val="0"/>
            </a:spcBef>
            <a:spcAft>
              <a:spcPct val="35000"/>
            </a:spcAft>
            <a:buNone/>
          </a:pPr>
          <a:r>
            <a:rPr lang="en-US" sz="2200" kern="1200"/>
            <a:t>Common Mental health conditions in children and interventions </a:t>
          </a:r>
        </a:p>
      </dsp:txBody>
      <dsp:txXfrm>
        <a:off x="3194346" y="2085762"/>
        <a:ext cx="2511156" cy="1506693"/>
      </dsp:txXfrm>
    </dsp:sp>
    <dsp:sp modelId="{3AE85537-E699-43E2-A80E-CF31E84DF9E1}">
      <dsp:nvSpPr>
        <dsp:cNvPr id="0" name=""/>
        <dsp:cNvSpPr/>
      </dsp:nvSpPr>
      <dsp:spPr>
        <a:xfrm>
          <a:off x="105624" y="4170022"/>
          <a:ext cx="2511156" cy="150669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977900">
            <a:lnSpc>
              <a:spcPct val="90000"/>
            </a:lnSpc>
            <a:spcBef>
              <a:spcPct val="0"/>
            </a:spcBef>
            <a:spcAft>
              <a:spcPct val="35000"/>
            </a:spcAft>
            <a:buNone/>
          </a:pPr>
          <a:r>
            <a:rPr lang="en-US" sz="2200" kern="1200"/>
            <a:t>Referral for severe mental health conditions </a:t>
          </a:r>
        </a:p>
      </dsp:txBody>
      <dsp:txXfrm>
        <a:off x="105624" y="4170022"/>
        <a:ext cx="2511156" cy="1506693"/>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94D8D1-A1DA-413E-812B-B9803D349378}" type="datetimeFigureOut">
              <a:rPr lang="en-ZA" smtClean="0"/>
              <a:t>2026/04/20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295239-D07A-417C-B0DC-43D933649B1E}" type="slidenum">
              <a:rPr lang="en-ZA" smtClean="0"/>
              <a:t>‹#›</a:t>
            </a:fld>
            <a:endParaRPr lang="en-ZA"/>
          </a:p>
        </p:txBody>
      </p:sp>
    </p:spTree>
    <p:extLst>
      <p:ext uri="{BB962C8B-B14F-4D97-AF65-F5344CB8AC3E}">
        <p14:creationId xmlns:p14="http://schemas.microsoft.com/office/powerpoint/2010/main" val="146240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2</a:t>
            </a:fld>
            <a:endParaRPr lang="en-ZA"/>
          </a:p>
        </p:txBody>
      </p:sp>
    </p:spTree>
    <p:extLst>
      <p:ext uri="{BB962C8B-B14F-4D97-AF65-F5344CB8AC3E}">
        <p14:creationId xmlns:p14="http://schemas.microsoft.com/office/powerpoint/2010/main" val="3571811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Someone with diagnosed mental health condition can have good mental health and vice versa</a:t>
            </a:r>
          </a:p>
        </p:txBody>
      </p:sp>
      <p:sp>
        <p:nvSpPr>
          <p:cNvPr id="4" name="Slide Number Placeholder 3"/>
          <p:cNvSpPr>
            <a:spLocks noGrp="1"/>
          </p:cNvSpPr>
          <p:nvPr>
            <p:ph type="sldNum" sz="quarter" idx="5"/>
          </p:nvPr>
        </p:nvSpPr>
        <p:spPr/>
        <p:txBody>
          <a:bodyPr/>
          <a:lstStyle/>
          <a:p>
            <a:fld id="{60295239-D07A-417C-B0DC-43D933649B1E}" type="slidenum">
              <a:rPr lang="en-ZA" smtClean="0"/>
              <a:t>5</a:t>
            </a:fld>
            <a:endParaRPr lang="en-ZA"/>
          </a:p>
        </p:txBody>
      </p:sp>
    </p:spTree>
    <p:extLst>
      <p:ext uri="{BB962C8B-B14F-4D97-AF65-F5344CB8AC3E}">
        <p14:creationId xmlns:p14="http://schemas.microsoft.com/office/powerpoint/2010/main" val="443505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pPr marL="0" indent="0">
              <a:spcBef>
                <a:spcPts val="2500"/>
              </a:spcBef>
              <a:buFont typeface="Arial" panose="020B0604020202020204" pitchFamily="34" charset="0"/>
              <a:buNone/>
            </a:pPr>
            <a:r>
              <a:rPr lang="en-GB" b="1" dirty="0"/>
              <a:t>Social Determinants Impact</a:t>
            </a:r>
          </a:p>
          <a:p>
            <a:pPr marL="0" lvl="1" indent="0">
              <a:buFont typeface="Arial" panose="020B0604020202020204" pitchFamily="34" charset="0"/>
              <a:buNone/>
            </a:pPr>
            <a:r>
              <a:rPr lang="en-GB" dirty="0"/>
              <a:t>Poverty, violence inequality, ACES, increase vulnerability to mental health disorders, often bidirectionally. Addressing social determinants require structural interventions rather than solely relying on biomedical approaches. </a:t>
            </a:r>
            <a:r>
              <a:rPr lang="en-GB" sz="1200" b="0" i="0" kern="1200" dirty="0">
                <a:solidFill>
                  <a:schemeClr val="tx1"/>
                </a:solidFill>
                <a:effectLst/>
                <a:latin typeface="+mn-lt"/>
                <a:ea typeface="+mn-ea"/>
                <a:cs typeface="+mn-cs"/>
              </a:rPr>
              <a:t>Social determinants refer to the social and economic conditions that have a direct influence on the prevalence and severity of mental health conditions among females and males across the life course</a:t>
            </a:r>
            <a:endParaRPr lang="en-GB" sz="800" dirty="0"/>
          </a:p>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6</a:t>
            </a:fld>
            <a:endParaRPr lang="en-ZA"/>
          </a:p>
        </p:txBody>
      </p:sp>
    </p:spTree>
    <p:extLst>
      <p:ext uri="{BB962C8B-B14F-4D97-AF65-F5344CB8AC3E}">
        <p14:creationId xmlns:p14="http://schemas.microsoft.com/office/powerpoint/2010/main" val="417024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Who we don’t see: active psychosis/mania, active suicidality. We do not do cognitive/intellectual assessments for DBE. </a:t>
            </a:r>
          </a:p>
        </p:txBody>
      </p:sp>
      <p:sp>
        <p:nvSpPr>
          <p:cNvPr id="4" name="Slide Number Placeholder 3"/>
          <p:cNvSpPr>
            <a:spLocks noGrp="1"/>
          </p:cNvSpPr>
          <p:nvPr>
            <p:ph type="sldNum" sz="quarter" idx="5"/>
          </p:nvPr>
        </p:nvSpPr>
        <p:spPr/>
        <p:txBody>
          <a:bodyPr/>
          <a:lstStyle/>
          <a:p>
            <a:fld id="{60295239-D07A-417C-B0DC-43D933649B1E}" type="slidenum">
              <a:rPr lang="en-ZA" smtClean="0"/>
              <a:t>7</a:t>
            </a:fld>
            <a:endParaRPr lang="en-ZA"/>
          </a:p>
        </p:txBody>
      </p:sp>
    </p:spTree>
    <p:extLst>
      <p:ext uri="{BB962C8B-B14F-4D97-AF65-F5344CB8AC3E}">
        <p14:creationId xmlns:p14="http://schemas.microsoft.com/office/powerpoint/2010/main" val="4258998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Client’s capacity, therapist training, conceptualization of condition and context will inform type of interventions used</a:t>
            </a:r>
          </a:p>
        </p:txBody>
      </p:sp>
      <p:sp>
        <p:nvSpPr>
          <p:cNvPr id="4" name="Slide Number Placeholder 3"/>
          <p:cNvSpPr>
            <a:spLocks noGrp="1"/>
          </p:cNvSpPr>
          <p:nvPr>
            <p:ph type="sldNum" sz="quarter" idx="5"/>
          </p:nvPr>
        </p:nvSpPr>
        <p:spPr/>
        <p:txBody>
          <a:bodyPr/>
          <a:lstStyle/>
          <a:p>
            <a:fld id="{60295239-D07A-417C-B0DC-43D933649B1E}" type="slidenum">
              <a:rPr lang="en-ZA" smtClean="0"/>
              <a:t>8</a:t>
            </a:fld>
            <a:endParaRPr lang="en-ZA"/>
          </a:p>
        </p:txBody>
      </p:sp>
    </p:spTree>
    <p:extLst>
      <p:ext uri="{BB962C8B-B14F-4D97-AF65-F5344CB8AC3E}">
        <p14:creationId xmlns:p14="http://schemas.microsoft.com/office/powerpoint/2010/main" val="1275947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9</a:t>
            </a:fld>
            <a:endParaRPr lang="en-ZA"/>
          </a:p>
        </p:txBody>
      </p:sp>
    </p:spTree>
    <p:extLst>
      <p:ext uri="{BB962C8B-B14F-4D97-AF65-F5344CB8AC3E}">
        <p14:creationId xmlns:p14="http://schemas.microsoft.com/office/powerpoint/2010/main" val="508348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11</a:t>
            </a:fld>
            <a:endParaRPr lang="en-ZA"/>
          </a:p>
        </p:txBody>
      </p:sp>
    </p:spTree>
    <p:extLst>
      <p:ext uri="{BB962C8B-B14F-4D97-AF65-F5344CB8AC3E}">
        <p14:creationId xmlns:p14="http://schemas.microsoft.com/office/powerpoint/2010/main" val="45646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12</a:t>
            </a:fld>
            <a:endParaRPr lang="en-ZA"/>
          </a:p>
        </p:txBody>
      </p:sp>
    </p:spTree>
    <p:extLst>
      <p:ext uri="{BB962C8B-B14F-4D97-AF65-F5344CB8AC3E}">
        <p14:creationId xmlns:p14="http://schemas.microsoft.com/office/powerpoint/2010/main" val="4204585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references information from the following file: https://www.gov.za/sites/default/files/gcis_document/201409/a17-02.pdf,https://knowledgehub.health.gov.za/system/files/elibdownloads/2019-07/Policy%2520guideline%2520on%252072-hour%2520assessment%2520of%2520involuntary%2520mental%2520health%2520care%2520users.pdf,https://www.health.gov.za/wp-content/uploads/2024/02/National-Mental-Health-Policy-framework-and-strategic-Plan-2023-2030.pdf,https://knowledgehub.health.gov.za/system/files/elibdownloads/2023-10/APC_2023_Clinical_tool-PRINT.pdf
Stepped care is a core principle of mental health service delivery in South African primary care, ensuring that patients receive the least intensive, most effective intervention appropriate to their needs. While most common mental disorders can be managed at PHC level, severe mental illnesses such as psychosis and bipolar disorder require careful risk assessment, early referral, and ongoing collaboration with specialist services. Red flags include hallucinations, delusions, severe agitation, marked </a:t>
            </a:r>
            <a:r>
              <a:rPr lang="en-US" dirty="0" err="1"/>
              <a:t>behavioural</a:t>
            </a:r>
            <a:r>
              <a:rPr lang="en-US" dirty="0"/>
              <a:t> disturbance, and inability to care for oneself.
Suicide and violence risk assessment is a critical clinical responsibility. Patients at high risk must not be left alone and require immediate safety measures, including involvement of senior clinicians and urgent referral. The Mental Health Care Act 17 of 2002 provides the legal framework for voluntary, assisted, and involuntary care, including the 72-hour assessment process in designated facilities when involuntary admission is required for protection.
Effective referral involves more than issuing a letter; it includes clear documentation, communication with receiving services, involvement of family where appropriate, and planning for continuity of medication and follow-up. Community-based mental health services, NGOs, and social support systems play an essential role in rehabilitation and recovery. By understanding referral pathways and legal processes, PHC healthcare workers can ensure timely, ethical, and coordinated care for patients with severe mental health needs.
</a:t>
            </a:r>
          </a:p>
        </p:txBody>
      </p:sp>
      <p:sp>
        <p:nvSpPr>
          <p:cNvPr id="4" name="Slide Number Placeholder 3"/>
          <p:cNvSpPr>
            <a:spLocks noGrp="1"/>
          </p:cNvSpPr>
          <p:nvPr>
            <p:ph type="sldNum" sz="quarter" idx="5"/>
          </p:nvPr>
        </p:nvSpPr>
        <p:spPr/>
        <p:txBody>
          <a:bodyPr/>
          <a:lstStyle/>
          <a:p>
            <a:fld id="{152A690B-D798-4771-B599-5F263467DA56}" type="slidenum">
              <a:t>13</a:t>
            </a:fld>
            <a:endParaRPr lang="en-US"/>
          </a:p>
        </p:txBody>
      </p:sp>
    </p:spTree>
    <p:extLst>
      <p:ext uri="{BB962C8B-B14F-4D97-AF65-F5344CB8AC3E}">
        <p14:creationId xmlns:p14="http://schemas.microsoft.com/office/powerpoint/2010/main" val="281964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0295239-D07A-417C-B0DC-43D933649B1E}" type="slidenum">
              <a:rPr lang="en-ZA" smtClean="0"/>
              <a:t>14</a:t>
            </a:fld>
            <a:endParaRPr lang="en-ZA"/>
          </a:p>
        </p:txBody>
      </p:sp>
    </p:spTree>
    <p:extLst>
      <p:ext uri="{BB962C8B-B14F-4D97-AF65-F5344CB8AC3E}">
        <p14:creationId xmlns:p14="http://schemas.microsoft.com/office/powerpoint/2010/main" val="12461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C2062-0772-F327-B9FD-94B7C2E8E2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1586B7DB-C122-16C7-9663-C9DE6201A1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09F0C8F-2842-A817-3908-7A1B1A52C604}"/>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17B9ECEF-E188-4298-B7A2-EB1317FEE2A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49E05DB-13C8-9C66-0240-2FE5A0EBAC1E}"/>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1793870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1A9A5-8153-B190-A569-02255598402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8BD17E1-82B4-16AA-4D17-995EC002E9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8FA5E58-0BBA-C09C-1148-5A5C913CFBAB}"/>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AE9DF250-1071-02B7-6883-EA0F41AFFFF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5873483-A052-5FB5-AE01-BC63B32CED79}"/>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2056361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A34D-F8C6-EF1F-4AC7-119034A60F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70A54E3-6A41-A9CB-8AB5-D43AA57639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610EA6-04D6-9F8F-9B8C-ACCA71036106}"/>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4480A51B-20D0-E172-7BB1-3FE7AE17EA3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D4E6332-6DC1-14AB-69A5-D8DFCE4720B1}"/>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2911596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6E6F9-E33C-26ED-8F3D-5065C346B9E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B190E5B-C00C-CB8C-DD14-66BF191EF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A8842B9-7A22-40A5-4119-4294D9AA32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C19DFDC-4731-7A0E-23F3-AFEA944D0D00}"/>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6" name="Footer Placeholder 5">
            <a:extLst>
              <a:ext uri="{FF2B5EF4-FFF2-40B4-BE49-F238E27FC236}">
                <a16:creationId xmlns:a16="http://schemas.microsoft.com/office/drawing/2014/main" id="{CAE8A849-1045-A651-83DD-2A4FF6832FB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357A99B5-D443-A4C2-F85D-D437319FC64B}"/>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600590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8A6F-E0B6-F8EE-DB7D-7E904120AF58}"/>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A2C4B38-7C11-E8E3-DB2F-086EA29E0C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FA32-A42F-3F4B-62C4-ED78579F91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6D86AC5-8C56-BAC0-7B1D-1638443D57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166C7F-578F-6022-BBD0-87DE5AF4F5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7ECF4B4E-E470-22F0-E4F0-351AC12E53C0}"/>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8" name="Footer Placeholder 7">
            <a:extLst>
              <a:ext uri="{FF2B5EF4-FFF2-40B4-BE49-F238E27FC236}">
                <a16:creationId xmlns:a16="http://schemas.microsoft.com/office/drawing/2014/main" id="{37BCB332-12EA-4ADA-590B-7E6BE79F347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81687EA2-4A13-7BFE-7197-FFEC579ED216}"/>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4024092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9683-B813-46C3-F4CC-96D24A0C43C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65116F9D-ABA6-0424-99FB-2388A2C17242}"/>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4" name="Footer Placeholder 3">
            <a:extLst>
              <a:ext uri="{FF2B5EF4-FFF2-40B4-BE49-F238E27FC236}">
                <a16:creationId xmlns:a16="http://schemas.microsoft.com/office/drawing/2014/main" id="{A6E942E6-EB06-200B-65E5-4A9EFA07955E}"/>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3EC86153-1E06-06EC-9566-3E469B1A2F6F}"/>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174162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C96DF9-CB23-3A88-5773-5DC32E763921}"/>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3" name="Footer Placeholder 2">
            <a:extLst>
              <a:ext uri="{FF2B5EF4-FFF2-40B4-BE49-F238E27FC236}">
                <a16:creationId xmlns:a16="http://schemas.microsoft.com/office/drawing/2014/main" id="{4385C71C-548A-C45B-A2CD-1BC1E84C3E24}"/>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7AC296C1-070C-1E01-23AF-EACE6BF75E1C}"/>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193476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8A8C-A92A-093E-DCF5-27E6AB73C5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D1B9714-B8C6-2C5A-73C1-E430DD3DF3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CDD682DF-2F42-41D6-E21F-B49F0C1788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4EA5E6-DF46-8CF1-ECA9-5C229C2CF0F2}"/>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6" name="Footer Placeholder 5">
            <a:extLst>
              <a:ext uri="{FF2B5EF4-FFF2-40B4-BE49-F238E27FC236}">
                <a16:creationId xmlns:a16="http://schemas.microsoft.com/office/drawing/2014/main" id="{AF2BD483-D39A-6CE0-348D-EF611B4C683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2B53587-AE8D-BC46-0C17-81106BACE76B}"/>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122290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4879A-77DC-0B6E-632D-39E238F7FE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2B6054C-3CD9-67A6-913C-A99A156B11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42987D6-5CC4-A778-6565-9160D90368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304D0-36C8-C9C4-F247-D47BC883BCDF}"/>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6" name="Footer Placeholder 5">
            <a:extLst>
              <a:ext uri="{FF2B5EF4-FFF2-40B4-BE49-F238E27FC236}">
                <a16:creationId xmlns:a16="http://schemas.microsoft.com/office/drawing/2014/main" id="{7DBE1DDB-F834-B0B6-75F4-F1F10A38CF0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2117F0E-62AD-E8BF-4F4B-AD3D849809A8}"/>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1830127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AE46-8B14-3309-385A-A1999BCC0E4E}"/>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B816686-916B-3DD2-311F-6E47F8B6C8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BDDA242-8B2D-B9AC-0ACD-CED8C90D16D9}"/>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54D917A0-DE95-283D-FB06-FAB5D5689B1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2542770-90E9-7DFA-E820-B9994A02054C}"/>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373104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AA135-42EB-5E89-45E3-5009C33267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AD34161-D66F-D974-7F1B-D4A137118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C85C0A5-17DF-F0BB-8605-EA0C98DDF77D}"/>
              </a:ext>
            </a:extLst>
          </p:cNvPr>
          <p:cNvSpPr>
            <a:spLocks noGrp="1"/>
          </p:cNvSpPr>
          <p:nvPr>
            <p:ph type="dt" sz="half" idx="10"/>
          </p:nvPr>
        </p:nvSpPr>
        <p:spPr/>
        <p:txBody>
          <a:body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1041AD85-58A2-AC1E-12E0-685790CEDAA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64BB5F4-A778-83BA-FF49-ED4148F0544F}"/>
              </a:ext>
            </a:extLst>
          </p:cNvPr>
          <p:cNvSpPr>
            <a:spLocks noGrp="1"/>
          </p:cNvSpPr>
          <p:nvPr>
            <p:ph type="sldNum" sz="quarter" idx="12"/>
          </p:nvPr>
        </p:nvSpPr>
        <p:spPr/>
        <p:txBody>
          <a:bodyPr/>
          <a:lstStyle/>
          <a:p>
            <a:fld id="{B762EB7E-205D-43DB-A93C-3B602449B904}" type="slidenum">
              <a:rPr lang="en-ZA" smtClean="0"/>
              <a:t>‹#›</a:t>
            </a:fld>
            <a:endParaRPr lang="en-ZA"/>
          </a:p>
        </p:txBody>
      </p:sp>
    </p:spTree>
    <p:extLst>
      <p:ext uri="{BB962C8B-B14F-4D97-AF65-F5344CB8AC3E}">
        <p14:creationId xmlns:p14="http://schemas.microsoft.com/office/powerpoint/2010/main" val="3785119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4/20/2026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8477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4/20/2026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54039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48AF6C-6F4C-BD48-3E42-8E236B991F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49FD1A3-1A6A-C4C2-379C-D91E378535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2894B33-1783-A2D7-8B9F-E84D152FA1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2F31DF-20CD-4D98-AF81-10766112E531}" type="datetimeFigureOut">
              <a:rPr lang="en-ZA" smtClean="0"/>
              <a:t>2026/04/20</a:t>
            </a:fld>
            <a:endParaRPr lang="en-ZA"/>
          </a:p>
        </p:txBody>
      </p:sp>
      <p:sp>
        <p:nvSpPr>
          <p:cNvPr id="5" name="Footer Placeholder 4">
            <a:extLst>
              <a:ext uri="{FF2B5EF4-FFF2-40B4-BE49-F238E27FC236}">
                <a16:creationId xmlns:a16="http://schemas.microsoft.com/office/drawing/2014/main" id="{1B5DCE71-C8BD-2F36-E42F-07E330F17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CE09F3C-1673-26DD-5071-09F212F80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62EB7E-205D-43DB-A93C-3B602449B904}" type="slidenum">
              <a:rPr lang="en-ZA" smtClean="0"/>
              <a:t>‹#›</a:t>
            </a:fld>
            <a:endParaRPr lang="en-ZA"/>
          </a:p>
        </p:txBody>
      </p:sp>
    </p:spTree>
    <p:extLst>
      <p:ext uri="{BB962C8B-B14F-4D97-AF65-F5344CB8AC3E}">
        <p14:creationId xmlns:p14="http://schemas.microsoft.com/office/powerpoint/2010/main" val="3130731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ixabay.com/fr/anxi%C3%A9t%C3%A9-nuage-de-mot-mot-chronique-133738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svgsilh.com/image/2062053.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pixabay.com/fr/photos/art-th%C3%A9rapie-discipline-th%C3%A9rapeutique-227566/"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1"/><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www.rawpixel.com/search/mental%20health"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C06D0CB4-157B-012D-52CC-9911E56A106F}"/>
              </a:ext>
            </a:extLst>
          </p:cNvPr>
          <p:cNvSpPr>
            <a:spLocks noGrp="1"/>
          </p:cNvSpPr>
          <p:nvPr>
            <p:ph type="ctrTitle"/>
          </p:nvPr>
        </p:nvSpPr>
        <p:spPr>
          <a:xfrm>
            <a:off x="648037" y="1298448"/>
            <a:ext cx="5895178" cy="4099642"/>
          </a:xfrm>
        </p:spPr>
        <p:txBody>
          <a:bodyPr anchor="b">
            <a:normAutofit/>
          </a:bodyPr>
          <a:lstStyle/>
          <a:p>
            <a:pPr algn="l"/>
            <a:r>
              <a:rPr lang="en-ZA" sz="6600">
                <a:solidFill>
                  <a:srgbClr val="FFFFFF"/>
                </a:solidFill>
              </a:rPr>
              <a:t>Effective Management of Mental Health Conditions</a:t>
            </a:r>
          </a:p>
        </p:txBody>
      </p:sp>
      <p:sp>
        <p:nvSpPr>
          <p:cNvPr id="3" name="Subtitle 2">
            <a:extLst>
              <a:ext uri="{FF2B5EF4-FFF2-40B4-BE49-F238E27FC236}">
                <a16:creationId xmlns:a16="http://schemas.microsoft.com/office/drawing/2014/main" id="{9D3E5794-CDCB-03C9-363D-AAD400E58DB6}"/>
              </a:ext>
            </a:extLst>
          </p:cNvPr>
          <p:cNvSpPr>
            <a:spLocks noGrp="1"/>
          </p:cNvSpPr>
          <p:nvPr>
            <p:ph type="subTitle" idx="1"/>
          </p:nvPr>
        </p:nvSpPr>
        <p:spPr>
          <a:xfrm>
            <a:off x="7848600" y="1122363"/>
            <a:ext cx="3505200" cy="4269549"/>
          </a:xfrm>
        </p:spPr>
        <p:txBody>
          <a:bodyPr anchor="b">
            <a:normAutofit/>
          </a:bodyPr>
          <a:lstStyle/>
          <a:p>
            <a:pPr algn="l"/>
            <a:r>
              <a:rPr lang="en-ZA"/>
              <a:t>Ielhaam Jacobs </a:t>
            </a:r>
          </a:p>
          <a:p>
            <a:pPr algn="l"/>
            <a:r>
              <a:rPr lang="en-ZA"/>
              <a:t>Ekurhuleni Psychology Department </a:t>
            </a:r>
          </a:p>
        </p:txBody>
      </p:sp>
      <p:sp>
        <p:nvSpPr>
          <p:cNvPr id="21"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282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238A9CB-7537-88CC-00CD-6ED9BD55BDFC}"/>
              </a:ext>
            </a:extLst>
          </p:cNvPr>
          <p:cNvSpPr>
            <a:spLocks noGrp="1"/>
          </p:cNvSpPr>
          <p:nvPr>
            <p:ph type="title"/>
          </p:nvPr>
        </p:nvSpPr>
        <p:spPr>
          <a:xfrm>
            <a:off x="838200" y="673770"/>
            <a:ext cx="3220329" cy="2027227"/>
          </a:xfrm>
        </p:spPr>
        <p:txBody>
          <a:bodyPr anchor="t">
            <a:normAutofit/>
          </a:bodyPr>
          <a:lstStyle/>
          <a:p>
            <a:r>
              <a:rPr lang="en-ZA" sz="5400">
                <a:solidFill>
                  <a:srgbClr val="FFFFFF"/>
                </a:solidFill>
              </a:rPr>
              <a:t>What to expect </a:t>
            </a:r>
          </a:p>
        </p:txBody>
      </p:sp>
      <p:graphicFrame>
        <p:nvGraphicFramePr>
          <p:cNvPr id="5" name="Content Placeholder 2">
            <a:extLst>
              <a:ext uri="{FF2B5EF4-FFF2-40B4-BE49-F238E27FC236}">
                <a16:creationId xmlns:a16="http://schemas.microsoft.com/office/drawing/2014/main" id="{D0D5CCC5-C239-79A9-8322-D0F216B6A9E3}"/>
              </a:ext>
            </a:extLst>
          </p:cNvPr>
          <p:cNvGraphicFramePr>
            <a:graphicFrameLocks noGrp="1"/>
          </p:cNvGraphicFramePr>
          <p:nvPr>
            <p:ph idx="1"/>
            <p:extLst>
              <p:ext uri="{D42A27DB-BD31-4B8C-83A1-F6EECF244321}">
                <p14:modId xmlns:p14="http://schemas.microsoft.com/office/powerpoint/2010/main" val="1684647509"/>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848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AF593BA0-E62D-9423-9DF2-B63946093118}"/>
              </a:ext>
            </a:extLst>
          </p:cNvPr>
          <p:cNvSpPr>
            <a:spLocks noGrp="1"/>
          </p:cNvSpPr>
          <p:nvPr>
            <p:ph type="title"/>
          </p:nvPr>
        </p:nvSpPr>
        <p:spPr/>
        <p:txBody>
          <a:bodyPr/>
          <a:lstStyle/>
          <a:p>
            <a:r>
              <a:rPr lang="en-GB"/>
              <a:t>Do you know whether your community/clinic offers mental health services?</a:t>
            </a:r>
            <a:endParaRPr lang="en-ZA"/>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9E549A4A-10B8-EF77-1BA9-552AAA636F1A}"/>
                  </a:ext>
                </a:extLst>
              </p:cNvPr>
              <p:cNvGraphicFramePr>
                <a:graphicFrameLocks noGrp="1"/>
              </p:cNvGraphicFramePr>
              <p:nvPr>
                <p:ph idx="1"/>
              </p:nvPr>
            </p:nvGraphicFramePr>
            <p:xfrm>
              <a:off x="838200" y="1825625"/>
              <a:ext cx="10515600" cy="435133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9E549A4A-10B8-EF77-1BA9-552AAA636F1A}"/>
                  </a:ext>
                </a:extLst>
              </p:cNvPr>
              <p:cNvPicPr>
                <a:picLocks noGrp="1" noRot="1" noChangeAspect="1" noMove="1" noResize="1" noEditPoints="1" noAdjustHandles="1" noChangeArrowheads="1" noChangeShapeType="1"/>
              </p:cNvPicPr>
              <p:nvPr/>
            </p:nvPicPr>
            <p:blipFill>
              <a:blip r:embed="rId3"/>
              <a:stretch>
                <a:fillRect/>
              </a:stretch>
            </p:blipFill>
            <p:spPr>
              <a:xfrm>
                <a:off x="838200" y="1825625"/>
                <a:ext cx="10515600" cy="4351338"/>
              </a:xfrm>
              <a:prstGeom prst="rect">
                <a:avLst/>
              </a:prstGeom>
            </p:spPr>
          </p:pic>
        </mc:Fallback>
      </mc:AlternateContent>
    </p:spTree>
    <p:extLst>
      <p:ext uri="{BB962C8B-B14F-4D97-AF65-F5344CB8AC3E}">
        <p14:creationId xmlns:p14="http://schemas.microsoft.com/office/powerpoint/2010/main" val="4007034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308409F4-FE1B-0EB9-6432-6856AA07FD14}"/>
              </a:ext>
            </a:extLst>
          </p:cNvPr>
          <p:cNvSpPr>
            <a:spLocks noGrp="1"/>
          </p:cNvSpPr>
          <p:nvPr>
            <p:ph type="title"/>
          </p:nvPr>
        </p:nvSpPr>
        <p:spPr/>
        <p:txBody>
          <a:bodyPr/>
          <a:lstStyle/>
          <a:p>
            <a:r>
              <a:rPr lang="en-GB"/>
              <a:t>Do you know what the role of Mental Health is at your facility? </a:t>
            </a:r>
            <a:endParaRPr lang="en-ZA"/>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50E4951B-07E8-E889-407C-C020FAF41CB4}"/>
                  </a:ext>
                </a:extLst>
              </p:cNvPr>
              <p:cNvGraphicFramePr>
                <a:graphicFrameLocks noGrp="1"/>
              </p:cNvGraphicFramePr>
              <p:nvPr>
                <p:ph idx="1"/>
                <p:extLst>
                  <p:ext uri="{D42A27DB-BD31-4B8C-83A1-F6EECF244321}">
                    <p14:modId xmlns:p14="http://schemas.microsoft.com/office/powerpoint/2010/main" val="3750713622"/>
                  </p:ext>
                </p:extLst>
              </p:nvPr>
            </p:nvGraphicFramePr>
            <p:xfrm>
              <a:off x="737419" y="855406"/>
              <a:ext cx="10616381" cy="532155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50E4951B-07E8-E889-407C-C020FAF41CB4}"/>
                  </a:ext>
                </a:extLst>
              </p:cNvPr>
              <p:cNvPicPr>
                <a:picLocks noGrp="1" noRot="1" noChangeAspect="1" noMove="1" noResize="1" noEditPoints="1" noAdjustHandles="1" noChangeArrowheads="1" noChangeShapeType="1"/>
              </p:cNvPicPr>
              <p:nvPr/>
            </p:nvPicPr>
            <p:blipFill>
              <a:blip r:embed="rId3"/>
              <a:stretch>
                <a:fillRect/>
              </a:stretch>
            </p:blipFill>
            <p:spPr>
              <a:xfrm>
                <a:off x="737419" y="855406"/>
                <a:ext cx="10616381" cy="5321557"/>
              </a:xfrm>
              <a:prstGeom prst="rect">
                <a:avLst/>
              </a:prstGeom>
            </p:spPr>
          </p:pic>
        </mc:Fallback>
      </mc:AlternateContent>
    </p:spTree>
    <p:extLst>
      <p:ext uri="{BB962C8B-B14F-4D97-AF65-F5344CB8AC3E}">
        <p14:creationId xmlns:p14="http://schemas.microsoft.com/office/powerpoint/2010/main" val="122955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35D04D-F46E-DE3B-3606-E12F724559C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Mental Health Assessment </a:t>
            </a:r>
          </a:p>
        </p:txBody>
      </p:sp>
      <p:pic>
        <p:nvPicPr>
          <p:cNvPr id="5" name="Content Placeholder 4">
            <a:extLst>
              <a:ext uri="{FF2B5EF4-FFF2-40B4-BE49-F238E27FC236}">
                <a16:creationId xmlns:a16="http://schemas.microsoft.com/office/drawing/2014/main" id="{9DE7D551-19E3-8B36-8621-0D60C6C9D86B}"/>
              </a:ext>
            </a:extLst>
          </p:cNvPr>
          <p:cNvPicPr>
            <a:picLocks noGrp="1" noChangeAspect="1"/>
          </p:cNvPicPr>
          <p:nvPr>
            <p:ph idx="1"/>
          </p:nvPr>
        </p:nvPicPr>
        <p:blipFill>
          <a:blip r:embed="rId3"/>
          <a:stretch>
            <a:fillRect/>
          </a:stretch>
        </p:blipFill>
        <p:spPr>
          <a:xfrm>
            <a:off x="4343691" y="876487"/>
            <a:ext cx="7263570" cy="4031282"/>
          </a:xfrm>
          <a:prstGeom prst="rect">
            <a:avLst/>
          </a:prstGeom>
        </p:spPr>
      </p:pic>
      <p:cxnSp>
        <p:nvCxnSpPr>
          <p:cNvPr id="9" name="Straight Arrow Connector 8">
            <a:extLst>
              <a:ext uri="{FF2B5EF4-FFF2-40B4-BE49-F238E27FC236}">
                <a16:creationId xmlns:a16="http://schemas.microsoft.com/office/drawing/2014/main" id="{6E74A9D8-98F8-9C73-28B7-89F0689D2DD1}"/>
              </a:ext>
            </a:extLst>
          </p:cNvPr>
          <p:cNvCxnSpPr>
            <a:cxnSpLocks/>
          </p:cNvCxnSpPr>
          <p:nvPr/>
        </p:nvCxnSpPr>
        <p:spPr>
          <a:xfrm>
            <a:off x="3991897" y="5446315"/>
            <a:ext cx="7754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F4693DA-0DC2-CED6-BECD-CA3881516FAC}"/>
              </a:ext>
            </a:extLst>
          </p:cNvPr>
          <p:cNvSpPr txBox="1"/>
          <p:nvPr/>
        </p:nvSpPr>
        <p:spPr>
          <a:xfrm>
            <a:off x="4216525" y="5574890"/>
            <a:ext cx="7529997" cy="369332"/>
          </a:xfrm>
          <a:prstGeom prst="rect">
            <a:avLst/>
          </a:prstGeom>
          <a:noFill/>
        </p:spPr>
        <p:txBody>
          <a:bodyPr wrap="square" rtlCol="0">
            <a:spAutoFit/>
          </a:bodyPr>
          <a:lstStyle/>
          <a:p>
            <a:r>
              <a:rPr lang="en-ZA" dirty="0"/>
              <a:t>Promotion </a:t>
            </a:r>
            <a:r>
              <a:rPr lang="en-ZA" dirty="0">
                <a:sym typeface="Wingdings" panose="05000000000000000000" pitchFamily="2" charset="2"/>
              </a:rPr>
              <a:t>	Prevention 	Treatment  	Rehabilitation </a:t>
            </a:r>
            <a:endParaRPr lang="en-ZA" dirty="0"/>
          </a:p>
        </p:txBody>
      </p:sp>
    </p:spTree>
    <p:extLst>
      <p:ext uri="{BB962C8B-B14F-4D97-AF65-F5344CB8AC3E}">
        <p14:creationId xmlns:p14="http://schemas.microsoft.com/office/powerpoint/2010/main" val="369118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CE6DC6-427E-BF0C-3B08-511A65143044}"/>
              </a:ext>
            </a:extLst>
          </p:cNvPr>
          <p:cNvSpPr>
            <a:spLocks noGrp="1"/>
          </p:cNvSpPr>
          <p:nvPr>
            <p:ph type="title"/>
          </p:nvPr>
        </p:nvSpPr>
        <p:spPr>
          <a:xfrm>
            <a:off x="630936" y="639520"/>
            <a:ext cx="3429000" cy="1719072"/>
          </a:xfrm>
        </p:spPr>
        <p:txBody>
          <a:bodyPr anchor="b">
            <a:normAutofit/>
          </a:bodyPr>
          <a:lstStyle/>
          <a:p>
            <a:r>
              <a:rPr lang="en-ZA" sz="3000" dirty="0"/>
              <a:t>BIOPSYCHOSOCIAL APPROACH TO ASSESSMENT </a:t>
            </a:r>
          </a:p>
        </p:txBody>
      </p:sp>
      <p:sp>
        <p:nvSpPr>
          <p:cNvPr id="2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7E9C17-4039-BB67-75BF-A9579C68B05A}"/>
              </a:ext>
            </a:extLst>
          </p:cNvPr>
          <p:cNvSpPr>
            <a:spLocks noGrp="1"/>
          </p:cNvSpPr>
          <p:nvPr>
            <p:ph idx="1"/>
          </p:nvPr>
        </p:nvSpPr>
        <p:spPr>
          <a:xfrm>
            <a:off x="630936" y="2807208"/>
            <a:ext cx="3429000" cy="3410712"/>
          </a:xfrm>
        </p:spPr>
        <p:txBody>
          <a:bodyPr anchor="t">
            <a:normAutofit/>
          </a:bodyPr>
          <a:lstStyle/>
          <a:p>
            <a:r>
              <a:rPr lang="en-ZA" sz="1500" dirty="0"/>
              <a:t>Mental Health assessments are dynamic &amp; complex </a:t>
            </a:r>
          </a:p>
          <a:p>
            <a:r>
              <a:rPr lang="en-ZA" sz="1500" dirty="0"/>
              <a:t>Assessments comprise of patient history/clinical interview, collateral information, screening tools &amp; MSE </a:t>
            </a:r>
          </a:p>
          <a:p>
            <a:r>
              <a:rPr lang="en-ZA" sz="1500" dirty="0"/>
              <a:t>Based on assessment, plan interventions/treatment, collaboration with the client is key</a:t>
            </a:r>
          </a:p>
          <a:p>
            <a:r>
              <a:rPr lang="en-ZA" sz="1500" dirty="0"/>
              <a:t>Assess for psychiatric emergencies and refer appropriately </a:t>
            </a:r>
          </a:p>
          <a:p>
            <a:endParaRPr lang="en-ZA" sz="1500" dirty="0"/>
          </a:p>
          <a:p>
            <a:endParaRPr lang="en-ZA" sz="1500" dirty="0"/>
          </a:p>
        </p:txBody>
      </p:sp>
      <p:pic>
        <p:nvPicPr>
          <p:cNvPr id="5" name="Picture 4">
            <a:extLst>
              <a:ext uri="{FF2B5EF4-FFF2-40B4-BE49-F238E27FC236}">
                <a16:creationId xmlns:a16="http://schemas.microsoft.com/office/drawing/2014/main" id="{CC6590EA-E825-1186-0D88-555143944AAB}"/>
              </a:ext>
            </a:extLst>
          </p:cNvPr>
          <p:cNvPicPr>
            <a:picLocks noChangeAspect="1"/>
          </p:cNvPicPr>
          <p:nvPr/>
        </p:nvPicPr>
        <p:blipFill>
          <a:blip r:embed="rId3"/>
          <a:srcRect r="2198" b="-1"/>
          <a:stretch>
            <a:fillRect/>
          </a:stretch>
        </p:blipFill>
        <p:spPr>
          <a:xfrm>
            <a:off x="4738758" y="640080"/>
            <a:ext cx="6734796" cy="5577840"/>
          </a:xfrm>
          <a:prstGeom prst="rect">
            <a:avLst/>
          </a:prstGeom>
        </p:spPr>
      </p:pic>
    </p:spTree>
    <p:extLst>
      <p:ext uri="{BB962C8B-B14F-4D97-AF65-F5344CB8AC3E}">
        <p14:creationId xmlns:p14="http://schemas.microsoft.com/office/powerpoint/2010/main" val="2671657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4EE389-3708-A099-44E7-232C6E95ABFB}"/>
              </a:ext>
            </a:extLst>
          </p:cNvPr>
          <p:cNvSpPr>
            <a:spLocks noGrp="1"/>
          </p:cNvSpPr>
          <p:nvPr>
            <p:ph type="title"/>
          </p:nvPr>
        </p:nvSpPr>
        <p:spPr>
          <a:xfrm>
            <a:off x="630936" y="640080"/>
            <a:ext cx="4818888" cy="1481328"/>
          </a:xfrm>
        </p:spPr>
        <p:txBody>
          <a:bodyPr anchor="b">
            <a:normAutofit/>
          </a:bodyPr>
          <a:lstStyle/>
          <a:p>
            <a:r>
              <a:rPr lang="en-ZA" sz="3000"/>
              <a:t>COMMON MENTAL HEALTH CONDITIONS IN PHC</a:t>
            </a: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0F272C-DE90-E945-E269-C633B893BFDF}"/>
              </a:ext>
            </a:extLst>
          </p:cNvPr>
          <p:cNvSpPr>
            <a:spLocks noGrp="1"/>
          </p:cNvSpPr>
          <p:nvPr>
            <p:ph idx="1"/>
          </p:nvPr>
        </p:nvSpPr>
        <p:spPr>
          <a:xfrm>
            <a:off x="630936" y="2660904"/>
            <a:ext cx="4818888" cy="3547872"/>
          </a:xfrm>
        </p:spPr>
        <p:txBody>
          <a:bodyPr anchor="t">
            <a:normAutofit/>
          </a:bodyPr>
          <a:lstStyle/>
          <a:p>
            <a:pPr marL="0" indent="0">
              <a:spcBef>
                <a:spcPts val="2500"/>
              </a:spcBef>
              <a:buNone/>
            </a:pPr>
            <a:r>
              <a:rPr lang="en-GB" sz="1200" b="1" dirty="0"/>
              <a:t>Mood Disorders</a:t>
            </a:r>
          </a:p>
          <a:p>
            <a:pPr marL="0" lvl="1" indent="0">
              <a:buNone/>
            </a:pPr>
            <a:r>
              <a:rPr lang="en-GB" sz="1200" dirty="0"/>
              <a:t>Depression features persistent low mood, loss of interest, sleep issues, fatigue, and suicidal thoughts.</a:t>
            </a:r>
          </a:p>
          <a:p>
            <a:pPr marL="0" indent="0">
              <a:spcBef>
                <a:spcPts val="2500"/>
              </a:spcBef>
              <a:buNone/>
            </a:pPr>
            <a:r>
              <a:rPr lang="en-GB" sz="1200" b="1" dirty="0"/>
              <a:t>Anxiety Disorders</a:t>
            </a:r>
          </a:p>
          <a:p>
            <a:pPr marL="0" lvl="1" indent="0">
              <a:buNone/>
            </a:pPr>
            <a:r>
              <a:rPr lang="en-GB" sz="1200" dirty="0"/>
              <a:t>Anxiety involves excessive worry, restlessness, panic attacks, and often coexists with depression.</a:t>
            </a:r>
          </a:p>
          <a:p>
            <a:pPr marL="0" indent="0">
              <a:spcBef>
                <a:spcPts val="2500"/>
              </a:spcBef>
              <a:buNone/>
            </a:pPr>
            <a:r>
              <a:rPr lang="en-GB" sz="1200" b="1" dirty="0"/>
              <a:t>Trauma-Related Conditions</a:t>
            </a:r>
          </a:p>
          <a:p>
            <a:pPr marL="0" lvl="1" indent="0">
              <a:buNone/>
            </a:pPr>
            <a:r>
              <a:rPr lang="en-GB" sz="1200" dirty="0"/>
              <a:t>Trauma causes hyperarousal, intrusive memories, emotional numbing, and functional impairment.</a:t>
            </a:r>
          </a:p>
          <a:p>
            <a:pPr marL="0" indent="0">
              <a:spcBef>
                <a:spcPts val="2500"/>
              </a:spcBef>
              <a:buNone/>
            </a:pPr>
            <a:r>
              <a:rPr lang="en-GB" sz="1200" b="1" dirty="0"/>
              <a:t>Substance Use Disorders</a:t>
            </a:r>
          </a:p>
          <a:p>
            <a:pPr marL="0" lvl="1" indent="0">
              <a:buNone/>
            </a:pPr>
            <a:r>
              <a:rPr lang="en-GB" sz="1200" dirty="0"/>
              <a:t>Substance use disorders, especially alcohol-related, increase morbidity and are linked to violence; Typically requires specialized interventions </a:t>
            </a:r>
          </a:p>
          <a:p>
            <a:endParaRPr lang="en-ZA" sz="1200" dirty="0"/>
          </a:p>
        </p:txBody>
      </p:sp>
      <p:pic>
        <p:nvPicPr>
          <p:cNvPr id="4" name="Picture Placeholder 7">
            <a:extLst>
              <a:ext uri="{FF2B5EF4-FFF2-40B4-BE49-F238E27FC236}">
                <a16:creationId xmlns:a16="http://schemas.microsoft.com/office/drawing/2014/main" id="{D0BDDE46-55CE-E277-6A21-7A0F82650F6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099048" y="1463772"/>
            <a:ext cx="5458968" cy="3930456"/>
          </a:xfrm>
          <a:prstGeom prst="rect">
            <a:avLst/>
          </a:prstGeom>
          <a:noFill/>
        </p:spPr>
      </p:pic>
    </p:spTree>
    <p:extLst>
      <p:ext uri="{BB962C8B-B14F-4D97-AF65-F5344CB8AC3E}">
        <p14:creationId xmlns:p14="http://schemas.microsoft.com/office/powerpoint/2010/main" val="1940962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CC50C-6A6B-BDF9-0065-02D43D5B4FA6}"/>
              </a:ext>
            </a:extLst>
          </p:cNvPr>
          <p:cNvSpPr>
            <a:spLocks noGrp="1"/>
          </p:cNvSpPr>
          <p:nvPr>
            <p:ph type="title"/>
          </p:nvPr>
        </p:nvSpPr>
        <p:spPr>
          <a:xfrm>
            <a:off x="630936" y="472273"/>
            <a:ext cx="4818888" cy="1447967"/>
          </a:xfrm>
        </p:spPr>
        <p:txBody>
          <a:bodyPr anchor="b">
            <a:normAutofit/>
          </a:bodyPr>
          <a:lstStyle/>
          <a:p>
            <a:r>
              <a:rPr lang="en-ZA" sz="3400" dirty="0"/>
              <a:t>BRIEF EVIDENCE-BASED INTERVENTIONS</a:t>
            </a:r>
          </a:p>
        </p:txBody>
      </p:sp>
      <p:sp>
        <p:nvSpPr>
          <p:cNvPr id="1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85470D-BABC-315E-B686-61F268995032}"/>
              </a:ext>
            </a:extLst>
          </p:cNvPr>
          <p:cNvSpPr>
            <a:spLocks noGrp="1"/>
          </p:cNvSpPr>
          <p:nvPr>
            <p:ph idx="1"/>
          </p:nvPr>
        </p:nvSpPr>
        <p:spPr>
          <a:xfrm>
            <a:off x="630935" y="2496017"/>
            <a:ext cx="6428626" cy="3365385"/>
          </a:xfrm>
        </p:spPr>
        <p:txBody>
          <a:bodyPr anchor="t">
            <a:noAutofit/>
          </a:bodyPr>
          <a:lstStyle/>
          <a:p>
            <a:pPr marL="0" indent="0">
              <a:spcBef>
                <a:spcPts val="2500"/>
              </a:spcBef>
              <a:buNone/>
            </a:pPr>
            <a:r>
              <a:rPr lang="en-GB" sz="1200" b="1" dirty="0"/>
              <a:t>Psychoeducation </a:t>
            </a:r>
          </a:p>
          <a:p>
            <a:pPr marL="0" lvl="1" indent="0">
              <a:buNone/>
            </a:pPr>
            <a:r>
              <a:rPr lang="en-GB" sz="1050" dirty="0"/>
              <a:t>Psychoeducation helps clients and families understand symptoms, reduce stigma, and set recovery expectations.</a:t>
            </a:r>
          </a:p>
          <a:p>
            <a:pPr marL="0" indent="0">
              <a:spcBef>
                <a:spcPts val="2500"/>
              </a:spcBef>
              <a:buNone/>
            </a:pPr>
            <a:r>
              <a:rPr lang="en-GB" sz="1200" b="1" dirty="0"/>
              <a:t>Cognitive Behavioural Therapy</a:t>
            </a:r>
          </a:p>
          <a:p>
            <a:pPr marL="0" lvl="1" indent="0">
              <a:buNone/>
            </a:pPr>
            <a:r>
              <a:rPr lang="en-GB" sz="1050" dirty="0"/>
              <a:t>Encourages behavioural activation, understanding how thoughts &amp; feelings affect behaviour; Includes homework that allows clients to challenge maladaptive thinking patterns &amp; behaviours</a:t>
            </a:r>
          </a:p>
          <a:p>
            <a:pPr marL="0" indent="0">
              <a:spcBef>
                <a:spcPts val="2500"/>
              </a:spcBef>
              <a:buNone/>
            </a:pPr>
            <a:r>
              <a:rPr lang="en-GB" sz="1200" b="1" dirty="0"/>
              <a:t>Problem-Solving Therapy</a:t>
            </a:r>
          </a:p>
          <a:p>
            <a:pPr marL="0" lvl="1" indent="0">
              <a:buNone/>
            </a:pPr>
            <a:r>
              <a:rPr lang="en-GB" sz="1050" dirty="0"/>
              <a:t>Supports clients to identify problems, generate solutions, and review progress, aiding coping under social stress.</a:t>
            </a:r>
          </a:p>
          <a:p>
            <a:pPr marL="0" indent="0">
              <a:spcBef>
                <a:spcPts val="2500"/>
              </a:spcBef>
              <a:buNone/>
            </a:pPr>
            <a:r>
              <a:rPr lang="en-GB" sz="1200" b="1" dirty="0"/>
              <a:t>Techniques for Anxiety and Substance Use</a:t>
            </a:r>
          </a:p>
          <a:p>
            <a:pPr marL="0" lvl="1" indent="0">
              <a:buNone/>
            </a:pPr>
            <a:r>
              <a:rPr lang="en-GB" sz="1050" dirty="0"/>
              <a:t>Mindfulness practices, grounding, cognitive restructuring, and motivational interviewing reduce anxiety and support change.</a:t>
            </a:r>
          </a:p>
          <a:p>
            <a:pPr marL="0" lvl="1" indent="0">
              <a:buNone/>
            </a:pPr>
            <a:endParaRPr lang="en-GB" sz="1050" dirty="0"/>
          </a:p>
          <a:p>
            <a:pPr marL="0" lvl="1" indent="0">
              <a:buNone/>
            </a:pPr>
            <a:r>
              <a:rPr lang="en-GB" sz="1200" b="1" dirty="0"/>
              <a:t>Interpersonal Psychotherapy </a:t>
            </a:r>
          </a:p>
          <a:p>
            <a:pPr marL="0" lvl="1" indent="0">
              <a:buNone/>
            </a:pPr>
            <a:r>
              <a:rPr lang="en-GB" sz="1050" dirty="0"/>
              <a:t>Focuses on resolving current interpersonal challenges &amp; improving relationships to reduce mental health symptoms</a:t>
            </a:r>
          </a:p>
          <a:p>
            <a:pPr marL="0" lvl="1" indent="0">
              <a:buNone/>
            </a:pPr>
            <a:endParaRPr lang="en-GB" sz="1050" dirty="0"/>
          </a:p>
          <a:p>
            <a:pPr marL="0" lvl="1" indent="0">
              <a:buNone/>
            </a:pPr>
            <a:r>
              <a:rPr lang="en-GB" sz="1200" b="1" dirty="0"/>
              <a:t>Group Psychotherapy </a:t>
            </a:r>
          </a:p>
          <a:p>
            <a:pPr marL="0" lvl="1" indent="0">
              <a:buNone/>
            </a:pPr>
            <a:r>
              <a:rPr lang="en-GB" sz="1050" dirty="0"/>
              <a:t> </a:t>
            </a:r>
          </a:p>
          <a:p>
            <a:endParaRPr lang="en-ZA" sz="1050" dirty="0"/>
          </a:p>
        </p:txBody>
      </p:sp>
      <p:pic>
        <p:nvPicPr>
          <p:cNvPr id="8" name="Picture Placeholder 7">
            <a:extLst>
              <a:ext uri="{FF2B5EF4-FFF2-40B4-BE49-F238E27FC236}">
                <a16:creationId xmlns:a16="http://schemas.microsoft.com/office/drawing/2014/main" id="{CB3BEAAE-5FC8-BA60-C46B-4F57D841E9C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264424" y="1531972"/>
            <a:ext cx="4608224" cy="4608224"/>
          </a:xfrm>
          <a:prstGeom prst="rect">
            <a:avLst/>
          </a:prstGeom>
          <a:noFill/>
        </p:spPr>
      </p:pic>
    </p:spTree>
    <p:extLst>
      <p:ext uri="{BB962C8B-B14F-4D97-AF65-F5344CB8AC3E}">
        <p14:creationId xmlns:p14="http://schemas.microsoft.com/office/powerpoint/2010/main" val="2973142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05DF3-C155-79F6-BF75-1C7AD8C78522}"/>
              </a:ext>
            </a:extLst>
          </p:cNvPr>
          <p:cNvSpPr>
            <a:spLocks noGrp="1"/>
          </p:cNvSpPr>
          <p:nvPr>
            <p:ph type="title"/>
          </p:nvPr>
        </p:nvSpPr>
        <p:spPr>
          <a:xfrm>
            <a:off x="838200" y="365125"/>
            <a:ext cx="10515600" cy="1325563"/>
          </a:xfrm>
        </p:spPr>
        <p:txBody>
          <a:bodyPr>
            <a:normAutofit/>
          </a:bodyPr>
          <a:lstStyle/>
          <a:p>
            <a:r>
              <a:rPr lang="en-ZA" sz="5400" dirty="0"/>
              <a:t>CASE STUDY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9CCF41C7-6DDA-0AF9-A10A-603EA8BCAD5A}"/>
              </a:ext>
            </a:extLst>
          </p:cNvPr>
          <p:cNvSpPr>
            <a:spLocks noGrp="1"/>
          </p:cNvSpPr>
          <p:nvPr>
            <p:ph idx="1"/>
          </p:nvPr>
        </p:nvSpPr>
        <p:spPr>
          <a:xfrm>
            <a:off x="838200" y="1929384"/>
            <a:ext cx="10515600" cy="4251960"/>
          </a:xfrm>
        </p:spPr>
        <p:txBody>
          <a:bodyPr>
            <a:normAutofit/>
          </a:bodyPr>
          <a:lstStyle/>
          <a:p>
            <a:pPr marL="0" indent="0">
              <a:spcAft>
                <a:spcPts val="600"/>
              </a:spcAft>
              <a:buNone/>
            </a:pPr>
            <a:r>
              <a:rPr lang="en-GB" sz="1900"/>
              <a:t>A is a 25-year-old female. She is unemployed, HLOE: grade 10, she has three children and is in an abusive relationship with her partner of 6-years.  </a:t>
            </a:r>
          </a:p>
          <a:p>
            <a:pPr marL="0" indent="0">
              <a:spcAft>
                <a:spcPts val="600"/>
              </a:spcAft>
              <a:buNone/>
            </a:pPr>
            <a:r>
              <a:rPr lang="en-GB" sz="1900"/>
              <a:t>She has recently discovered that she is HIV-positive. She arrives at the clinic to collect treatment and discloses to the nurse that she feels overwhelmed. She has discovered that her partner has impregnated their neighbour and has lost his job due to his excessive alcohol consumption. </a:t>
            </a:r>
          </a:p>
          <a:p>
            <a:pPr marL="0" indent="0">
              <a:spcAft>
                <a:spcPts val="600"/>
              </a:spcAft>
              <a:buNone/>
            </a:pPr>
            <a:r>
              <a:rPr lang="en-GB" sz="1900"/>
              <a:t>Her 7-year-old son is not performing academically, and his teacher has informed her that he will likely repeat the grade. She feels unable to care for her children’s needs and has started neglecting them. </a:t>
            </a:r>
          </a:p>
          <a:p>
            <a:pPr marL="0" indent="0">
              <a:spcAft>
                <a:spcPts val="600"/>
              </a:spcAft>
              <a:buNone/>
            </a:pPr>
            <a:r>
              <a:rPr lang="en-GB" sz="1900"/>
              <a:t>She feels worthless and worries about her future and her children’s well-being.</a:t>
            </a:r>
          </a:p>
          <a:p>
            <a:pPr marL="0" indent="0">
              <a:spcAft>
                <a:spcPts val="600"/>
              </a:spcAft>
              <a:buNone/>
            </a:pPr>
            <a:r>
              <a:rPr lang="en-GB" sz="1900"/>
              <a:t>She worries about what to feed her children. Her family lives in CT, her relationship with them is strained and she cannot afford to return home. She stopped attending church. She is unable to sleep at night and wishes she could disappear. </a:t>
            </a:r>
          </a:p>
          <a:p>
            <a:endParaRPr lang="en-ZA" sz="1900"/>
          </a:p>
        </p:txBody>
      </p:sp>
    </p:spTree>
    <p:extLst>
      <p:ext uri="{BB962C8B-B14F-4D97-AF65-F5344CB8AC3E}">
        <p14:creationId xmlns:p14="http://schemas.microsoft.com/office/powerpoint/2010/main" val="3800605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F1675-8309-8576-17A0-476AFC95703E}"/>
              </a:ext>
            </a:extLst>
          </p:cNvPr>
          <p:cNvSpPr>
            <a:spLocks noGrp="1"/>
          </p:cNvSpPr>
          <p:nvPr>
            <p:ph type="title"/>
          </p:nvPr>
        </p:nvSpPr>
        <p:spPr/>
        <p:txBody>
          <a:bodyPr/>
          <a:lstStyle/>
          <a:p>
            <a:r>
              <a:rPr lang="en-ZA" dirty="0"/>
              <a:t>WHAT WOULD YOU DO IN A’S CASE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649997EA-4478-2A2B-5651-7FAA91485F4E}"/>
                  </a:ext>
                </a:extLst>
              </p:cNvPr>
              <p:cNvGraphicFramePr>
                <a:graphicFrameLocks noGrp="1"/>
              </p:cNvGraphicFramePr>
              <p:nvPr>
                <p:ph idx="1"/>
              </p:nvPr>
            </p:nvGraphicFramePr>
            <p:xfrm>
              <a:off x="838200" y="1825625"/>
              <a:ext cx="10515600" cy="435133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649997EA-4478-2A2B-5651-7FAA91485F4E}"/>
                  </a:ext>
                </a:extLst>
              </p:cNvPr>
              <p:cNvPicPr>
                <a:picLocks noGrp="1" noRot="1" noChangeAspect="1" noMove="1" noResize="1" noEditPoints="1" noAdjustHandles="1" noChangeArrowheads="1" noChangeShapeType="1"/>
              </p:cNvPicPr>
              <p:nvPr/>
            </p:nvPicPr>
            <p:blipFill>
              <a:blip r:embed="rId3"/>
              <a:stretch>
                <a:fillRect/>
              </a:stretch>
            </p:blipFill>
            <p:spPr>
              <a:xfrm>
                <a:off x="838200" y="1825625"/>
                <a:ext cx="10515600" cy="4351338"/>
              </a:xfrm>
              <a:prstGeom prst="rect">
                <a:avLst/>
              </a:prstGeom>
            </p:spPr>
          </p:pic>
        </mc:Fallback>
      </mc:AlternateContent>
    </p:spTree>
    <p:extLst>
      <p:ext uri="{BB962C8B-B14F-4D97-AF65-F5344CB8AC3E}">
        <p14:creationId xmlns:p14="http://schemas.microsoft.com/office/powerpoint/2010/main" val="304326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9E47DA-10CB-DF6F-AA1A-54814E2AFE60}"/>
              </a:ext>
            </a:extLst>
          </p:cNvPr>
          <p:cNvSpPr>
            <a:spLocks noGrp="1"/>
          </p:cNvSpPr>
          <p:nvPr>
            <p:ph type="title"/>
          </p:nvPr>
        </p:nvSpPr>
        <p:spPr>
          <a:xfrm>
            <a:off x="572493" y="238539"/>
            <a:ext cx="11047013" cy="1434415"/>
          </a:xfrm>
        </p:spPr>
        <p:txBody>
          <a:bodyPr anchor="b">
            <a:normAutofit/>
          </a:bodyPr>
          <a:lstStyle/>
          <a:p>
            <a:r>
              <a:rPr lang="en-ZA" sz="4600" dirty="0"/>
              <a:t>COMMON MENTAL HEALTH CONDITIONS IN CHILDREN &amp; ADOLESCENTS AT PHC</a:t>
            </a:r>
          </a:p>
        </p:txBody>
      </p:sp>
      <p:sp>
        <p:nvSpPr>
          <p:cNvPr id="18"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Drawing head thinking of different people">
            <a:extLst>
              <a:ext uri="{FF2B5EF4-FFF2-40B4-BE49-F238E27FC236}">
                <a16:creationId xmlns:a16="http://schemas.microsoft.com/office/drawing/2014/main" id="{9669CDD6-B694-3881-FC90-54F6C20D5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09" r="2872"/>
          <a:stretch>
            <a:fillRect/>
          </a:stretch>
        </p:blipFill>
        <p:spPr bwMode="auto">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solidFill>
            <a:srgbClr val="FFFFFF"/>
          </a:solidFill>
        </p:spPr>
      </p:pic>
      <p:sp>
        <p:nvSpPr>
          <p:cNvPr id="3" name="Content Placeholder 2">
            <a:extLst>
              <a:ext uri="{FF2B5EF4-FFF2-40B4-BE49-F238E27FC236}">
                <a16:creationId xmlns:a16="http://schemas.microsoft.com/office/drawing/2014/main" id="{BB96F873-B0C0-07D1-8A84-4CE0DA451A62}"/>
              </a:ext>
            </a:extLst>
          </p:cNvPr>
          <p:cNvSpPr>
            <a:spLocks noGrp="1"/>
          </p:cNvSpPr>
          <p:nvPr>
            <p:ph idx="1"/>
          </p:nvPr>
        </p:nvSpPr>
        <p:spPr>
          <a:xfrm>
            <a:off x="4905955" y="2071316"/>
            <a:ext cx="6713552" cy="4114800"/>
          </a:xfrm>
        </p:spPr>
        <p:txBody>
          <a:bodyPr anchor="t">
            <a:normAutofit/>
          </a:bodyPr>
          <a:lstStyle/>
          <a:p>
            <a:pPr marL="0" indent="0" fontAlgn="base">
              <a:buNone/>
            </a:pPr>
            <a:r>
              <a:rPr lang="en-US" sz="1500" b="1" dirty="0"/>
              <a:t>Neurodevelopmental Disorders</a:t>
            </a:r>
            <a:r>
              <a:rPr lang="en-US" sz="1500" dirty="0"/>
              <a:t>​</a:t>
            </a:r>
          </a:p>
          <a:p>
            <a:pPr marL="0" indent="0" fontAlgn="base">
              <a:buNone/>
            </a:pPr>
            <a:r>
              <a:rPr lang="en-US" sz="1500" dirty="0"/>
              <a:t>ADHD and ASD affect attention, communication, and social interaction, requiring long-term support and collaboration with families, schools, psychiatrists, OT and other allied health professionals.​</a:t>
            </a:r>
          </a:p>
          <a:p>
            <a:pPr marL="0" indent="0" fontAlgn="base">
              <a:buNone/>
            </a:pPr>
            <a:r>
              <a:rPr lang="en-US" sz="1500" b="1" dirty="0"/>
              <a:t>Emotional Disorders</a:t>
            </a:r>
            <a:r>
              <a:rPr lang="en-US" sz="1500" dirty="0"/>
              <a:t>​</a:t>
            </a:r>
          </a:p>
          <a:p>
            <a:pPr marL="0" indent="0" fontAlgn="base">
              <a:buNone/>
            </a:pPr>
            <a:r>
              <a:rPr lang="en-US" sz="1500" dirty="0"/>
              <a:t>Anxiety and depression in children cause worries, irritability, withdrawal, and physical symptoms needing recognition and care.​</a:t>
            </a:r>
          </a:p>
          <a:p>
            <a:pPr marL="0" indent="0" fontAlgn="base">
              <a:buNone/>
            </a:pPr>
            <a:r>
              <a:rPr lang="en-US" sz="1500" b="1" dirty="0"/>
              <a:t>Behavioural Disorders</a:t>
            </a:r>
            <a:r>
              <a:rPr lang="en-US" sz="1500" dirty="0"/>
              <a:t>​</a:t>
            </a:r>
          </a:p>
          <a:p>
            <a:pPr marL="0" indent="0" fontAlgn="base">
              <a:buNone/>
            </a:pPr>
            <a:r>
              <a:rPr lang="en-US" sz="1500" dirty="0"/>
              <a:t>Conduct and oppositional defiant disorders show defiant and aggressive behaviors often linked to emotional and environmental stress.​</a:t>
            </a:r>
          </a:p>
          <a:p>
            <a:pPr marL="0" indent="0" fontAlgn="base">
              <a:buNone/>
            </a:pPr>
            <a:r>
              <a:rPr lang="en-US" sz="1500" b="1" dirty="0"/>
              <a:t>Trauma-Related Disorders</a:t>
            </a:r>
            <a:r>
              <a:rPr lang="en-US" sz="1500" dirty="0"/>
              <a:t>​</a:t>
            </a:r>
          </a:p>
          <a:p>
            <a:pPr marL="0" indent="0" fontAlgn="base">
              <a:buNone/>
            </a:pPr>
            <a:r>
              <a:rPr lang="en-US" sz="1500" dirty="0"/>
              <a:t>Trauma affects emotional regulation, concentration, and health; sensitive recognition and support are essential in care.</a:t>
            </a:r>
          </a:p>
          <a:p>
            <a:endParaRPr lang="en-ZA" sz="1500" dirty="0"/>
          </a:p>
          <a:p>
            <a:endParaRPr lang="en-ZA" sz="1500" dirty="0"/>
          </a:p>
        </p:txBody>
      </p:sp>
    </p:spTree>
    <p:extLst>
      <p:ext uri="{BB962C8B-B14F-4D97-AF65-F5344CB8AC3E}">
        <p14:creationId xmlns:p14="http://schemas.microsoft.com/office/powerpoint/2010/main" val="1189634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085E7F-771C-F5B0-5E3E-029C5ACF7716}"/>
              </a:ext>
            </a:extLst>
          </p:cNvPr>
          <p:cNvSpPr>
            <a:spLocks noGrp="1"/>
          </p:cNvSpPr>
          <p:nvPr>
            <p:ph type="title"/>
          </p:nvPr>
        </p:nvSpPr>
        <p:spPr>
          <a:xfrm>
            <a:off x="1137033" y="670559"/>
            <a:ext cx="4683321" cy="2148841"/>
          </a:xfrm>
        </p:spPr>
        <p:txBody>
          <a:bodyPr anchor="t">
            <a:normAutofit/>
          </a:bodyPr>
          <a:lstStyle/>
          <a:p>
            <a:r>
              <a:rPr lang="en-US" sz="3700" dirty="0"/>
              <a:t>PSYHOLOGICAL APPROACHES FOR WORKING WITH CHILDREN</a:t>
            </a:r>
            <a:endParaRPr lang="en-ZA" sz="3700" dirty="0"/>
          </a:p>
        </p:txBody>
      </p:sp>
      <p:pic>
        <p:nvPicPr>
          <p:cNvPr id="4" name="Picture Placeholder 15">
            <a:extLst>
              <a:ext uri="{FF2B5EF4-FFF2-40B4-BE49-F238E27FC236}">
                <a16:creationId xmlns:a16="http://schemas.microsoft.com/office/drawing/2014/main" id="{DE615110-3DD6-6DA2-66D2-FDCF0061B15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6352" b="6351"/>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p:spPr>
      </p:pic>
      <p:sp>
        <p:nvSpPr>
          <p:cNvPr id="3" name="Content Placeholder 2">
            <a:extLst>
              <a:ext uri="{FF2B5EF4-FFF2-40B4-BE49-F238E27FC236}">
                <a16:creationId xmlns:a16="http://schemas.microsoft.com/office/drawing/2014/main" id="{D1B5C9EA-22F6-09AE-E1C6-C03F8AF745C2}"/>
              </a:ext>
            </a:extLst>
          </p:cNvPr>
          <p:cNvSpPr>
            <a:spLocks noGrp="1"/>
          </p:cNvSpPr>
          <p:nvPr>
            <p:ph idx="1"/>
          </p:nvPr>
        </p:nvSpPr>
        <p:spPr>
          <a:xfrm>
            <a:off x="6797004" y="670558"/>
            <a:ext cx="5019858" cy="5800579"/>
          </a:xfrm>
        </p:spPr>
        <p:txBody>
          <a:bodyPr anchor="t">
            <a:normAutofit/>
          </a:bodyPr>
          <a:lstStyle/>
          <a:p>
            <a:pPr marL="0" indent="0" fontAlgn="base">
              <a:buNone/>
            </a:pPr>
            <a:r>
              <a:rPr lang="en-US" sz="1600" b="1" dirty="0"/>
              <a:t>CBT for Children​</a:t>
            </a:r>
          </a:p>
          <a:p>
            <a:pPr marL="0" indent="0" fontAlgn="base">
              <a:buNone/>
            </a:pPr>
            <a:r>
              <a:rPr lang="en-GB" sz="1600" dirty="0"/>
              <a:t>Focuses on identifying, challenging, and reframing distorted thoughts e.g., "I'm going to fail" to "I can do my best" to change emotional responses and actions</a:t>
            </a:r>
          </a:p>
          <a:p>
            <a:pPr marL="0" indent="0" fontAlgn="base">
              <a:buNone/>
            </a:pPr>
            <a:r>
              <a:rPr lang="en-US" sz="1600" b="1" dirty="0"/>
              <a:t>Behavioural Interventions​</a:t>
            </a:r>
          </a:p>
          <a:p>
            <a:pPr marL="0" indent="0" fontAlgn="base">
              <a:buNone/>
            </a:pPr>
            <a:r>
              <a:rPr lang="en-US" sz="1600" dirty="0"/>
              <a:t>Behavioural strategies target specific </a:t>
            </a:r>
            <a:r>
              <a:rPr lang="en-US" sz="1600" dirty="0" err="1"/>
              <a:t>behaviours</a:t>
            </a:r>
            <a:r>
              <a:rPr lang="en-US" sz="1600" dirty="0"/>
              <a:t> using positive reinforcement and caregiver involvement.​</a:t>
            </a:r>
          </a:p>
          <a:p>
            <a:pPr marL="0" indent="0" fontAlgn="base">
              <a:buNone/>
            </a:pPr>
            <a:r>
              <a:rPr lang="en-US" sz="1600" b="1" dirty="0"/>
              <a:t>Play Therapy​</a:t>
            </a:r>
          </a:p>
          <a:p>
            <a:pPr marL="0" indent="0" fontAlgn="base">
              <a:buNone/>
            </a:pPr>
            <a:r>
              <a:rPr lang="en-US" sz="1600" dirty="0"/>
              <a:t>Play therapy allows young children to express emotions through play, drawing, and storytelling.​</a:t>
            </a:r>
            <a:endParaRPr lang="en-US" sz="1600" b="1" dirty="0"/>
          </a:p>
          <a:p>
            <a:pPr marL="0" indent="0" fontAlgn="base">
              <a:buNone/>
            </a:pPr>
            <a:r>
              <a:rPr lang="en-US" sz="1600" b="1" dirty="0"/>
              <a:t>Mindfulness for Kids</a:t>
            </a:r>
          </a:p>
          <a:p>
            <a:pPr marL="0" indent="0" fontAlgn="base">
              <a:buNone/>
            </a:pPr>
            <a:r>
              <a:rPr lang="en-US" sz="1600" dirty="0"/>
              <a:t>Cultivates awareness of present moment, emotions &amp; </a:t>
            </a:r>
            <a:r>
              <a:rPr lang="en-US" sz="1600" dirty="0" err="1"/>
              <a:t>phycisal</a:t>
            </a:r>
            <a:r>
              <a:rPr lang="en-US" sz="1600" dirty="0"/>
              <a:t> sensations without judgement – reduces anxiety, manage stress, emotion regulation &amp; improves focus </a:t>
            </a:r>
          </a:p>
          <a:p>
            <a:pPr marL="0" indent="0" fontAlgn="base">
              <a:buNone/>
            </a:pPr>
            <a:r>
              <a:rPr lang="en-US" sz="1600" b="1" dirty="0"/>
              <a:t>Family-Based Interventions​</a:t>
            </a:r>
          </a:p>
          <a:p>
            <a:pPr marL="0" indent="0" fontAlgn="base">
              <a:buNone/>
            </a:pPr>
            <a:r>
              <a:rPr lang="en-US" sz="1600" dirty="0"/>
              <a:t>Family-focused support enhances communication and emotional understanding, improving child mental health outcomes. Caregiver support groups effective in LMICs Fewster &amp; </a:t>
            </a:r>
            <a:r>
              <a:rPr lang="en-US" sz="1600" dirty="0" err="1"/>
              <a:t>Gurayah</a:t>
            </a:r>
            <a:r>
              <a:rPr lang="en-US" sz="1600" dirty="0"/>
              <a:t>, 2015. </a:t>
            </a:r>
          </a:p>
          <a:p>
            <a:endParaRPr lang="en-US" sz="1600" dirty="0"/>
          </a:p>
          <a:p>
            <a:endParaRPr lang="en-ZA" sz="1600" dirty="0"/>
          </a:p>
        </p:txBody>
      </p:sp>
    </p:spTree>
    <p:extLst>
      <p:ext uri="{BB962C8B-B14F-4D97-AF65-F5344CB8AC3E}">
        <p14:creationId xmlns:p14="http://schemas.microsoft.com/office/powerpoint/2010/main" val="3808373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2C9F73-4092-8972-2C8F-8B28A2B257B0}"/>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a:t>Managing Risk, Psychosis, and Referral Pathways</a:t>
            </a:r>
          </a:p>
        </p:txBody>
      </p:sp>
      <p:sp>
        <p:nvSpPr>
          <p:cNvPr id="2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0FFABF8F-0697-C3CD-A15C-AAE0857092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GB" b="1" dirty="0"/>
              <a:t>Stepped Care Approach</a:t>
            </a:r>
          </a:p>
          <a:p>
            <a:pPr marL="0" lvl="1" indent="0">
              <a:buFont typeface="Arial" panose="020B0604020202020204" pitchFamily="34" charset="0"/>
              <a:buNone/>
            </a:pPr>
            <a:r>
              <a:rPr lang="en-GB" dirty="0"/>
              <a:t>Stepped care provide least intensive, most effective mental health interventions in primary care – based on presentation &amp; assessment of the individual’s distress. </a:t>
            </a:r>
          </a:p>
          <a:p>
            <a:pPr marL="0" indent="0">
              <a:spcBef>
                <a:spcPts val="2500"/>
              </a:spcBef>
              <a:buFont typeface="Arial" panose="020B0604020202020204" pitchFamily="34" charset="0"/>
              <a:buNone/>
            </a:pPr>
            <a:r>
              <a:rPr lang="en-GB" b="1" dirty="0"/>
              <a:t>Risk Assessment for Psychosis</a:t>
            </a:r>
          </a:p>
          <a:p>
            <a:pPr marL="0" lvl="1" indent="0">
              <a:buFont typeface="Arial" panose="020B0604020202020204" pitchFamily="34" charset="0"/>
              <a:buNone/>
            </a:pPr>
            <a:r>
              <a:rPr lang="en-GB" dirty="0"/>
              <a:t>Assess red flags like hallucinations, delusions and severe agitation for early detection and urgent intervention.</a:t>
            </a:r>
          </a:p>
          <a:p>
            <a:pPr marL="0" indent="0">
              <a:spcBef>
                <a:spcPts val="2500"/>
              </a:spcBef>
              <a:buFont typeface="Arial" panose="020B0604020202020204" pitchFamily="34" charset="0"/>
              <a:buNone/>
            </a:pPr>
            <a:r>
              <a:rPr lang="en-GB" b="1" dirty="0"/>
              <a:t>Safety and Legal Framework</a:t>
            </a:r>
          </a:p>
          <a:p>
            <a:pPr marL="0" lvl="1" indent="0">
              <a:buFont typeface="Arial" panose="020B0604020202020204" pitchFamily="34" charset="0"/>
              <a:buNone/>
            </a:pPr>
            <a:r>
              <a:rPr lang="en-GB" dirty="0"/>
              <a:t>Apply Mental Health Care Act guidelines for involuntary care and ensure patient and community safety. </a:t>
            </a:r>
          </a:p>
          <a:p>
            <a:pPr marL="0" indent="0">
              <a:spcBef>
                <a:spcPts val="2500"/>
              </a:spcBef>
              <a:buFont typeface="Arial" panose="020B0604020202020204" pitchFamily="34" charset="0"/>
              <a:buNone/>
            </a:pPr>
            <a:r>
              <a:rPr lang="en-GB" b="1" dirty="0"/>
              <a:t>Effective Referral Pathways</a:t>
            </a:r>
          </a:p>
          <a:p>
            <a:pPr marL="0" lvl="1" indent="0">
              <a:buFont typeface="Arial" panose="020B0604020202020204" pitchFamily="34" charset="0"/>
              <a:buNone/>
            </a:pPr>
            <a:r>
              <a:rPr lang="en-GB" dirty="0"/>
              <a:t>Ensure clear communication, family involvement, and follow-up planning for coordinated mental health care.</a:t>
            </a:r>
          </a:p>
        </p:txBody>
      </p:sp>
      <p:pic>
        <p:nvPicPr>
          <p:cNvPr id="13" name="Picture Placeholder 12">
            <a:extLst>
              <a:ext uri="{FF2B5EF4-FFF2-40B4-BE49-F238E27FC236}">
                <a16:creationId xmlns:a16="http://schemas.microsoft.com/office/drawing/2014/main" id="{8877F20E-E105-62BE-003C-37431712867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5782" r="2" b="2"/>
          <a:stretch>
            <a:fillRect/>
          </a:stretch>
        </p:blipFill>
        <p:spPr>
          <a:xfrm>
            <a:off x="7675658" y="2093976"/>
            <a:ext cx="3941064" cy="4096512"/>
          </a:xfrm>
          <a:prstGeom prst="rect">
            <a:avLst/>
          </a:prstGeom>
          <a:noFill/>
        </p:spPr>
      </p:pic>
    </p:spTree>
    <p:extLst>
      <p:ext uri="{BB962C8B-B14F-4D97-AF65-F5344CB8AC3E}">
        <p14:creationId xmlns:p14="http://schemas.microsoft.com/office/powerpoint/2010/main" val="931125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6A96DF-D494-81D7-25C2-06A90AF5B8C4}"/>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600" kern="1200">
                <a:solidFill>
                  <a:srgbClr val="FFFFFF"/>
                </a:solidFill>
                <a:latin typeface="+mj-lt"/>
                <a:ea typeface="+mj-ea"/>
                <a:cs typeface="+mj-cs"/>
              </a:rPr>
              <a:t>Thank you </a:t>
            </a:r>
          </a:p>
        </p:txBody>
      </p:sp>
      <p:sp>
        <p:nvSpPr>
          <p:cNvPr id="4" name="Content Placeholder 3">
            <a:extLst>
              <a:ext uri="{FF2B5EF4-FFF2-40B4-BE49-F238E27FC236}">
                <a16:creationId xmlns:a16="http://schemas.microsoft.com/office/drawing/2014/main" id="{6603E36F-3F0E-3F3C-4595-426ABF737E2A}"/>
              </a:ext>
            </a:extLst>
          </p:cNvPr>
          <p:cNvSpPr>
            <a:spLocks noGrp="1"/>
          </p:cNvSpPr>
          <p:nvPr>
            <p:ph sz="quarter" idx="14"/>
          </p:nvPr>
        </p:nvSpPr>
        <p:spPr>
          <a:xfrm>
            <a:off x="3227832" y="4353507"/>
            <a:ext cx="5733288" cy="932688"/>
          </a:xfrm>
        </p:spPr>
        <p:txBody>
          <a:bodyPr vert="horz" lIns="91440" tIns="45720" rIns="91440" bIns="45720" rtlCol="0">
            <a:normAutofit/>
          </a:bodyPr>
          <a:lstStyle/>
          <a:p>
            <a:pPr marL="0" indent="0" algn="ctr">
              <a:buNone/>
            </a:pPr>
            <a:r>
              <a:rPr lang="en-US" sz="2400" kern="1200">
                <a:solidFill>
                  <a:srgbClr val="FFFFFF"/>
                </a:solidFill>
                <a:latin typeface="+mn-lt"/>
                <a:ea typeface="+mn-ea"/>
                <a:cs typeface="+mn-cs"/>
              </a:rPr>
              <a:t>Thoughts, Comments, Reflections </a:t>
            </a:r>
          </a:p>
        </p:txBody>
      </p:sp>
      <p:sp>
        <p:nvSpPr>
          <p:cNvPr id="20"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989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D363F2A-DBF3-C0DF-5403-82A0CC3E79E1}"/>
              </a:ext>
            </a:extLst>
          </p:cNvPr>
          <p:cNvSpPr>
            <a:spLocks noGrp="1"/>
          </p:cNvSpPr>
          <p:nvPr>
            <p:ph type="title"/>
          </p:nvPr>
        </p:nvSpPr>
        <p:spPr>
          <a:xfrm>
            <a:off x="686834" y="591344"/>
            <a:ext cx="3200400" cy="5585619"/>
          </a:xfrm>
        </p:spPr>
        <p:txBody>
          <a:bodyPr>
            <a:normAutofit/>
          </a:bodyPr>
          <a:lstStyle/>
          <a:p>
            <a:r>
              <a:rPr lang="en-US">
                <a:solidFill>
                  <a:srgbClr val="FFFFFF"/>
                </a:solidFill>
              </a:rPr>
              <a:t>References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678F938E-A969-A258-A946-7BC81B32B426}"/>
              </a:ext>
            </a:extLst>
          </p:cNvPr>
          <p:cNvSpPr>
            <a:spLocks noGrp="1"/>
          </p:cNvSpPr>
          <p:nvPr>
            <p:ph idx="1"/>
          </p:nvPr>
        </p:nvSpPr>
        <p:spPr>
          <a:xfrm>
            <a:off x="4447308" y="591344"/>
            <a:ext cx="6906491" cy="5585619"/>
          </a:xfrm>
        </p:spPr>
        <p:txBody>
          <a:bodyPr anchor="ctr">
            <a:normAutofit/>
          </a:bodyPr>
          <a:lstStyle/>
          <a:p>
            <a:r>
              <a:rPr lang="en-GB" sz="1300"/>
              <a:t>Burns, J. K., Tomita, A. (2015). Traditional and religious healers in the pathway to care for people with mental disorders in Africa: a systematic review and meta-analysis. Social psychiatry and psychiatric epidemiology, 50(6), 867–877.</a:t>
            </a:r>
          </a:p>
          <a:p>
            <a:r>
              <a:rPr lang="en-GB" sz="1300"/>
              <a:t>Lund, C., Stansfeld, S., &amp; Silva, M. D. (2013). Social Determinants of Mental Health. In V. Patel, H. Minas, A. Cohen, &amp; M. Prince (Eds.), Global Mental Health: Principles and Practice (pp. 116-136). Oxford University Press.</a:t>
            </a:r>
          </a:p>
          <a:p>
            <a:r>
              <a:rPr lang="en-GB" sz="1300"/>
              <a:t>Fewster, D. L., &amp; </a:t>
            </a:r>
            <a:r>
              <a:rPr lang="en-GB" sz="1300" err="1"/>
              <a:t>Gurayah</a:t>
            </a:r>
            <a:r>
              <a:rPr lang="en-GB" sz="1300"/>
              <a:t>, T. (2015). First port of call: facing the parents of autism spectrum disorder. </a:t>
            </a:r>
            <a:r>
              <a:rPr lang="en-GB" sz="1300" i="1"/>
              <a:t>South African Family Practice</a:t>
            </a:r>
            <a:r>
              <a:rPr lang="en-GB" sz="1300"/>
              <a:t>,</a:t>
            </a:r>
            <a:r>
              <a:rPr lang="en-GB" sz="1300" i="1"/>
              <a:t> 57</a:t>
            </a:r>
            <a:r>
              <a:rPr lang="en-GB" sz="1300"/>
              <a:t>(1), 31–34. https://doi.org/10.1080/20786190.2014.995917 </a:t>
            </a:r>
            <a:endParaRPr lang="en-GB" sz="1300" i="1"/>
          </a:p>
          <a:p>
            <a:r>
              <a:rPr lang="en-GB" sz="1300" err="1"/>
              <a:t>Mkabile</a:t>
            </a:r>
            <a:r>
              <a:rPr lang="en-GB" sz="1300"/>
              <a:t>, S., </a:t>
            </a:r>
            <a:r>
              <a:rPr lang="en-GB" sz="1300" err="1"/>
              <a:t>Garrun</a:t>
            </a:r>
            <a:r>
              <a:rPr lang="en-GB" sz="1300"/>
              <a:t>, K. L., Shelton, M., &amp; Swartz, L. (2021). African families’ and caregivers’ experiences of raising a child with intellectual disability: A narrative synthesis of qualitative studies. </a:t>
            </a:r>
            <a:r>
              <a:rPr lang="en-GB" sz="1300" i="1"/>
              <a:t>African Journal of Disability; Vol 10 (2021)DO - 10.4102/ajod.v10i0.827</a:t>
            </a:r>
            <a:r>
              <a:rPr lang="en-GB" sz="1300"/>
              <a:t>. </a:t>
            </a:r>
            <a:endParaRPr lang="en-GB" sz="1300" i="1"/>
          </a:p>
          <a:p>
            <a:r>
              <a:rPr lang="en-GB" sz="1300"/>
              <a:t>National Department of Health. (2023). National Mental Health Policy Framework and Strategic Plan 2023–2030. National Department of Health.</a:t>
            </a:r>
          </a:p>
          <a:p>
            <a:r>
              <a:rPr lang="en-GB" sz="1300"/>
              <a:t>Petersen, I., Kemp, C. G., Rao, D., Wagenaar, B. H., Sherr, K., Grant, M., Bachmann, M., Barnabas, R. V., Mntambo, N., Gigaba, S., Van Rensburg, A., Luvuno, Z., </a:t>
            </a:r>
            <a:r>
              <a:rPr lang="en-GB" sz="1300" err="1"/>
              <a:t>Amarreh</a:t>
            </a:r>
            <a:r>
              <a:rPr lang="en-GB" sz="1300"/>
              <a:t>, I., Fairall, L., Hongo, N. N., &amp; Bhana, A. (2021). Implementation and Scale-Up of Integrated Depression Care in South Africa: An Observational Implementation Research Protocol. </a:t>
            </a:r>
          </a:p>
          <a:p>
            <a:r>
              <a:rPr lang="en-GB" sz="1300" err="1"/>
              <a:t>Sorsdahl</a:t>
            </a:r>
            <a:r>
              <a:rPr lang="en-GB" sz="1300"/>
              <a:t>, K., Petersen, I., Myers, B., </a:t>
            </a:r>
            <a:r>
              <a:rPr lang="en-GB" sz="1300" err="1"/>
              <a:t>Zingela</a:t>
            </a:r>
            <a:r>
              <a:rPr lang="en-GB" sz="1300"/>
              <a:t>, Z., Lund, C., &amp; van der Westhuizen, C. (2023). A reflection of the current status of the mental healthcare system in South Africa. </a:t>
            </a:r>
            <a:r>
              <a:rPr lang="en-GB" sz="1300" i="1"/>
              <a:t>SSM - Mental Health</a:t>
            </a:r>
            <a:r>
              <a:rPr lang="en-GB" sz="1300"/>
              <a:t>,</a:t>
            </a:r>
            <a:r>
              <a:rPr lang="en-GB" sz="1300" i="1"/>
              <a:t> 4</a:t>
            </a:r>
            <a:r>
              <a:rPr lang="en-GB" sz="1300"/>
              <a:t>, 100247. https://doi.org/https://doi.org/10.1016/j.ssmmh.2023.100247 </a:t>
            </a:r>
          </a:p>
          <a:p>
            <a:endParaRPr lang="en-GB" sz="1300" i="1"/>
          </a:p>
          <a:p>
            <a:endParaRPr lang="en-GB" sz="1300"/>
          </a:p>
          <a:p>
            <a:endParaRPr lang="en-GB" sz="1300"/>
          </a:p>
          <a:p>
            <a:endParaRPr lang="en-US" sz="1300"/>
          </a:p>
        </p:txBody>
      </p:sp>
    </p:spTree>
    <p:extLst>
      <p:ext uri="{BB962C8B-B14F-4D97-AF65-F5344CB8AC3E}">
        <p14:creationId xmlns:p14="http://schemas.microsoft.com/office/powerpoint/2010/main" val="27948750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2pi9th53evcm4oavtw6y1qak8upyp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3.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9.png"/></Relationships>
</file>

<file path=ppt/webextensions/webextension1.xml><?xml version="1.0" encoding="utf-8"?>
<we:webextension xmlns:we="http://schemas.microsoft.com/office/webextensions/webextension/2010/11" id="{558E3A9E-8493-45F9-B225-2C71E4E330BB}">
  <we:reference id="wa104379261" version="4.3.0.0" store="en-US" storeType="OMEX"/>
  <we:alternateReferences>
    <we:reference id="WA104379261" version="4.3.0.0" store="" storeType="OMEX"/>
  </we:alternateReferences>
  <we:properties>
    <we:property name="MENTIMETER_QUESTION_ID_KEY" value="&quot;kz4syeo3ikho&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2922E647-2610-4A37-AC34-70EE4007883B}">
  <we:reference id="wa104379261" version="4.3.0.0" store="en-US" storeType="OMEX"/>
  <we:alternateReferences>
    <we:reference id="WA104379261" version="4.3.0.0" store="" storeType="OMEX"/>
  </we:alternateReferences>
  <we:properties>
    <we:property name="MENTIMETER_QUESTION_ID_KEY" value="&quot;tj4aoezczw3c&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34A6C267-2930-4E8A-A9C3-233B97F48514}">
  <we:reference id="wa104379261" version="4.3.0.0" store="en-US" storeType="OMEX"/>
  <we:alternateReferences>
    <we:reference id="WA104379261" version="4.3.0.0" store="" storeType="OMEX"/>
  </we:alternateReferences>
  <we:properties>
    <we:property name="MENTIMETER_QUESTION_ID_KEY" value="&quot;orqdf2xqw8q5&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409</TotalTime>
  <Words>1770</Words>
  <Application>Microsoft Office PowerPoint</Application>
  <PresentationFormat>Widescreen</PresentationFormat>
  <Paragraphs>106</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Wingdings</vt:lpstr>
      <vt:lpstr>Office Theme</vt:lpstr>
      <vt:lpstr>Effective Management of Mental Health Conditions</vt:lpstr>
      <vt:lpstr>What to expect </vt:lpstr>
      <vt:lpstr>Do you know whether your community/clinic offers mental health services?</vt:lpstr>
      <vt:lpstr>Do you know what the role of Mental Health is at your facility? </vt:lpstr>
      <vt:lpstr>Mental Health Assessment </vt:lpstr>
      <vt:lpstr>BIOPSYCHOSOCIAL APPROACH TO ASSESSMENT </vt:lpstr>
      <vt:lpstr>COMMON MENTAL HEALTH CONDITIONS IN PHC</vt:lpstr>
      <vt:lpstr>BRIEF EVIDENCE-BASED INTERVENTIONS</vt:lpstr>
      <vt:lpstr>CASE STUDY</vt:lpstr>
      <vt:lpstr>WHAT WOULD YOU DO IN A’S CASE</vt:lpstr>
      <vt:lpstr>COMMON MENTAL HEALTH CONDITIONS IN CHILDREN &amp; ADOLESCENTS AT PHC</vt:lpstr>
      <vt:lpstr>PSYHOLOGICAL APPROACHES FOR WORKING WITH CHILDREN</vt:lpstr>
      <vt:lpstr>Managing Risk, Psychosis, and Referral Pathways</vt:lpstr>
      <vt:lpstr>Thank you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Ielhaam Jacobs</dc:creator>
  <cp:lastModifiedBy>Ielhaam Jacobs</cp:lastModifiedBy>
  <cp:revision>1</cp:revision>
  <dcterms:created xsi:type="dcterms:W3CDTF">2026-04-20T11:01:59Z</dcterms:created>
  <dcterms:modified xsi:type="dcterms:W3CDTF">2026-04-20T18:17:32Z</dcterms:modified>
</cp:coreProperties>
</file>