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5"/>
  </p:sldMasterIdLst>
  <p:notesMasterIdLst>
    <p:notesMasterId r:id="rId31"/>
  </p:notesMasterIdLst>
  <p:handoutMasterIdLst>
    <p:handoutMasterId r:id="rId32"/>
  </p:handoutMasterIdLst>
  <p:sldIdLst>
    <p:sldId id="471" r:id="rId6"/>
    <p:sldId id="528" r:id="rId7"/>
    <p:sldId id="529" r:id="rId8"/>
    <p:sldId id="559" r:id="rId9"/>
    <p:sldId id="530" r:id="rId10"/>
    <p:sldId id="531" r:id="rId11"/>
    <p:sldId id="556" r:id="rId12"/>
    <p:sldId id="557" r:id="rId13"/>
    <p:sldId id="550" r:id="rId14"/>
    <p:sldId id="532" r:id="rId15"/>
    <p:sldId id="558" r:id="rId16"/>
    <p:sldId id="560" r:id="rId17"/>
    <p:sldId id="561" r:id="rId18"/>
    <p:sldId id="565" r:id="rId19"/>
    <p:sldId id="566" r:id="rId20"/>
    <p:sldId id="567" r:id="rId21"/>
    <p:sldId id="570" r:id="rId22"/>
    <p:sldId id="571" r:id="rId23"/>
    <p:sldId id="572" r:id="rId24"/>
    <p:sldId id="573" r:id="rId25"/>
    <p:sldId id="574" r:id="rId26"/>
    <p:sldId id="575" r:id="rId27"/>
    <p:sldId id="555" r:id="rId28"/>
    <p:sldId id="576" r:id="rId29"/>
    <p:sldId id="507" r:id="rId30"/>
  </p:sldIdLst>
  <p:sldSz cx="9144000" cy="6858000" type="screen4x3"/>
  <p:notesSz cx="6797675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E MILNE" initials="MM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1E"/>
    <a:srgbClr val="009644"/>
    <a:srgbClr val="008000"/>
    <a:srgbClr val="FFFF66"/>
    <a:srgbClr val="FFCC66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90" autoAdjust="0"/>
    <p:restoredTop sz="94601" autoAdjust="0"/>
  </p:normalViewPr>
  <p:slideViewPr>
    <p:cSldViewPr>
      <p:cViewPr varScale="1">
        <p:scale>
          <a:sx n="112" d="100"/>
          <a:sy n="112" d="100"/>
        </p:scale>
        <p:origin x="15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42896-8E1F-4592-B5A5-18C5C72FB23A}" type="datetimeFigureOut">
              <a:rPr lang="en-ZA" smtClean="0"/>
              <a:t>2025/12/30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71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710"/>
            <a:ext cx="2946400" cy="4979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0E8E3-D37B-4AA5-9D84-59ED5DB466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24539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F99D547-1A9C-4812-81A1-DCCB702D1569}" type="datetimeFigureOut">
              <a:rPr lang="en-US"/>
              <a:pPr>
                <a:defRPr/>
              </a:pPr>
              <a:t>12/30/25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6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4"/>
            <a:ext cx="2946400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BE2F452-BBC8-48A0-81EB-29E797DD877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674033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ZA" altLang="en-US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10C67C-630D-4807-B486-EC56C14DF5E6}" type="slidenum">
              <a:rPr lang="en-ZA" alt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893396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1CC4D-6B80-824F-95B3-C7042065D9B6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A2FD1-091E-4E14-B5E1-3309D4850A6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970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75F08-4359-F24D-B75E-52A5BEC6842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312F24-582A-4117-A0B2-A1DD2489FD11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678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DFB60-A28B-FA49-9890-02611BDD1250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F3DF0-8F4F-4A0C-B1E1-3C80CEE4DE50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4274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077D25-B234-DB47-8433-1FA2361B333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57167-10C8-42C7-B29A-1F1A091DEDC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3259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B6082-06BD-AB4C-ADD6-3421277132D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BF22A-558E-49CD-8C91-D895D543537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7780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F77BC-9A31-FA42-B460-684745034B14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070C76-ABB2-4FD9-BD01-E906E11C999E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0495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43F39-493D-254D-911F-0BEF0C9BCEC8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A617F-46FE-4A8A-8649-A4E46A8175BC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2549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909430-34CF-3844-89BE-8856531CE00F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6A8617-99DB-44A4-9BFF-66DE9E62441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22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A631F-DC78-9541-BC17-B6C98AEFE055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F82E0-F617-466A-8989-E6F91EEE838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079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F6902-2018-4A43-A197-E66B77FC800F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9C980E-3AC1-4DFD-ABD0-F24C9196324D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088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0AAFC-9222-5F47-83D3-233A5731C885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B76249-C742-443A-9BEC-97296B7C0194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2753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>
            <a:picLocks noChangeAspect="1" noChangeArrowheads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6309320"/>
            <a:ext cx="9035988" cy="346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 descr="http://www.kznonline.gov.za/images/stories/downloads/Logos/Coat_of_Arms-zulu.jpg"/>
          <p:cNvPicPr>
            <a:picLocks noChangeAspect="1" noChangeArrowheads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6414955"/>
            <a:ext cx="575048" cy="420660"/>
          </a:xfrm>
          <a:prstGeom prst="rect">
            <a:avLst/>
          </a:prstGeom>
          <a:blipFill dpi="0" rotWithShape="1">
            <a:blip>
              <a:alphaModFix amt="0"/>
            </a:blip>
            <a:srcRect/>
            <a:tile tx="0" ty="0" sx="100000" sy="100000" flip="none" algn="tl"/>
          </a:blipFill>
          <a:ln>
            <a:noFill/>
          </a:ln>
        </p:spPr>
      </p:pic>
      <p:sp>
        <p:nvSpPr>
          <p:cNvPr id="1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8532440" y="6309320"/>
            <a:ext cx="540060" cy="484165"/>
          </a:xfrm>
          <a:solidFill>
            <a:schemeClr val="bg1"/>
          </a:solidFill>
          <a:ln w="38100">
            <a:solidFill>
              <a:srgbClr val="008000"/>
            </a:solidFill>
          </a:ln>
        </p:spPr>
        <p:txBody>
          <a:bodyPr anchor="ctr"/>
          <a:lstStyle/>
          <a:p>
            <a:pPr algn="ctr">
              <a:defRPr/>
            </a:pPr>
            <a:fld id="{80BD4F07-03E6-4EEC-A54B-BD8004E5F0D3}" type="slidenum">
              <a:rPr lang="en-US" sz="1400" b="1" smtClean="0">
                <a:solidFill>
                  <a:srgbClr val="008000"/>
                </a:solidFill>
                <a:latin typeface="Arial" panose="020B0604020202020204" pitchFamily="34" charset="0"/>
              </a:rPr>
              <a:pPr algn="ctr">
                <a:defRPr/>
              </a:pPr>
              <a:t>‹#›</a:t>
            </a:fld>
            <a:endParaRPr lang="en-US" sz="1400" b="1" dirty="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 userDrawn="1"/>
        </p:nvSpPr>
        <p:spPr bwMode="auto">
          <a:xfrm>
            <a:off x="0" y="6559393"/>
            <a:ext cx="9144000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en-ZA" sz="1050" b="1" i="1" baseline="30000" dirty="0">
                <a:solidFill>
                  <a:srgbClr val="009900"/>
                </a:solidFill>
              </a:rPr>
              <a:t>“KZN as a prosperous Province</a:t>
            </a:r>
            <a:r>
              <a:rPr lang="en-ZA" sz="1050" b="1" i="1" dirty="0">
                <a:solidFill>
                  <a:srgbClr val="009900"/>
                </a:solidFill>
              </a:rPr>
              <a:t> </a:t>
            </a:r>
            <a:r>
              <a:rPr lang="en-ZA" sz="1050" b="1" i="1" baseline="30000" dirty="0">
                <a:solidFill>
                  <a:srgbClr val="009900"/>
                </a:solidFill>
              </a:rPr>
              <a:t>with healthy, secure and skilled population, living in dignity and harmony, acting as a gateway between Africa and the World”</a:t>
            </a:r>
          </a:p>
        </p:txBody>
      </p:sp>
    </p:spTree>
    <p:extLst>
      <p:ext uri="{BB962C8B-B14F-4D97-AF65-F5344CB8AC3E}">
        <p14:creationId xmlns:p14="http://schemas.microsoft.com/office/powerpoint/2010/main" val="401215950"/>
      </p:ext>
    </p:extLst>
  </p:cSld>
  <p:clrMapOvr>
    <a:masterClrMapping/>
  </p:clrMapOvr>
  <p:transition>
    <p:cut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4B701AD-C1C5-DC49-8F34-007252B5D40B}" type="datetime1">
              <a:rPr lang="en-ZA" smtClean="0">
                <a:solidFill>
                  <a:prstClr val="black">
                    <a:tint val="75000"/>
                  </a:prstClr>
                </a:solidFill>
              </a:rPr>
              <a:t>2025/12/30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0CCA43C-E545-4331-BDCE-A95AACE0403A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17342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OTP Powerpoint Template-1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6858000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043608" y="1772816"/>
            <a:ext cx="72009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3200" b="1" dirty="0">
              <a:solidFill>
                <a:prstClr val="black"/>
              </a:solidFill>
              <a:latin typeface="Arial Black" panose="020B0A04020102020204" pitchFamily="34" charset="0"/>
            </a:endParaRPr>
          </a:p>
          <a:p>
            <a:pPr algn="ctr" eaLnBrk="1" hangingPunct="1"/>
            <a:endParaRPr lang="en-ZA" altLang="en-US" sz="2400" b="1" dirty="0">
              <a:solidFill>
                <a:prstClr val="white"/>
              </a:solidFill>
              <a:latin typeface="Arial Black" panose="020B0A04020102020204" pitchFamily="34" charset="0"/>
            </a:endParaRPr>
          </a:p>
          <a:p>
            <a:pPr algn="ctr" eaLnBrk="1" hangingPunct="1"/>
            <a:endParaRPr lang="en-ZA" altLang="en-US" sz="2400" b="1" dirty="0">
              <a:solidFill>
                <a:prstClr val="white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2828836"/>
            <a:ext cx="84969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endParaRPr lang="en-US" altLang="en-US" sz="2400" b="1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7504" y="2397949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3200" b="1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568" y="2276872"/>
            <a:ext cx="792088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sz="3200" b="1" dirty="0">
                <a:solidFill>
                  <a:schemeClr val="bg1"/>
                </a:solidFill>
              </a:rPr>
              <a:t>ENVIRONMENTAL HEALTH INTERVENTIONS FOR PREVENTATIVE PRACTICE IN CLINICAL SETTINGS</a:t>
            </a:r>
            <a:endParaRPr lang="en-ZA" sz="3200" b="1" dirty="0">
              <a:solidFill>
                <a:srgbClr val="FFD21E"/>
              </a:solidFill>
            </a:endParaRPr>
          </a:p>
        </p:txBody>
      </p:sp>
      <p:sp>
        <p:nvSpPr>
          <p:cNvPr id="10" name="Title 5"/>
          <p:cNvSpPr txBox="1">
            <a:spLocks/>
          </p:cNvSpPr>
          <p:nvPr/>
        </p:nvSpPr>
        <p:spPr bwMode="auto">
          <a:xfrm>
            <a:off x="2339752" y="4077072"/>
            <a:ext cx="4464496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/>
            <a:r>
              <a:rPr lang="en-US" altLang="en-US" sz="2800" dirty="0">
                <a:solidFill>
                  <a:schemeClr val="bg1"/>
                </a:solidFill>
              </a:rPr>
              <a:t>BY MISS A. BUKHOSINI</a:t>
            </a:r>
            <a:endParaRPr lang="en-US" altLang="en-US" sz="28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NDP Logo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20688"/>
            <a:ext cx="869208" cy="8004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339752" y="6176337"/>
            <a:ext cx="4464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GROWING KWAZULU-NATAL TOGETHER</a:t>
            </a:r>
          </a:p>
        </p:txBody>
      </p:sp>
      <p:pic>
        <p:nvPicPr>
          <p:cNvPr id="4" name="Picture 3" descr="Health Logo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633434"/>
            <a:ext cx="2808312" cy="70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69008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3000" dirty="0">
                <a:solidFill>
                  <a:prstClr val="black"/>
                </a:solidFill>
                <a:latin typeface="Arial"/>
                <a:cs typeface="Arial"/>
              </a:rPr>
              <a:t>          </a:t>
            </a:r>
            <a:r>
              <a:rPr lang="en-US" sz="4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 environmental health within clinical settings.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Background to Environmental Health in Clinical Settings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Describing the role of an EHP in public health facilities</a:t>
            </a:r>
          </a:p>
          <a:p>
            <a:pPr algn="just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Core preventative interventions of EHPs in public health facilities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Health and Preventative Practice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Legislative Framework Guiding EHPs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Water Quality in Healthcare Facilities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Sanitation and Hygiene Controls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Infection Prevention and Environmental Hygiene</a:t>
            </a:r>
          </a:p>
          <a:p>
            <a:pPr algn="just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Health Audits and Inspections</a:t>
            </a:r>
          </a:p>
          <a:p>
            <a:pPr algn="just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just">
              <a:buNone/>
            </a:pPr>
            <a:endParaRPr lang="en-US" sz="3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2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2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28990"/>
      </p:ext>
    </p:extLst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3000" dirty="0">
                <a:solidFill>
                  <a:prstClr val="black"/>
                </a:solidFill>
                <a:latin typeface="Arial"/>
                <a:cs typeface="Arial"/>
              </a:rPr>
              <a:t>                   </a:t>
            </a:r>
            <a:r>
              <a:rPr lang="en-US" sz="3000" b="1" dirty="0">
                <a:solidFill>
                  <a:prstClr val="black"/>
                </a:solidFill>
                <a:latin typeface="Arial"/>
                <a:cs typeface="Arial"/>
              </a:rPr>
              <a:t>INTRODUCTION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health is equals to the conditions in the clinical environment that influence patients and staff wellbeing in the clinical setting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Environmental health is a vital component that focuses on preventative practice which aims to eliminate or reduce environmental risks in the clinical setting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It focuses on identifying and mitigating environmental factors that can adversely affect health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Integration of environmental health into clinical setting enhances patients' safety, infection prevention and sustainable healthcare delivery.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endParaRPr lang="en-US" sz="3000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3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3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102585"/>
      </p:ext>
    </p:extLst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b="1" dirty="0"/>
              <a:t>BACKGROUND TO ENVIRONMENTAL HEALTH IN CLINICAL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Healthcare facilities are high-risk environments for disease transmission</a:t>
            </a:r>
          </a:p>
          <a:p>
            <a:pPr lvl="1"/>
            <a:r>
              <a:rPr dirty="0"/>
              <a:t>Patients often have compromised immunity</a:t>
            </a:r>
          </a:p>
          <a:p>
            <a:pPr lvl="1"/>
            <a:r>
              <a:rPr dirty="0"/>
              <a:t>Environmental conditions directly influence clinical outcomes</a:t>
            </a:r>
          </a:p>
          <a:p>
            <a:pPr lvl="1"/>
            <a:r>
              <a:rPr dirty="0"/>
              <a:t>Preventative environmental health reduces avoidable healthcare-associated infections (HAIs)</a:t>
            </a:r>
          </a:p>
        </p:txBody>
      </p:sp>
    </p:spTree>
    <p:extLst>
      <p:ext uri="{BB962C8B-B14F-4D97-AF65-F5344CB8AC3E}">
        <p14:creationId xmlns:p14="http://schemas.microsoft.com/office/powerpoint/2010/main" val="3413951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ROLE OF AN EHP IN CLINICAL PRACTICE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  safety and hygiene in a healthcare environment.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Supports clinical programs in the healthcare facility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Collaboration with public health(form part of various committees in a healthcare facility)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compliance with environmental health regulations and standards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Conducts EH awareness &amp; trainings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Conduct audits to monitor compliance</a:t>
            </a:r>
          </a:p>
          <a:p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 Standards operating procedures(SOPs) and guidelines relating to Environmental Health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5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5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58893"/>
      </p:ext>
    </p:extLst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ENVIRONMENTAL HEALTH INTERVENTIONS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Waste Management</a:t>
            </a:r>
          </a:p>
          <a:p>
            <a:pPr marL="0" indent="0"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Safe and proper waste segregation, storage, 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treatment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and disposal of   healthcare waste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- Prevention of disease transmission through 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        contaminated waste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Water Quality Monitoring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- Ensuring potable water supply within healthcare facilities.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- Routine testing for microbial and chemical contaminants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Sanitation and hygiene</a:t>
            </a:r>
          </a:p>
          <a:p>
            <a:pPr marL="0" lvl="0" indent="0" algn="just">
              <a:buNone/>
            </a:pPr>
            <a:r>
              <a:rPr lang="en-US" sz="3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-</a:t>
            </a:r>
            <a:r>
              <a:rPr lang="en-US" sz="30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 of clean  ablution facilities  and </a:t>
            </a:r>
          </a:p>
          <a:p>
            <a:pPr marL="0" lvl="0" indent="0" algn="just">
              <a:buNone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handwashing stations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6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6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38739"/>
      </p:ext>
    </p:extLst>
  </p:cSld>
  <p:clrMapOvr>
    <a:masterClrMapping/>
  </p:clrMapOvr>
  <p:transition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50A7-D0FD-2689-2BB1-B4C8097B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6538"/>
            <a:ext cx="8229600" cy="1143000"/>
          </a:xfrm>
        </p:spPr>
        <p:txBody>
          <a:bodyPr/>
          <a:lstStyle/>
          <a:p>
            <a:r>
              <a:rPr lang="en-US" dirty="0"/>
              <a:t>HEALTHCARE WASTE CATERGORIES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E4610F-F346-DD90-B38E-E1B4DE116A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68087"/>
            <a:ext cx="8229600" cy="379018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9EF2A-D5FC-AA32-1030-633387D6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258B8-697E-F78D-E8FF-B9746669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D643C-7F08-B467-78A1-44D3C924A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131222"/>
            <a:ext cx="8784976" cy="474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7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722E3-7100-6F66-D305-48BC8868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HEALTHCARE WASTE COULOUR CODES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E2EBB6-2A13-D754-23BD-FDE3B1895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584" y="1441252"/>
            <a:ext cx="1932599" cy="169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C310E-642B-7FD7-8241-59576BF22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B9855D-24F4-282E-FE54-1B32C3354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290611-8C32-E44E-9AD3-010A46F20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61" y="3662089"/>
            <a:ext cx="2609314" cy="1755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7A5E47-95C8-E10D-A7A8-408A472A6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418" y="3704562"/>
            <a:ext cx="2091109" cy="21825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0C9D68-600A-61CE-7914-FEEFA258EA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4077072"/>
            <a:ext cx="1755800" cy="19447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5FDAC2-2EFC-F17B-51FB-30DD3AD0F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456" y="1461071"/>
            <a:ext cx="4468755" cy="26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00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2878-666D-0A08-164A-9E43DA83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10E405-2959-FD69-7880-5F608F1E6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98844"/>
            <a:ext cx="8229600" cy="22881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8ADA2-8A7C-5288-982C-7FE66EA49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D6C6D-4749-A58E-07EB-EE0FB3DD8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pic>
        <p:nvPicPr>
          <p:cNvPr id="6" name="Content Placeholder 1">
            <a:extLst>
              <a:ext uri="{FF2B5EF4-FFF2-40B4-BE49-F238E27FC236}">
                <a16:creationId xmlns:a16="http://schemas.microsoft.com/office/drawing/2014/main" id="{61A5A60D-A628-7743-F790-4DC891CD04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512" y="404664"/>
            <a:ext cx="8229600" cy="997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00046A-AF61-E7B8-8E09-E2E5DFCCA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3886993"/>
            <a:ext cx="3304318" cy="396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6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6743" y="1052736"/>
            <a:ext cx="8229600" cy="5760640"/>
          </a:xfrm>
        </p:spPr>
        <p:txBody>
          <a:bodyPr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ENVIRONMENTAL HEALTH INTERVENTIONS</a:t>
            </a:r>
          </a:p>
          <a:p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control monitoring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Pest control &amp; vector surveillance to prevent the spread of diseases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F82E0-F617-466A-8989-E6F91EEE8384}" type="slidenum">
              <a:rPr lang="en-US" altLang="en-US" sz="1600" smtClean="0">
                <a:solidFill>
                  <a:prstClr val="white"/>
                </a:solidFill>
              </a:rPr>
              <a:pPr/>
              <a:t>10</a:t>
            </a:fld>
            <a:endParaRPr lang="en-US" altLang="en-US" sz="1600" dirty="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54040" y="332656"/>
            <a:ext cx="275446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GROWING KWAZULU-NATAL TOGETHER</a:t>
            </a:r>
          </a:p>
        </p:txBody>
      </p:sp>
      <p:sp>
        <p:nvSpPr>
          <p:cNvPr id="16" name="Slide Number Placeholder 3"/>
          <p:cNvSpPr txBox="1">
            <a:spLocks/>
          </p:cNvSpPr>
          <p:nvPr/>
        </p:nvSpPr>
        <p:spPr>
          <a:xfrm>
            <a:off x="35496" y="6448251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l"/>
            <a:fld id="{5D312F24-582A-4117-A0B2-A1DD2489FD11}" type="slidenum">
              <a:rPr lang="en-US" altLang="en-US" smtClean="0">
                <a:solidFill>
                  <a:schemeClr val="tx1"/>
                </a:solidFill>
                <a:latin typeface="Arial"/>
                <a:cs typeface="Arial"/>
              </a:rPr>
              <a:pPr algn="l"/>
              <a:t>10</a:t>
            </a:fld>
            <a:endParaRPr lang="en-US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8" name="Picture 7" descr="Health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60648"/>
            <a:ext cx="2304256" cy="5803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D32E6C-3CEE-E319-65AB-559ECBA0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6" y="2852936"/>
            <a:ext cx="4177841" cy="3519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E2B8F-8386-672C-A514-28C277B6F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98" y="2852936"/>
            <a:ext cx="4177841" cy="350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474909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79C6-71EF-7C76-8C72-CFBE2C36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tabLst/>
              <a:defRPr/>
            </a:pP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ENVIRONMENTAL HEALTH INTERVENTIONS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F0D8-6DF8-6E4B-CF54-6A2CA424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sz="2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Food safety</a:t>
            </a:r>
          </a:p>
          <a:p>
            <a:pPr marL="0" indent="0">
              <a:buNone/>
            </a:pPr>
            <a:r>
              <a:rPr lang="en-US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hospital kitchens and food service areas to prevent foodborne illnesses</a:t>
            </a: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0ED2A-33FB-2543-9D95-3F530629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688F2-4EB3-9CB1-A0B0-5AB838082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25E994-7057-B246-B3C0-8C335D3CC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492896"/>
            <a:ext cx="4644448" cy="3633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4909F-3DC9-8D3E-8B27-C71AED3B4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976" y="2492896"/>
            <a:ext cx="3924504" cy="363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76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ENVIRONMENTAL HEALTH AND PREVENTATIVE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Preventative practice focuses on risk reduction before illness occurs</a:t>
            </a:r>
          </a:p>
          <a:p>
            <a:pPr lvl="1"/>
            <a:r>
              <a:t>Environmental Health Practitioners (EHPs) act proactively rather than reactively</a:t>
            </a:r>
          </a:p>
          <a:p>
            <a:pPr lvl="1"/>
            <a:r>
              <a:t>Supports primary, secondary, and tertiary prevention</a:t>
            </a:r>
          </a:p>
          <a:p>
            <a:pPr lvl="1"/>
            <a:r>
              <a:t>Aligns with National Health Act and Ideal Clinic Framework (SA)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LEGISLATIVE FRAMEWORK GUIDING EHPS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National Health Act (Act 61 of 2003)</a:t>
            </a:r>
          </a:p>
          <a:p>
            <a:pPr lvl="1"/>
            <a:r>
              <a:t>Occupational Health and Safety Act</a:t>
            </a:r>
          </a:p>
          <a:p>
            <a:pPr lvl="1"/>
            <a:r>
              <a:t>Environmental Health Norms and Standards</a:t>
            </a:r>
          </a:p>
          <a:p>
            <a:pPr lvl="1"/>
            <a:r>
              <a:t>Municipal by-laws and provincial regulations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WATER QUALITY IN HEALTHCARE 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water is essential for infection prevention</a:t>
            </a:r>
          </a:p>
          <a:p>
            <a:pPr lvl="1"/>
            <a:r>
              <a:t>Used for drinking, cleaning, sterilisation, and hygiene</a:t>
            </a:r>
          </a:p>
          <a:p>
            <a:pPr lvl="1"/>
            <a:r>
              <a:t>Routine microbiological and chemical testing</a:t>
            </a:r>
          </a:p>
          <a:p>
            <a:pPr lvl="1"/>
            <a:r>
              <a:t>Monitoring storage tanks and plumbing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SANITATION AND HYGIENE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and functional toilets and ablution blocks</a:t>
            </a:r>
          </a:p>
          <a:p>
            <a:pPr lvl="1"/>
            <a:r>
              <a:t>Adequate handwashing stations with soap</a:t>
            </a:r>
          </a:p>
          <a:p>
            <a:pPr lvl="1"/>
            <a:r>
              <a:t>Availability of alcohol-based hand rubs</a:t>
            </a:r>
          </a:p>
          <a:p>
            <a:pPr lvl="1"/>
            <a:r>
              <a:t>Routine cleaning schedules and monitoring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INFECTION PREVENTION AND ENVIRONMENTAL HYGIENE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cleaning reduces pathogen load</a:t>
            </a:r>
          </a:p>
          <a:p>
            <a:pPr lvl="1"/>
            <a:r>
              <a:t>High-touch surfaces require frequent disinfection</a:t>
            </a:r>
          </a:p>
          <a:p>
            <a:pPr lvl="1"/>
            <a:r>
              <a:t>Supports clinical infection prevention programs</a:t>
            </a:r>
          </a:p>
          <a:p>
            <a:pPr lvl="1"/>
            <a:r>
              <a:t>Collaboration with IPC nurses and clinicians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ENVIRONMENTAL HEALTH AUDITS AND INSPECTIONS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Routine inspections identify risks early</a:t>
            </a:r>
          </a:p>
          <a:p>
            <a:pPr lvl="1"/>
            <a:r>
              <a:t>Use of checklists and compliance tools</a:t>
            </a:r>
          </a:p>
          <a:p>
            <a:pPr lvl="1"/>
            <a:r>
              <a:t>Documentation and corrective action plans</a:t>
            </a:r>
          </a:p>
          <a:p>
            <a:pPr lvl="1"/>
            <a:r>
              <a:t>Supports continuous quality improvement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TRAINING AND AWARENESS PROGRAMMES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health education for staff</a:t>
            </a:r>
          </a:p>
          <a:p>
            <a:pPr lvl="1"/>
            <a:r>
              <a:t>Waste segregation training</a:t>
            </a:r>
          </a:p>
          <a:p>
            <a:pPr lvl="1"/>
            <a:r>
              <a:t>Hand hygiene promotion</a:t>
            </a:r>
          </a:p>
          <a:p>
            <a:pPr lvl="1"/>
            <a:r>
              <a:t>Food safety and cleaning protocols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CHALLENGES IN CLINICAL ENVIRONMENTAL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resources and infrastructure</a:t>
            </a:r>
          </a:p>
          <a:p>
            <a:pPr lvl="1"/>
            <a:r>
              <a:t>Staff shortages and high workload</a:t>
            </a:r>
          </a:p>
          <a:p>
            <a:pPr lvl="1"/>
            <a:r>
              <a:t>Non-compliance with procedures</a:t>
            </a:r>
          </a:p>
          <a:p>
            <a:pPr lvl="1"/>
            <a:r>
              <a:t>Need for continuous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BENEFITS OF STRONG ENVIRONMENTAL HEALTH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healthcare-associated infections</a:t>
            </a:r>
          </a:p>
          <a:p>
            <a:pPr lvl="1"/>
            <a:r>
              <a:t>Improved patient safety and outcomes</a:t>
            </a:r>
          </a:p>
          <a:p>
            <a:pPr lvl="1"/>
            <a:r>
              <a:t>Protection of healthcare workers</a:t>
            </a:r>
          </a:p>
          <a:p>
            <a:pPr lvl="1"/>
            <a:r>
              <a:t>Enhanced public trust in healthcare services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ENVIRONMENTAL HEALTH AND SUSTAINABLE HEALTHCARE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Waste minimisation and recycling</a:t>
            </a:r>
          </a:p>
          <a:p>
            <a:pPr lvl="1"/>
            <a:r>
              <a:t>Safe chemical management</a:t>
            </a:r>
          </a:p>
          <a:p>
            <a:pPr lvl="1"/>
            <a:r>
              <a:t>Water and energy efficiency</a:t>
            </a:r>
          </a:p>
          <a:p>
            <a:pPr lvl="1"/>
            <a:r>
              <a:t>Environmentally responsible healthcare delivery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CASE EXAMPLE: PREVENTATIVE INTERVENTION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Improved waste segregation reduces needle-stick injuries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dirty="0"/>
          </a:p>
          <a:p>
            <a:pPr lvl="1"/>
            <a:r>
              <a:rPr dirty="0"/>
              <a:t>Enhanced cleaning lowers infection outbreaks</a:t>
            </a:r>
          </a:p>
          <a:p>
            <a:pPr lvl="1"/>
            <a:r>
              <a:rPr dirty="0"/>
              <a:t>Safe food handling prevents patient illness</a:t>
            </a:r>
          </a:p>
          <a:p>
            <a:pPr lvl="1"/>
            <a:r>
              <a:rPr dirty="0"/>
              <a:t>Water monitoring prevents diarrhoeal diseases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8BFA7-22A5-9DBB-597F-77D92CF8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2132856"/>
            <a:ext cx="2895601" cy="1800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65862-E799-2668-C3E3-06C61A64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7759-B8FB-5A2D-0B10-39F7E40B6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Environmental health in a healthcare setting is essential for preventing infections, protecting patients and staff and ensuring a safe, clean and supportive healing environment which supports wellbeing of everyone in a healthcare setting.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9E859-1FA1-CB69-BCB1-29F046D2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87329-AF30-A9D3-C140-E43E6B4D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12F24-582A-4117-A0B2-A1DD2489FD11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27411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KEY TAKE-HOME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Environmental health is integral to clinical care</a:t>
            </a:r>
          </a:p>
          <a:p>
            <a:pPr lvl="1"/>
            <a:r>
              <a:t>Prevention is more cost-effective than treatment</a:t>
            </a:r>
          </a:p>
          <a:p>
            <a:pPr lvl="1"/>
            <a:r>
              <a:t>EHPs play a critical multidisciplinary role</a:t>
            </a:r>
          </a:p>
          <a:p>
            <a:pPr lvl="1"/>
            <a:r>
              <a:t>Safe environments support healing and wellbeing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11560" y="2132856"/>
            <a:ext cx="78488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solidFill>
                  <a:srgbClr val="FFFFFF"/>
                </a:solidFill>
                <a:latin typeface="Arial"/>
                <a:cs typeface="Arial"/>
              </a:rPr>
              <a:t>THANK YOU</a:t>
            </a:r>
            <a:endParaRPr lang="en-ZA" sz="60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4" name="Picture 3" descr="Untitled-2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3284984"/>
            <a:ext cx="2736304" cy="1737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8560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1da65c1f-da16-4d54-ac8b-318d7b6f2426">NWTJ5PMEKZCH-973647204-8</_dlc_DocId>
    <_dlc_DocIdUrl xmlns="1da65c1f-da16-4d54-ac8b-318d7b6f2426">
      <Url>http://portal.kznhealth.gov.za/components/corporatecommunication/_layouts/15/DocIdRedir.aspx?ID=NWTJ5PMEKZCH-973647204-8</Url>
      <Description>NWTJ5PMEKZCH-973647204-8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88E54F5AB1A940833F465A27E960CB" ma:contentTypeVersion="0" ma:contentTypeDescription="Create a new document." ma:contentTypeScope="" ma:versionID="05b675b92eaf5a420903f15e93c6fb29">
  <xsd:schema xmlns:xsd="http://www.w3.org/2001/XMLSchema" xmlns:xs="http://www.w3.org/2001/XMLSchema" xmlns:p="http://schemas.microsoft.com/office/2006/metadata/properties" xmlns:ns2="1da65c1f-da16-4d54-ac8b-318d7b6f2426" targetNamespace="http://schemas.microsoft.com/office/2006/metadata/properties" ma:root="true" ma:fieldsID="2185375cb1646920e2a1c1caf0629260" ns2:_="">
    <xsd:import namespace="1da65c1f-da16-4d54-ac8b-318d7b6f242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a65c1f-da16-4d54-ac8b-318d7b6f242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0D96D9-6201-43FF-ABBF-FEA18EEFA616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1da65c1f-da16-4d54-ac8b-318d7b6f242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364B99-6E3F-4846-BD0E-E9F37FF0EF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a65c1f-da16-4d54-ac8b-318d7b6f24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A89B24-95DC-4ED8-8F47-4E95F1A49CF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07D8CE52-3560-49AC-B2E7-A2F84068F17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0733d39-5f5d-4b00-8873-7222ca570b35}" enabled="1" method="Standard" siteId="{19cc9403-65ff-48dc-b17a-7ad0f076a94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40404</TotalTime>
  <Words>773</Words>
  <Application>Microsoft Macintosh PowerPoint</Application>
  <PresentationFormat>On-screen Show (4:3)</PresentationFormat>
  <Paragraphs>154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Arial Black</vt:lpstr>
      <vt:lpstr>Calibri</vt:lpstr>
      <vt:lpstr>1_Office Theme</vt:lpstr>
      <vt:lpstr>PowerPoint Presentation</vt:lpstr>
      <vt:lpstr>PowerPoint Presentation</vt:lpstr>
      <vt:lpstr>PowerPoint Presentation</vt:lpstr>
      <vt:lpstr>BACKGROUND TO ENVIRONMENTAL HEALTH IN CLINICAL SETTINGS</vt:lpstr>
      <vt:lpstr>PowerPoint Presentation</vt:lpstr>
      <vt:lpstr>PowerPoint Presentation</vt:lpstr>
      <vt:lpstr>HEALTHCARE WASTE CATERGORIES</vt:lpstr>
      <vt:lpstr>HEALTHCARE WASTE COULOUR CODES </vt:lpstr>
      <vt:lpstr>PowerPoint Presentation</vt:lpstr>
      <vt:lpstr>PowerPoint Presentation</vt:lpstr>
      <vt:lpstr> ENVIRONMENTAL HEALTH INTERVENTIONS </vt:lpstr>
      <vt:lpstr>ENVIRONMENTAL HEALTH AND PREVENTATIVE PRACTICE</vt:lpstr>
      <vt:lpstr>LEGISLATIVE FRAMEWORK GUIDING EHPS</vt:lpstr>
      <vt:lpstr>WATER QUALITY IN HEALTHCARE FACILITIES</vt:lpstr>
      <vt:lpstr>SANITATION AND HYGIENE CONTROLS</vt:lpstr>
      <vt:lpstr>INFECTION PREVENTION AND ENVIRONMENTAL HYGIENE</vt:lpstr>
      <vt:lpstr>ENVIRONMENTAL HEALTH AUDITS AND INSPECTIONS</vt:lpstr>
      <vt:lpstr>TRAINING AND AWARENESS PROGRAMMES</vt:lpstr>
      <vt:lpstr>CHALLENGES IN CLINICAL ENVIRONMENTAL HEALTH</vt:lpstr>
      <vt:lpstr>BENEFITS OF STRONG ENVIRONMENTAL HEALTH SYSTEMS</vt:lpstr>
      <vt:lpstr>ENVIRONMENTAL HEALTH AND SUSTAINABLE HEALTHCARE</vt:lpstr>
      <vt:lpstr>CASE EXAMPLE: PREVENTATIVE INTERVENTION IMPACT</vt:lpstr>
      <vt:lpstr>CONCLUSION</vt:lpstr>
      <vt:lpstr>KEY TAKE-HOME MESSAGES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 : 18th March 2020</dc:title>
  <dc:creator>User</dc:creator>
  <cp:lastModifiedBy>Sbongumenzi Sithole (GPHealth)</cp:lastModifiedBy>
  <cp:revision>1363</cp:revision>
  <cp:lastPrinted>2020-03-17T19:37:08Z</cp:lastPrinted>
  <dcterms:created xsi:type="dcterms:W3CDTF">2011-10-05T05:43:47Z</dcterms:created>
  <dcterms:modified xsi:type="dcterms:W3CDTF">2025-12-30T15:23:19Z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0x0101009388E54F5AB1A940833F465A27E960CB</vt:lpwstr>
  </property>
  <property fmtid="{D5CDD505-2E9C-101B-9397-08002B2CF9AE}" pid="3" name="_dlc_DocIdItemGuid">
    <vt:lpwstr>455025fb-b553-4823-8760-7c9ea6a18d51</vt:lpwstr>
  </property>
</Properties>
</file>