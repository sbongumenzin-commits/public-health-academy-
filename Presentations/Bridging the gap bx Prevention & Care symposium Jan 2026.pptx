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7" r:id="rId5"/>
    <p:sldMasterId id="2147483702" r:id="rId6"/>
    <p:sldMasterId id="2147483714" r:id="rId7"/>
  </p:sldMasterIdLst>
  <p:notesMasterIdLst>
    <p:notesMasterId r:id="rId9"/>
  </p:notesMasterIdLst>
  <p:sldIdLst>
    <p:sldId id="256" r:id="rId8"/>
    <p:sldId id="362" r:id="rId10"/>
    <p:sldId id="366" r:id="rId11"/>
    <p:sldId id="384" r:id="rId12"/>
    <p:sldId id="377" r:id="rId13"/>
    <p:sldId id="382" r:id="rId14"/>
    <p:sldId id="378" r:id="rId15"/>
    <p:sldId id="373" r:id="rId16"/>
    <p:sldId id="380" r:id="rId17"/>
    <p:sldId id="371" r:id="rId18"/>
    <p:sldId id="257" r:id="rId19"/>
    <p:sldId id="367" r:id="rId20"/>
    <p:sldId id="368" r:id="rId21"/>
    <p:sldId id="360" r:id="rId22"/>
    <p:sldId id="374" r:id="rId23"/>
    <p:sldId id="381" r:id="rId24"/>
    <p:sldId id="383" r:id="rId25"/>
    <p:sldId id="379" r:id="rId26"/>
    <p:sldId id="353" r:id="rId27"/>
    <p:sldId id="370" r:id="rId28"/>
    <p:sldId id="372" r:id="rId29"/>
    <p:sldId id="259" r:id="rId30"/>
    <p:sldId id="385" r:id="rId31"/>
    <p:sldId id="386" r:id="rId32"/>
    <p:sldId id="375" r:id="rId33"/>
    <p:sldId id="389" r:id="rId34"/>
    <p:sldId id="388" r:id="rId35"/>
    <p:sldId id="369" r:id="rId36"/>
    <p:sldId id="322" r:id="rId37"/>
    <p:sldId id="376" r:id="rId38"/>
    <p:sldId id="38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9CD64F5A-66B7-AEAB-667E-8839BC77A627}" name="Pretty Ndini" initials="PN" userId="S::pndini@auruminstitute.org::35f84efa-a7c0-44cd-8da2-148389542ed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8F8F8"/>
    <a:srgbClr val="01B8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036" autoAdjust="0"/>
  </p:normalViewPr>
  <p:slideViewPr>
    <p:cSldViewPr snapToGrid="0">
      <p:cViewPr varScale="1">
        <p:scale>
          <a:sx n="59" d="100"/>
          <a:sy n="59" d="100"/>
        </p:scale>
        <p:origin x="68" y="236"/>
      </p:cViewPr>
      <p:guideLst/>
    </p:cSldViewPr>
  </p:slideViewPr>
  <p:notesTextViewPr>
    <p:cViewPr>
      <p:scale>
        <a:sx n="1" d="1"/>
        <a:sy n="1" d="1"/>
      </p:scale>
      <p:origin x="0" y="0"/>
    </p:cViewPr>
  </p:notesTextViewPr>
  <p:sorterViewPr>
    <p:cViewPr varScale="1">
      <p:scale>
        <a:sx n="100" d="100"/>
        <a:sy n="100" d="100"/>
      </p:scale>
      <p:origin x="0" y="-6608"/>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1.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3" Type="http://schemas.microsoft.com/office/2018/10/relationships/authors" Target="authors.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Master" Target="slideMasters/slideMaster3.xml"/><Relationship Id="rId39" Type="http://schemas.openxmlformats.org/officeDocument/2006/relationships/slide" Target="slides/slide31.xml"/><Relationship Id="rId38" Type="http://schemas.openxmlformats.org/officeDocument/2006/relationships/slide" Target="slides/slide30.xml"/><Relationship Id="rId37" Type="http://schemas.openxmlformats.org/officeDocument/2006/relationships/slide" Target="slides/slide29.xml"/><Relationship Id="rId36" Type="http://schemas.openxmlformats.org/officeDocument/2006/relationships/slide" Target="slides/slide28.xml"/><Relationship Id="rId35" Type="http://schemas.openxmlformats.org/officeDocument/2006/relationships/slide" Target="slides/slide27.xml"/><Relationship Id="rId34" Type="http://schemas.openxmlformats.org/officeDocument/2006/relationships/slide" Target="slides/slide26.xml"/><Relationship Id="rId33" Type="http://schemas.openxmlformats.org/officeDocument/2006/relationships/slide" Target="slides/slide25.xml"/><Relationship Id="rId32" Type="http://schemas.openxmlformats.org/officeDocument/2006/relationships/slide" Target="slides/slide24.xml"/><Relationship Id="rId31" Type="http://schemas.openxmlformats.org/officeDocument/2006/relationships/slide" Target="slides/slide23.xml"/><Relationship Id="rId30" Type="http://schemas.openxmlformats.org/officeDocument/2006/relationships/slide" Target="slides/slide22.xml"/><Relationship Id="rId3" Type="http://schemas.openxmlformats.org/officeDocument/2006/relationships/slideMaster" Target="slideMasters/slideMaster2.xml"/><Relationship Id="rId29" Type="http://schemas.openxmlformats.org/officeDocument/2006/relationships/slide" Target="slides/slide21.xml"/><Relationship Id="rId28" Type="http://schemas.openxmlformats.org/officeDocument/2006/relationships/slide" Target="slides/slide20.xml"/><Relationship Id="rId27" Type="http://schemas.openxmlformats.org/officeDocument/2006/relationships/slide" Target="slides/slide19.xml"/><Relationship Id="rId26" Type="http://schemas.openxmlformats.org/officeDocument/2006/relationships/slide" Target="slides/slide18.xml"/><Relationship Id="rId25" Type="http://schemas.openxmlformats.org/officeDocument/2006/relationships/slide" Target="slides/slide17.xml"/><Relationship Id="rId24" Type="http://schemas.openxmlformats.org/officeDocument/2006/relationships/slide" Target="slides/slide16.xml"/><Relationship Id="rId23" Type="http://schemas.openxmlformats.org/officeDocument/2006/relationships/slide" Target="slides/slide15.xml"/><Relationship Id="rId22" Type="http://schemas.openxmlformats.org/officeDocument/2006/relationships/slide" Target="slides/slide14.xml"/><Relationship Id="rId21" Type="http://schemas.openxmlformats.org/officeDocument/2006/relationships/slide" Target="slides/slide13.xml"/><Relationship Id="rId20" Type="http://schemas.openxmlformats.org/officeDocument/2006/relationships/slide" Target="slides/slide12.xml"/><Relationship Id="rId2" Type="http://schemas.openxmlformats.org/officeDocument/2006/relationships/theme" Target="theme/theme1.xml"/><Relationship Id="rId19" Type="http://schemas.openxmlformats.org/officeDocument/2006/relationships/slide" Target="slides/slide11.xml"/><Relationship Id="rId18" Type="http://schemas.openxmlformats.org/officeDocument/2006/relationships/slide" Target="slides/slide10.xml"/><Relationship Id="rId17" Type="http://schemas.openxmlformats.org/officeDocument/2006/relationships/slide" Target="slides/slide9.xml"/><Relationship Id="rId16" Type="http://schemas.openxmlformats.org/officeDocument/2006/relationships/slide" Target="slides/slide8.xml"/><Relationship Id="rId15" Type="http://schemas.openxmlformats.org/officeDocument/2006/relationships/slide" Target="slides/slide7.xml"/><Relationship Id="rId14" Type="http://schemas.openxmlformats.org/officeDocument/2006/relationships/slide" Target="slides/slide6.xml"/><Relationship Id="rId13" Type="http://schemas.openxmlformats.org/officeDocument/2006/relationships/slide" Target="slides/slide5.xml"/><Relationship Id="rId12" Type="http://schemas.openxmlformats.org/officeDocument/2006/relationships/slide" Target="slides/slide4.xml"/><Relationship Id="rId11" Type="http://schemas.openxmlformats.org/officeDocument/2006/relationships/slide" Target="slides/slide3.xml"/><Relationship Id="rId10" Type="http://schemas.openxmlformats.org/officeDocument/2006/relationships/slide" Target="slides/slide2.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D6923E-2DEE-49D4-A638-00281A065E19}" type="datetimeFigureOut">
              <a:rPr lang="en-ZA" smtClean="0"/>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C2D971-5D97-4BA9-A823-49C03AADCA0E}" type="slidenum">
              <a:rPr lang="en-ZA" smtClean="0"/>
            </a:fld>
            <a:endParaRPr lang="en-ZA"/>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60C2D971-5D97-4BA9-A823-49C03AADCA0E}" type="slidenum">
              <a:rPr lang="en-ZA" smtClean="0"/>
            </a:fld>
            <a:endParaRPr lang="en-ZA"/>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ZA" sz="1200" dirty="0"/>
              <a:t>Therapeutic measures are </a:t>
            </a:r>
            <a:r>
              <a:rPr lang="en-GB" sz="1200" dirty="0">
                <a:solidFill>
                  <a:srgbClr val="0070C0"/>
                </a:solidFill>
              </a:rPr>
              <a:t>Interventions taken after a disease or health issue has already occurred</a:t>
            </a:r>
            <a:r>
              <a:rPr lang="en-GB" sz="1200" dirty="0"/>
              <a:t>, </a:t>
            </a:r>
            <a:r>
              <a:rPr lang="en-GB" sz="1200" dirty="0">
                <a:solidFill>
                  <a:srgbClr val="0070C0"/>
                </a:solidFill>
              </a:rPr>
              <a:t>with the goal of treating or managing the condition.</a:t>
            </a:r>
            <a:endParaRPr lang="en-GB" sz="1200" dirty="0">
              <a:solidFill>
                <a:srgbClr val="0070C0"/>
              </a:solidFill>
            </a:endParaRPr>
          </a:p>
          <a:p>
            <a:endParaRPr lang="en-ZA" dirty="0"/>
          </a:p>
        </p:txBody>
      </p:sp>
      <p:sp>
        <p:nvSpPr>
          <p:cNvPr id="4" name="Slide Number Placeholder 3"/>
          <p:cNvSpPr>
            <a:spLocks noGrp="1"/>
          </p:cNvSpPr>
          <p:nvPr>
            <p:ph type="sldNum" sz="quarter" idx="5"/>
          </p:nvPr>
        </p:nvSpPr>
        <p:spPr/>
        <p:txBody>
          <a:bodyPr/>
          <a:lstStyle/>
          <a:p>
            <a:fld id="{60C2D971-5D97-4BA9-A823-49C03AADCA0E}" type="slidenum">
              <a:rPr lang="en-ZA" smtClean="0"/>
            </a:fld>
            <a:endParaRPr lang="en-ZA"/>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lang="en-ZA" sz="1200" dirty="0">
              <a:latin typeface="Adobe Devanagari" panose="02040503050201020203" pitchFamily="18" charset="0"/>
              <a:cs typeface="Adobe Devanagari" panose="02040503050201020203" pitchFamily="18" charset="0"/>
            </a:endParaRPr>
          </a:p>
          <a:p>
            <a:endParaRPr lang="en-ZA" dirty="0"/>
          </a:p>
        </p:txBody>
      </p:sp>
      <p:sp>
        <p:nvSpPr>
          <p:cNvPr id="4" name="Slide Number Placeholder 3"/>
          <p:cNvSpPr>
            <a:spLocks noGrp="1"/>
          </p:cNvSpPr>
          <p:nvPr>
            <p:ph type="sldNum" sz="quarter" idx="10"/>
          </p:nvPr>
        </p:nvSpPr>
        <p:spPr/>
        <p:txBody>
          <a:bodyPr/>
          <a:lstStyle/>
          <a:p>
            <a:fld id="{60C2D971-5D97-4BA9-A823-49C03AADCA0E}" type="slidenum">
              <a:rPr lang="en-ZA" smtClean="0"/>
            </a:fld>
            <a:endParaRPr lang="en-ZA"/>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lang="en-ZA" sz="1200" dirty="0">
              <a:latin typeface="Adobe Devanagari" panose="02040503050201020203" pitchFamily="18" charset="0"/>
              <a:cs typeface="Adobe Devanagari" panose="02040503050201020203" pitchFamily="18" charset="0"/>
            </a:endParaRPr>
          </a:p>
          <a:p>
            <a:endParaRPr lang="en-ZA" dirty="0"/>
          </a:p>
        </p:txBody>
      </p:sp>
      <p:sp>
        <p:nvSpPr>
          <p:cNvPr id="4" name="Slide Number Placeholder 3"/>
          <p:cNvSpPr>
            <a:spLocks noGrp="1"/>
          </p:cNvSpPr>
          <p:nvPr>
            <p:ph type="sldNum" sz="quarter" idx="10"/>
          </p:nvPr>
        </p:nvSpPr>
        <p:spPr/>
        <p:txBody>
          <a:bodyPr/>
          <a:lstStyle/>
          <a:p>
            <a:fld id="{60C2D971-5D97-4BA9-A823-49C03AADCA0E}" type="slidenum">
              <a:rPr lang="en-ZA" smtClean="0"/>
            </a:fld>
            <a:endParaRPr lang="en-ZA"/>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60C2D971-5D97-4BA9-A823-49C03AADCA0E}" type="slidenum">
              <a:rPr lang="en-ZA" smtClean="0"/>
            </a:fld>
            <a:endParaRPr lang="en-ZA"/>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60C2D971-5D97-4BA9-A823-49C03AADCA0E}" type="slidenum">
              <a:rPr lang="en-ZA" smtClean="0"/>
            </a:fld>
            <a:endParaRPr lang="en-ZA"/>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60C2D971-5D97-4BA9-A823-49C03AADCA0E}" type="slidenum">
              <a:rPr lang="en-ZA" smtClean="0"/>
            </a:fld>
            <a:endParaRPr lang="en-ZA"/>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a:p>
            <a:pPr marL="0" indent="0">
              <a:buFont typeface="Arial" panose="020B0604020202020204" pitchFamily="34" charset="0"/>
              <a:buNone/>
            </a:pPr>
            <a:r>
              <a:rPr lang="en-ZA" sz="1200" b="0" i="0" kern="1200" dirty="0">
                <a:solidFill>
                  <a:schemeClr val="tx1"/>
                </a:solidFill>
                <a:effectLst/>
                <a:latin typeface="+mn-lt"/>
                <a:ea typeface="+mn-ea"/>
                <a:cs typeface="+mn-cs"/>
              </a:rPr>
              <a:t>.</a:t>
            </a:r>
            <a:endParaRPr lang="en-US" dirty="0"/>
          </a:p>
          <a:p>
            <a:endParaRPr lang="en-ZA" dirty="0"/>
          </a:p>
        </p:txBody>
      </p:sp>
      <p:sp>
        <p:nvSpPr>
          <p:cNvPr id="4" name="Slide Number Placeholder 3"/>
          <p:cNvSpPr>
            <a:spLocks noGrp="1"/>
          </p:cNvSpPr>
          <p:nvPr>
            <p:ph type="sldNum" sz="quarter" idx="10"/>
          </p:nvPr>
        </p:nvSpPr>
        <p:spPr/>
        <p:txBody>
          <a:bodyPr/>
          <a:lstStyle/>
          <a:p>
            <a:fld id="{60C2D971-5D97-4BA9-A823-49C03AADCA0E}" type="slidenum">
              <a:rPr lang="en-ZA" smtClean="0"/>
            </a:fld>
            <a:endParaRPr lang="en-ZA"/>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60C2D971-5D97-4BA9-A823-49C03AADCA0E}" type="slidenum">
              <a:rPr lang="en-ZA" smtClean="0"/>
            </a:fld>
            <a:endParaRPr lang="en-ZA"/>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Louise B. Russell and is titled "Prevention vs. Cure: An Economist's Perspective on the Right Balance.</a:t>
            </a:r>
            <a:endParaRPr lang="en-ZA" dirty="0"/>
          </a:p>
        </p:txBody>
      </p:sp>
      <p:sp>
        <p:nvSpPr>
          <p:cNvPr id="4" name="Slide Number Placeholder 3"/>
          <p:cNvSpPr>
            <a:spLocks noGrp="1"/>
          </p:cNvSpPr>
          <p:nvPr>
            <p:ph type="sldNum" sz="quarter" idx="10"/>
          </p:nvPr>
        </p:nvSpPr>
        <p:spPr/>
        <p:txBody>
          <a:bodyPr/>
          <a:lstStyle/>
          <a:p>
            <a:fld id="{60C2D971-5D97-4BA9-A823-49C03AADCA0E}" type="slidenum">
              <a:rPr lang="en-ZA" smtClean="0"/>
            </a:fld>
            <a:endParaRPr lang="en-ZA"/>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2" Type="http://schemas.openxmlformats.org/officeDocument/2006/relationships/themeOverride" Target="../theme/themeOverride2.xml"/><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ZA"/>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ZA"/>
          </a:p>
        </p:txBody>
      </p:sp>
      <p:sp>
        <p:nvSpPr>
          <p:cNvPr id="4" name="Date Placeholder 3"/>
          <p:cNvSpPr>
            <a:spLocks noGrp="1"/>
          </p:cNvSpPr>
          <p:nvPr>
            <p:ph type="dt" sz="half" idx="10"/>
          </p:nvPr>
        </p:nvSpPr>
        <p:spPr/>
        <p:txBody>
          <a:bodyPr/>
          <a:lstStyle/>
          <a:p>
            <a:fld id="{234DC252-1442-438B-A140-1627EE769DB9}" type="datetimeFigureOut">
              <a:rPr lang="en-ZA" smtClean="0"/>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AF2325-CD8E-41DA-A2A9-A4D3E4CE53DE}" type="slidenum">
              <a:rPr lang="en-ZA" smtClean="0"/>
            </a:fld>
            <a:endParaRPr lang="en-Z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cap="none" baseline="0"/>
            </a:lvl1pPr>
          </a:lstStyle>
          <a:p>
            <a:r>
              <a:rPr lang="en-US"/>
              <a:t>Click To Edit Master Title Style</a:t>
            </a:r>
            <a:endParaRPr lang="en-ZA"/>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4" name="Date Placeholder 3"/>
          <p:cNvSpPr>
            <a:spLocks noGrp="1"/>
          </p:cNvSpPr>
          <p:nvPr>
            <p:ph type="dt" sz="half" idx="10"/>
          </p:nvPr>
        </p:nvSpPr>
        <p:spPr/>
        <p:txBody>
          <a:bodyPr/>
          <a:lstStyle/>
          <a:p>
            <a:fld id="{234DC252-1442-438B-A140-1627EE769DB9}" type="datetimeFigureOut">
              <a:rPr lang="en-ZA" smtClean="0"/>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AF2325-CD8E-41DA-A2A9-A4D3E4CE53DE}" type="slidenum">
              <a:rPr lang="en-ZA" smtClean="0"/>
            </a:fld>
            <a:endParaRPr lang="en-Z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ZA"/>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234DC252-1442-438B-A140-1627EE769DB9}" type="datetimeFigureOut">
              <a:rPr lang="en-ZA" smtClean="0"/>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AF2325-CD8E-41DA-A2A9-A4D3E4CE53DE}" type="slidenum">
              <a:rPr lang="en-ZA" smtClean="0"/>
            </a:fld>
            <a:endParaRPr lang="en-Z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5" name="Date Placeholder 4"/>
          <p:cNvSpPr>
            <a:spLocks noGrp="1"/>
          </p:cNvSpPr>
          <p:nvPr>
            <p:ph type="dt" sz="half" idx="10"/>
          </p:nvPr>
        </p:nvSpPr>
        <p:spPr/>
        <p:txBody>
          <a:bodyPr/>
          <a:lstStyle/>
          <a:p>
            <a:fld id="{234DC252-1442-438B-A140-1627EE769DB9}" type="datetimeFigureOut">
              <a:rPr lang="en-ZA" smtClean="0"/>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A1AF2325-CD8E-41DA-A2A9-A4D3E4CE53DE}" type="slidenum">
              <a:rPr lang="en-ZA" smtClean="0"/>
            </a:fld>
            <a:endParaRPr lang="en-Z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ZA"/>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7" name="Date Placeholder 6"/>
          <p:cNvSpPr>
            <a:spLocks noGrp="1"/>
          </p:cNvSpPr>
          <p:nvPr>
            <p:ph type="dt" sz="half" idx="10"/>
          </p:nvPr>
        </p:nvSpPr>
        <p:spPr/>
        <p:txBody>
          <a:bodyPr/>
          <a:lstStyle/>
          <a:p>
            <a:fld id="{234DC252-1442-438B-A140-1627EE769DB9}" type="datetimeFigureOut">
              <a:rPr lang="en-ZA" smtClean="0"/>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A1AF2325-CD8E-41DA-A2A9-A4D3E4CE53DE}" type="slidenum">
              <a:rPr lang="en-ZA" smtClean="0"/>
            </a:fld>
            <a:endParaRPr lang="en-Z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Date Placeholder 2"/>
          <p:cNvSpPr>
            <a:spLocks noGrp="1"/>
          </p:cNvSpPr>
          <p:nvPr>
            <p:ph type="dt" sz="half" idx="10"/>
          </p:nvPr>
        </p:nvSpPr>
        <p:spPr/>
        <p:txBody>
          <a:bodyPr/>
          <a:lstStyle/>
          <a:p>
            <a:fld id="{234DC252-1442-438B-A140-1627EE769DB9}" type="datetimeFigureOut">
              <a:rPr lang="en-ZA" smtClean="0"/>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A1AF2325-CD8E-41DA-A2A9-A4D3E4CE53DE}" type="slidenum">
              <a:rPr lang="en-ZA" smtClean="0"/>
            </a:fld>
            <a:endParaRPr lang="en-Z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4DC252-1442-438B-A140-1627EE769DB9}" type="datetimeFigureOut">
              <a:rPr lang="en-ZA" smtClean="0"/>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A1AF2325-CD8E-41DA-A2A9-A4D3E4CE53DE}" type="slidenum">
              <a:rPr lang="en-ZA" smtClean="0"/>
            </a:fld>
            <a:endParaRPr lang="en-Z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ZA"/>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234DC252-1442-438B-A140-1627EE769DB9}" type="datetimeFigureOut">
              <a:rPr lang="en-ZA" smtClean="0"/>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A1AF2325-CD8E-41DA-A2A9-A4D3E4CE53DE}" type="slidenum">
              <a:rPr lang="en-ZA" smtClean="0"/>
            </a:fld>
            <a:endParaRPr lang="en-Z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ZA"/>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ZA"/>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234DC252-1442-438B-A140-1627EE769DB9}" type="datetimeFigureOut">
              <a:rPr lang="en-ZA" smtClean="0"/>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A1AF2325-CD8E-41DA-A2A9-A4D3E4CE53DE}" type="slidenum">
              <a:rPr lang="en-ZA" smtClean="0"/>
            </a:fld>
            <a:endParaRPr lang="en-Z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4" name="Date Placeholder 3"/>
          <p:cNvSpPr>
            <a:spLocks noGrp="1"/>
          </p:cNvSpPr>
          <p:nvPr>
            <p:ph type="dt" sz="half" idx="10"/>
          </p:nvPr>
        </p:nvSpPr>
        <p:spPr/>
        <p:txBody>
          <a:bodyPr/>
          <a:lstStyle/>
          <a:p>
            <a:fld id="{234DC252-1442-438B-A140-1627EE769DB9}" type="datetimeFigureOut">
              <a:rPr lang="en-ZA" smtClean="0"/>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AF2325-CD8E-41DA-A2A9-A4D3E4CE53DE}" type="slidenum">
              <a:rPr lang="en-ZA" smtClean="0"/>
            </a:fld>
            <a:endParaRPr lang="en-Z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ZA"/>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4" name="Date Placeholder 3"/>
          <p:cNvSpPr>
            <a:spLocks noGrp="1"/>
          </p:cNvSpPr>
          <p:nvPr>
            <p:ph type="dt" sz="half" idx="10"/>
          </p:nvPr>
        </p:nvSpPr>
        <p:spPr/>
        <p:txBody>
          <a:bodyPr/>
          <a:lstStyle/>
          <a:p>
            <a:fld id="{234DC252-1442-438B-A140-1627EE769DB9}" type="datetimeFigureOut">
              <a:rPr lang="en-ZA" smtClean="0"/>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AF2325-CD8E-41DA-A2A9-A4D3E4CE53DE}" type="slidenum">
              <a:rPr lang="en-ZA" smtClean="0"/>
            </a:fld>
            <a:endParaRPr lang="en-Z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4819" name="Rectangle 3"/>
          <p:cNvSpPr>
            <a:spLocks noGrp="1" noChangeArrowheads="1"/>
          </p:cNvSpPr>
          <p:nvPr>
            <p:ph type="ctrTitle"/>
          </p:nvPr>
        </p:nvSpPr>
        <p:spPr>
          <a:xfrm>
            <a:off x="838200" y="4756150"/>
            <a:ext cx="10263717" cy="996950"/>
          </a:xfrm>
        </p:spPr>
        <p:txBody>
          <a:bodyPr/>
          <a:lstStyle>
            <a:lvl1pPr algn="l">
              <a:defRPr/>
            </a:lvl1pPr>
          </a:lstStyle>
          <a:p>
            <a:r>
              <a:rPr lang="en-US"/>
              <a:t>Click to edit Master title style</a:t>
            </a:r>
            <a:endParaRPr lang="en-GB"/>
          </a:p>
        </p:txBody>
      </p:sp>
      <p:sp>
        <p:nvSpPr>
          <p:cNvPr id="34820" name="Rectangle 4"/>
          <p:cNvSpPr>
            <a:spLocks noGrp="1" noChangeArrowheads="1"/>
          </p:cNvSpPr>
          <p:nvPr>
            <p:ph type="subTitle" idx="1"/>
          </p:nvPr>
        </p:nvSpPr>
        <p:spPr>
          <a:xfrm>
            <a:off x="842433" y="5429269"/>
            <a:ext cx="8534400" cy="650875"/>
          </a:xfrm>
        </p:spPr>
        <p:txBody>
          <a:bodyPr/>
          <a:lstStyle>
            <a:lvl1pPr marL="0" indent="0">
              <a:buFontTx/>
              <a:buNone/>
              <a:defRPr>
                <a:solidFill>
                  <a:schemeClr val="folHlink"/>
                </a:solidFill>
              </a:defRPr>
            </a:lvl1pPr>
          </a:lstStyle>
          <a:p>
            <a:r>
              <a:rPr lang="en-US"/>
              <a:t>Click to edit Master subtitle style</a:t>
            </a:r>
            <a:endParaRPr lang="en-GB"/>
          </a:p>
        </p:txBody>
      </p:sp>
      <p:sp>
        <p:nvSpPr>
          <p:cNvPr id="5" name="Rectangle 5"/>
          <p:cNvSpPr>
            <a:spLocks noGrp="1" noChangeArrowheads="1"/>
          </p:cNvSpPr>
          <p:nvPr>
            <p:ph type="dt" sz="half" idx="10"/>
          </p:nvPr>
        </p:nvSpPr>
        <p:spPr>
          <a:xfrm>
            <a:off x="609600" y="6245225"/>
            <a:ext cx="2844800" cy="476250"/>
          </a:xfrm>
          <a:prstGeom prst="rect">
            <a:avLst/>
          </a:prstGeom>
        </p:spPr>
        <p:txBody>
          <a:bodyPr/>
          <a:lstStyle>
            <a:lvl1pPr>
              <a:defRPr/>
            </a:lvl1pPr>
          </a:lstStyle>
          <a:p>
            <a:pPr eaLnBrk="0" fontAlgn="base" hangingPunct="0">
              <a:spcBef>
                <a:spcPct val="0"/>
              </a:spcBef>
              <a:spcAft>
                <a:spcPct val="0"/>
              </a:spcAft>
              <a:defRPr/>
            </a:pPr>
            <a:fld id="{D85C6AA4-E106-47F6-9311-BC8677B46250}" type="datetime1">
              <a:rPr lang="en-GB" sz="1575" smtClean="0">
                <a:solidFill>
                  <a:srgbClr val="003082"/>
                </a:solidFill>
              </a:rPr>
            </a:fld>
            <a:endParaRPr lang="en-GB" sz="1575">
              <a:solidFill>
                <a:srgbClr val="003082"/>
              </a:solidFill>
            </a:endParaRPr>
          </a:p>
        </p:txBody>
      </p:sp>
      <p:sp>
        <p:nvSpPr>
          <p:cNvPr id="6" name="Rectangle 6"/>
          <p:cNvSpPr>
            <a:spLocks noGrp="1" noChangeArrowheads="1"/>
          </p:cNvSpPr>
          <p:nvPr>
            <p:ph type="ftr" sz="quarter" idx="11"/>
          </p:nvPr>
        </p:nvSpPr>
        <p:spPr>
          <a:xfrm>
            <a:off x="4165600" y="6268457"/>
            <a:ext cx="3860800" cy="476250"/>
          </a:xfrm>
          <a:prstGeom prst="rect">
            <a:avLst/>
          </a:prstGeom>
        </p:spPr>
        <p:txBody>
          <a:bodyPr/>
          <a:lstStyle>
            <a:lvl1pPr>
              <a:defRPr/>
            </a:lvl1pPr>
          </a:lstStyle>
          <a:p>
            <a:pPr eaLnBrk="0" fontAlgn="base" hangingPunct="0">
              <a:spcBef>
                <a:spcPct val="0"/>
              </a:spcBef>
              <a:spcAft>
                <a:spcPct val="0"/>
              </a:spcAft>
              <a:defRPr/>
            </a:pPr>
            <a:endParaRPr lang="en-GB" sz="1575">
              <a:solidFill>
                <a:srgbClr val="003082"/>
              </a:solidFill>
            </a:endParaRPr>
          </a:p>
        </p:txBody>
      </p:sp>
      <p:sp>
        <p:nvSpPr>
          <p:cNvPr id="7" name="Rectangle 7"/>
          <p:cNvSpPr>
            <a:spLocks noGrp="1" noChangeArrowheads="1"/>
          </p:cNvSpPr>
          <p:nvPr>
            <p:ph type="sldNum" sz="quarter" idx="12"/>
          </p:nvPr>
        </p:nvSpPr>
        <p:spPr>
          <a:xfrm>
            <a:off x="8229613" y="6245225"/>
            <a:ext cx="1138767" cy="476250"/>
          </a:xfrm>
        </p:spPr>
        <p:txBody>
          <a:bodyPr/>
          <a:lstStyle>
            <a:lvl1pPr>
              <a:defRPr/>
            </a:lvl1pPr>
          </a:lstStyle>
          <a:p>
            <a:pPr>
              <a:defRPr/>
            </a:pPr>
            <a:fld id="{2372678B-919B-4343-B873-37E39F3C1A84}" type="slidenum">
              <a:rPr lang="en-GB">
                <a:solidFill>
                  <a:srgbClr val="003082"/>
                </a:solidFill>
              </a:rPr>
            </a:fld>
            <a:endParaRPr lang="en-GB">
              <a:solidFill>
                <a:srgbClr val="003082"/>
              </a:solidFill>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br>
              <a:rPr lang="en-US"/>
            </a:br>
            <a:r>
              <a:rPr lang="en-US"/>
              <a:t>Click to edit Master title style</a:t>
            </a:r>
            <a:endParaRPr lang="en-GB"/>
          </a:p>
        </p:txBody>
      </p:sp>
      <p:sp>
        <p:nvSpPr>
          <p:cNvPr id="3" name="Content Placeholder 2"/>
          <p:cNvSpPr>
            <a:spLocks noGrp="1"/>
          </p:cNvSpPr>
          <p:nvPr>
            <p:ph idx="1"/>
          </p:nvPr>
        </p:nvSpPr>
        <p:spPr>
          <a:xfrm>
            <a:off x="646387" y="1404858"/>
            <a:ext cx="11303876" cy="4297522"/>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pPr eaLnBrk="0" fontAlgn="base" hangingPunct="0">
              <a:spcBef>
                <a:spcPct val="0"/>
              </a:spcBef>
              <a:spcAft>
                <a:spcPct val="0"/>
              </a:spcAft>
              <a:defRPr/>
            </a:pPr>
            <a:fld id="{62F445A1-AB4F-4475-84DE-ABC71F7D5FAA}" type="datetime1">
              <a:rPr lang="en-GB" sz="1575" smtClean="0">
                <a:solidFill>
                  <a:srgbClr val="003082"/>
                </a:solidFill>
              </a:rPr>
            </a:fld>
            <a:endParaRPr lang="en-GB" sz="1575">
              <a:solidFill>
                <a:srgbClr val="003082"/>
              </a:solidFill>
            </a:endParaRPr>
          </a:p>
        </p:txBody>
      </p:sp>
      <p:sp>
        <p:nvSpPr>
          <p:cNvPr id="5" name="Rectangle 5"/>
          <p:cNvSpPr>
            <a:spLocks noGrp="1" noChangeArrowheads="1"/>
          </p:cNvSpPr>
          <p:nvPr>
            <p:ph type="ftr" sz="quarter" idx="11"/>
          </p:nvPr>
        </p:nvSpPr>
        <p:spPr>
          <a:xfrm>
            <a:off x="4165600" y="6268457"/>
            <a:ext cx="3860800" cy="476250"/>
          </a:xfrm>
          <a:prstGeom prst="rect">
            <a:avLst/>
          </a:prstGeom>
        </p:spPr>
        <p:txBody>
          <a:bodyPr/>
          <a:lstStyle>
            <a:lvl1pPr>
              <a:defRPr/>
            </a:lvl1pPr>
          </a:lstStyle>
          <a:p>
            <a:pPr eaLnBrk="0" fontAlgn="base" hangingPunct="0">
              <a:spcBef>
                <a:spcPct val="0"/>
              </a:spcBef>
              <a:spcAft>
                <a:spcPct val="0"/>
              </a:spcAft>
              <a:defRPr/>
            </a:pPr>
            <a:endParaRPr lang="en-GB" sz="1575">
              <a:solidFill>
                <a:srgbClr val="003082"/>
              </a:solidFill>
            </a:endParaRPr>
          </a:p>
        </p:txBody>
      </p:sp>
      <p:sp>
        <p:nvSpPr>
          <p:cNvPr id="6" name="Rectangle 6"/>
          <p:cNvSpPr>
            <a:spLocks noGrp="1" noChangeArrowheads="1"/>
          </p:cNvSpPr>
          <p:nvPr>
            <p:ph type="sldNum" sz="quarter" idx="12"/>
          </p:nvPr>
        </p:nvSpPr>
        <p:spPr/>
        <p:txBody>
          <a:bodyPr/>
          <a:lstStyle>
            <a:lvl1pPr>
              <a:defRPr/>
            </a:lvl1pPr>
          </a:lstStyle>
          <a:p>
            <a:pPr>
              <a:defRPr/>
            </a:pPr>
            <a:fld id="{317EBE9D-5A7E-4B32-BFE7-7F65DA8AB321}" type="slidenum">
              <a:rPr lang="en-GB">
                <a:solidFill>
                  <a:srgbClr val="003082"/>
                </a:solidFill>
              </a:rPr>
            </a:fld>
            <a:endParaRPr lang="en-GB">
              <a:solidFill>
                <a:srgbClr val="003082"/>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19"/>
            <a:ext cx="10363200" cy="1362075"/>
          </a:xfrm>
        </p:spPr>
        <p:txBody>
          <a:bodyPr/>
          <a:lstStyle>
            <a:lvl1pPr algn="l">
              <a:defRPr sz="3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Edit Master text styles</a:t>
            </a:r>
            <a:endParaRPr lang="en-US"/>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pPr eaLnBrk="0" fontAlgn="base" hangingPunct="0">
              <a:spcBef>
                <a:spcPct val="0"/>
              </a:spcBef>
              <a:spcAft>
                <a:spcPct val="0"/>
              </a:spcAft>
              <a:defRPr/>
            </a:pPr>
            <a:fld id="{FA889725-168B-4E95-8AF7-6B34D9DB7FEE}" type="datetime1">
              <a:rPr lang="en-GB" sz="1575" smtClean="0">
                <a:solidFill>
                  <a:srgbClr val="003082"/>
                </a:solidFill>
              </a:rPr>
            </a:fld>
            <a:endParaRPr lang="en-GB" sz="1575">
              <a:solidFill>
                <a:srgbClr val="003082"/>
              </a:solidFill>
            </a:endParaRPr>
          </a:p>
        </p:txBody>
      </p:sp>
      <p:sp>
        <p:nvSpPr>
          <p:cNvPr id="5" name="Rectangle 5"/>
          <p:cNvSpPr>
            <a:spLocks noGrp="1" noChangeArrowheads="1"/>
          </p:cNvSpPr>
          <p:nvPr>
            <p:ph type="ftr" sz="quarter" idx="11"/>
          </p:nvPr>
        </p:nvSpPr>
        <p:spPr>
          <a:xfrm>
            <a:off x="4165600" y="6268457"/>
            <a:ext cx="3860800" cy="476250"/>
          </a:xfrm>
          <a:prstGeom prst="rect">
            <a:avLst/>
          </a:prstGeom>
        </p:spPr>
        <p:txBody>
          <a:bodyPr/>
          <a:lstStyle>
            <a:lvl1pPr>
              <a:defRPr/>
            </a:lvl1pPr>
          </a:lstStyle>
          <a:p>
            <a:pPr eaLnBrk="0" fontAlgn="base" hangingPunct="0">
              <a:spcBef>
                <a:spcPct val="0"/>
              </a:spcBef>
              <a:spcAft>
                <a:spcPct val="0"/>
              </a:spcAft>
              <a:defRPr/>
            </a:pPr>
            <a:endParaRPr lang="en-GB" sz="1575">
              <a:solidFill>
                <a:srgbClr val="003082"/>
              </a:solidFill>
            </a:endParaRPr>
          </a:p>
        </p:txBody>
      </p:sp>
      <p:sp>
        <p:nvSpPr>
          <p:cNvPr id="6" name="Rectangle 6"/>
          <p:cNvSpPr>
            <a:spLocks noGrp="1" noChangeArrowheads="1"/>
          </p:cNvSpPr>
          <p:nvPr>
            <p:ph type="sldNum" sz="quarter" idx="12"/>
          </p:nvPr>
        </p:nvSpPr>
        <p:spPr/>
        <p:txBody>
          <a:bodyPr/>
          <a:lstStyle>
            <a:lvl1pPr>
              <a:defRPr/>
            </a:lvl1pPr>
          </a:lstStyle>
          <a:p>
            <a:pPr>
              <a:defRPr/>
            </a:pPr>
            <a:fld id="{40F660EB-E736-4F65-924A-F78C954F5721}" type="slidenum">
              <a:rPr lang="en-GB">
                <a:solidFill>
                  <a:srgbClr val="003082"/>
                </a:solidFill>
              </a:rPr>
            </a:fld>
            <a:endParaRPr lang="en-GB">
              <a:solidFill>
                <a:srgbClr val="003082"/>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404858"/>
            <a:ext cx="5384800" cy="429752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Content Placeholder 3"/>
          <p:cNvSpPr>
            <a:spLocks noGrp="1"/>
          </p:cNvSpPr>
          <p:nvPr>
            <p:ph sz="half" idx="2"/>
          </p:nvPr>
        </p:nvSpPr>
        <p:spPr>
          <a:xfrm>
            <a:off x="6197600" y="1404858"/>
            <a:ext cx="5384800" cy="429752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pPr eaLnBrk="0" fontAlgn="base" hangingPunct="0">
              <a:spcBef>
                <a:spcPct val="0"/>
              </a:spcBef>
              <a:spcAft>
                <a:spcPct val="0"/>
              </a:spcAft>
              <a:defRPr/>
            </a:pPr>
            <a:fld id="{4CFF8E05-16EE-47FB-99C2-2C3441BB6FAA}" type="datetime1">
              <a:rPr lang="en-GB" sz="1575" smtClean="0">
                <a:solidFill>
                  <a:srgbClr val="003082"/>
                </a:solidFill>
              </a:rPr>
            </a:fld>
            <a:endParaRPr lang="en-GB" sz="1575">
              <a:solidFill>
                <a:srgbClr val="003082"/>
              </a:solidFill>
            </a:endParaRPr>
          </a:p>
        </p:txBody>
      </p:sp>
      <p:sp>
        <p:nvSpPr>
          <p:cNvPr id="6" name="Footer Placeholder 5"/>
          <p:cNvSpPr>
            <a:spLocks noGrp="1" noChangeArrowheads="1"/>
          </p:cNvSpPr>
          <p:nvPr>
            <p:ph type="ftr" sz="quarter" idx="11"/>
          </p:nvPr>
        </p:nvSpPr>
        <p:spPr>
          <a:xfrm>
            <a:off x="4165600" y="6268457"/>
            <a:ext cx="3860800" cy="476250"/>
          </a:xfrm>
          <a:prstGeom prst="rect">
            <a:avLst/>
          </a:prstGeom>
        </p:spPr>
        <p:txBody>
          <a:bodyPr/>
          <a:lstStyle>
            <a:lvl1pPr>
              <a:defRPr/>
            </a:lvl1pPr>
          </a:lstStyle>
          <a:p>
            <a:pPr eaLnBrk="0" fontAlgn="base" hangingPunct="0">
              <a:spcBef>
                <a:spcPct val="0"/>
              </a:spcBef>
              <a:spcAft>
                <a:spcPct val="0"/>
              </a:spcAft>
              <a:defRPr/>
            </a:pPr>
            <a:endParaRPr lang="en-GB" sz="1575">
              <a:solidFill>
                <a:srgbClr val="003082"/>
              </a:solidFill>
            </a:endParaRPr>
          </a:p>
        </p:txBody>
      </p:sp>
      <p:sp>
        <p:nvSpPr>
          <p:cNvPr id="7" name="Rectangle 6"/>
          <p:cNvSpPr>
            <a:spLocks noGrp="1" noChangeArrowheads="1"/>
          </p:cNvSpPr>
          <p:nvPr>
            <p:ph type="sldNum" sz="quarter" idx="12"/>
          </p:nvPr>
        </p:nvSpPr>
        <p:spPr/>
        <p:txBody>
          <a:bodyPr/>
          <a:lstStyle>
            <a:lvl1pPr>
              <a:defRPr/>
            </a:lvl1pPr>
          </a:lstStyle>
          <a:p>
            <a:pPr>
              <a:defRPr/>
            </a:pPr>
            <a:fld id="{60850CEE-CFBF-4553-828F-E974242E4E61}" type="slidenum">
              <a:rPr lang="en-GB">
                <a:solidFill>
                  <a:srgbClr val="003082"/>
                </a:solidFill>
              </a:rPr>
            </a:fld>
            <a:endParaRPr lang="en-GB">
              <a:solidFill>
                <a:srgbClr val="003082"/>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endParaRPr lang="en-US"/>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5" name="Text Placeholder 4"/>
          <p:cNvSpPr>
            <a:spLocks noGrp="1"/>
          </p:cNvSpPr>
          <p:nvPr>
            <p:ph type="body" sz="quarter" idx="3"/>
          </p:nvPr>
        </p:nvSpPr>
        <p:spPr>
          <a:xfrm>
            <a:off x="6193380"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endParaRPr lang="en-US"/>
          </a:p>
        </p:txBody>
      </p:sp>
      <p:sp>
        <p:nvSpPr>
          <p:cNvPr id="6" name="Content Placeholder 5"/>
          <p:cNvSpPr>
            <a:spLocks noGrp="1"/>
          </p:cNvSpPr>
          <p:nvPr>
            <p:ph sz="quarter" idx="4"/>
          </p:nvPr>
        </p:nvSpPr>
        <p:spPr>
          <a:xfrm>
            <a:off x="6193380"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7"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pPr eaLnBrk="0" fontAlgn="base" hangingPunct="0">
              <a:spcBef>
                <a:spcPct val="0"/>
              </a:spcBef>
              <a:spcAft>
                <a:spcPct val="0"/>
              </a:spcAft>
              <a:defRPr/>
            </a:pPr>
            <a:fld id="{CCF467D6-0073-4531-BF6E-202D67074859}" type="datetime1">
              <a:rPr lang="en-GB" sz="1575" smtClean="0">
                <a:solidFill>
                  <a:srgbClr val="003082"/>
                </a:solidFill>
              </a:rPr>
            </a:fld>
            <a:endParaRPr lang="en-GB" sz="1575">
              <a:solidFill>
                <a:srgbClr val="003082"/>
              </a:solidFill>
            </a:endParaRPr>
          </a:p>
        </p:txBody>
      </p:sp>
      <p:sp>
        <p:nvSpPr>
          <p:cNvPr id="8" name="Rectangle 5"/>
          <p:cNvSpPr>
            <a:spLocks noGrp="1" noChangeArrowheads="1"/>
          </p:cNvSpPr>
          <p:nvPr>
            <p:ph type="ftr" sz="quarter" idx="11"/>
          </p:nvPr>
        </p:nvSpPr>
        <p:spPr>
          <a:xfrm>
            <a:off x="4165600" y="6268457"/>
            <a:ext cx="3860800" cy="476250"/>
          </a:xfrm>
          <a:prstGeom prst="rect">
            <a:avLst/>
          </a:prstGeom>
        </p:spPr>
        <p:txBody>
          <a:bodyPr/>
          <a:lstStyle>
            <a:lvl1pPr>
              <a:defRPr/>
            </a:lvl1pPr>
          </a:lstStyle>
          <a:p>
            <a:pPr eaLnBrk="0" fontAlgn="base" hangingPunct="0">
              <a:spcBef>
                <a:spcPct val="0"/>
              </a:spcBef>
              <a:spcAft>
                <a:spcPct val="0"/>
              </a:spcAft>
              <a:defRPr/>
            </a:pPr>
            <a:endParaRPr lang="en-GB" sz="1575">
              <a:solidFill>
                <a:srgbClr val="003082"/>
              </a:solidFill>
            </a:endParaRPr>
          </a:p>
        </p:txBody>
      </p:sp>
      <p:sp>
        <p:nvSpPr>
          <p:cNvPr id="9" name="Rectangle 6"/>
          <p:cNvSpPr>
            <a:spLocks noGrp="1" noChangeArrowheads="1"/>
          </p:cNvSpPr>
          <p:nvPr>
            <p:ph type="sldNum" sz="quarter" idx="12"/>
          </p:nvPr>
        </p:nvSpPr>
        <p:spPr/>
        <p:txBody>
          <a:bodyPr/>
          <a:lstStyle>
            <a:lvl1pPr>
              <a:defRPr/>
            </a:lvl1pPr>
          </a:lstStyle>
          <a:p>
            <a:pPr>
              <a:defRPr/>
            </a:pPr>
            <a:fld id="{B26D4D19-1E2D-417F-9059-1D8B5D6BB224}" type="slidenum">
              <a:rPr lang="en-GB">
                <a:solidFill>
                  <a:srgbClr val="003082"/>
                </a:solidFill>
              </a:rPr>
            </a:fld>
            <a:endParaRPr lang="en-GB">
              <a:solidFill>
                <a:srgbClr val="003082"/>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pPr eaLnBrk="0" fontAlgn="base" hangingPunct="0">
              <a:spcBef>
                <a:spcPct val="0"/>
              </a:spcBef>
              <a:spcAft>
                <a:spcPct val="0"/>
              </a:spcAft>
              <a:defRPr/>
            </a:pPr>
            <a:fld id="{E3419DDE-0562-4D25-B332-5A1539BCD3B2}" type="datetime1">
              <a:rPr lang="en-GB" sz="1575" smtClean="0">
                <a:solidFill>
                  <a:srgbClr val="003082"/>
                </a:solidFill>
              </a:rPr>
            </a:fld>
            <a:endParaRPr lang="en-GB" sz="1575">
              <a:solidFill>
                <a:srgbClr val="003082"/>
              </a:solidFill>
            </a:endParaRPr>
          </a:p>
        </p:txBody>
      </p:sp>
      <p:sp>
        <p:nvSpPr>
          <p:cNvPr id="4" name="Rectangle 5"/>
          <p:cNvSpPr>
            <a:spLocks noGrp="1" noChangeArrowheads="1"/>
          </p:cNvSpPr>
          <p:nvPr>
            <p:ph type="ftr" sz="quarter" idx="11"/>
          </p:nvPr>
        </p:nvSpPr>
        <p:spPr>
          <a:xfrm>
            <a:off x="4165600" y="6268457"/>
            <a:ext cx="3860800" cy="476250"/>
          </a:xfrm>
          <a:prstGeom prst="rect">
            <a:avLst/>
          </a:prstGeom>
        </p:spPr>
        <p:txBody>
          <a:bodyPr/>
          <a:lstStyle>
            <a:lvl1pPr>
              <a:defRPr/>
            </a:lvl1pPr>
          </a:lstStyle>
          <a:p>
            <a:pPr eaLnBrk="0" fontAlgn="base" hangingPunct="0">
              <a:spcBef>
                <a:spcPct val="0"/>
              </a:spcBef>
              <a:spcAft>
                <a:spcPct val="0"/>
              </a:spcAft>
              <a:defRPr/>
            </a:pPr>
            <a:endParaRPr lang="en-GB" sz="1575">
              <a:solidFill>
                <a:srgbClr val="003082"/>
              </a:solidFill>
            </a:endParaRPr>
          </a:p>
        </p:txBody>
      </p:sp>
      <p:sp>
        <p:nvSpPr>
          <p:cNvPr id="5" name="Rectangle 6"/>
          <p:cNvSpPr>
            <a:spLocks noGrp="1" noChangeArrowheads="1"/>
          </p:cNvSpPr>
          <p:nvPr>
            <p:ph type="sldNum" sz="quarter" idx="12"/>
          </p:nvPr>
        </p:nvSpPr>
        <p:spPr/>
        <p:txBody>
          <a:bodyPr/>
          <a:lstStyle>
            <a:lvl1pPr>
              <a:defRPr/>
            </a:lvl1pPr>
          </a:lstStyle>
          <a:p>
            <a:pPr>
              <a:defRPr/>
            </a:pPr>
            <a:fld id="{A125DC6B-8F47-47C2-8948-6C50FBF28C5A}" type="slidenum">
              <a:rPr lang="en-GB">
                <a:solidFill>
                  <a:srgbClr val="003082"/>
                </a:solidFill>
              </a:rPr>
            </a:fld>
            <a:endParaRPr lang="en-GB">
              <a:solidFill>
                <a:srgbClr val="003082"/>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pPr eaLnBrk="0" fontAlgn="base" hangingPunct="0">
              <a:spcBef>
                <a:spcPct val="0"/>
              </a:spcBef>
              <a:spcAft>
                <a:spcPct val="0"/>
              </a:spcAft>
              <a:defRPr/>
            </a:pPr>
            <a:fld id="{83A6872B-A6C2-406D-B319-74A5BC9B68A3}" type="datetime1">
              <a:rPr lang="en-GB" sz="1575" smtClean="0">
                <a:solidFill>
                  <a:srgbClr val="003082"/>
                </a:solidFill>
              </a:rPr>
            </a:fld>
            <a:endParaRPr lang="en-GB" sz="1575">
              <a:solidFill>
                <a:srgbClr val="003082"/>
              </a:solidFill>
            </a:endParaRPr>
          </a:p>
        </p:txBody>
      </p:sp>
      <p:sp>
        <p:nvSpPr>
          <p:cNvPr id="3" name="Rectangle 5"/>
          <p:cNvSpPr>
            <a:spLocks noGrp="1" noChangeArrowheads="1"/>
          </p:cNvSpPr>
          <p:nvPr>
            <p:ph type="ftr" sz="quarter" idx="11"/>
          </p:nvPr>
        </p:nvSpPr>
        <p:spPr>
          <a:xfrm>
            <a:off x="4165600" y="6268457"/>
            <a:ext cx="3860800" cy="476250"/>
          </a:xfrm>
          <a:prstGeom prst="rect">
            <a:avLst/>
          </a:prstGeom>
        </p:spPr>
        <p:txBody>
          <a:bodyPr/>
          <a:lstStyle>
            <a:lvl1pPr>
              <a:defRPr/>
            </a:lvl1pPr>
          </a:lstStyle>
          <a:p>
            <a:pPr eaLnBrk="0" fontAlgn="base" hangingPunct="0">
              <a:spcBef>
                <a:spcPct val="0"/>
              </a:spcBef>
              <a:spcAft>
                <a:spcPct val="0"/>
              </a:spcAft>
              <a:defRPr/>
            </a:pPr>
            <a:endParaRPr lang="en-GB" sz="1575">
              <a:solidFill>
                <a:srgbClr val="003082"/>
              </a:solidFill>
            </a:endParaRPr>
          </a:p>
        </p:txBody>
      </p:sp>
      <p:sp>
        <p:nvSpPr>
          <p:cNvPr id="4" name="Rectangle 6"/>
          <p:cNvSpPr>
            <a:spLocks noGrp="1" noChangeArrowheads="1"/>
          </p:cNvSpPr>
          <p:nvPr>
            <p:ph type="sldNum" sz="quarter" idx="12"/>
          </p:nvPr>
        </p:nvSpPr>
        <p:spPr/>
        <p:txBody>
          <a:bodyPr/>
          <a:lstStyle>
            <a:lvl1pPr>
              <a:defRPr/>
            </a:lvl1pPr>
          </a:lstStyle>
          <a:p>
            <a:pPr>
              <a:defRPr/>
            </a:pPr>
            <a:fld id="{2736758C-78E8-412D-8F02-C97500697EA1}" type="slidenum">
              <a:rPr lang="en-GB">
                <a:solidFill>
                  <a:srgbClr val="003082"/>
                </a:solidFill>
              </a:rPr>
            </a:fld>
            <a:endParaRPr lang="en-GB">
              <a:solidFill>
                <a:srgbClr val="003082"/>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1500" b="1"/>
            </a:lvl1pPr>
          </a:lstStyle>
          <a:p>
            <a:r>
              <a:rPr lang="en-US"/>
              <a:t>Click to edit Master title style</a:t>
            </a:r>
            <a:endParaRPr lang="en-GB"/>
          </a:p>
        </p:txBody>
      </p:sp>
      <p:sp>
        <p:nvSpPr>
          <p:cNvPr id="3" name="Content Placeholder 2"/>
          <p:cNvSpPr>
            <a:spLocks noGrp="1"/>
          </p:cNvSpPr>
          <p:nvPr>
            <p:ph idx="1"/>
          </p:nvPr>
        </p:nvSpPr>
        <p:spPr>
          <a:xfrm>
            <a:off x="4766733" y="273058"/>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endParaRPr lang="en-US"/>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pPr eaLnBrk="0" fontAlgn="base" hangingPunct="0">
              <a:spcBef>
                <a:spcPct val="0"/>
              </a:spcBef>
              <a:spcAft>
                <a:spcPct val="0"/>
              </a:spcAft>
              <a:defRPr/>
            </a:pPr>
            <a:fld id="{7DEDDCC6-D6C2-4FB1-8E7A-55597705AF76}" type="datetime1">
              <a:rPr lang="en-GB" sz="1575" smtClean="0">
                <a:solidFill>
                  <a:srgbClr val="003082"/>
                </a:solidFill>
              </a:rPr>
            </a:fld>
            <a:endParaRPr lang="en-GB" sz="1575">
              <a:solidFill>
                <a:srgbClr val="003082"/>
              </a:solidFill>
            </a:endParaRPr>
          </a:p>
        </p:txBody>
      </p:sp>
      <p:sp>
        <p:nvSpPr>
          <p:cNvPr id="6" name="Footer Placeholder 5"/>
          <p:cNvSpPr>
            <a:spLocks noGrp="1" noChangeArrowheads="1"/>
          </p:cNvSpPr>
          <p:nvPr>
            <p:ph type="ftr" sz="quarter" idx="11"/>
          </p:nvPr>
        </p:nvSpPr>
        <p:spPr>
          <a:xfrm>
            <a:off x="4165600" y="6268457"/>
            <a:ext cx="3860800" cy="476250"/>
          </a:xfrm>
          <a:prstGeom prst="rect">
            <a:avLst/>
          </a:prstGeom>
        </p:spPr>
        <p:txBody>
          <a:bodyPr/>
          <a:lstStyle>
            <a:lvl1pPr>
              <a:defRPr/>
            </a:lvl1pPr>
          </a:lstStyle>
          <a:p>
            <a:pPr eaLnBrk="0" fontAlgn="base" hangingPunct="0">
              <a:spcBef>
                <a:spcPct val="0"/>
              </a:spcBef>
              <a:spcAft>
                <a:spcPct val="0"/>
              </a:spcAft>
              <a:defRPr/>
            </a:pPr>
            <a:endParaRPr lang="en-GB" sz="1575">
              <a:solidFill>
                <a:srgbClr val="003082"/>
              </a:solidFill>
            </a:endParaRPr>
          </a:p>
        </p:txBody>
      </p:sp>
      <p:sp>
        <p:nvSpPr>
          <p:cNvPr id="7" name="Rectangle 6"/>
          <p:cNvSpPr>
            <a:spLocks noGrp="1" noChangeArrowheads="1"/>
          </p:cNvSpPr>
          <p:nvPr>
            <p:ph type="sldNum" sz="quarter" idx="12"/>
          </p:nvPr>
        </p:nvSpPr>
        <p:spPr/>
        <p:txBody>
          <a:bodyPr/>
          <a:lstStyle>
            <a:lvl1pPr>
              <a:defRPr/>
            </a:lvl1pPr>
          </a:lstStyle>
          <a:p>
            <a:pPr>
              <a:defRPr/>
            </a:pPr>
            <a:fld id="{2A7F8A55-2493-4F27-AB62-1508D34D8377}" type="slidenum">
              <a:rPr lang="en-GB">
                <a:solidFill>
                  <a:srgbClr val="003082"/>
                </a:solidFill>
              </a:rPr>
            </a:fld>
            <a:endParaRPr lang="en-GB">
              <a:solidFill>
                <a:srgbClr val="003082"/>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endParaRPr lang="en-US"/>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pPr eaLnBrk="0" fontAlgn="base" hangingPunct="0">
              <a:spcBef>
                <a:spcPct val="0"/>
              </a:spcBef>
              <a:spcAft>
                <a:spcPct val="0"/>
              </a:spcAft>
              <a:defRPr/>
            </a:pPr>
            <a:fld id="{3F559BE4-75A8-4F3D-B096-F19C0A94DE6D}" type="datetime1">
              <a:rPr lang="en-GB" sz="1575" smtClean="0">
                <a:solidFill>
                  <a:srgbClr val="003082"/>
                </a:solidFill>
              </a:rPr>
            </a:fld>
            <a:endParaRPr lang="en-GB" sz="1575">
              <a:solidFill>
                <a:srgbClr val="003082"/>
              </a:solidFill>
            </a:endParaRPr>
          </a:p>
        </p:txBody>
      </p:sp>
      <p:sp>
        <p:nvSpPr>
          <p:cNvPr id="6" name="Footer Placeholder 5"/>
          <p:cNvSpPr>
            <a:spLocks noGrp="1" noChangeArrowheads="1"/>
          </p:cNvSpPr>
          <p:nvPr>
            <p:ph type="ftr" sz="quarter" idx="11"/>
          </p:nvPr>
        </p:nvSpPr>
        <p:spPr>
          <a:xfrm>
            <a:off x="4165600" y="6268457"/>
            <a:ext cx="3860800" cy="476250"/>
          </a:xfrm>
          <a:prstGeom prst="rect">
            <a:avLst/>
          </a:prstGeom>
        </p:spPr>
        <p:txBody>
          <a:bodyPr/>
          <a:lstStyle>
            <a:lvl1pPr>
              <a:defRPr/>
            </a:lvl1pPr>
          </a:lstStyle>
          <a:p>
            <a:pPr eaLnBrk="0" fontAlgn="base" hangingPunct="0">
              <a:spcBef>
                <a:spcPct val="0"/>
              </a:spcBef>
              <a:spcAft>
                <a:spcPct val="0"/>
              </a:spcAft>
              <a:defRPr/>
            </a:pPr>
            <a:endParaRPr lang="en-GB" sz="1575">
              <a:solidFill>
                <a:srgbClr val="003082"/>
              </a:solidFill>
            </a:endParaRPr>
          </a:p>
        </p:txBody>
      </p:sp>
      <p:sp>
        <p:nvSpPr>
          <p:cNvPr id="7" name="Rectangle 6"/>
          <p:cNvSpPr>
            <a:spLocks noGrp="1" noChangeArrowheads="1"/>
          </p:cNvSpPr>
          <p:nvPr>
            <p:ph type="sldNum" sz="quarter" idx="12"/>
          </p:nvPr>
        </p:nvSpPr>
        <p:spPr/>
        <p:txBody>
          <a:bodyPr/>
          <a:lstStyle>
            <a:lvl1pPr>
              <a:defRPr/>
            </a:lvl1pPr>
          </a:lstStyle>
          <a:p>
            <a:pPr>
              <a:defRPr/>
            </a:pPr>
            <a:fld id="{53572BC3-6D04-4C75-BEB1-C188D7B8D201}" type="slidenum">
              <a:rPr lang="en-GB">
                <a:solidFill>
                  <a:srgbClr val="003082"/>
                </a:solidFill>
              </a:rPr>
            </a:fld>
            <a:endParaRPr lang="en-GB">
              <a:solidFill>
                <a:srgbClr val="003082"/>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a:xfrm>
            <a:off x="60960" y="1404858"/>
            <a:ext cx="12070080" cy="4297522"/>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pPr eaLnBrk="0" fontAlgn="base" hangingPunct="0">
              <a:spcBef>
                <a:spcPct val="0"/>
              </a:spcBef>
              <a:spcAft>
                <a:spcPct val="0"/>
              </a:spcAft>
              <a:defRPr/>
            </a:pPr>
            <a:fld id="{CE2A3C3C-7DE5-4516-B1B0-EFA5B115440B}" type="datetime1">
              <a:rPr lang="en-GB" sz="1575" smtClean="0">
                <a:solidFill>
                  <a:srgbClr val="003082"/>
                </a:solidFill>
              </a:rPr>
            </a:fld>
            <a:endParaRPr lang="en-GB" sz="1575">
              <a:solidFill>
                <a:srgbClr val="003082"/>
              </a:solidFill>
            </a:endParaRPr>
          </a:p>
        </p:txBody>
      </p:sp>
      <p:sp>
        <p:nvSpPr>
          <p:cNvPr id="5" name="Rectangle 5"/>
          <p:cNvSpPr>
            <a:spLocks noGrp="1" noChangeArrowheads="1"/>
          </p:cNvSpPr>
          <p:nvPr>
            <p:ph type="ftr" sz="quarter" idx="11"/>
          </p:nvPr>
        </p:nvSpPr>
        <p:spPr>
          <a:xfrm>
            <a:off x="4165600" y="6268457"/>
            <a:ext cx="3860800" cy="476250"/>
          </a:xfrm>
          <a:prstGeom prst="rect">
            <a:avLst/>
          </a:prstGeom>
        </p:spPr>
        <p:txBody>
          <a:bodyPr/>
          <a:lstStyle>
            <a:lvl1pPr>
              <a:defRPr/>
            </a:lvl1pPr>
          </a:lstStyle>
          <a:p>
            <a:pPr eaLnBrk="0" fontAlgn="base" hangingPunct="0">
              <a:spcBef>
                <a:spcPct val="0"/>
              </a:spcBef>
              <a:spcAft>
                <a:spcPct val="0"/>
              </a:spcAft>
              <a:defRPr/>
            </a:pPr>
            <a:endParaRPr lang="en-GB" sz="1575">
              <a:solidFill>
                <a:srgbClr val="003082"/>
              </a:solidFill>
            </a:endParaRPr>
          </a:p>
        </p:txBody>
      </p:sp>
      <p:sp>
        <p:nvSpPr>
          <p:cNvPr id="6" name="Rectangle 6"/>
          <p:cNvSpPr>
            <a:spLocks noGrp="1" noChangeArrowheads="1"/>
          </p:cNvSpPr>
          <p:nvPr>
            <p:ph type="sldNum" sz="quarter" idx="12"/>
          </p:nvPr>
        </p:nvSpPr>
        <p:spPr/>
        <p:txBody>
          <a:bodyPr/>
          <a:lstStyle>
            <a:lvl1pPr>
              <a:defRPr/>
            </a:lvl1pPr>
          </a:lstStyle>
          <a:p>
            <a:pPr>
              <a:defRPr/>
            </a:pPr>
            <a:fld id="{4347B883-200D-4435-B471-57D1597EF2A2}" type="slidenum">
              <a:rPr lang="en-GB">
                <a:solidFill>
                  <a:srgbClr val="003082"/>
                </a:solidFill>
              </a:rPr>
            </a:fld>
            <a:endParaRPr lang="en-GB">
              <a:solidFill>
                <a:srgbClr val="003082"/>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05903" y="274638"/>
            <a:ext cx="2832100" cy="5232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603" y="274638"/>
            <a:ext cx="8293100" cy="5232400"/>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pPr eaLnBrk="0" fontAlgn="base" hangingPunct="0">
              <a:spcBef>
                <a:spcPct val="0"/>
              </a:spcBef>
              <a:spcAft>
                <a:spcPct val="0"/>
              </a:spcAft>
              <a:defRPr/>
            </a:pPr>
            <a:fld id="{C1B9B131-E2A6-4D2D-9DEB-0F1EDF55485A}" type="datetime1">
              <a:rPr lang="en-GB" sz="1575" smtClean="0">
                <a:solidFill>
                  <a:srgbClr val="003082"/>
                </a:solidFill>
              </a:rPr>
            </a:fld>
            <a:endParaRPr lang="en-GB" sz="1575">
              <a:solidFill>
                <a:srgbClr val="003082"/>
              </a:solidFill>
            </a:endParaRPr>
          </a:p>
        </p:txBody>
      </p:sp>
      <p:sp>
        <p:nvSpPr>
          <p:cNvPr id="5" name="Rectangle 5"/>
          <p:cNvSpPr>
            <a:spLocks noGrp="1" noChangeArrowheads="1"/>
          </p:cNvSpPr>
          <p:nvPr>
            <p:ph type="ftr" sz="quarter" idx="11"/>
          </p:nvPr>
        </p:nvSpPr>
        <p:spPr>
          <a:xfrm>
            <a:off x="4165600" y="6268457"/>
            <a:ext cx="3860800" cy="476250"/>
          </a:xfrm>
          <a:prstGeom prst="rect">
            <a:avLst/>
          </a:prstGeom>
        </p:spPr>
        <p:txBody>
          <a:bodyPr/>
          <a:lstStyle>
            <a:lvl1pPr>
              <a:defRPr/>
            </a:lvl1pPr>
          </a:lstStyle>
          <a:p>
            <a:pPr eaLnBrk="0" fontAlgn="base" hangingPunct="0">
              <a:spcBef>
                <a:spcPct val="0"/>
              </a:spcBef>
              <a:spcAft>
                <a:spcPct val="0"/>
              </a:spcAft>
              <a:defRPr/>
            </a:pPr>
            <a:endParaRPr lang="en-GB" sz="1575">
              <a:solidFill>
                <a:srgbClr val="003082"/>
              </a:solidFill>
            </a:endParaRPr>
          </a:p>
        </p:txBody>
      </p:sp>
      <p:sp>
        <p:nvSpPr>
          <p:cNvPr id="6" name="Rectangle 6"/>
          <p:cNvSpPr>
            <a:spLocks noGrp="1" noChangeArrowheads="1"/>
          </p:cNvSpPr>
          <p:nvPr>
            <p:ph type="sldNum" sz="quarter" idx="12"/>
          </p:nvPr>
        </p:nvSpPr>
        <p:spPr/>
        <p:txBody>
          <a:bodyPr/>
          <a:lstStyle>
            <a:lvl1pPr>
              <a:defRPr/>
            </a:lvl1pPr>
          </a:lstStyle>
          <a:p>
            <a:pPr>
              <a:defRPr/>
            </a:pPr>
            <a:fld id="{A5367794-C7AD-4C0A-A9D8-E42240917DE8}" type="slidenum">
              <a:rPr lang="en-GB">
                <a:solidFill>
                  <a:srgbClr val="003082"/>
                </a:solidFill>
              </a:rPr>
            </a:fld>
            <a:endParaRPr lang="en-GB">
              <a:solidFill>
                <a:srgbClr val="003082"/>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_Internal presentations">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564904"/>
            <a:ext cx="10363200" cy="1035547"/>
          </a:xfrm>
          <a:prstGeom prst="rect">
            <a:avLst/>
          </a:prstGeom>
        </p:spPr>
        <p:txBody>
          <a:bodyPr/>
          <a:lstStyle>
            <a:lvl1pPr>
              <a:defRPr>
                <a:solidFill>
                  <a:schemeClr val="tx1"/>
                </a:solidFill>
                <a:latin typeface="Arial" panose="020B0604020202020204" pitchFamily="34" charset="0"/>
                <a:cs typeface="Arial" panose="020B0604020202020204" pitchFamily="34" charset="0"/>
              </a:defRPr>
            </a:lvl1pPr>
          </a:lstStyle>
          <a:p>
            <a:r>
              <a:rPr lang="en-US"/>
              <a:t>Presentation title</a:t>
            </a:r>
            <a:endParaRPr lang="en-ZA"/>
          </a:p>
        </p:txBody>
      </p:sp>
      <p:sp>
        <p:nvSpPr>
          <p:cNvPr id="3" name="Subtitle 2"/>
          <p:cNvSpPr>
            <a:spLocks noGrp="1"/>
          </p:cNvSpPr>
          <p:nvPr>
            <p:ph type="subTitle" idx="1" hasCustomPrompt="1"/>
          </p:nvPr>
        </p:nvSpPr>
        <p:spPr>
          <a:xfrm>
            <a:off x="1828800" y="3886200"/>
            <a:ext cx="8534400" cy="694928"/>
          </a:xfrm>
          <a:prstGeom prst="rect">
            <a:avLst/>
          </a:prstGeom>
        </p:spPr>
        <p:txBody>
          <a:bodyPr/>
          <a:lstStyle>
            <a:lvl1pPr marL="0" indent="0" algn="ctr">
              <a:buNone/>
              <a:defRPr>
                <a:solidFill>
                  <a:schemeClr val="tx1">
                    <a:tint val="7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Subheading</a:t>
            </a:r>
            <a:endParaRPr lang="en-ZA"/>
          </a:p>
        </p:txBody>
      </p:sp>
      <p:sp>
        <p:nvSpPr>
          <p:cNvPr id="7" name="Rectangle 6"/>
          <p:cNvSpPr/>
          <p:nvPr/>
        </p:nvSpPr>
        <p:spPr>
          <a:xfrm>
            <a:off x="8124000" y="6477000"/>
            <a:ext cx="4068000" cy="3810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062000" y="6477000"/>
            <a:ext cx="4068000" cy="381000"/>
          </a:xfrm>
          <a:prstGeom prst="rect">
            <a:avLst/>
          </a:prstGeom>
          <a:solidFill>
            <a:srgbClr val="AFABAB"/>
          </a:solidFill>
          <a:ln>
            <a:solidFill>
              <a:srgbClr val="AF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6477000"/>
            <a:ext cx="4068000" cy="3810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urum New Concep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00600" y="228600"/>
            <a:ext cx="2294255" cy="1898650"/>
          </a:xfrm>
          <a:prstGeom prst="rect">
            <a:avLst/>
          </a:prstGeom>
          <a:noFill/>
          <a:ln w="9525">
            <a:noFill/>
            <a:miter lim="800000"/>
            <a:headEnd/>
            <a:tailEnd/>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_PEPFAR, CDC. AURUM">
    <p:spTree>
      <p:nvGrpSpPr>
        <p:cNvPr id="1" name=""/>
        <p:cNvGrpSpPr/>
        <p:nvPr/>
      </p:nvGrpSpPr>
      <p:grpSpPr>
        <a:xfrm>
          <a:off x="0" y="0"/>
          <a:ext cx="0" cy="0"/>
          <a:chOff x="0" y="0"/>
          <a:chExt cx="0" cy="0"/>
        </a:xfrm>
      </p:grpSpPr>
      <p:sp>
        <p:nvSpPr>
          <p:cNvPr id="7" name="Rectangle 6"/>
          <p:cNvSpPr/>
          <p:nvPr/>
        </p:nvSpPr>
        <p:spPr>
          <a:xfrm>
            <a:off x="8124000" y="6477000"/>
            <a:ext cx="4068000" cy="3810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062000" y="6477000"/>
            <a:ext cx="4068000" cy="381000"/>
          </a:xfrm>
          <a:prstGeom prst="rect">
            <a:avLst/>
          </a:prstGeom>
          <a:solidFill>
            <a:srgbClr val="AFABAB"/>
          </a:solidFill>
          <a:ln>
            <a:solidFill>
              <a:srgbClr val="AF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6477000"/>
            <a:ext cx="4068000" cy="3810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p:nvPicPr>
        <p:blipFill rotWithShape="1">
          <a:blip r:embed="rId2" cstate="print">
            <a:extLst>
              <a:ext uri="{28A0092B-C50C-407E-A947-70E740481C1C}">
                <a14:useLocalDpi xmlns:a14="http://schemas.microsoft.com/office/drawing/2010/main" val="0"/>
              </a:ext>
            </a:extLst>
          </a:blip>
          <a:srcRect l="4018" t="10175" b="9361"/>
          <a:stretch>
            <a:fillRect/>
          </a:stretch>
        </p:blipFill>
        <p:spPr>
          <a:xfrm>
            <a:off x="3516052" y="4932445"/>
            <a:ext cx="5159897" cy="1238001"/>
          </a:xfrm>
          <a:prstGeom prst="rect">
            <a:avLst/>
          </a:prstGeom>
        </p:spPr>
      </p:pic>
      <p:sp>
        <p:nvSpPr>
          <p:cNvPr id="10" name="Title 1"/>
          <p:cNvSpPr>
            <a:spLocks noGrp="1"/>
          </p:cNvSpPr>
          <p:nvPr>
            <p:ph type="ctrTitle" hasCustomPrompt="1"/>
          </p:nvPr>
        </p:nvSpPr>
        <p:spPr>
          <a:xfrm>
            <a:off x="914400" y="1027584"/>
            <a:ext cx="10363200" cy="1035547"/>
          </a:xfrm>
          <a:prstGeom prst="rect">
            <a:avLst/>
          </a:prstGeom>
        </p:spPr>
        <p:txBody>
          <a:bodyPr/>
          <a:lstStyle>
            <a:lvl1pPr>
              <a:defRPr>
                <a:solidFill>
                  <a:schemeClr val="tx1"/>
                </a:solidFill>
                <a:latin typeface="Arial" panose="020B0604020202020204" pitchFamily="34" charset="0"/>
                <a:cs typeface="Arial" panose="020B0604020202020204" pitchFamily="34" charset="0"/>
              </a:defRPr>
            </a:lvl1pPr>
          </a:lstStyle>
          <a:p>
            <a:r>
              <a:rPr lang="en-US"/>
              <a:t>Presentation title</a:t>
            </a:r>
            <a:endParaRPr lang="en-ZA"/>
          </a:p>
        </p:txBody>
      </p:sp>
      <p:sp>
        <p:nvSpPr>
          <p:cNvPr id="12" name="Subtitle 2"/>
          <p:cNvSpPr>
            <a:spLocks noGrp="1"/>
          </p:cNvSpPr>
          <p:nvPr>
            <p:ph type="subTitle" idx="1" hasCustomPrompt="1"/>
          </p:nvPr>
        </p:nvSpPr>
        <p:spPr>
          <a:xfrm>
            <a:off x="1828800" y="2348880"/>
            <a:ext cx="8534400" cy="694928"/>
          </a:xfrm>
          <a:prstGeom prst="rect">
            <a:avLst/>
          </a:prstGeom>
        </p:spPr>
        <p:txBody>
          <a:bodyPr/>
          <a:lstStyle>
            <a:lvl1pPr marL="0" indent="0" algn="ctr">
              <a:buNone/>
              <a:defRPr>
                <a:solidFill>
                  <a:schemeClr val="tx1">
                    <a:tint val="7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Subheading</a:t>
            </a:r>
            <a:endParaRPr lang="en-ZA"/>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2_DoH, EKN, PEPFAR, CDC, Aurum">
    <p:spTree>
      <p:nvGrpSpPr>
        <p:cNvPr id="1" name=""/>
        <p:cNvGrpSpPr/>
        <p:nvPr/>
      </p:nvGrpSpPr>
      <p:grpSpPr>
        <a:xfrm>
          <a:off x="0" y="0"/>
          <a:ext cx="0" cy="0"/>
          <a:chOff x="0" y="0"/>
          <a:chExt cx="0" cy="0"/>
        </a:xfrm>
      </p:grpSpPr>
      <p:sp>
        <p:nvSpPr>
          <p:cNvPr id="7" name="Rectangle 6"/>
          <p:cNvSpPr/>
          <p:nvPr/>
        </p:nvSpPr>
        <p:spPr>
          <a:xfrm>
            <a:off x="8124000" y="6477000"/>
            <a:ext cx="4068000" cy="3810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062000" y="6477000"/>
            <a:ext cx="4068000" cy="381000"/>
          </a:xfrm>
          <a:prstGeom prst="rect">
            <a:avLst/>
          </a:prstGeom>
          <a:solidFill>
            <a:srgbClr val="AFABAB"/>
          </a:solidFill>
          <a:ln>
            <a:solidFill>
              <a:srgbClr val="AF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p:nvPicPr>
        <p:blipFill rotWithShape="1">
          <a:blip r:embed="rId2" cstate="print">
            <a:extLst>
              <a:ext uri="{28A0092B-C50C-407E-A947-70E740481C1C}">
                <a14:useLocalDpi xmlns:a14="http://schemas.microsoft.com/office/drawing/2010/main" val="0"/>
              </a:ext>
            </a:extLst>
          </a:blip>
          <a:srcRect t="13447"/>
          <a:stretch>
            <a:fillRect/>
          </a:stretch>
        </p:blipFill>
        <p:spPr>
          <a:xfrm>
            <a:off x="295846" y="4898227"/>
            <a:ext cx="11600309" cy="1411093"/>
          </a:xfrm>
          <a:prstGeom prst="rect">
            <a:avLst/>
          </a:prstGeom>
        </p:spPr>
      </p:pic>
      <p:sp>
        <p:nvSpPr>
          <p:cNvPr id="10" name="Title 1"/>
          <p:cNvSpPr>
            <a:spLocks noGrp="1"/>
          </p:cNvSpPr>
          <p:nvPr>
            <p:ph type="ctrTitle" hasCustomPrompt="1"/>
          </p:nvPr>
        </p:nvSpPr>
        <p:spPr>
          <a:xfrm>
            <a:off x="914400" y="980728"/>
            <a:ext cx="10363200" cy="1035547"/>
          </a:xfrm>
          <a:prstGeom prst="rect">
            <a:avLst/>
          </a:prstGeom>
        </p:spPr>
        <p:txBody>
          <a:bodyPr/>
          <a:lstStyle>
            <a:lvl1pPr>
              <a:defRPr>
                <a:solidFill>
                  <a:schemeClr val="tx1"/>
                </a:solidFill>
                <a:latin typeface="Arial" panose="020B0604020202020204" pitchFamily="34" charset="0"/>
                <a:cs typeface="Arial" panose="020B0604020202020204" pitchFamily="34" charset="0"/>
              </a:defRPr>
            </a:lvl1pPr>
          </a:lstStyle>
          <a:p>
            <a:r>
              <a:rPr lang="en-US"/>
              <a:t>Presentation title</a:t>
            </a:r>
            <a:endParaRPr lang="en-ZA"/>
          </a:p>
        </p:txBody>
      </p:sp>
      <p:sp>
        <p:nvSpPr>
          <p:cNvPr id="12" name="Subtitle 2"/>
          <p:cNvSpPr>
            <a:spLocks noGrp="1"/>
          </p:cNvSpPr>
          <p:nvPr>
            <p:ph type="subTitle" idx="1" hasCustomPrompt="1"/>
          </p:nvPr>
        </p:nvSpPr>
        <p:spPr>
          <a:xfrm>
            <a:off x="1828800" y="2302024"/>
            <a:ext cx="8534400" cy="694928"/>
          </a:xfrm>
          <a:prstGeom prst="rect">
            <a:avLst/>
          </a:prstGeom>
        </p:spPr>
        <p:txBody>
          <a:bodyPr/>
          <a:lstStyle>
            <a:lvl1pPr marL="0" indent="0" algn="ctr">
              <a:buNone/>
              <a:defRPr>
                <a:solidFill>
                  <a:schemeClr val="tx1">
                    <a:tint val="7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Subheading</a:t>
            </a:r>
            <a:endParaRPr lang="en-ZA"/>
          </a:p>
        </p:txBody>
      </p:sp>
      <p:sp>
        <p:nvSpPr>
          <p:cNvPr id="13" name="Rectangle 12"/>
          <p:cNvSpPr/>
          <p:nvPr/>
        </p:nvSpPr>
        <p:spPr>
          <a:xfrm>
            <a:off x="0" y="6477000"/>
            <a:ext cx="4068000" cy="3810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GHANA,IMPAACT4TB,UNTAID. Aurum">
    <p:spTree>
      <p:nvGrpSpPr>
        <p:cNvPr id="1" name=""/>
        <p:cNvGrpSpPr/>
        <p:nvPr/>
      </p:nvGrpSpPr>
      <p:grpSpPr>
        <a:xfrm>
          <a:off x="0" y="0"/>
          <a:ext cx="0" cy="0"/>
          <a:chOff x="0" y="0"/>
          <a:chExt cx="0" cy="0"/>
        </a:xfrm>
      </p:grpSpPr>
      <p:sp>
        <p:nvSpPr>
          <p:cNvPr id="7" name="Rectangle 6"/>
          <p:cNvSpPr/>
          <p:nvPr/>
        </p:nvSpPr>
        <p:spPr>
          <a:xfrm>
            <a:off x="8124000" y="6477000"/>
            <a:ext cx="4068000" cy="3810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062000" y="6477000"/>
            <a:ext cx="4068000" cy="381000"/>
          </a:xfrm>
          <a:prstGeom prst="rect">
            <a:avLst/>
          </a:prstGeom>
          <a:solidFill>
            <a:srgbClr val="AFABAB"/>
          </a:solidFill>
          <a:ln>
            <a:solidFill>
              <a:srgbClr val="AF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p:nvPicPr>
        <p:blipFill rotWithShape="1">
          <a:blip r:embed="rId2" cstate="print">
            <a:extLst>
              <a:ext uri="{28A0092B-C50C-407E-A947-70E740481C1C}">
                <a14:useLocalDpi xmlns:a14="http://schemas.microsoft.com/office/drawing/2010/main" val="0"/>
              </a:ext>
            </a:extLst>
          </a:blip>
          <a:srcRect r="8008"/>
          <a:stretch>
            <a:fillRect/>
          </a:stretch>
        </p:blipFill>
        <p:spPr>
          <a:xfrm>
            <a:off x="743744" y="4869160"/>
            <a:ext cx="10704512" cy="1363634"/>
          </a:xfrm>
          <a:prstGeom prst="rect">
            <a:avLst/>
          </a:prstGeom>
        </p:spPr>
      </p:pic>
      <p:sp>
        <p:nvSpPr>
          <p:cNvPr id="10" name="Title 1"/>
          <p:cNvSpPr>
            <a:spLocks noGrp="1"/>
          </p:cNvSpPr>
          <p:nvPr>
            <p:ph type="ctrTitle" hasCustomPrompt="1"/>
          </p:nvPr>
        </p:nvSpPr>
        <p:spPr>
          <a:xfrm>
            <a:off x="914400" y="908720"/>
            <a:ext cx="10363200" cy="1035547"/>
          </a:xfrm>
          <a:prstGeom prst="rect">
            <a:avLst/>
          </a:prstGeom>
        </p:spPr>
        <p:txBody>
          <a:bodyPr/>
          <a:lstStyle>
            <a:lvl1pPr>
              <a:defRPr>
                <a:solidFill>
                  <a:schemeClr val="tx1"/>
                </a:solidFill>
                <a:latin typeface="Arial" panose="020B0604020202020204" pitchFamily="34" charset="0"/>
                <a:cs typeface="Arial" panose="020B0604020202020204" pitchFamily="34" charset="0"/>
              </a:defRPr>
            </a:lvl1pPr>
          </a:lstStyle>
          <a:p>
            <a:r>
              <a:rPr lang="en-US"/>
              <a:t>Presentation title</a:t>
            </a:r>
            <a:endParaRPr lang="en-ZA"/>
          </a:p>
        </p:txBody>
      </p:sp>
      <p:sp>
        <p:nvSpPr>
          <p:cNvPr id="11" name="Subtitle 2"/>
          <p:cNvSpPr>
            <a:spLocks noGrp="1"/>
          </p:cNvSpPr>
          <p:nvPr>
            <p:ph type="subTitle" idx="1" hasCustomPrompt="1"/>
          </p:nvPr>
        </p:nvSpPr>
        <p:spPr>
          <a:xfrm>
            <a:off x="1828800" y="2230016"/>
            <a:ext cx="8534400" cy="694928"/>
          </a:xfrm>
          <a:prstGeom prst="rect">
            <a:avLst/>
          </a:prstGeom>
        </p:spPr>
        <p:txBody>
          <a:bodyPr/>
          <a:lstStyle>
            <a:lvl1pPr marL="0" indent="0" algn="ctr">
              <a:buNone/>
              <a:defRPr>
                <a:solidFill>
                  <a:schemeClr val="tx1">
                    <a:tint val="7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Subheading</a:t>
            </a:r>
            <a:endParaRPr lang="en-ZA"/>
          </a:p>
        </p:txBody>
      </p:sp>
      <p:sp>
        <p:nvSpPr>
          <p:cNvPr id="13" name="Rectangle 12"/>
          <p:cNvSpPr/>
          <p:nvPr/>
        </p:nvSpPr>
        <p:spPr>
          <a:xfrm>
            <a:off x="0" y="6477000"/>
            <a:ext cx="4068000" cy="3810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4_Mozambique, IMPAACT4TB,UNTAID. Aurum">
    <p:spTree>
      <p:nvGrpSpPr>
        <p:cNvPr id="1" name=""/>
        <p:cNvGrpSpPr/>
        <p:nvPr/>
      </p:nvGrpSpPr>
      <p:grpSpPr>
        <a:xfrm>
          <a:off x="0" y="0"/>
          <a:ext cx="0" cy="0"/>
          <a:chOff x="0" y="0"/>
          <a:chExt cx="0" cy="0"/>
        </a:xfrm>
      </p:grpSpPr>
      <p:sp>
        <p:nvSpPr>
          <p:cNvPr id="7" name="Rectangle 6"/>
          <p:cNvSpPr/>
          <p:nvPr/>
        </p:nvSpPr>
        <p:spPr>
          <a:xfrm>
            <a:off x="8124000" y="6477000"/>
            <a:ext cx="4068000" cy="3810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062000" y="6477000"/>
            <a:ext cx="4068000" cy="381000"/>
          </a:xfrm>
          <a:prstGeom prst="rect">
            <a:avLst/>
          </a:prstGeom>
          <a:solidFill>
            <a:srgbClr val="AFABAB"/>
          </a:solidFill>
          <a:ln>
            <a:solidFill>
              <a:srgbClr val="AF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4736" y="4934905"/>
            <a:ext cx="10945982" cy="1374415"/>
          </a:xfrm>
          <a:prstGeom prst="rect">
            <a:avLst/>
          </a:prstGeom>
        </p:spPr>
      </p:pic>
      <p:sp>
        <p:nvSpPr>
          <p:cNvPr id="10" name="Title 1"/>
          <p:cNvSpPr>
            <a:spLocks noGrp="1"/>
          </p:cNvSpPr>
          <p:nvPr>
            <p:ph type="ctrTitle" hasCustomPrompt="1"/>
          </p:nvPr>
        </p:nvSpPr>
        <p:spPr>
          <a:xfrm>
            <a:off x="914400" y="692696"/>
            <a:ext cx="10363200" cy="1035547"/>
          </a:xfrm>
          <a:prstGeom prst="rect">
            <a:avLst/>
          </a:prstGeom>
        </p:spPr>
        <p:txBody>
          <a:bodyPr/>
          <a:lstStyle>
            <a:lvl1pPr>
              <a:defRPr>
                <a:solidFill>
                  <a:schemeClr val="tx1"/>
                </a:solidFill>
                <a:latin typeface="Arial" panose="020B0604020202020204" pitchFamily="34" charset="0"/>
                <a:cs typeface="Arial" panose="020B0604020202020204" pitchFamily="34" charset="0"/>
              </a:defRPr>
            </a:lvl1pPr>
          </a:lstStyle>
          <a:p>
            <a:r>
              <a:rPr lang="en-US"/>
              <a:t>Presentation title</a:t>
            </a:r>
            <a:endParaRPr lang="en-ZA"/>
          </a:p>
        </p:txBody>
      </p:sp>
      <p:sp>
        <p:nvSpPr>
          <p:cNvPr id="12" name="Subtitle 2"/>
          <p:cNvSpPr>
            <a:spLocks noGrp="1"/>
          </p:cNvSpPr>
          <p:nvPr>
            <p:ph type="subTitle" idx="1" hasCustomPrompt="1"/>
          </p:nvPr>
        </p:nvSpPr>
        <p:spPr>
          <a:xfrm>
            <a:off x="1828800" y="2013992"/>
            <a:ext cx="8534400" cy="694928"/>
          </a:xfrm>
          <a:prstGeom prst="rect">
            <a:avLst/>
          </a:prstGeom>
        </p:spPr>
        <p:txBody>
          <a:bodyPr/>
          <a:lstStyle>
            <a:lvl1pPr marL="0" indent="0" algn="ctr">
              <a:buNone/>
              <a:defRPr>
                <a:solidFill>
                  <a:schemeClr val="tx1">
                    <a:tint val="7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Subheading</a:t>
            </a:r>
            <a:endParaRPr lang="en-ZA"/>
          </a:p>
        </p:txBody>
      </p:sp>
      <p:sp>
        <p:nvSpPr>
          <p:cNvPr id="14" name="Rectangle 13"/>
          <p:cNvSpPr/>
          <p:nvPr/>
        </p:nvSpPr>
        <p:spPr>
          <a:xfrm>
            <a:off x="0" y="6477000"/>
            <a:ext cx="4068000" cy="3810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5_Mozambique, IMPAACT4TB,UNTAID. Aurum">
    <p:spTree>
      <p:nvGrpSpPr>
        <p:cNvPr id="1" name=""/>
        <p:cNvGrpSpPr/>
        <p:nvPr/>
      </p:nvGrpSpPr>
      <p:grpSpPr>
        <a:xfrm>
          <a:off x="0" y="0"/>
          <a:ext cx="0" cy="0"/>
          <a:chOff x="0" y="0"/>
          <a:chExt cx="0" cy="0"/>
        </a:xfrm>
      </p:grpSpPr>
      <p:sp>
        <p:nvSpPr>
          <p:cNvPr id="7" name="Rectangle 6"/>
          <p:cNvSpPr/>
          <p:nvPr/>
        </p:nvSpPr>
        <p:spPr>
          <a:xfrm>
            <a:off x="8124000" y="6477000"/>
            <a:ext cx="4068000" cy="3810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062000" y="6477000"/>
            <a:ext cx="4068000" cy="381000"/>
          </a:xfrm>
          <a:prstGeom prst="rect">
            <a:avLst/>
          </a:prstGeom>
          <a:solidFill>
            <a:srgbClr val="AFABAB"/>
          </a:solidFill>
          <a:ln>
            <a:solidFill>
              <a:srgbClr val="AF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9406" y="4881496"/>
            <a:ext cx="10693188" cy="1342673"/>
          </a:xfrm>
          <a:prstGeom prst="rect">
            <a:avLst/>
          </a:prstGeom>
        </p:spPr>
      </p:pic>
      <p:sp>
        <p:nvSpPr>
          <p:cNvPr id="10" name="Title 1"/>
          <p:cNvSpPr>
            <a:spLocks noGrp="1"/>
          </p:cNvSpPr>
          <p:nvPr>
            <p:ph type="ctrTitle" hasCustomPrompt="1"/>
          </p:nvPr>
        </p:nvSpPr>
        <p:spPr>
          <a:xfrm>
            <a:off x="914400" y="764704"/>
            <a:ext cx="10363200" cy="1035547"/>
          </a:xfrm>
          <a:prstGeom prst="rect">
            <a:avLst/>
          </a:prstGeom>
        </p:spPr>
        <p:txBody>
          <a:bodyPr/>
          <a:lstStyle>
            <a:lvl1pPr>
              <a:defRPr>
                <a:solidFill>
                  <a:schemeClr val="tx1"/>
                </a:solidFill>
                <a:latin typeface="Arial" panose="020B0604020202020204" pitchFamily="34" charset="0"/>
                <a:cs typeface="Arial" panose="020B0604020202020204" pitchFamily="34" charset="0"/>
              </a:defRPr>
            </a:lvl1pPr>
          </a:lstStyle>
          <a:p>
            <a:r>
              <a:rPr lang="en-US"/>
              <a:t>Presentation title</a:t>
            </a:r>
            <a:endParaRPr lang="en-ZA"/>
          </a:p>
        </p:txBody>
      </p:sp>
      <p:sp>
        <p:nvSpPr>
          <p:cNvPr id="11" name="Subtitle 2"/>
          <p:cNvSpPr>
            <a:spLocks noGrp="1"/>
          </p:cNvSpPr>
          <p:nvPr>
            <p:ph type="subTitle" idx="1" hasCustomPrompt="1"/>
          </p:nvPr>
        </p:nvSpPr>
        <p:spPr>
          <a:xfrm>
            <a:off x="1828800" y="2086000"/>
            <a:ext cx="8534400" cy="694928"/>
          </a:xfrm>
          <a:prstGeom prst="rect">
            <a:avLst/>
          </a:prstGeom>
        </p:spPr>
        <p:txBody>
          <a:bodyPr/>
          <a:lstStyle>
            <a:lvl1pPr marL="0" indent="0" algn="ctr">
              <a:buNone/>
              <a:defRPr>
                <a:solidFill>
                  <a:schemeClr val="tx1">
                    <a:tint val="7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Subheading</a:t>
            </a:r>
            <a:endParaRPr lang="en-ZA"/>
          </a:p>
        </p:txBody>
      </p:sp>
      <p:sp>
        <p:nvSpPr>
          <p:cNvPr id="13" name="Rectangle 12"/>
          <p:cNvSpPr/>
          <p:nvPr/>
        </p:nvSpPr>
        <p:spPr>
          <a:xfrm>
            <a:off x="0" y="6477000"/>
            <a:ext cx="4068000" cy="3810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38"/>
            <a:ext cx="10972800" cy="1143000"/>
          </a:xfrm>
          <a:prstGeom prst="rect">
            <a:avLst/>
          </a:prstGeom>
        </p:spPr>
        <p:txBody>
          <a:bodyPr/>
          <a:lstStyle>
            <a:lvl1pPr>
              <a:defRPr cap="none" baseline="0">
                <a:solidFill>
                  <a:schemeClr val="tx1"/>
                </a:solidFill>
                <a:latin typeface="Arial" panose="020B0604020202020204" pitchFamily="34" charset="0"/>
                <a:cs typeface="Arial" panose="020B0604020202020204" pitchFamily="34" charset="0"/>
              </a:defRPr>
            </a:lvl1pPr>
          </a:lstStyle>
          <a:p>
            <a:r>
              <a:rPr lang="en-US"/>
              <a:t>Heading</a:t>
            </a:r>
            <a:endParaRPr lang="en-ZA"/>
          </a:p>
        </p:txBody>
      </p:sp>
      <p:sp>
        <p:nvSpPr>
          <p:cNvPr id="3" name="Content Placeholder 2"/>
          <p:cNvSpPr>
            <a:spLocks noGrp="1"/>
          </p:cNvSpPr>
          <p:nvPr>
            <p:ph idx="1"/>
          </p:nvPr>
        </p:nvSpPr>
        <p:spPr>
          <a:xfrm>
            <a:off x="609600" y="1768087"/>
            <a:ext cx="10972800" cy="3886589"/>
          </a:xfrm>
          <a:prstGeom prst="rect">
            <a:avLst/>
          </a:prstGeom>
        </p:spPr>
        <p:txBody>
          <a:bodyPr/>
          <a:lstStyle>
            <a:lvl1pPr marL="342900" indent="-342900">
              <a:buClr>
                <a:srgbClr val="CF142B"/>
              </a:buClr>
              <a:buFont typeface="Arial" panose="020B0604020202020204" pitchFamily="34" charset="0"/>
              <a:buChar char="►"/>
              <a:defRPr>
                <a:latin typeface="Arial" panose="020B0604020202020204" pitchFamily="34" charset="0"/>
                <a:cs typeface="Arial" panose="020B0604020202020204" pitchFamily="34" charset="0"/>
              </a:defRPr>
            </a:lvl1pPr>
            <a:lvl2pPr marL="742950" indent="-285750">
              <a:buClr>
                <a:srgbClr val="FFC000"/>
              </a:buClr>
              <a:buFont typeface="Wingdings" panose="05000000000000000000" pitchFamily="2" charset="2"/>
              <a:buChar cha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4" name="Date Placeholder 3"/>
          <p:cNvSpPr>
            <a:spLocks noGrp="1"/>
          </p:cNvSpPr>
          <p:nvPr>
            <p:ph type="dt" sz="half" idx="10"/>
          </p:nvPr>
        </p:nvSpPr>
        <p:spPr>
          <a:xfrm>
            <a:off x="609600" y="6356351"/>
            <a:ext cx="2844800" cy="365125"/>
          </a:xfrm>
          <a:prstGeom prst="rect">
            <a:avLst/>
          </a:prstGeom>
        </p:spPr>
        <p:txBody>
          <a:bodyPr/>
          <a:lstStyle/>
          <a:p>
            <a:fld id="{234DC252-1442-438B-A140-1627EE769DB9}" type="datetimeFigureOut">
              <a:rPr lang="en-ZA" smtClean="0"/>
            </a:fld>
            <a:endParaRPr lang="en-ZA"/>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en-ZA"/>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A1AF2325-CD8E-41DA-A2A9-A4D3E4CE53DE}" type="slidenum">
              <a:rPr lang="en-ZA" smtClean="0"/>
            </a:fld>
            <a:endParaRPr lang="en-ZA"/>
          </a:p>
        </p:txBody>
      </p:sp>
      <p:pic>
        <p:nvPicPr>
          <p:cNvPr id="7" name="Picture 6" descr="Aurum New Concep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72800" y="5791200"/>
            <a:ext cx="922655" cy="790575"/>
          </a:xfrm>
          <a:prstGeom prst="rect">
            <a:avLst/>
          </a:prstGeom>
          <a:noFill/>
          <a:ln w="9525">
            <a:noFill/>
            <a:miter lim="800000"/>
            <a:headEnd/>
            <a:tailEnd/>
          </a:ln>
        </p:spPr>
      </p:pic>
      <p:sp>
        <p:nvSpPr>
          <p:cNvPr id="8" name="Rectangle 7"/>
          <p:cNvSpPr/>
          <p:nvPr/>
        </p:nvSpPr>
        <p:spPr>
          <a:xfrm>
            <a:off x="8124000" y="6706800"/>
            <a:ext cx="4068000" cy="151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062000" y="6706800"/>
            <a:ext cx="4068000" cy="151200"/>
          </a:xfrm>
          <a:prstGeom prst="rect">
            <a:avLst/>
          </a:prstGeom>
          <a:solidFill>
            <a:srgbClr val="AFABAB"/>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0" y="6706800"/>
            <a:ext cx="4068000" cy="1512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1" name="Rectangle 10"/>
          <p:cNvSpPr/>
          <p:nvPr/>
        </p:nvSpPr>
        <p:spPr>
          <a:xfrm>
            <a:off x="8124000" y="6706800"/>
            <a:ext cx="4068000" cy="151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4062000" y="6706800"/>
            <a:ext cx="4068000" cy="151200"/>
          </a:xfrm>
          <a:prstGeom prst="rect">
            <a:avLst/>
          </a:prstGeom>
          <a:solidFill>
            <a:srgbClr val="AFABAB"/>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963084" y="4406901"/>
            <a:ext cx="6933116" cy="1362075"/>
          </a:xfrm>
          <a:prstGeom prst="rect">
            <a:avLst/>
          </a:prstGeom>
        </p:spPr>
        <p:txBody>
          <a:bodyPr anchor="t"/>
          <a:lstStyle>
            <a:lvl1pPr algn="l">
              <a:defRPr sz="4000" b="1" cap="none">
                <a:solidFill>
                  <a:schemeClr val="tx1"/>
                </a:solidFill>
                <a:latin typeface="Arial" panose="020B0604020202020204" pitchFamily="34" charset="0"/>
                <a:cs typeface="Arial" panose="020B0604020202020204" pitchFamily="34" charset="0"/>
              </a:defRPr>
            </a:lvl1pPr>
          </a:lstStyle>
          <a:p>
            <a:r>
              <a:rPr lang="en-US"/>
              <a:t>Heading</a:t>
            </a:r>
            <a:endParaRPr lang="en-ZA"/>
          </a:p>
        </p:txBody>
      </p:sp>
      <p:sp>
        <p:nvSpPr>
          <p:cNvPr id="3" name="Text Placeholder 2"/>
          <p:cNvSpPr>
            <a:spLocks noGrp="1"/>
          </p:cNvSpPr>
          <p:nvPr>
            <p:ph type="body" idx="1"/>
          </p:nvPr>
        </p:nvSpPr>
        <p:spPr>
          <a:xfrm>
            <a:off x="963084" y="2906713"/>
            <a:ext cx="6933116" cy="1500187"/>
          </a:xfrm>
          <a:prstGeom prst="rect">
            <a:avLst/>
          </a:prstGeom>
        </p:spPr>
        <p:txBody>
          <a:bodyPr anchor="b"/>
          <a:lstStyle>
            <a:lvl1pPr marL="0" indent="0">
              <a:buNone/>
              <a:defRPr sz="2000">
                <a:solidFill>
                  <a:schemeClr val="tx1">
                    <a:tint val="75000"/>
                  </a:schemeClr>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pic>
        <p:nvPicPr>
          <p:cNvPr id="9" name="Picture 8" descr="Aurum New Concep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0522" y="208475"/>
            <a:ext cx="922655" cy="790575"/>
          </a:xfrm>
          <a:prstGeom prst="rect">
            <a:avLst/>
          </a:prstGeom>
          <a:noFill/>
          <a:ln w="9525">
            <a:noFill/>
            <a:miter lim="800000"/>
            <a:headEnd/>
            <a:tailEnd/>
          </a:ln>
        </p:spPr>
      </p:pic>
      <p:sp>
        <p:nvSpPr>
          <p:cNvPr id="10" name="Rectangle 9"/>
          <p:cNvSpPr/>
          <p:nvPr/>
        </p:nvSpPr>
        <p:spPr>
          <a:xfrm>
            <a:off x="8124000" y="0"/>
            <a:ext cx="4083852" cy="68760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6706800"/>
            <a:ext cx="4068000" cy="151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sp>
        <p:nvSpPr>
          <p:cNvPr id="11" name="Rectangle 10"/>
          <p:cNvSpPr/>
          <p:nvPr/>
        </p:nvSpPr>
        <p:spPr>
          <a:xfrm>
            <a:off x="8124000" y="6706800"/>
            <a:ext cx="4068000" cy="151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4062000" y="6706800"/>
            <a:ext cx="4068000" cy="151200"/>
          </a:xfrm>
          <a:prstGeom prst="rect">
            <a:avLst/>
          </a:prstGeom>
          <a:solidFill>
            <a:srgbClr val="AFABAB"/>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urum New Concep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0522" y="208475"/>
            <a:ext cx="922655" cy="790575"/>
          </a:xfrm>
          <a:prstGeom prst="rect">
            <a:avLst/>
          </a:prstGeom>
          <a:noFill/>
          <a:ln w="9525">
            <a:noFill/>
            <a:miter lim="800000"/>
            <a:headEnd/>
            <a:tailEnd/>
          </a:ln>
        </p:spPr>
      </p:pic>
      <p:sp>
        <p:nvSpPr>
          <p:cNvPr id="14" name="Title 1"/>
          <p:cNvSpPr>
            <a:spLocks noGrp="1"/>
          </p:cNvSpPr>
          <p:nvPr>
            <p:ph type="title" hasCustomPrompt="1"/>
          </p:nvPr>
        </p:nvSpPr>
        <p:spPr>
          <a:xfrm>
            <a:off x="831850" y="1709738"/>
            <a:ext cx="7016750" cy="2852737"/>
          </a:xfrm>
          <a:prstGeom prst="rect">
            <a:avLst/>
          </a:prstGeom>
        </p:spPr>
        <p:txBody>
          <a:bodyPr anchor="b"/>
          <a:lstStyle>
            <a:lvl1pPr>
              <a:defRPr sz="6000">
                <a:solidFill>
                  <a:schemeClr val="tx1"/>
                </a:solidFill>
                <a:latin typeface="Arial" panose="020B0604020202020204" pitchFamily="34" charset="0"/>
                <a:cs typeface="Arial" panose="020B0604020202020204" pitchFamily="34" charset="0"/>
              </a:defRPr>
            </a:lvl1pPr>
          </a:lstStyle>
          <a:p>
            <a:r>
              <a:rPr lang="en-US"/>
              <a:t>Heading</a:t>
            </a:r>
            <a:endParaRPr lang="en-US"/>
          </a:p>
        </p:txBody>
      </p:sp>
      <p:sp>
        <p:nvSpPr>
          <p:cNvPr id="15" name="Text Placeholder 2"/>
          <p:cNvSpPr>
            <a:spLocks noGrp="1"/>
          </p:cNvSpPr>
          <p:nvPr>
            <p:ph type="body" idx="1"/>
          </p:nvPr>
        </p:nvSpPr>
        <p:spPr>
          <a:xfrm>
            <a:off x="831850" y="4589463"/>
            <a:ext cx="7016750" cy="1500187"/>
          </a:xfrm>
          <a:prstGeom prst="rect">
            <a:avLst/>
          </a:prstGeom>
        </p:spPr>
        <p:txBody>
          <a:bodyPr/>
          <a:lstStyle>
            <a:lvl1pPr marL="0" indent="0">
              <a:buNone/>
              <a:defRPr sz="2400">
                <a:solidFill>
                  <a:schemeClr val="tx1">
                    <a:tint val="75000"/>
                  </a:schemeClr>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17" name="Rectangle 16"/>
          <p:cNvSpPr/>
          <p:nvPr/>
        </p:nvSpPr>
        <p:spPr>
          <a:xfrm>
            <a:off x="0" y="6706800"/>
            <a:ext cx="4068000" cy="151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8124000" y="0"/>
            <a:ext cx="4083852" cy="68760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2_Section Header">
    <p:spTree>
      <p:nvGrpSpPr>
        <p:cNvPr id="1" name=""/>
        <p:cNvGrpSpPr/>
        <p:nvPr/>
      </p:nvGrpSpPr>
      <p:grpSpPr>
        <a:xfrm>
          <a:off x="0" y="0"/>
          <a:ext cx="0" cy="0"/>
          <a:chOff x="0" y="0"/>
          <a:chExt cx="0" cy="0"/>
        </a:xfrm>
      </p:grpSpPr>
      <p:pic>
        <p:nvPicPr>
          <p:cNvPr id="9" name="Picture 8" descr="Aurum New Concep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0522" y="208475"/>
            <a:ext cx="922655" cy="790575"/>
          </a:xfrm>
          <a:prstGeom prst="rect">
            <a:avLst/>
          </a:prstGeom>
          <a:noFill/>
          <a:ln w="9525">
            <a:noFill/>
            <a:miter lim="800000"/>
            <a:headEnd/>
            <a:tailEnd/>
          </a:ln>
        </p:spPr>
      </p:pic>
      <p:sp>
        <p:nvSpPr>
          <p:cNvPr id="13" name="Rectangle 12"/>
          <p:cNvSpPr/>
          <p:nvPr/>
        </p:nvSpPr>
        <p:spPr>
          <a:xfrm>
            <a:off x="11290372" y="0"/>
            <a:ext cx="424132" cy="6866988"/>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urum New Concep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0522" y="208475"/>
            <a:ext cx="1229678" cy="1163125"/>
          </a:xfrm>
          <a:prstGeom prst="rect">
            <a:avLst/>
          </a:prstGeom>
          <a:noFill/>
          <a:ln w="9525">
            <a:noFill/>
            <a:miter lim="800000"/>
            <a:headEnd/>
            <a:tailEnd/>
          </a:ln>
        </p:spPr>
      </p:pic>
      <p:sp>
        <p:nvSpPr>
          <p:cNvPr id="18" name="Rectangle 17"/>
          <p:cNvSpPr/>
          <p:nvPr/>
        </p:nvSpPr>
        <p:spPr>
          <a:xfrm>
            <a:off x="11508740" y="0"/>
            <a:ext cx="381000" cy="6858000"/>
          </a:xfrm>
          <a:prstGeom prst="rect">
            <a:avLst/>
          </a:prstGeom>
          <a:solidFill>
            <a:srgbClr val="AFABAB"/>
          </a:solidFill>
          <a:ln>
            <a:solidFill>
              <a:srgbClr val="AF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11683712" y="0"/>
            <a:ext cx="503208" cy="6866988"/>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itle 1"/>
          <p:cNvSpPr>
            <a:spLocks noGrp="1"/>
          </p:cNvSpPr>
          <p:nvPr>
            <p:ph type="title" hasCustomPrompt="1"/>
          </p:nvPr>
        </p:nvSpPr>
        <p:spPr>
          <a:xfrm>
            <a:off x="831850" y="1709739"/>
            <a:ext cx="9986106" cy="2727374"/>
          </a:xfrm>
          <a:prstGeom prst="rect">
            <a:avLst/>
          </a:prstGeom>
        </p:spPr>
        <p:txBody>
          <a:bodyPr anchor="b"/>
          <a:lstStyle>
            <a:lvl1pPr algn="l">
              <a:defRPr sz="6000">
                <a:solidFill>
                  <a:schemeClr val="tx1"/>
                </a:solidFill>
                <a:latin typeface="Arial" panose="020B0604020202020204" pitchFamily="34" charset="0"/>
                <a:cs typeface="Arial" panose="020B0604020202020204" pitchFamily="34" charset="0"/>
              </a:defRPr>
            </a:lvl1pPr>
          </a:lstStyle>
          <a:p>
            <a:r>
              <a:rPr lang="en-US"/>
              <a:t>HEADING</a:t>
            </a:r>
            <a:endParaRPr lang="en-US"/>
          </a:p>
        </p:txBody>
      </p:sp>
      <p:sp>
        <p:nvSpPr>
          <p:cNvPr id="21" name="Text Placeholder 2"/>
          <p:cNvSpPr>
            <a:spLocks noGrp="1"/>
          </p:cNvSpPr>
          <p:nvPr>
            <p:ph type="body" idx="1"/>
          </p:nvPr>
        </p:nvSpPr>
        <p:spPr>
          <a:xfrm>
            <a:off x="831850" y="4589463"/>
            <a:ext cx="9986106" cy="1500187"/>
          </a:xfrm>
          <a:prstGeom prst="rect">
            <a:avLst/>
          </a:prstGeom>
        </p:spPr>
        <p:txBody>
          <a:bodyPr/>
          <a:lstStyle>
            <a:lvl1pPr marL="0" indent="0">
              <a:buNone/>
              <a:defRPr sz="2400">
                <a:solidFill>
                  <a:schemeClr val="tx1">
                    <a:tint val="75000"/>
                  </a:schemeClr>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38"/>
            <a:ext cx="10972800" cy="1143000"/>
          </a:xfrm>
          <a:prstGeom prst="rect">
            <a:avLst/>
          </a:prstGeom>
        </p:spPr>
        <p:txBody>
          <a:bodyPr/>
          <a:lstStyle>
            <a:lvl1pPr>
              <a:defRPr>
                <a:solidFill>
                  <a:schemeClr val="tx1"/>
                </a:solidFill>
                <a:latin typeface="Arial" panose="020B0604020202020204" pitchFamily="34" charset="0"/>
                <a:cs typeface="Arial" panose="020B0604020202020204" pitchFamily="34" charset="0"/>
              </a:defRPr>
            </a:lvl1pPr>
          </a:lstStyle>
          <a:p>
            <a:r>
              <a:rPr lang="en-US"/>
              <a:t>Heading</a:t>
            </a:r>
            <a:endParaRPr lang="en-ZA"/>
          </a:p>
        </p:txBody>
      </p:sp>
      <p:sp>
        <p:nvSpPr>
          <p:cNvPr id="3" name="Content Placeholder 2"/>
          <p:cNvSpPr>
            <a:spLocks noGrp="1"/>
          </p:cNvSpPr>
          <p:nvPr>
            <p:ph sz="half" idx="1"/>
          </p:nvPr>
        </p:nvSpPr>
        <p:spPr>
          <a:xfrm>
            <a:off x="609600" y="1600201"/>
            <a:ext cx="5384800" cy="3917031"/>
          </a:xfrm>
          <a:prstGeom prst="rect">
            <a:avLst/>
          </a:prstGeom>
        </p:spPr>
        <p:txBody>
          <a:bodyPr/>
          <a:lstStyle>
            <a:lvl1pPr>
              <a:defRPr sz="2800">
                <a:latin typeface="Arial" panose="020B0604020202020204" pitchFamily="34" charset="0"/>
                <a:cs typeface="Arial" panose="020B0604020202020204" pitchFamily="34" charset="0"/>
              </a:defRPr>
            </a:lvl1pPr>
            <a:lvl2pPr>
              <a:defRPr sz="24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a:defRPr sz="18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4" name="Content Placeholder 3"/>
          <p:cNvSpPr>
            <a:spLocks noGrp="1"/>
          </p:cNvSpPr>
          <p:nvPr>
            <p:ph sz="half" idx="2"/>
          </p:nvPr>
        </p:nvSpPr>
        <p:spPr>
          <a:xfrm>
            <a:off x="6197600" y="1600201"/>
            <a:ext cx="5384800" cy="3917031"/>
          </a:xfrm>
          <a:prstGeom prst="rect">
            <a:avLst/>
          </a:prstGeom>
        </p:spPr>
        <p:txBody>
          <a:bodyPr/>
          <a:lstStyle>
            <a:lvl1pPr>
              <a:defRPr sz="2800">
                <a:latin typeface="Arial" panose="020B0604020202020204" pitchFamily="34" charset="0"/>
                <a:cs typeface="Arial" panose="020B0604020202020204" pitchFamily="34" charset="0"/>
              </a:defRPr>
            </a:lvl1pPr>
            <a:lvl2pPr>
              <a:defRPr sz="24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a:defRPr sz="18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8" name="Date Placeholder 3"/>
          <p:cNvSpPr>
            <a:spLocks noGrp="1"/>
          </p:cNvSpPr>
          <p:nvPr>
            <p:ph type="dt" sz="half" idx="10"/>
          </p:nvPr>
        </p:nvSpPr>
        <p:spPr>
          <a:xfrm>
            <a:off x="609600" y="6356351"/>
            <a:ext cx="2844800" cy="365125"/>
          </a:xfrm>
          <a:prstGeom prst="rect">
            <a:avLst/>
          </a:prstGeom>
        </p:spPr>
        <p:txBody>
          <a:bodyPr/>
          <a:lstStyle/>
          <a:p>
            <a:fld id="{234DC252-1442-438B-A140-1627EE769DB9}" type="datetimeFigureOut">
              <a:rPr lang="en-ZA" smtClean="0"/>
            </a:fld>
            <a:endParaRPr lang="en-ZA"/>
          </a:p>
        </p:txBody>
      </p:sp>
      <p:sp>
        <p:nvSpPr>
          <p:cNvPr id="9" name="Footer Placeholder 4"/>
          <p:cNvSpPr>
            <a:spLocks noGrp="1"/>
          </p:cNvSpPr>
          <p:nvPr>
            <p:ph type="ftr" sz="quarter" idx="11"/>
          </p:nvPr>
        </p:nvSpPr>
        <p:spPr>
          <a:xfrm>
            <a:off x="4165600" y="6356351"/>
            <a:ext cx="3860800" cy="365125"/>
          </a:xfrm>
          <a:prstGeom prst="rect">
            <a:avLst/>
          </a:prstGeom>
        </p:spPr>
        <p:txBody>
          <a:bodyPr/>
          <a:lstStyle/>
          <a:p>
            <a:endParaRPr lang="en-ZA"/>
          </a:p>
        </p:txBody>
      </p:sp>
      <p:sp>
        <p:nvSpPr>
          <p:cNvPr id="10" name="Slide Number Placeholder 5"/>
          <p:cNvSpPr>
            <a:spLocks noGrp="1"/>
          </p:cNvSpPr>
          <p:nvPr>
            <p:ph type="sldNum" sz="quarter" idx="12"/>
          </p:nvPr>
        </p:nvSpPr>
        <p:spPr>
          <a:xfrm>
            <a:off x="8737600" y="6356351"/>
            <a:ext cx="2844800" cy="365125"/>
          </a:xfrm>
          <a:prstGeom prst="rect">
            <a:avLst/>
          </a:prstGeom>
        </p:spPr>
        <p:txBody>
          <a:bodyPr/>
          <a:lstStyle/>
          <a:p>
            <a:fld id="{A1AF2325-CD8E-41DA-A2A9-A4D3E4CE53DE}" type="slidenum">
              <a:rPr lang="en-ZA" smtClean="0"/>
            </a:fld>
            <a:endParaRPr lang="en-ZA"/>
          </a:p>
        </p:txBody>
      </p:sp>
      <p:pic>
        <p:nvPicPr>
          <p:cNvPr id="11" name="Picture 10" descr="Aurum New Concep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72800" y="5791200"/>
            <a:ext cx="922655" cy="790575"/>
          </a:xfrm>
          <a:prstGeom prst="rect">
            <a:avLst/>
          </a:prstGeom>
          <a:noFill/>
          <a:ln w="9525">
            <a:noFill/>
            <a:miter lim="800000"/>
            <a:headEnd/>
            <a:tailEnd/>
          </a:ln>
        </p:spPr>
      </p:pic>
      <p:sp>
        <p:nvSpPr>
          <p:cNvPr id="12" name="Rectangle 11"/>
          <p:cNvSpPr/>
          <p:nvPr/>
        </p:nvSpPr>
        <p:spPr>
          <a:xfrm>
            <a:off x="8124000" y="6706800"/>
            <a:ext cx="4068000" cy="151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4062000" y="6706800"/>
            <a:ext cx="4068000" cy="151200"/>
          </a:xfrm>
          <a:prstGeom prst="rect">
            <a:avLst/>
          </a:prstGeom>
          <a:solidFill>
            <a:srgbClr val="AFABAB"/>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0" y="6706800"/>
            <a:ext cx="4068000" cy="1512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89717" y="4800600"/>
            <a:ext cx="7315200" cy="566738"/>
          </a:xfrm>
          <a:prstGeom prst="rect">
            <a:avLst/>
          </a:prstGeom>
        </p:spPr>
        <p:txBody>
          <a:bodyPr anchor="b"/>
          <a:lstStyle>
            <a:lvl1pPr algn="l">
              <a:defRPr sz="2000" b="1">
                <a:solidFill>
                  <a:schemeClr val="tx1"/>
                </a:solidFill>
                <a:latin typeface="Arial" panose="020B0604020202020204" pitchFamily="34" charset="0"/>
                <a:cs typeface="Arial" panose="020B0604020202020204" pitchFamily="34" charset="0"/>
              </a:defRPr>
            </a:lvl1pPr>
          </a:lstStyle>
          <a:p>
            <a:r>
              <a:rPr lang="en-US"/>
              <a:t>Click to edit master title style</a:t>
            </a:r>
            <a:endParaRPr lang="en-ZA"/>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ZA"/>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atin typeface="Arial" panose="020B0604020202020204" pitchFamily="34" charset="0"/>
                <a:cs typeface="Arial" panose="020B06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a:xfrm>
            <a:off x="609600" y="6356351"/>
            <a:ext cx="2844800" cy="365125"/>
          </a:xfrm>
          <a:prstGeom prst="rect">
            <a:avLst/>
          </a:prstGeom>
        </p:spPr>
        <p:txBody>
          <a:bodyPr/>
          <a:lstStyle/>
          <a:p>
            <a:fld id="{234DC252-1442-438B-A140-1627EE769DB9}" type="datetimeFigureOut">
              <a:rPr lang="en-ZA" smtClean="0"/>
            </a:fld>
            <a:endParaRPr lang="en-ZA"/>
          </a:p>
        </p:txBody>
      </p:sp>
      <p:sp>
        <p:nvSpPr>
          <p:cNvPr id="6" name="Footer Placeholder 5"/>
          <p:cNvSpPr>
            <a:spLocks noGrp="1"/>
          </p:cNvSpPr>
          <p:nvPr>
            <p:ph type="ftr" sz="quarter" idx="11"/>
          </p:nvPr>
        </p:nvSpPr>
        <p:spPr>
          <a:xfrm>
            <a:off x="4165600" y="6356351"/>
            <a:ext cx="3860800" cy="365125"/>
          </a:xfrm>
          <a:prstGeom prst="rect">
            <a:avLst/>
          </a:prstGeom>
        </p:spPr>
        <p:txBody>
          <a:bodyPr/>
          <a:lstStyle/>
          <a:p>
            <a:endParaRPr lang="en-ZA"/>
          </a:p>
        </p:txBody>
      </p:sp>
      <p:sp>
        <p:nvSpPr>
          <p:cNvPr id="7" name="Slide Number Placeholder 6"/>
          <p:cNvSpPr>
            <a:spLocks noGrp="1"/>
          </p:cNvSpPr>
          <p:nvPr>
            <p:ph type="sldNum" sz="quarter" idx="12"/>
          </p:nvPr>
        </p:nvSpPr>
        <p:spPr>
          <a:xfrm>
            <a:off x="8737600" y="6356351"/>
            <a:ext cx="2844800" cy="365125"/>
          </a:xfrm>
          <a:prstGeom prst="rect">
            <a:avLst/>
          </a:prstGeom>
        </p:spPr>
        <p:txBody>
          <a:bodyPr/>
          <a:lstStyle/>
          <a:p>
            <a:fld id="{A1AF2325-CD8E-41DA-A2A9-A4D3E4CE53DE}" type="slidenum">
              <a:rPr lang="en-ZA" smtClean="0"/>
            </a:fld>
            <a:endParaRPr lang="en-ZA"/>
          </a:p>
        </p:txBody>
      </p:sp>
      <p:pic>
        <p:nvPicPr>
          <p:cNvPr id="8" name="Picture 7" descr="Aurum New Concep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72800" y="5791200"/>
            <a:ext cx="922655" cy="790575"/>
          </a:xfrm>
          <a:prstGeom prst="rect">
            <a:avLst/>
          </a:prstGeom>
          <a:noFill/>
          <a:ln w="9525">
            <a:noFill/>
            <a:miter lim="800000"/>
            <a:headEnd/>
            <a:tailEnd/>
          </a:ln>
        </p:spPr>
      </p:pic>
      <p:sp>
        <p:nvSpPr>
          <p:cNvPr id="9" name="Rectangle 8"/>
          <p:cNvSpPr/>
          <p:nvPr/>
        </p:nvSpPr>
        <p:spPr>
          <a:xfrm>
            <a:off x="8124000" y="6706800"/>
            <a:ext cx="4068000" cy="151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062000" y="6706800"/>
            <a:ext cx="4068000" cy="151200"/>
          </a:xfrm>
          <a:prstGeom prst="rect">
            <a:avLst/>
          </a:prstGeom>
          <a:solidFill>
            <a:srgbClr val="AFABAB"/>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6706800"/>
            <a:ext cx="4068000" cy="1512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38"/>
            <a:ext cx="10972800" cy="1143000"/>
          </a:xfrm>
          <a:prstGeom prst="rect">
            <a:avLst/>
          </a:prstGeom>
        </p:spPr>
        <p:txBody>
          <a:bodyPr/>
          <a:lstStyle>
            <a:lvl1pPr>
              <a:defRPr>
                <a:solidFill>
                  <a:schemeClr val="tx1"/>
                </a:solidFill>
                <a:latin typeface="Arial" panose="020B0604020202020204" pitchFamily="34" charset="0"/>
                <a:cs typeface="Arial" panose="020B0604020202020204" pitchFamily="34" charset="0"/>
              </a:defRPr>
            </a:lvl1pPr>
          </a:lstStyle>
          <a:p>
            <a:r>
              <a:rPr lang="en-US"/>
              <a:t>Heading</a:t>
            </a:r>
            <a:endParaRPr lang="en-ZA"/>
          </a:p>
        </p:txBody>
      </p:sp>
      <p:sp>
        <p:nvSpPr>
          <p:cNvPr id="3" name="Date Placeholder 2"/>
          <p:cNvSpPr>
            <a:spLocks noGrp="1"/>
          </p:cNvSpPr>
          <p:nvPr>
            <p:ph type="dt" sz="half" idx="10"/>
          </p:nvPr>
        </p:nvSpPr>
        <p:spPr>
          <a:xfrm>
            <a:off x="609600" y="6356351"/>
            <a:ext cx="2844800" cy="365125"/>
          </a:xfrm>
          <a:prstGeom prst="rect">
            <a:avLst/>
          </a:prstGeom>
        </p:spPr>
        <p:txBody>
          <a:bodyPr/>
          <a:lstStyle/>
          <a:p>
            <a:fld id="{234DC252-1442-438B-A140-1627EE769DB9}" type="datetimeFigureOut">
              <a:rPr lang="en-ZA" smtClean="0"/>
            </a:fld>
            <a:endParaRPr lang="en-ZA"/>
          </a:p>
        </p:txBody>
      </p:sp>
      <p:sp>
        <p:nvSpPr>
          <p:cNvPr id="4" name="Footer Placeholder 3"/>
          <p:cNvSpPr>
            <a:spLocks noGrp="1"/>
          </p:cNvSpPr>
          <p:nvPr>
            <p:ph type="ftr" sz="quarter" idx="11"/>
          </p:nvPr>
        </p:nvSpPr>
        <p:spPr>
          <a:xfrm>
            <a:off x="4165600" y="6356351"/>
            <a:ext cx="3860800" cy="365125"/>
          </a:xfrm>
          <a:prstGeom prst="rect">
            <a:avLst/>
          </a:prstGeom>
        </p:spPr>
        <p:txBody>
          <a:bodyPr/>
          <a:lstStyle/>
          <a:p>
            <a:endParaRPr lang="en-ZA"/>
          </a:p>
        </p:txBody>
      </p:sp>
      <p:sp>
        <p:nvSpPr>
          <p:cNvPr id="5" name="Slide Number Placeholder 4"/>
          <p:cNvSpPr>
            <a:spLocks noGrp="1"/>
          </p:cNvSpPr>
          <p:nvPr>
            <p:ph type="sldNum" sz="quarter" idx="12"/>
          </p:nvPr>
        </p:nvSpPr>
        <p:spPr>
          <a:xfrm>
            <a:off x="8737600" y="6356351"/>
            <a:ext cx="2844800" cy="365125"/>
          </a:xfrm>
          <a:prstGeom prst="rect">
            <a:avLst/>
          </a:prstGeom>
        </p:spPr>
        <p:txBody>
          <a:bodyPr/>
          <a:lstStyle/>
          <a:p>
            <a:fld id="{A1AF2325-CD8E-41DA-A2A9-A4D3E4CE53DE}" type="slidenum">
              <a:rPr lang="en-ZA" smtClean="0"/>
            </a:fld>
            <a:endParaRPr lang="en-ZA"/>
          </a:p>
        </p:txBody>
      </p:sp>
      <p:pic>
        <p:nvPicPr>
          <p:cNvPr id="6" name="Picture 5" descr="Aurum New Concep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72800" y="5791200"/>
            <a:ext cx="922655" cy="790575"/>
          </a:xfrm>
          <a:prstGeom prst="rect">
            <a:avLst/>
          </a:prstGeom>
          <a:noFill/>
          <a:ln w="9525">
            <a:noFill/>
            <a:miter lim="800000"/>
            <a:headEnd/>
            <a:tailEnd/>
          </a:ln>
        </p:spPr>
      </p:pic>
      <p:sp>
        <p:nvSpPr>
          <p:cNvPr id="7" name="Rectangle 6"/>
          <p:cNvSpPr/>
          <p:nvPr/>
        </p:nvSpPr>
        <p:spPr>
          <a:xfrm>
            <a:off x="8124000" y="6706800"/>
            <a:ext cx="4068000" cy="151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062000" y="6706800"/>
            <a:ext cx="4068000" cy="151200"/>
          </a:xfrm>
          <a:prstGeom prst="rect">
            <a:avLst/>
          </a:prstGeom>
          <a:solidFill>
            <a:srgbClr val="AFABAB"/>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0" y="6706800"/>
            <a:ext cx="4068000" cy="1512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11" name="Rectangle 10"/>
          <p:cNvSpPr/>
          <p:nvPr/>
        </p:nvSpPr>
        <p:spPr>
          <a:xfrm>
            <a:off x="8124000" y="6706800"/>
            <a:ext cx="4068000" cy="151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4062000" y="6706800"/>
            <a:ext cx="4068000" cy="151200"/>
          </a:xfrm>
          <a:prstGeom prst="rect">
            <a:avLst/>
          </a:prstGeom>
          <a:solidFill>
            <a:srgbClr val="AFABAB"/>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urum New Concep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0522" y="208475"/>
            <a:ext cx="922655" cy="790575"/>
          </a:xfrm>
          <a:prstGeom prst="rect">
            <a:avLst/>
          </a:prstGeom>
          <a:noFill/>
          <a:ln w="9525">
            <a:noFill/>
            <a:miter lim="800000"/>
            <a:headEnd/>
            <a:tailEnd/>
          </a:ln>
        </p:spPr>
      </p:pic>
      <p:sp>
        <p:nvSpPr>
          <p:cNvPr id="17" name="Rectangle 16"/>
          <p:cNvSpPr/>
          <p:nvPr/>
        </p:nvSpPr>
        <p:spPr>
          <a:xfrm>
            <a:off x="0" y="6706800"/>
            <a:ext cx="4068000" cy="151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p:cNvSpPr>
            <a:spLocks noGrp="1"/>
          </p:cNvSpPr>
          <p:nvPr>
            <p:ph type="title" hasCustomPrompt="1"/>
          </p:nvPr>
        </p:nvSpPr>
        <p:spPr>
          <a:xfrm>
            <a:off x="831849" y="3068960"/>
            <a:ext cx="7016750" cy="999182"/>
          </a:xfrm>
          <a:prstGeom prst="rect">
            <a:avLst/>
          </a:prstGeom>
        </p:spPr>
        <p:txBody>
          <a:bodyPr anchor="b"/>
          <a:lstStyle>
            <a:lvl1pPr>
              <a:defRPr sz="6000">
                <a:solidFill>
                  <a:schemeClr val="tx1"/>
                </a:solidFill>
                <a:latin typeface="Arial" panose="020B0604020202020204" pitchFamily="34" charset="0"/>
                <a:cs typeface="Arial" panose="020B0604020202020204" pitchFamily="34" charset="0"/>
              </a:defRPr>
            </a:lvl1pPr>
          </a:lstStyle>
          <a:p>
            <a:r>
              <a:rPr lang="en-US"/>
              <a:t>Thank You</a:t>
            </a:r>
            <a:endParaRPr lang="en-US"/>
          </a:p>
        </p:txBody>
      </p:sp>
      <p:sp>
        <p:nvSpPr>
          <p:cNvPr id="13" name="Rectangle 12"/>
          <p:cNvSpPr/>
          <p:nvPr/>
        </p:nvSpPr>
        <p:spPr>
          <a:xfrm>
            <a:off x="8124000" y="0"/>
            <a:ext cx="4083852" cy="68760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32304" y="2715622"/>
            <a:ext cx="2448272" cy="2046703"/>
          </a:xfrm>
          <a:prstGeom prst="rect">
            <a:avLst/>
          </a:prstGeom>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_Internal presentations">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564904"/>
            <a:ext cx="10363200" cy="1035547"/>
          </a:xfrm>
          <a:prstGeom prst="rect">
            <a:avLst/>
          </a:prstGeom>
        </p:spPr>
        <p:txBody>
          <a:bodyPr/>
          <a:lstStyle>
            <a:lvl1pPr>
              <a:defRPr>
                <a:solidFill>
                  <a:schemeClr val="tx1"/>
                </a:solidFill>
                <a:latin typeface="Arial" panose="020B0604020202020204" pitchFamily="34" charset="0"/>
                <a:cs typeface="Arial" panose="020B0604020202020204" pitchFamily="34" charset="0"/>
              </a:defRPr>
            </a:lvl1pPr>
          </a:lstStyle>
          <a:p>
            <a:r>
              <a:rPr lang="en-US"/>
              <a:t>Presentation title</a:t>
            </a:r>
            <a:endParaRPr lang="en-ZA"/>
          </a:p>
        </p:txBody>
      </p:sp>
      <p:sp>
        <p:nvSpPr>
          <p:cNvPr id="3" name="Subtitle 2"/>
          <p:cNvSpPr>
            <a:spLocks noGrp="1"/>
          </p:cNvSpPr>
          <p:nvPr>
            <p:ph type="subTitle" idx="1" hasCustomPrompt="1"/>
          </p:nvPr>
        </p:nvSpPr>
        <p:spPr>
          <a:xfrm>
            <a:off x="1828800" y="3886200"/>
            <a:ext cx="8534400" cy="694928"/>
          </a:xfrm>
          <a:prstGeom prst="rect">
            <a:avLst/>
          </a:prstGeom>
        </p:spPr>
        <p:txBody>
          <a:bodyPr/>
          <a:lstStyle>
            <a:lvl1pPr marL="0" indent="0" algn="ctr">
              <a:buNone/>
              <a:defRPr>
                <a:solidFill>
                  <a:schemeClr val="tx1">
                    <a:tint val="7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Subheading</a:t>
            </a:r>
            <a:endParaRPr lang="en-ZA"/>
          </a:p>
        </p:txBody>
      </p:sp>
      <p:sp>
        <p:nvSpPr>
          <p:cNvPr id="7" name="Rectangle 6"/>
          <p:cNvSpPr/>
          <p:nvPr/>
        </p:nvSpPr>
        <p:spPr>
          <a:xfrm>
            <a:off x="8124000" y="6477000"/>
            <a:ext cx="4068000" cy="3810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062000" y="6477000"/>
            <a:ext cx="4068000" cy="381000"/>
          </a:xfrm>
          <a:prstGeom prst="rect">
            <a:avLst/>
          </a:prstGeom>
          <a:solidFill>
            <a:srgbClr val="AFABAB"/>
          </a:solidFill>
          <a:ln>
            <a:solidFill>
              <a:srgbClr val="AF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6477000"/>
            <a:ext cx="4068000" cy="3810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urum New Concep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00600" y="228600"/>
            <a:ext cx="2294255" cy="189865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1600">
        <p14:prism isInverted="1" isContent="1"/>
      </p:transition>
    </mc:Choice>
    <mc:Fallback>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PEPFAR, CDC. AURUM">
    <p:spTree>
      <p:nvGrpSpPr>
        <p:cNvPr id="1" name=""/>
        <p:cNvGrpSpPr/>
        <p:nvPr/>
      </p:nvGrpSpPr>
      <p:grpSpPr>
        <a:xfrm>
          <a:off x="0" y="0"/>
          <a:ext cx="0" cy="0"/>
          <a:chOff x="0" y="0"/>
          <a:chExt cx="0" cy="0"/>
        </a:xfrm>
      </p:grpSpPr>
      <p:sp>
        <p:nvSpPr>
          <p:cNvPr id="7" name="Rectangle 6"/>
          <p:cNvSpPr/>
          <p:nvPr/>
        </p:nvSpPr>
        <p:spPr>
          <a:xfrm>
            <a:off x="8124000" y="6477000"/>
            <a:ext cx="4068000" cy="3810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062000" y="6477000"/>
            <a:ext cx="4068000" cy="381000"/>
          </a:xfrm>
          <a:prstGeom prst="rect">
            <a:avLst/>
          </a:prstGeom>
          <a:solidFill>
            <a:srgbClr val="AFABAB"/>
          </a:solidFill>
          <a:ln>
            <a:solidFill>
              <a:srgbClr val="AF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6477000"/>
            <a:ext cx="4068000" cy="3810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p:nvPicPr>
        <p:blipFill rotWithShape="1">
          <a:blip r:embed="rId2" cstate="print">
            <a:extLst>
              <a:ext uri="{28A0092B-C50C-407E-A947-70E740481C1C}">
                <a14:useLocalDpi xmlns:a14="http://schemas.microsoft.com/office/drawing/2010/main" val="0"/>
              </a:ext>
            </a:extLst>
          </a:blip>
          <a:srcRect l="4018" t="10175" b="9361"/>
          <a:stretch>
            <a:fillRect/>
          </a:stretch>
        </p:blipFill>
        <p:spPr>
          <a:xfrm>
            <a:off x="3516052" y="4932445"/>
            <a:ext cx="5159897" cy="1238001"/>
          </a:xfrm>
          <a:prstGeom prst="rect">
            <a:avLst/>
          </a:prstGeom>
        </p:spPr>
      </p:pic>
      <p:sp>
        <p:nvSpPr>
          <p:cNvPr id="10" name="Title 1"/>
          <p:cNvSpPr>
            <a:spLocks noGrp="1"/>
          </p:cNvSpPr>
          <p:nvPr>
            <p:ph type="ctrTitle" hasCustomPrompt="1"/>
          </p:nvPr>
        </p:nvSpPr>
        <p:spPr>
          <a:xfrm>
            <a:off x="914400" y="1027584"/>
            <a:ext cx="10363200" cy="1035547"/>
          </a:xfrm>
          <a:prstGeom prst="rect">
            <a:avLst/>
          </a:prstGeom>
        </p:spPr>
        <p:txBody>
          <a:bodyPr/>
          <a:lstStyle>
            <a:lvl1pPr>
              <a:defRPr>
                <a:solidFill>
                  <a:schemeClr val="tx1"/>
                </a:solidFill>
                <a:latin typeface="Arial" panose="020B0604020202020204" pitchFamily="34" charset="0"/>
                <a:cs typeface="Arial" panose="020B0604020202020204" pitchFamily="34" charset="0"/>
              </a:defRPr>
            </a:lvl1pPr>
          </a:lstStyle>
          <a:p>
            <a:r>
              <a:rPr lang="en-US"/>
              <a:t>Presentation title</a:t>
            </a:r>
            <a:endParaRPr lang="en-ZA"/>
          </a:p>
        </p:txBody>
      </p:sp>
      <p:sp>
        <p:nvSpPr>
          <p:cNvPr id="12" name="Subtitle 2"/>
          <p:cNvSpPr>
            <a:spLocks noGrp="1"/>
          </p:cNvSpPr>
          <p:nvPr>
            <p:ph type="subTitle" idx="1" hasCustomPrompt="1"/>
          </p:nvPr>
        </p:nvSpPr>
        <p:spPr>
          <a:xfrm>
            <a:off x="1828800" y="2348880"/>
            <a:ext cx="8534400" cy="694928"/>
          </a:xfrm>
          <a:prstGeom prst="rect">
            <a:avLst/>
          </a:prstGeom>
        </p:spPr>
        <p:txBody>
          <a:bodyPr/>
          <a:lstStyle>
            <a:lvl1pPr marL="0" indent="0" algn="ctr">
              <a:buNone/>
              <a:defRPr>
                <a:solidFill>
                  <a:schemeClr val="tx1">
                    <a:tint val="7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Subheading</a:t>
            </a:r>
            <a:endParaRPr lang="en-ZA"/>
          </a:p>
        </p:txBody>
      </p:sp>
    </p:spTree>
  </p:cSld>
  <p:clrMapOvr>
    <a:masterClrMapping/>
  </p:clrMapOvr>
  <mc:AlternateContent xmlns:mc="http://schemas.openxmlformats.org/markup-compatibility/2006">
    <mc:Choice xmlns:p14="http://schemas.microsoft.com/office/powerpoint/2010/main" Requires="p14">
      <p:transition spd="slow" p14:dur="1600">
        <p14:prism isInverted="1" isContent="1"/>
      </p:transition>
    </mc:Choice>
    <mc:Fallback>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2_DoH, EKN, PEPFAR, CDC, Aurum">
    <p:spTree>
      <p:nvGrpSpPr>
        <p:cNvPr id="1" name=""/>
        <p:cNvGrpSpPr/>
        <p:nvPr/>
      </p:nvGrpSpPr>
      <p:grpSpPr>
        <a:xfrm>
          <a:off x="0" y="0"/>
          <a:ext cx="0" cy="0"/>
          <a:chOff x="0" y="0"/>
          <a:chExt cx="0" cy="0"/>
        </a:xfrm>
      </p:grpSpPr>
      <p:sp>
        <p:nvSpPr>
          <p:cNvPr id="7" name="Rectangle 6"/>
          <p:cNvSpPr/>
          <p:nvPr/>
        </p:nvSpPr>
        <p:spPr>
          <a:xfrm>
            <a:off x="8124000" y="6477000"/>
            <a:ext cx="4068000" cy="3810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062000" y="6477000"/>
            <a:ext cx="4068000" cy="381000"/>
          </a:xfrm>
          <a:prstGeom prst="rect">
            <a:avLst/>
          </a:prstGeom>
          <a:solidFill>
            <a:srgbClr val="AFABAB"/>
          </a:solidFill>
          <a:ln>
            <a:solidFill>
              <a:srgbClr val="AF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p:nvPicPr>
        <p:blipFill rotWithShape="1">
          <a:blip r:embed="rId2" cstate="print">
            <a:extLst>
              <a:ext uri="{28A0092B-C50C-407E-A947-70E740481C1C}">
                <a14:useLocalDpi xmlns:a14="http://schemas.microsoft.com/office/drawing/2010/main" val="0"/>
              </a:ext>
            </a:extLst>
          </a:blip>
          <a:srcRect t="13447"/>
          <a:stretch>
            <a:fillRect/>
          </a:stretch>
        </p:blipFill>
        <p:spPr>
          <a:xfrm>
            <a:off x="295846" y="4898227"/>
            <a:ext cx="11600309" cy="1411093"/>
          </a:xfrm>
          <a:prstGeom prst="rect">
            <a:avLst/>
          </a:prstGeom>
        </p:spPr>
      </p:pic>
      <p:sp>
        <p:nvSpPr>
          <p:cNvPr id="10" name="Title 1"/>
          <p:cNvSpPr>
            <a:spLocks noGrp="1"/>
          </p:cNvSpPr>
          <p:nvPr>
            <p:ph type="ctrTitle" hasCustomPrompt="1"/>
          </p:nvPr>
        </p:nvSpPr>
        <p:spPr>
          <a:xfrm>
            <a:off x="914400" y="980728"/>
            <a:ext cx="10363200" cy="1035547"/>
          </a:xfrm>
          <a:prstGeom prst="rect">
            <a:avLst/>
          </a:prstGeom>
        </p:spPr>
        <p:txBody>
          <a:bodyPr/>
          <a:lstStyle>
            <a:lvl1pPr>
              <a:defRPr>
                <a:solidFill>
                  <a:schemeClr val="tx1"/>
                </a:solidFill>
                <a:latin typeface="Arial" panose="020B0604020202020204" pitchFamily="34" charset="0"/>
                <a:cs typeface="Arial" panose="020B0604020202020204" pitchFamily="34" charset="0"/>
              </a:defRPr>
            </a:lvl1pPr>
          </a:lstStyle>
          <a:p>
            <a:r>
              <a:rPr lang="en-US"/>
              <a:t>Presentation title</a:t>
            </a:r>
            <a:endParaRPr lang="en-ZA"/>
          </a:p>
        </p:txBody>
      </p:sp>
      <p:sp>
        <p:nvSpPr>
          <p:cNvPr id="12" name="Subtitle 2"/>
          <p:cNvSpPr>
            <a:spLocks noGrp="1"/>
          </p:cNvSpPr>
          <p:nvPr>
            <p:ph type="subTitle" idx="1" hasCustomPrompt="1"/>
          </p:nvPr>
        </p:nvSpPr>
        <p:spPr>
          <a:xfrm>
            <a:off x="1828800" y="2302024"/>
            <a:ext cx="8534400" cy="694928"/>
          </a:xfrm>
          <a:prstGeom prst="rect">
            <a:avLst/>
          </a:prstGeom>
        </p:spPr>
        <p:txBody>
          <a:bodyPr/>
          <a:lstStyle>
            <a:lvl1pPr marL="0" indent="0" algn="ctr">
              <a:buNone/>
              <a:defRPr>
                <a:solidFill>
                  <a:schemeClr val="tx1">
                    <a:tint val="7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Subheading</a:t>
            </a:r>
            <a:endParaRPr lang="en-ZA"/>
          </a:p>
        </p:txBody>
      </p:sp>
      <p:sp>
        <p:nvSpPr>
          <p:cNvPr id="13" name="Rectangle 12"/>
          <p:cNvSpPr/>
          <p:nvPr/>
        </p:nvSpPr>
        <p:spPr>
          <a:xfrm>
            <a:off x="0" y="6477000"/>
            <a:ext cx="4068000" cy="3810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isContent="1"/>
      </p:transition>
    </mc:Choice>
    <mc:Fallback>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GHANA,IMPAACT4TB,UNTAID. Aurum">
    <p:spTree>
      <p:nvGrpSpPr>
        <p:cNvPr id="1" name=""/>
        <p:cNvGrpSpPr/>
        <p:nvPr/>
      </p:nvGrpSpPr>
      <p:grpSpPr>
        <a:xfrm>
          <a:off x="0" y="0"/>
          <a:ext cx="0" cy="0"/>
          <a:chOff x="0" y="0"/>
          <a:chExt cx="0" cy="0"/>
        </a:xfrm>
      </p:grpSpPr>
      <p:sp>
        <p:nvSpPr>
          <p:cNvPr id="7" name="Rectangle 6"/>
          <p:cNvSpPr/>
          <p:nvPr/>
        </p:nvSpPr>
        <p:spPr>
          <a:xfrm>
            <a:off x="8124000" y="6477000"/>
            <a:ext cx="4068000" cy="3810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062000" y="6477000"/>
            <a:ext cx="4068000" cy="381000"/>
          </a:xfrm>
          <a:prstGeom prst="rect">
            <a:avLst/>
          </a:prstGeom>
          <a:solidFill>
            <a:srgbClr val="AFABAB"/>
          </a:solidFill>
          <a:ln>
            <a:solidFill>
              <a:srgbClr val="AF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p:nvPicPr>
        <p:blipFill rotWithShape="1">
          <a:blip r:embed="rId2" cstate="print">
            <a:extLst>
              <a:ext uri="{28A0092B-C50C-407E-A947-70E740481C1C}">
                <a14:useLocalDpi xmlns:a14="http://schemas.microsoft.com/office/drawing/2010/main" val="0"/>
              </a:ext>
            </a:extLst>
          </a:blip>
          <a:srcRect r="8008"/>
          <a:stretch>
            <a:fillRect/>
          </a:stretch>
        </p:blipFill>
        <p:spPr>
          <a:xfrm>
            <a:off x="743744" y="4869160"/>
            <a:ext cx="10704512" cy="1363634"/>
          </a:xfrm>
          <a:prstGeom prst="rect">
            <a:avLst/>
          </a:prstGeom>
        </p:spPr>
      </p:pic>
      <p:sp>
        <p:nvSpPr>
          <p:cNvPr id="10" name="Title 1"/>
          <p:cNvSpPr>
            <a:spLocks noGrp="1"/>
          </p:cNvSpPr>
          <p:nvPr>
            <p:ph type="ctrTitle" hasCustomPrompt="1"/>
          </p:nvPr>
        </p:nvSpPr>
        <p:spPr>
          <a:xfrm>
            <a:off x="914400" y="908720"/>
            <a:ext cx="10363200" cy="1035547"/>
          </a:xfrm>
          <a:prstGeom prst="rect">
            <a:avLst/>
          </a:prstGeom>
        </p:spPr>
        <p:txBody>
          <a:bodyPr/>
          <a:lstStyle>
            <a:lvl1pPr>
              <a:defRPr>
                <a:solidFill>
                  <a:schemeClr val="tx1"/>
                </a:solidFill>
                <a:latin typeface="Arial" panose="020B0604020202020204" pitchFamily="34" charset="0"/>
                <a:cs typeface="Arial" panose="020B0604020202020204" pitchFamily="34" charset="0"/>
              </a:defRPr>
            </a:lvl1pPr>
          </a:lstStyle>
          <a:p>
            <a:r>
              <a:rPr lang="en-US"/>
              <a:t>Presentation title</a:t>
            </a:r>
            <a:endParaRPr lang="en-ZA"/>
          </a:p>
        </p:txBody>
      </p:sp>
      <p:sp>
        <p:nvSpPr>
          <p:cNvPr id="11" name="Subtitle 2"/>
          <p:cNvSpPr>
            <a:spLocks noGrp="1"/>
          </p:cNvSpPr>
          <p:nvPr>
            <p:ph type="subTitle" idx="1" hasCustomPrompt="1"/>
          </p:nvPr>
        </p:nvSpPr>
        <p:spPr>
          <a:xfrm>
            <a:off x="1828800" y="2230016"/>
            <a:ext cx="8534400" cy="694928"/>
          </a:xfrm>
          <a:prstGeom prst="rect">
            <a:avLst/>
          </a:prstGeom>
        </p:spPr>
        <p:txBody>
          <a:bodyPr/>
          <a:lstStyle>
            <a:lvl1pPr marL="0" indent="0" algn="ctr">
              <a:buNone/>
              <a:defRPr>
                <a:solidFill>
                  <a:schemeClr val="tx1">
                    <a:tint val="7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Subheading</a:t>
            </a:r>
            <a:endParaRPr lang="en-ZA"/>
          </a:p>
        </p:txBody>
      </p:sp>
      <p:sp>
        <p:nvSpPr>
          <p:cNvPr id="13" name="Rectangle 12"/>
          <p:cNvSpPr/>
          <p:nvPr/>
        </p:nvSpPr>
        <p:spPr>
          <a:xfrm>
            <a:off x="0" y="6477000"/>
            <a:ext cx="4068000" cy="3810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isContent="1"/>
      </p:transition>
    </mc:Choice>
    <mc:Fallback>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4_Mozambique, IMPAACT4TB,UNTAID. Aurum">
    <p:spTree>
      <p:nvGrpSpPr>
        <p:cNvPr id="1" name=""/>
        <p:cNvGrpSpPr/>
        <p:nvPr/>
      </p:nvGrpSpPr>
      <p:grpSpPr>
        <a:xfrm>
          <a:off x="0" y="0"/>
          <a:ext cx="0" cy="0"/>
          <a:chOff x="0" y="0"/>
          <a:chExt cx="0" cy="0"/>
        </a:xfrm>
      </p:grpSpPr>
      <p:sp>
        <p:nvSpPr>
          <p:cNvPr id="7" name="Rectangle 6"/>
          <p:cNvSpPr/>
          <p:nvPr/>
        </p:nvSpPr>
        <p:spPr>
          <a:xfrm>
            <a:off x="8124000" y="6477000"/>
            <a:ext cx="4068000" cy="3810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062000" y="6477000"/>
            <a:ext cx="4068000" cy="381000"/>
          </a:xfrm>
          <a:prstGeom prst="rect">
            <a:avLst/>
          </a:prstGeom>
          <a:solidFill>
            <a:srgbClr val="AFABAB"/>
          </a:solidFill>
          <a:ln>
            <a:solidFill>
              <a:srgbClr val="AF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4736" y="4934905"/>
            <a:ext cx="10945982" cy="1374415"/>
          </a:xfrm>
          <a:prstGeom prst="rect">
            <a:avLst/>
          </a:prstGeom>
        </p:spPr>
      </p:pic>
      <p:sp>
        <p:nvSpPr>
          <p:cNvPr id="10" name="Title 1"/>
          <p:cNvSpPr>
            <a:spLocks noGrp="1"/>
          </p:cNvSpPr>
          <p:nvPr>
            <p:ph type="ctrTitle" hasCustomPrompt="1"/>
          </p:nvPr>
        </p:nvSpPr>
        <p:spPr>
          <a:xfrm>
            <a:off x="914400" y="692696"/>
            <a:ext cx="10363200" cy="1035547"/>
          </a:xfrm>
          <a:prstGeom prst="rect">
            <a:avLst/>
          </a:prstGeom>
        </p:spPr>
        <p:txBody>
          <a:bodyPr/>
          <a:lstStyle>
            <a:lvl1pPr>
              <a:defRPr>
                <a:solidFill>
                  <a:schemeClr val="tx1"/>
                </a:solidFill>
                <a:latin typeface="Arial" panose="020B0604020202020204" pitchFamily="34" charset="0"/>
                <a:cs typeface="Arial" panose="020B0604020202020204" pitchFamily="34" charset="0"/>
              </a:defRPr>
            </a:lvl1pPr>
          </a:lstStyle>
          <a:p>
            <a:r>
              <a:rPr lang="en-US"/>
              <a:t>Presentation title</a:t>
            </a:r>
            <a:endParaRPr lang="en-ZA"/>
          </a:p>
        </p:txBody>
      </p:sp>
      <p:sp>
        <p:nvSpPr>
          <p:cNvPr id="12" name="Subtitle 2"/>
          <p:cNvSpPr>
            <a:spLocks noGrp="1"/>
          </p:cNvSpPr>
          <p:nvPr>
            <p:ph type="subTitle" idx="1" hasCustomPrompt="1"/>
          </p:nvPr>
        </p:nvSpPr>
        <p:spPr>
          <a:xfrm>
            <a:off x="1828800" y="2013992"/>
            <a:ext cx="8534400" cy="694928"/>
          </a:xfrm>
          <a:prstGeom prst="rect">
            <a:avLst/>
          </a:prstGeom>
        </p:spPr>
        <p:txBody>
          <a:bodyPr/>
          <a:lstStyle>
            <a:lvl1pPr marL="0" indent="0" algn="ctr">
              <a:buNone/>
              <a:defRPr>
                <a:solidFill>
                  <a:schemeClr val="tx1">
                    <a:tint val="7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Subheading</a:t>
            </a:r>
            <a:endParaRPr lang="en-ZA"/>
          </a:p>
        </p:txBody>
      </p:sp>
      <p:sp>
        <p:nvSpPr>
          <p:cNvPr id="14" name="Rectangle 13"/>
          <p:cNvSpPr/>
          <p:nvPr/>
        </p:nvSpPr>
        <p:spPr>
          <a:xfrm>
            <a:off x="0" y="6477000"/>
            <a:ext cx="4068000" cy="3810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isContent="1"/>
      </p:transition>
    </mc:Choice>
    <mc:Fallback>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5_Mozambique, IMPAACT4TB,UNTAID. Aurum">
    <p:spTree>
      <p:nvGrpSpPr>
        <p:cNvPr id="1" name=""/>
        <p:cNvGrpSpPr/>
        <p:nvPr/>
      </p:nvGrpSpPr>
      <p:grpSpPr>
        <a:xfrm>
          <a:off x="0" y="0"/>
          <a:ext cx="0" cy="0"/>
          <a:chOff x="0" y="0"/>
          <a:chExt cx="0" cy="0"/>
        </a:xfrm>
      </p:grpSpPr>
      <p:sp>
        <p:nvSpPr>
          <p:cNvPr id="7" name="Rectangle 6"/>
          <p:cNvSpPr/>
          <p:nvPr/>
        </p:nvSpPr>
        <p:spPr>
          <a:xfrm>
            <a:off x="8124000" y="6477000"/>
            <a:ext cx="4068000" cy="3810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062000" y="6477000"/>
            <a:ext cx="4068000" cy="381000"/>
          </a:xfrm>
          <a:prstGeom prst="rect">
            <a:avLst/>
          </a:prstGeom>
          <a:solidFill>
            <a:srgbClr val="AFABAB"/>
          </a:solidFill>
          <a:ln>
            <a:solidFill>
              <a:srgbClr val="AF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9406" y="4881496"/>
            <a:ext cx="10693188" cy="1342673"/>
          </a:xfrm>
          <a:prstGeom prst="rect">
            <a:avLst/>
          </a:prstGeom>
        </p:spPr>
      </p:pic>
      <p:sp>
        <p:nvSpPr>
          <p:cNvPr id="10" name="Title 1"/>
          <p:cNvSpPr>
            <a:spLocks noGrp="1"/>
          </p:cNvSpPr>
          <p:nvPr>
            <p:ph type="ctrTitle" hasCustomPrompt="1"/>
          </p:nvPr>
        </p:nvSpPr>
        <p:spPr>
          <a:xfrm>
            <a:off x="914400" y="764704"/>
            <a:ext cx="10363200" cy="1035547"/>
          </a:xfrm>
          <a:prstGeom prst="rect">
            <a:avLst/>
          </a:prstGeom>
        </p:spPr>
        <p:txBody>
          <a:bodyPr/>
          <a:lstStyle>
            <a:lvl1pPr>
              <a:defRPr>
                <a:solidFill>
                  <a:schemeClr val="tx1"/>
                </a:solidFill>
                <a:latin typeface="Arial" panose="020B0604020202020204" pitchFamily="34" charset="0"/>
                <a:cs typeface="Arial" panose="020B0604020202020204" pitchFamily="34" charset="0"/>
              </a:defRPr>
            </a:lvl1pPr>
          </a:lstStyle>
          <a:p>
            <a:r>
              <a:rPr lang="en-US"/>
              <a:t>Presentation title</a:t>
            </a:r>
            <a:endParaRPr lang="en-ZA"/>
          </a:p>
        </p:txBody>
      </p:sp>
      <p:sp>
        <p:nvSpPr>
          <p:cNvPr id="11" name="Subtitle 2"/>
          <p:cNvSpPr>
            <a:spLocks noGrp="1"/>
          </p:cNvSpPr>
          <p:nvPr>
            <p:ph type="subTitle" idx="1" hasCustomPrompt="1"/>
          </p:nvPr>
        </p:nvSpPr>
        <p:spPr>
          <a:xfrm>
            <a:off x="1828800" y="2086000"/>
            <a:ext cx="8534400" cy="694928"/>
          </a:xfrm>
          <a:prstGeom prst="rect">
            <a:avLst/>
          </a:prstGeom>
        </p:spPr>
        <p:txBody>
          <a:bodyPr/>
          <a:lstStyle>
            <a:lvl1pPr marL="0" indent="0" algn="ctr">
              <a:buNone/>
              <a:defRPr>
                <a:solidFill>
                  <a:schemeClr val="tx1">
                    <a:tint val="7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Subheading</a:t>
            </a:r>
            <a:endParaRPr lang="en-ZA"/>
          </a:p>
        </p:txBody>
      </p:sp>
      <p:sp>
        <p:nvSpPr>
          <p:cNvPr id="13" name="Rectangle 12"/>
          <p:cNvSpPr/>
          <p:nvPr/>
        </p:nvSpPr>
        <p:spPr>
          <a:xfrm>
            <a:off x="0" y="6477000"/>
            <a:ext cx="4068000" cy="3810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isContent="1"/>
      </p:transition>
    </mc:Choice>
    <mc:Fallback>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38"/>
            <a:ext cx="10972800" cy="1143000"/>
          </a:xfrm>
          <a:prstGeom prst="rect">
            <a:avLst/>
          </a:prstGeom>
        </p:spPr>
        <p:txBody>
          <a:bodyPr/>
          <a:lstStyle>
            <a:lvl1pPr>
              <a:defRPr cap="none" baseline="0">
                <a:solidFill>
                  <a:schemeClr val="tx1"/>
                </a:solidFill>
                <a:latin typeface="Arial" panose="020B0604020202020204" pitchFamily="34" charset="0"/>
                <a:cs typeface="Arial" panose="020B0604020202020204" pitchFamily="34" charset="0"/>
              </a:defRPr>
            </a:lvl1pPr>
          </a:lstStyle>
          <a:p>
            <a:r>
              <a:rPr lang="en-US"/>
              <a:t>Heading</a:t>
            </a:r>
            <a:endParaRPr lang="en-ZA"/>
          </a:p>
        </p:txBody>
      </p:sp>
      <p:sp>
        <p:nvSpPr>
          <p:cNvPr id="3" name="Content Placeholder 2"/>
          <p:cNvSpPr>
            <a:spLocks noGrp="1"/>
          </p:cNvSpPr>
          <p:nvPr>
            <p:ph idx="1"/>
          </p:nvPr>
        </p:nvSpPr>
        <p:spPr>
          <a:xfrm>
            <a:off x="609600" y="1768087"/>
            <a:ext cx="10972800" cy="3886589"/>
          </a:xfrm>
          <a:prstGeom prst="rect">
            <a:avLst/>
          </a:prstGeom>
        </p:spPr>
        <p:txBody>
          <a:bodyPr/>
          <a:lstStyle>
            <a:lvl1pPr marL="342900" indent="-342900">
              <a:buClr>
                <a:srgbClr val="CF142B"/>
              </a:buClr>
              <a:buFont typeface="Arial" panose="020B0604020202020204" pitchFamily="34" charset="0"/>
              <a:buChar char="►"/>
              <a:defRPr>
                <a:latin typeface="Arial" panose="020B0604020202020204" pitchFamily="34" charset="0"/>
                <a:cs typeface="Arial" panose="020B0604020202020204" pitchFamily="34" charset="0"/>
              </a:defRPr>
            </a:lvl1pPr>
            <a:lvl2pPr marL="742950" indent="-285750">
              <a:buClr>
                <a:srgbClr val="FFC000"/>
              </a:buClr>
              <a:buFont typeface="Wingdings" panose="05000000000000000000" pitchFamily="2" charset="2"/>
              <a:buChar cha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4" name="Date Placeholder 3"/>
          <p:cNvSpPr>
            <a:spLocks noGrp="1"/>
          </p:cNvSpPr>
          <p:nvPr>
            <p:ph type="dt" sz="half" idx="10"/>
          </p:nvPr>
        </p:nvSpPr>
        <p:spPr>
          <a:xfrm>
            <a:off x="609600" y="6356351"/>
            <a:ext cx="2844800" cy="365125"/>
          </a:xfrm>
          <a:prstGeom prst="rect">
            <a:avLst/>
          </a:prstGeom>
        </p:spPr>
        <p:txBody>
          <a:bodyPr/>
          <a:lstStyle/>
          <a:p>
            <a:fld id="{234DC252-1442-438B-A140-1627EE769DB9}" type="datetimeFigureOut">
              <a:rPr lang="en-ZA" smtClean="0"/>
            </a:fld>
            <a:endParaRPr lang="en-ZA"/>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en-ZA"/>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A1AF2325-CD8E-41DA-A2A9-A4D3E4CE53DE}" type="slidenum">
              <a:rPr lang="en-ZA" smtClean="0"/>
            </a:fld>
            <a:endParaRPr lang="en-ZA"/>
          </a:p>
        </p:txBody>
      </p:sp>
      <p:pic>
        <p:nvPicPr>
          <p:cNvPr id="7" name="Picture 6" descr="Aurum New Concep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72800" y="5791200"/>
            <a:ext cx="922655" cy="790575"/>
          </a:xfrm>
          <a:prstGeom prst="rect">
            <a:avLst/>
          </a:prstGeom>
          <a:noFill/>
          <a:ln w="9525">
            <a:noFill/>
            <a:miter lim="800000"/>
            <a:headEnd/>
            <a:tailEnd/>
          </a:ln>
        </p:spPr>
      </p:pic>
      <p:sp>
        <p:nvSpPr>
          <p:cNvPr id="8" name="Rectangle 7"/>
          <p:cNvSpPr/>
          <p:nvPr/>
        </p:nvSpPr>
        <p:spPr>
          <a:xfrm>
            <a:off x="8124000" y="6706800"/>
            <a:ext cx="4068000" cy="151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062000" y="6706800"/>
            <a:ext cx="4068000" cy="151200"/>
          </a:xfrm>
          <a:prstGeom prst="rect">
            <a:avLst/>
          </a:prstGeom>
          <a:solidFill>
            <a:srgbClr val="AFABAB"/>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0" y="6706800"/>
            <a:ext cx="4068000" cy="1512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isContent="1"/>
      </p:transition>
    </mc:Choice>
    <mc:Fallback>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1" name="Rectangle 10"/>
          <p:cNvSpPr/>
          <p:nvPr/>
        </p:nvSpPr>
        <p:spPr>
          <a:xfrm>
            <a:off x="8124000" y="6706800"/>
            <a:ext cx="4068000" cy="151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4062000" y="6706800"/>
            <a:ext cx="4068000" cy="151200"/>
          </a:xfrm>
          <a:prstGeom prst="rect">
            <a:avLst/>
          </a:prstGeom>
          <a:solidFill>
            <a:srgbClr val="AFABAB"/>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963084" y="4406901"/>
            <a:ext cx="6933116" cy="1362075"/>
          </a:xfrm>
          <a:prstGeom prst="rect">
            <a:avLst/>
          </a:prstGeom>
        </p:spPr>
        <p:txBody>
          <a:bodyPr anchor="t"/>
          <a:lstStyle>
            <a:lvl1pPr algn="l">
              <a:defRPr sz="4000" b="1" cap="none">
                <a:solidFill>
                  <a:schemeClr val="tx1"/>
                </a:solidFill>
                <a:latin typeface="Arial" panose="020B0604020202020204" pitchFamily="34" charset="0"/>
                <a:cs typeface="Arial" panose="020B0604020202020204" pitchFamily="34" charset="0"/>
              </a:defRPr>
            </a:lvl1pPr>
          </a:lstStyle>
          <a:p>
            <a:r>
              <a:rPr lang="en-US"/>
              <a:t>Heading</a:t>
            </a:r>
            <a:endParaRPr lang="en-ZA"/>
          </a:p>
        </p:txBody>
      </p:sp>
      <p:sp>
        <p:nvSpPr>
          <p:cNvPr id="3" name="Text Placeholder 2"/>
          <p:cNvSpPr>
            <a:spLocks noGrp="1"/>
          </p:cNvSpPr>
          <p:nvPr>
            <p:ph type="body" idx="1"/>
          </p:nvPr>
        </p:nvSpPr>
        <p:spPr>
          <a:xfrm>
            <a:off x="963084" y="2906713"/>
            <a:ext cx="6933116" cy="1500187"/>
          </a:xfrm>
          <a:prstGeom prst="rect">
            <a:avLst/>
          </a:prstGeom>
        </p:spPr>
        <p:txBody>
          <a:bodyPr anchor="b"/>
          <a:lstStyle>
            <a:lvl1pPr marL="0" indent="0">
              <a:buNone/>
              <a:defRPr sz="2000">
                <a:solidFill>
                  <a:schemeClr val="tx1">
                    <a:tint val="75000"/>
                  </a:schemeClr>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pic>
        <p:nvPicPr>
          <p:cNvPr id="9" name="Picture 8" descr="Aurum New Concep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0522" y="208475"/>
            <a:ext cx="922655" cy="790575"/>
          </a:xfrm>
          <a:prstGeom prst="rect">
            <a:avLst/>
          </a:prstGeom>
          <a:noFill/>
          <a:ln w="9525">
            <a:noFill/>
            <a:miter lim="800000"/>
            <a:headEnd/>
            <a:tailEnd/>
          </a:ln>
        </p:spPr>
      </p:pic>
      <p:sp>
        <p:nvSpPr>
          <p:cNvPr id="10" name="Rectangle 9"/>
          <p:cNvSpPr/>
          <p:nvPr/>
        </p:nvSpPr>
        <p:spPr>
          <a:xfrm>
            <a:off x="8124000" y="0"/>
            <a:ext cx="4083852" cy="68760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6706800"/>
            <a:ext cx="4068000" cy="151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isContent="1"/>
      </p:transition>
    </mc:Choice>
    <mc:Fallback>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sp>
        <p:nvSpPr>
          <p:cNvPr id="11" name="Rectangle 10"/>
          <p:cNvSpPr/>
          <p:nvPr/>
        </p:nvSpPr>
        <p:spPr>
          <a:xfrm>
            <a:off x="8124000" y="6706800"/>
            <a:ext cx="4068000" cy="151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4062000" y="6706800"/>
            <a:ext cx="4068000" cy="151200"/>
          </a:xfrm>
          <a:prstGeom prst="rect">
            <a:avLst/>
          </a:prstGeom>
          <a:solidFill>
            <a:srgbClr val="AFABAB"/>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urum New Concep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0522" y="208475"/>
            <a:ext cx="922655" cy="790575"/>
          </a:xfrm>
          <a:prstGeom prst="rect">
            <a:avLst/>
          </a:prstGeom>
          <a:noFill/>
          <a:ln w="9525">
            <a:noFill/>
            <a:miter lim="800000"/>
            <a:headEnd/>
            <a:tailEnd/>
          </a:ln>
        </p:spPr>
      </p:pic>
      <p:sp>
        <p:nvSpPr>
          <p:cNvPr id="14" name="Title 1"/>
          <p:cNvSpPr>
            <a:spLocks noGrp="1"/>
          </p:cNvSpPr>
          <p:nvPr>
            <p:ph type="title" hasCustomPrompt="1"/>
          </p:nvPr>
        </p:nvSpPr>
        <p:spPr>
          <a:xfrm>
            <a:off x="831850" y="1709738"/>
            <a:ext cx="7016750" cy="2852737"/>
          </a:xfrm>
          <a:prstGeom prst="rect">
            <a:avLst/>
          </a:prstGeom>
        </p:spPr>
        <p:txBody>
          <a:bodyPr anchor="b"/>
          <a:lstStyle>
            <a:lvl1pPr>
              <a:defRPr sz="6000">
                <a:solidFill>
                  <a:schemeClr val="tx1"/>
                </a:solidFill>
                <a:latin typeface="Arial" panose="020B0604020202020204" pitchFamily="34" charset="0"/>
                <a:cs typeface="Arial" panose="020B0604020202020204" pitchFamily="34" charset="0"/>
              </a:defRPr>
            </a:lvl1pPr>
          </a:lstStyle>
          <a:p>
            <a:r>
              <a:rPr lang="en-US"/>
              <a:t>Heading</a:t>
            </a:r>
            <a:endParaRPr lang="en-US"/>
          </a:p>
        </p:txBody>
      </p:sp>
      <p:sp>
        <p:nvSpPr>
          <p:cNvPr id="15" name="Text Placeholder 2"/>
          <p:cNvSpPr>
            <a:spLocks noGrp="1"/>
          </p:cNvSpPr>
          <p:nvPr>
            <p:ph type="body" idx="1"/>
          </p:nvPr>
        </p:nvSpPr>
        <p:spPr>
          <a:xfrm>
            <a:off x="831850" y="4589463"/>
            <a:ext cx="7016750" cy="1500187"/>
          </a:xfrm>
          <a:prstGeom prst="rect">
            <a:avLst/>
          </a:prstGeom>
        </p:spPr>
        <p:txBody>
          <a:bodyPr/>
          <a:lstStyle>
            <a:lvl1pPr marL="0" indent="0">
              <a:buNone/>
              <a:defRPr sz="2400">
                <a:solidFill>
                  <a:schemeClr val="tx1">
                    <a:tint val="75000"/>
                  </a:schemeClr>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17" name="Rectangle 16"/>
          <p:cNvSpPr/>
          <p:nvPr/>
        </p:nvSpPr>
        <p:spPr>
          <a:xfrm>
            <a:off x="0" y="6706800"/>
            <a:ext cx="4068000" cy="151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8124000" y="0"/>
            <a:ext cx="4083852" cy="68760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isContent="1"/>
      </p:transition>
    </mc:Choice>
    <mc:Fallback>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2_Section Header">
    <p:spTree>
      <p:nvGrpSpPr>
        <p:cNvPr id="1" name=""/>
        <p:cNvGrpSpPr/>
        <p:nvPr/>
      </p:nvGrpSpPr>
      <p:grpSpPr>
        <a:xfrm>
          <a:off x="0" y="0"/>
          <a:ext cx="0" cy="0"/>
          <a:chOff x="0" y="0"/>
          <a:chExt cx="0" cy="0"/>
        </a:xfrm>
      </p:grpSpPr>
      <p:pic>
        <p:nvPicPr>
          <p:cNvPr id="9" name="Picture 8" descr="Aurum New Concep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0522" y="208475"/>
            <a:ext cx="922655" cy="790575"/>
          </a:xfrm>
          <a:prstGeom prst="rect">
            <a:avLst/>
          </a:prstGeom>
          <a:noFill/>
          <a:ln w="9525">
            <a:noFill/>
            <a:miter lim="800000"/>
            <a:headEnd/>
            <a:tailEnd/>
          </a:ln>
        </p:spPr>
      </p:pic>
      <p:sp>
        <p:nvSpPr>
          <p:cNvPr id="13" name="Rectangle 12"/>
          <p:cNvSpPr/>
          <p:nvPr/>
        </p:nvSpPr>
        <p:spPr>
          <a:xfrm>
            <a:off x="11290372" y="0"/>
            <a:ext cx="424132" cy="6866988"/>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urum New Concep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0522" y="208475"/>
            <a:ext cx="1229678" cy="1163125"/>
          </a:xfrm>
          <a:prstGeom prst="rect">
            <a:avLst/>
          </a:prstGeom>
          <a:noFill/>
          <a:ln w="9525">
            <a:noFill/>
            <a:miter lim="800000"/>
            <a:headEnd/>
            <a:tailEnd/>
          </a:ln>
        </p:spPr>
      </p:pic>
      <p:sp>
        <p:nvSpPr>
          <p:cNvPr id="18" name="Rectangle 17"/>
          <p:cNvSpPr/>
          <p:nvPr/>
        </p:nvSpPr>
        <p:spPr>
          <a:xfrm>
            <a:off x="11508740" y="0"/>
            <a:ext cx="381000" cy="6858000"/>
          </a:xfrm>
          <a:prstGeom prst="rect">
            <a:avLst/>
          </a:prstGeom>
          <a:solidFill>
            <a:srgbClr val="AFABAB"/>
          </a:solidFill>
          <a:ln>
            <a:solidFill>
              <a:srgbClr val="AF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11683712" y="0"/>
            <a:ext cx="503208" cy="6866988"/>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itle 1"/>
          <p:cNvSpPr>
            <a:spLocks noGrp="1"/>
          </p:cNvSpPr>
          <p:nvPr>
            <p:ph type="title" hasCustomPrompt="1"/>
          </p:nvPr>
        </p:nvSpPr>
        <p:spPr>
          <a:xfrm>
            <a:off x="831850" y="1709739"/>
            <a:ext cx="9986106" cy="2727374"/>
          </a:xfrm>
          <a:prstGeom prst="rect">
            <a:avLst/>
          </a:prstGeom>
        </p:spPr>
        <p:txBody>
          <a:bodyPr anchor="b"/>
          <a:lstStyle>
            <a:lvl1pPr algn="l">
              <a:defRPr sz="6000">
                <a:solidFill>
                  <a:schemeClr val="tx1"/>
                </a:solidFill>
                <a:latin typeface="Arial" panose="020B0604020202020204" pitchFamily="34" charset="0"/>
                <a:cs typeface="Arial" panose="020B0604020202020204" pitchFamily="34" charset="0"/>
              </a:defRPr>
            </a:lvl1pPr>
          </a:lstStyle>
          <a:p>
            <a:r>
              <a:rPr lang="en-US"/>
              <a:t>HEADING</a:t>
            </a:r>
            <a:endParaRPr lang="en-US"/>
          </a:p>
        </p:txBody>
      </p:sp>
      <p:sp>
        <p:nvSpPr>
          <p:cNvPr id="21" name="Text Placeholder 2"/>
          <p:cNvSpPr>
            <a:spLocks noGrp="1"/>
          </p:cNvSpPr>
          <p:nvPr>
            <p:ph type="body" idx="1"/>
          </p:nvPr>
        </p:nvSpPr>
        <p:spPr>
          <a:xfrm>
            <a:off x="831850" y="4589463"/>
            <a:ext cx="9986106" cy="1500187"/>
          </a:xfrm>
          <a:prstGeom prst="rect">
            <a:avLst/>
          </a:prstGeom>
        </p:spPr>
        <p:txBody>
          <a:bodyPr/>
          <a:lstStyle>
            <a:lvl1pPr marL="0" indent="0">
              <a:buNone/>
              <a:defRPr sz="2400">
                <a:solidFill>
                  <a:schemeClr val="tx1">
                    <a:tint val="75000"/>
                  </a:schemeClr>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isContent="1"/>
      </p:transition>
    </mc:Choice>
    <mc:Fallback>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38"/>
            <a:ext cx="10972800" cy="1143000"/>
          </a:xfrm>
          <a:prstGeom prst="rect">
            <a:avLst/>
          </a:prstGeom>
        </p:spPr>
        <p:txBody>
          <a:bodyPr/>
          <a:lstStyle>
            <a:lvl1pPr>
              <a:defRPr>
                <a:solidFill>
                  <a:schemeClr val="tx1"/>
                </a:solidFill>
                <a:latin typeface="Arial" panose="020B0604020202020204" pitchFamily="34" charset="0"/>
                <a:cs typeface="Arial" panose="020B0604020202020204" pitchFamily="34" charset="0"/>
              </a:defRPr>
            </a:lvl1pPr>
          </a:lstStyle>
          <a:p>
            <a:r>
              <a:rPr lang="en-US"/>
              <a:t>Heading</a:t>
            </a:r>
            <a:endParaRPr lang="en-ZA"/>
          </a:p>
        </p:txBody>
      </p:sp>
      <p:sp>
        <p:nvSpPr>
          <p:cNvPr id="3" name="Content Placeholder 2"/>
          <p:cNvSpPr>
            <a:spLocks noGrp="1"/>
          </p:cNvSpPr>
          <p:nvPr>
            <p:ph sz="half" idx="1"/>
          </p:nvPr>
        </p:nvSpPr>
        <p:spPr>
          <a:xfrm>
            <a:off x="609600" y="1600201"/>
            <a:ext cx="5384800" cy="3917031"/>
          </a:xfrm>
          <a:prstGeom prst="rect">
            <a:avLst/>
          </a:prstGeom>
        </p:spPr>
        <p:txBody>
          <a:bodyPr/>
          <a:lstStyle>
            <a:lvl1pPr>
              <a:defRPr sz="2800">
                <a:latin typeface="Arial" panose="020B0604020202020204" pitchFamily="34" charset="0"/>
                <a:cs typeface="Arial" panose="020B0604020202020204" pitchFamily="34" charset="0"/>
              </a:defRPr>
            </a:lvl1pPr>
            <a:lvl2pPr>
              <a:defRPr sz="24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a:defRPr sz="18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4" name="Content Placeholder 3"/>
          <p:cNvSpPr>
            <a:spLocks noGrp="1"/>
          </p:cNvSpPr>
          <p:nvPr>
            <p:ph sz="half" idx="2"/>
          </p:nvPr>
        </p:nvSpPr>
        <p:spPr>
          <a:xfrm>
            <a:off x="6197600" y="1600201"/>
            <a:ext cx="5384800" cy="3917031"/>
          </a:xfrm>
          <a:prstGeom prst="rect">
            <a:avLst/>
          </a:prstGeom>
        </p:spPr>
        <p:txBody>
          <a:bodyPr/>
          <a:lstStyle>
            <a:lvl1pPr>
              <a:defRPr sz="2800">
                <a:latin typeface="Arial" panose="020B0604020202020204" pitchFamily="34" charset="0"/>
                <a:cs typeface="Arial" panose="020B0604020202020204" pitchFamily="34" charset="0"/>
              </a:defRPr>
            </a:lvl1pPr>
            <a:lvl2pPr>
              <a:defRPr sz="24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a:defRPr sz="18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8" name="Date Placeholder 3"/>
          <p:cNvSpPr>
            <a:spLocks noGrp="1"/>
          </p:cNvSpPr>
          <p:nvPr>
            <p:ph type="dt" sz="half" idx="10"/>
          </p:nvPr>
        </p:nvSpPr>
        <p:spPr>
          <a:xfrm>
            <a:off x="609600" y="6356351"/>
            <a:ext cx="2844800" cy="365125"/>
          </a:xfrm>
          <a:prstGeom prst="rect">
            <a:avLst/>
          </a:prstGeom>
        </p:spPr>
        <p:txBody>
          <a:bodyPr/>
          <a:lstStyle/>
          <a:p>
            <a:fld id="{234DC252-1442-438B-A140-1627EE769DB9}" type="datetimeFigureOut">
              <a:rPr lang="en-ZA" smtClean="0"/>
            </a:fld>
            <a:endParaRPr lang="en-ZA"/>
          </a:p>
        </p:txBody>
      </p:sp>
      <p:sp>
        <p:nvSpPr>
          <p:cNvPr id="9" name="Footer Placeholder 4"/>
          <p:cNvSpPr>
            <a:spLocks noGrp="1"/>
          </p:cNvSpPr>
          <p:nvPr>
            <p:ph type="ftr" sz="quarter" idx="11"/>
          </p:nvPr>
        </p:nvSpPr>
        <p:spPr>
          <a:xfrm>
            <a:off x="4165600" y="6356351"/>
            <a:ext cx="3860800" cy="365125"/>
          </a:xfrm>
          <a:prstGeom prst="rect">
            <a:avLst/>
          </a:prstGeom>
        </p:spPr>
        <p:txBody>
          <a:bodyPr/>
          <a:lstStyle/>
          <a:p>
            <a:endParaRPr lang="en-ZA"/>
          </a:p>
        </p:txBody>
      </p:sp>
      <p:sp>
        <p:nvSpPr>
          <p:cNvPr id="10" name="Slide Number Placeholder 5"/>
          <p:cNvSpPr>
            <a:spLocks noGrp="1"/>
          </p:cNvSpPr>
          <p:nvPr>
            <p:ph type="sldNum" sz="quarter" idx="12"/>
          </p:nvPr>
        </p:nvSpPr>
        <p:spPr>
          <a:xfrm>
            <a:off x="8737600" y="6356351"/>
            <a:ext cx="2844800" cy="365125"/>
          </a:xfrm>
          <a:prstGeom prst="rect">
            <a:avLst/>
          </a:prstGeom>
        </p:spPr>
        <p:txBody>
          <a:bodyPr/>
          <a:lstStyle/>
          <a:p>
            <a:fld id="{A1AF2325-CD8E-41DA-A2A9-A4D3E4CE53DE}" type="slidenum">
              <a:rPr lang="en-ZA" smtClean="0"/>
            </a:fld>
            <a:endParaRPr lang="en-ZA"/>
          </a:p>
        </p:txBody>
      </p:sp>
      <p:pic>
        <p:nvPicPr>
          <p:cNvPr id="11" name="Picture 10" descr="Aurum New Concep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72800" y="5791200"/>
            <a:ext cx="922655" cy="790575"/>
          </a:xfrm>
          <a:prstGeom prst="rect">
            <a:avLst/>
          </a:prstGeom>
          <a:noFill/>
          <a:ln w="9525">
            <a:noFill/>
            <a:miter lim="800000"/>
            <a:headEnd/>
            <a:tailEnd/>
          </a:ln>
        </p:spPr>
      </p:pic>
      <p:sp>
        <p:nvSpPr>
          <p:cNvPr id="12" name="Rectangle 11"/>
          <p:cNvSpPr/>
          <p:nvPr/>
        </p:nvSpPr>
        <p:spPr>
          <a:xfrm>
            <a:off x="8124000" y="6706800"/>
            <a:ext cx="4068000" cy="151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4062000" y="6706800"/>
            <a:ext cx="4068000" cy="151200"/>
          </a:xfrm>
          <a:prstGeom prst="rect">
            <a:avLst/>
          </a:prstGeom>
          <a:solidFill>
            <a:srgbClr val="AFABAB"/>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0" y="6706800"/>
            <a:ext cx="4068000" cy="1512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isContent="1"/>
      </p:transition>
    </mc:Choice>
    <mc:Fallback>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89717" y="4800600"/>
            <a:ext cx="7315200" cy="566738"/>
          </a:xfrm>
          <a:prstGeom prst="rect">
            <a:avLst/>
          </a:prstGeom>
        </p:spPr>
        <p:txBody>
          <a:bodyPr anchor="b"/>
          <a:lstStyle>
            <a:lvl1pPr algn="l">
              <a:defRPr sz="2000" b="1">
                <a:solidFill>
                  <a:schemeClr val="tx1"/>
                </a:solidFill>
                <a:latin typeface="Arial" panose="020B0604020202020204" pitchFamily="34" charset="0"/>
                <a:cs typeface="Arial" panose="020B0604020202020204" pitchFamily="34" charset="0"/>
              </a:defRPr>
            </a:lvl1pPr>
          </a:lstStyle>
          <a:p>
            <a:r>
              <a:rPr lang="en-US"/>
              <a:t>Click to edit master title style</a:t>
            </a:r>
            <a:endParaRPr lang="en-ZA"/>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ZA"/>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atin typeface="Arial" panose="020B0604020202020204" pitchFamily="34" charset="0"/>
                <a:cs typeface="Arial" panose="020B06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609600" y="6356351"/>
            <a:ext cx="2844800" cy="365125"/>
          </a:xfrm>
          <a:prstGeom prst="rect">
            <a:avLst/>
          </a:prstGeom>
        </p:spPr>
        <p:txBody>
          <a:bodyPr/>
          <a:lstStyle/>
          <a:p>
            <a:fld id="{234DC252-1442-438B-A140-1627EE769DB9}" type="datetimeFigureOut">
              <a:rPr lang="en-ZA" smtClean="0"/>
            </a:fld>
            <a:endParaRPr lang="en-ZA"/>
          </a:p>
        </p:txBody>
      </p:sp>
      <p:sp>
        <p:nvSpPr>
          <p:cNvPr id="6" name="Footer Placeholder 5"/>
          <p:cNvSpPr>
            <a:spLocks noGrp="1"/>
          </p:cNvSpPr>
          <p:nvPr>
            <p:ph type="ftr" sz="quarter" idx="11"/>
          </p:nvPr>
        </p:nvSpPr>
        <p:spPr>
          <a:xfrm>
            <a:off x="4165600" y="6356351"/>
            <a:ext cx="3860800" cy="365125"/>
          </a:xfrm>
          <a:prstGeom prst="rect">
            <a:avLst/>
          </a:prstGeom>
        </p:spPr>
        <p:txBody>
          <a:bodyPr/>
          <a:lstStyle/>
          <a:p>
            <a:endParaRPr lang="en-ZA"/>
          </a:p>
        </p:txBody>
      </p:sp>
      <p:sp>
        <p:nvSpPr>
          <p:cNvPr id="7" name="Slide Number Placeholder 6"/>
          <p:cNvSpPr>
            <a:spLocks noGrp="1"/>
          </p:cNvSpPr>
          <p:nvPr>
            <p:ph type="sldNum" sz="quarter" idx="12"/>
          </p:nvPr>
        </p:nvSpPr>
        <p:spPr>
          <a:xfrm>
            <a:off x="8737600" y="6356351"/>
            <a:ext cx="2844800" cy="365125"/>
          </a:xfrm>
          <a:prstGeom prst="rect">
            <a:avLst/>
          </a:prstGeom>
        </p:spPr>
        <p:txBody>
          <a:bodyPr/>
          <a:lstStyle/>
          <a:p>
            <a:fld id="{A1AF2325-CD8E-41DA-A2A9-A4D3E4CE53DE}" type="slidenum">
              <a:rPr lang="en-ZA" smtClean="0"/>
            </a:fld>
            <a:endParaRPr lang="en-ZA"/>
          </a:p>
        </p:txBody>
      </p:sp>
      <p:pic>
        <p:nvPicPr>
          <p:cNvPr id="8" name="Picture 7" descr="Aurum New Concep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72800" y="5791200"/>
            <a:ext cx="922655" cy="790575"/>
          </a:xfrm>
          <a:prstGeom prst="rect">
            <a:avLst/>
          </a:prstGeom>
          <a:noFill/>
          <a:ln w="9525">
            <a:noFill/>
            <a:miter lim="800000"/>
            <a:headEnd/>
            <a:tailEnd/>
          </a:ln>
        </p:spPr>
      </p:pic>
      <p:sp>
        <p:nvSpPr>
          <p:cNvPr id="9" name="Rectangle 8"/>
          <p:cNvSpPr/>
          <p:nvPr/>
        </p:nvSpPr>
        <p:spPr>
          <a:xfrm>
            <a:off x="8124000" y="6706800"/>
            <a:ext cx="4068000" cy="151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062000" y="6706800"/>
            <a:ext cx="4068000" cy="151200"/>
          </a:xfrm>
          <a:prstGeom prst="rect">
            <a:avLst/>
          </a:prstGeom>
          <a:solidFill>
            <a:srgbClr val="AFABAB"/>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6706800"/>
            <a:ext cx="4068000" cy="1512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isContent="1"/>
      </p:transition>
    </mc:Choice>
    <mc:Fallback>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38"/>
            <a:ext cx="10972800" cy="1143000"/>
          </a:xfrm>
          <a:prstGeom prst="rect">
            <a:avLst/>
          </a:prstGeom>
        </p:spPr>
        <p:txBody>
          <a:bodyPr/>
          <a:lstStyle>
            <a:lvl1pPr>
              <a:defRPr>
                <a:solidFill>
                  <a:schemeClr val="tx1"/>
                </a:solidFill>
                <a:latin typeface="Arial" panose="020B0604020202020204" pitchFamily="34" charset="0"/>
                <a:cs typeface="Arial" panose="020B0604020202020204" pitchFamily="34" charset="0"/>
              </a:defRPr>
            </a:lvl1pPr>
          </a:lstStyle>
          <a:p>
            <a:r>
              <a:rPr lang="en-US"/>
              <a:t>Heading</a:t>
            </a:r>
            <a:endParaRPr lang="en-ZA"/>
          </a:p>
        </p:txBody>
      </p:sp>
      <p:sp>
        <p:nvSpPr>
          <p:cNvPr id="3" name="Date Placeholder 2"/>
          <p:cNvSpPr>
            <a:spLocks noGrp="1"/>
          </p:cNvSpPr>
          <p:nvPr>
            <p:ph type="dt" sz="half" idx="10"/>
          </p:nvPr>
        </p:nvSpPr>
        <p:spPr>
          <a:xfrm>
            <a:off x="609600" y="6356351"/>
            <a:ext cx="2844800" cy="365125"/>
          </a:xfrm>
          <a:prstGeom prst="rect">
            <a:avLst/>
          </a:prstGeom>
        </p:spPr>
        <p:txBody>
          <a:bodyPr/>
          <a:lstStyle/>
          <a:p>
            <a:fld id="{234DC252-1442-438B-A140-1627EE769DB9}" type="datetimeFigureOut">
              <a:rPr lang="en-ZA" smtClean="0"/>
            </a:fld>
            <a:endParaRPr lang="en-ZA"/>
          </a:p>
        </p:txBody>
      </p:sp>
      <p:sp>
        <p:nvSpPr>
          <p:cNvPr id="4" name="Footer Placeholder 3"/>
          <p:cNvSpPr>
            <a:spLocks noGrp="1"/>
          </p:cNvSpPr>
          <p:nvPr>
            <p:ph type="ftr" sz="quarter" idx="11"/>
          </p:nvPr>
        </p:nvSpPr>
        <p:spPr>
          <a:xfrm>
            <a:off x="4165600" y="6356351"/>
            <a:ext cx="3860800" cy="365125"/>
          </a:xfrm>
          <a:prstGeom prst="rect">
            <a:avLst/>
          </a:prstGeom>
        </p:spPr>
        <p:txBody>
          <a:bodyPr/>
          <a:lstStyle/>
          <a:p>
            <a:endParaRPr lang="en-ZA"/>
          </a:p>
        </p:txBody>
      </p:sp>
      <p:sp>
        <p:nvSpPr>
          <p:cNvPr id="5" name="Slide Number Placeholder 4"/>
          <p:cNvSpPr>
            <a:spLocks noGrp="1"/>
          </p:cNvSpPr>
          <p:nvPr>
            <p:ph type="sldNum" sz="quarter" idx="12"/>
          </p:nvPr>
        </p:nvSpPr>
        <p:spPr>
          <a:xfrm>
            <a:off x="8737600" y="6356351"/>
            <a:ext cx="2844800" cy="365125"/>
          </a:xfrm>
          <a:prstGeom prst="rect">
            <a:avLst/>
          </a:prstGeom>
        </p:spPr>
        <p:txBody>
          <a:bodyPr/>
          <a:lstStyle/>
          <a:p>
            <a:fld id="{A1AF2325-CD8E-41DA-A2A9-A4D3E4CE53DE}" type="slidenum">
              <a:rPr lang="en-ZA" smtClean="0"/>
            </a:fld>
            <a:endParaRPr lang="en-ZA"/>
          </a:p>
        </p:txBody>
      </p:sp>
      <p:pic>
        <p:nvPicPr>
          <p:cNvPr id="6" name="Picture 5" descr="Aurum New Concep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72800" y="5791200"/>
            <a:ext cx="922655" cy="790575"/>
          </a:xfrm>
          <a:prstGeom prst="rect">
            <a:avLst/>
          </a:prstGeom>
          <a:noFill/>
          <a:ln w="9525">
            <a:noFill/>
            <a:miter lim="800000"/>
            <a:headEnd/>
            <a:tailEnd/>
          </a:ln>
        </p:spPr>
      </p:pic>
      <p:sp>
        <p:nvSpPr>
          <p:cNvPr id="7" name="Rectangle 6"/>
          <p:cNvSpPr/>
          <p:nvPr/>
        </p:nvSpPr>
        <p:spPr>
          <a:xfrm>
            <a:off x="8124000" y="6706800"/>
            <a:ext cx="4068000" cy="151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062000" y="6706800"/>
            <a:ext cx="4068000" cy="151200"/>
          </a:xfrm>
          <a:prstGeom prst="rect">
            <a:avLst/>
          </a:prstGeom>
          <a:solidFill>
            <a:srgbClr val="AFABAB"/>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0" y="6706800"/>
            <a:ext cx="4068000" cy="1512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isContent="1"/>
      </p:transition>
    </mc:Choice>
    <mc:Fallback>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11" name="Rectangle 10"/>
          <p:cNvSpPr/>
          <p:nvPr/>
        </p:nvSpPr>
        <p:spPr>
          <a:xfrm>
            <a:off x="8124000" y="6706800"/>
            <a:ext cx="4068000" cy="151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4062000" y="6706800"/>
            <a:ext cx="4068000" cy="151200"/>
          </a:xfrm>
          <a:prstGeom prst="rect">
            <a:avLst/>
          </a:prstGeom>
          <a:solidFill>
            <a:srgbClr val="AFABAB"/>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urum New Concep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0522" y="208475"/>
            <a:ext cx="922655" cy="790575"/>
          </a:xfrm>
          <a:prstGeom prst="rect">
            <a:avLst/>
          </a:prstGeom>
          <a:noFill/>
          <a:ln w="9525">
            <a:noFill/>
            <a:miter lim="800000"/>
            <a:headEnd/>
            <a:tailEnd/>
          </a:ln>
        </p:spPr>
      </p:pic>
      <p:sp>
        <p:nvSpPr>
          <p:cNvPr id="17" name="Rectangle 16"/>
          <p:cNvSpPr/>
          <p:nvPr/>
        </p:nvSpPr>
        <p:spPr>
          <a:xfrm>
            <a:off x="0" y="6706800"/>
            <a:ext cx="4068000" cy="151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p:cNvSpPr>
            <a:spLocks noGrp="1"/>
          </p:cNvSpPr>
          <p:nvPr>
            <p:ph type="title" hasCustomPrompt="1"/>
          </p:nvPr>
        </p:nvSpPr>
        <p:spPr>
          <a:xfrm>
            <a:off x="831849" y="3068960"/>
            <a:ext cx="7016750" cy="999182"/>
          </a:xfrm>
          <a:prstGeom prst="rect">
            <a:avLst/>
          </a:prstGeom>
        </p:spPr>
        <p:txBody>
          <a:bodyPr anchor="b"/>
          <a:lstStyle>
            <a:lvl1pPr>
              <a:defRPr sz="6000">
                <a:solidFill>
                  <a:schemeClr val="tx1"/>
                </a:solidFill>
                <a:latin typeface="Arial" panose="020B0604020202020204" pitchFamily="34" charset="0"/>
                <a:cs typeface="Arial" panose="020B0604020202020204" pitchFamily="34" charset="0"/>
              </a:defRPr>
            </a:lvl1pPr>
          </a:lstStyle>
          <a:p>
            <a:r>
              <a:rPr lang="en-US"/>
              <a:t>Thank You</a:t>
            </a:r>
            <a:endParaRPr lang="en-US"/>
          </a:p>
        </p:txBody>
      </p:sp>
      <p:sp>
        <p:nvSpPr>
          <p:cNvPr id="13" name="Rectangle 12"/>
          <p:cNvSpPr/>
          <p:nvPr/>
        </p:nvSpPr>
        <p:spPr>
          <a:xfrm>
            <a:off x="8124000" y="0"/>
            <a:ext cx="4083852" cy="6876000"/>
          </a:xfrm>
          <a:prstGeom prst="rect">
            <a:avLst/>
          </a:prstGeom>
          <a:solidFill>
            <a:srgbClr val="CF142B"/>
          </a:solidFill>
          <a:ln>
            <a:solidFill>
              <a:srgbClr val="CF14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32304" y="2715622"/>
            <a:ext cx="2448272" cy="20467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isContent="1"/>
      </p:transition>
    </mc:Choice>
    <mc:Fallback>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ZA"/>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ZA"/>
          </a:p>
        </p:txBody>
      </p:sp>
      <p:sp>
        <p:nvSpPr>
          <p:cNvPr id="4" name="Date Placeholder 3"/>
          <p:cNvSpPr>
            <a:spLocks noGrp="1"/>
          </p:cNvSpPr>
          <p:nvPr>
            <p:ph type="dt" sz="half" idx="10"/>
          </p:nvPr>
        </p:nvSpPr>
        <p:spPr/>
        <p:txBody>
          <a:bodyPr/>
          <a:lstStyle/>
          <a:p>
            <a:fld id="{4691169C-7B16-47F0-A24E-FF0E16995C9E}" type="datetime1">
              <a:rPr lang="en-ZA" smtClean="0"/>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AF2325-CD8E-41DA-A2A9-A4D3E4CE53DE}" type="slidenum">
              <a:rPr lang="en-ZA" smtClean="0"/>
            </a:fld>
            <a:endParaRPr lang="en-ZA"/>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cap="none" baseline="0"/>
            </a:lvl1pPr>
          </a:lstStyle>
          <a:p>
            <a:r>
              <a:rPr lang="en-US"/>
              <a:t>Click To Edit Master Title Style</a:t>
            </a:r>
            <a:endParaRPr lang="en-ZA"/>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4" name="Date Placeholder 3"/>
          <p:cNvSpPr>
            <a:spLocks noGrp="1"/>
          </p:cNvSpPr>
          <p:nvPr>
            <p:ph type="dt" sz="half" idx="10"/>
          </p:nvPr>
        </p:nvSpPr>
        <p:spPr/>
        <p:txBody>
          <a:bodyPr/>
          <a:lstStyle/>
          <a:p>
            <a:fld id="{8F97FD89-3C28-457C-B6FA-99EF98E2EFE1}" type="datetime1">
              <a:rPr lang="en-ZA" smtClean="0"/>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AF2325-CD8E-41DA-A2A9-A4D3E4CE53DE}" type="slidenum">
              <a:rPr lang="en-ZA" smtClean="0"/>
            </a:fld>
            <a:endParaRPr lang="en-ZA"/>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ZA"/>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5173891-A5D9-40B9-89ED-89D4E16D404A}" type="datetime1">
              <a:rPr lang="en-ZA" smtClean="0"/>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AF2325-CD8E-41DA-A2A9-A4D3E4CE53DE}" type="slidenum">
              <a:rPr lang="en-ZA" smtClean="0"/>
            </a:fld>
            <a:endParaRPr lang="en-ZA"/>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5" name="Date Placeholder 4"/>
          <p:cNvSpPr>
            <a:spLocks noGrp="1"/>
          </p:cNvSpPr>
          <p:nvPr>
            <p:ph type="dt" sz="half" idx="10"/>
          </p:nvPr>
        </p:nvSpPr>
        <p:spPr/>
        <p:txBody>
          <a:bodyPr/>
          <a:lstStyle/>
          <a:p>
            <a:fld id="{8D6321C0-9E83-4282-B374-55DC0F778A3D}" type="datetime1">
              <a:rPr lang="en-ZA" smtClean="0"/>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A1AF2325-CD8E-41DA-A2A9-A4D3E4CE53DE}" type="slidenum">
              <a:rPr lang="en-ZA" smtClean="0"/>
            </a:fld>
            <a:endParaRPr lang="en-ZA"/>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ZA"/>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7" name="Date Placeholder 6"/>
          <p:cNvSpPr>
            <a:spLocks noGrp="1"/>
          </p:cNvSpPr>
          <p:nvPr>
            <p:ph type="dt" sz="half" idx="10"/>
          </p:nvPr>
        </p:nvSpPr>
        <p:spPr/>
        <p:txBody>
          <a:bodyPr/>
          <a:lstStyle/>
          <a:p>
            <a:fld id="{78C202CF-B3A1-4D7E-B528-2E068772B538}" type="datetime1">
              <a:rPr lang="en-ZA" smtClean="0"/>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A1AF2325-CD8E-41DA-A2A9-A4D3E4CE53DE}" type="slidenum">
              <a:rPr lang="en-ZA" smtClean="0"/>
            </a:fld>
            <a:endParaRPr lang="en-ZA"/>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Date Placeholder 2"/>
          <p:cNvSpPr>
            <a:spLocks noGrp="1"/>
          </p:cNvSpPr>
          <p:nvPr>
            <p:ph type="dt" sz="half" idx="10"/>
          </p:nvPr>
        </p:nvSpPr>
        <p:spPr/>
        <p:txBody>
          <a:bodyPr/>
          <a:lstStyle/>
          <a:p>
            <a:fld id="{D48A8074-DBDB-4954-AE45-03BB943D9F51}" type="datetime1">
              <a:rPr lang="en-ZA" smtClean="0"/>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A1AF2325-CD8E-41DA-A2A9-A4D3E4CE53DE}" type="slidenum">
              <a:rPr lang="en-ZA" smtClean="0"/>
            </a:fld>
            <a:endParaRPr lang="en-ZA"/>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5340CE-E6BF-42E4-8EEC-44F07207CE1F}" type="datetime1">
              <a:rPr lang="en-ZA" smtClean="0"/>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A1AF2325-CD8E-41DA-A2A9-A4D3E4CE53DE}" type="slidenum">
              <a:rPr lang="en-ZA" smtClean="0"/>
            </a:fld>
            <a:endParaRPr lang="en-ZA"/>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ZA"/>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10703CF-E97E-4C85-B79C-4DC067C4D6B2}" type="datetime1">
              <a:rPr lang="en-ZA" smtClean="0"/>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A1AF2325-CD8E-41DA-A2A9-A4D3E4CE53DE}" type="slidenum">
              <a:rPr lang="en-ZA" smtClean="0"/>
            </a:fld>
            <a:endParaRPr lang="en-ZA"/>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ZA"/>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ZA"/>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5F69FEC-A178-4471-B82E-241ECCE1EF81}" type="datetime1">
              <a:rPr lang="en-ZA" smtClean="0"/>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A1AF2325-CD8E-41DA-A2A9-A4D3E4CE53DE}" type="slidenum">
              <a:rPr lang="en-ZA" smtClean="0"/>
            </a:fld>
            <a:endParaRPr lang="en-ZA"/>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4" name="Date Placeholder 3"/>
          <p:cNvSpPr>
            <a:spLocks noGrp="1"/>
          </p:cNvSpPr>
          <p:nvPr>
            <p:ph type="dt" sz="half" idx="10"/>
          </p:nvPr>
        </p:nvSpPr>
        <p:spPr/>
        <p:txBody>
          <a:bodyPr/>
          <a:lstStyle/>
          <a:p>
            <a:fld id="{DB0FEB75-1E07-4C8E-8B6F-2C16B0A6D11E}" type="datetime1">
              <a:rPr lang="en-ZA" smtClean="0"/>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AF2325-CD8E-41DA-A2A9-A4D3E4CE53DE}" type="slidenum">
              <a:rPr lang="en-ZA" smtClean="0"/>
            </a:fld>
            <a:endParaRPr lang="en-ZA"/>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ZA"/>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4" name="Date Placeholder 3"/>
          <p:cNvSpPr>
            <a:spLocks noGrp="1"/>
          </p:cNvSpPr>
          <p:nvPr>
            <p:ph type="dt" sz="half" idx="10"/>
          </p:nvPr>
        </p:nvSpPr>
        <p:spPr/>
        <p:txBody>
          <a:bodyPr/>
          <a:lstStyle/>
          <a:p>
            <a:fld id="{572A9415-FEB5-4D30-9054-780D3815A75B}" type="datetime1">
              <a:rPr lang="en-ZA" smtClean="0"/>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AF2325-CD8E-41DA-A2A9-A4D3E4CE53DE}" type="slidenum">
              <a:rPr lang="en-ZA" smtClean="0"/>
            </a:fld>
            <a:endParaRPr lang="en-ZA"/>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4819" name="Rectangle 3"/>
          <p:cNvSpPr>
            <a:spLocks noGrp="1" noChangeArrowheads="1"/>
          </p:cNvSpPr>
          <p:nvPr>
            <p:ph type="ctrTitle"/>
          </p:nvPr>
        </p:nvSpPr>
        <p:spPr>
          <a:xfrm>
            <a:off x="838200" y="4756150"/>
            <a:ext cx="10263717" cy="996950"/>
          </a:xfrm>
        </p:spPr>
        <p:txBody>
          <a:bodyPr/>
          <a:lstStyle>
            <a:lvl1pPr algn="l">
              <a:defRPr/>
            </a:lvl1pPr>
          </a:lstStyle>
          <a:p>
            <a:r>
              <a:rPr lang="en-US"/>
              <a:t>Click to edit Master title style</a:t>
            </a:r>
            <a:endParaRPr lang="en-GB"/>
          </a:p>
        </p:txBody>
      </p:sp>
      <p:sp>
        <p:nvSpPr>
          <p:cNvPr id="34820" name="Rectangle 4"/>
          <p:cNvSpPr>
            <a:spLocks noGrp="1" noChangeArrowheads="1"/>
          </p:cNvSpPr>
          <p:nvPr>
            <p:ph type="subTitle" idx="1"/>
          </p:nvPr>
        </p:nvSpPr>
        <p:spPr>
          <a:xfrm>
            <a:off x="842433" y="5429269"/>
            <a:ext cx="8534400" cy="650875"/>
          </a:xfrm>
        </p:spPr>
        <p:txBody>
          <a:bodyPr/>
          <a:lstStyle>
            <a:lvl1pPr marL="0" indent="0">
              <a:buFontTx/>
              <a:buNone/>
              <a:defRPr>
                <a:solidFill>
                  <a:schemeClr val="folHlink"/>
                </a:solidFill>
              </a:defRPr>
            </a:lvl1pPr>
          </a:lstStyle>
          <a:p>
            <a:r>
              <a:rPr lang="en-US"/>
              <a:t>Click to edit Master subtitle style</a:t>
            </a:r>
            <a:endParaRPr lang="en-GB"/>
          </a:p>
        </p:txBody>
      </p:sp>
      <p:sp>
        <p:nvSpPr>
          <p:cNvPr id="5" name="Rectangle 5"/>
          <p:cNvSpPr>
            <a:spLocks noGrp="1" noChangeArrowheads="1"/>
          </p:cNvSpPr>
          <p:nvPr>
            <p:ph type="dt" sz="half" idx="10"/>
          </p:nvPr>
        </p:nvSpPr>
        <p:spPr>
          <a:xfrm>
            <a:off x="609600" y="6245225"/>
            <a:ext cx="2844800" cy="476250"/>
          </a:xfrm>
          <a:prstGeom prst="rect">
            <a:avLst/>
          </a:prstGeom>
        </p:spPr>
        <p:txBody>
          <a:bodyPr/>
          <a:lstStyle>
            <a:lvl1pPr>
              <a:defRPr/>
            </a:lvl1pPr>
          </a:lstStyle>
          <a:p>
            <a:pPr eaLnBrk="0" fontAlgn="base" hangingPunct="0">
              <a:spcBef>
                <a:spcPct val="0"/>
              </a:spcBef>
              <a:spcAft>
                <a:spcPct val="0"/>
              </a:spcAft>
              <a:defRPr/>
            </a:pPr>
            <a:fld id="{A7852EEE-42B9-43C5-A2FE-BC91E7ABF0E0}" type="datetime1">
              <a:rPr lang="en-ZA" sz="1575" smtClean="0">
                <a:solidFill>
                  <a:srgbClr val="003082"/>
                </a:solidFill>
              </a:rPr>
            </a:fld>
            <a:endParaRPr lang="en-GB" sz="1575">
              <a:solidFill>
                <a:srgbClr val="003082"/>
              </a:solidFill>
            </a:endParaRPr>
          </a:p>
        </p:txBody>
      </p:sp>
      <p:sp>
        <p:nvSpPr>
          <p:cNvPr id="6" name="Rectangle 6"/>
          <p:cNvSpPr>
            <a:spLocks noGrp="1" noChangeArrowheads="1"/>
          </p:cNvSpPr>
          <p:nvPr>
            <p:ph type="ftr" sz="quarter" idx="11"/>
          </p:nvPr>
        </p:nvSpPr>
        <p:spPr>
          <a:xfrm>
            <a:off x="4165600" y="6268457"/>
            <a:ext cx="3860800" cy="476250"/>
          </a:xfrm>
          <a:prstGeom prst="rect">
            <a:avLst/>
          </a:prstGeom>
        </p:spPr>
        <p:txBody>
          <a:bodyPr/>
          <a:lstStyle>
            <a:lvl1pPr>
              <a:defRPr/>
            </a:lvl1pPr>
          </a:lstStyle>
          <a:p>
            <a:pPr eaLnBrk="0" fontAlgn="base" hangingPunct="0">
              <a:spcBef>
                <a:spcPct val="0"/>
              </a:spcBef>
              <a:spcAft>
                <a:spcPct val="0"/>
              </a:spcAft>
              <a:defRPr/>
            </a:pPr>
            <a:endParaRPr lang="en-GB" sz="1575">
              <a:solidFill>
                <a:srgbClr val="003082"/>
              </a:solidFill>
            </a:endParaRPr>
          </a:p>
        </p:txBody>
      </p:sp>
      <p:sp>
        <p:nvSpPr>
          <p:cNvPr id="7" name="Rectangle 7"/>
          <p:cNvSpPr>
            <a:spLocks noGrp="1" noChangeArrowheads="1"/>
          </p:cNvSpPr>
          <p:nvPr>
            <p:ph type="sldNum" sz="quarter" idx="12"/>
          </p:nvPr>
        </p:nvSpPr>
        <p:spPr>
          <a:xfrm>
            <a:off x="8229613" y="6245225"/>
            <a:ext cx="1138767" cy="476250"/>
          </a:xfrm>
        </p:spPr>
        <p:txBody>
          <a:bodyPr/>
          <a:lstStyle>
            <a:lvl1pPr>
              <a:defRPr/>
            </a:lvl1pPr>
          </a:lstStyle>
          <a:p>
            <a:pPr>
              <a:defRPr/>
            </a:pPr>
            <a:fld id="{2372678B-919B-4343-B873-37E39F3C1A84}" type="slidenum">
              <a:rPr lang="en-GB">
                <a:solidFill>
                  <a:srgbClr val="003082"/>
                </a:solidFill>
              </a:rPr>
            </a:fld>
            <a:endParaRPr lang="en-GB">
              <a:solidFill>
                <a:srgbClr val="003082"/>
              </a:solidFill>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br>
              <a:rPr lang="en-US"/>
            </a:br>
            <a:r>
              <a:rPr lang="en-US"/>
              <a:t>Click to edit Master title style</a:t>
            </a:r>
            <a:endParaRPr lang="en-GB"/>
          </a:p>
        </p:txBody>
      </p:sp>
      <p:sp>
        <p:nvSpPr>
          <p:cNvPr id="3" name="Content Placeholder 2"/>
          <p:cNvSpPr>
            <a:spLocks noGrp="1"/>
          </p:cNvSpPr>
          <p:nvPr>
            <p:ph idx="1"/>
          </p:nvPr>
        </p:nvSpPr>
        <p:spPr>
          <a:xfrm>
            <a:off x="646387" y="1404858"/>
            <a:ext cx="11303876" cy="429752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pPr eaLnBrk="0" fontAlgn="base" hangingPunct="0">
              <a:spcBef>
                <a:spcPct val="0"/>
              </a:spcBef>
              <a:spcAft>
                <a:spcPct val="0"/>
              </a:spcAft>
              <a:defRPr/>
            </a:pPr>
            <a:fld id="{397C7F0C-33E1-4C54-B735-6BCC92DCD5A3}" type="datetime1">
              <a:rPr lang="en-ZA" sz="1575" smtClean="0">
                <a:solidFill>
                  <a:srgbClr val="003082"/>
                </a:solidFill>
              </a:rPr>
            </a:fld>
            <a:endParaRPr lang="en-GB" sz="1575">
              <a:solidFill>
                <a:srgbClr val="003082"/>
              </a:solidFill>
            </a:endParaRPr>
          </a:p>
        </p:txBody>
      </p:sp>
      <p:sp>
        <p:nvSpPr>
          <p:cNvPr id="5" name="Rectangle 5"/>
          <p:cNvSpPr>
            <a:spLocks noGrp="1" noChangeArrowheads="1"/>
          </p:cNvSpPr>
          <p:nvPr>
            <p:ph type="ftr" sz="quarter" idx="11"/>
          </p:nvPr>
        </p:nvSpPr>
        <p:spPr>
          <a:xfrm>
            <a:off x="4165600" y="6268457"/>
            <a:ext cx="3860800" cy="476250"/>
          </a:xfrm>
          <a:prstGeom prst="rect">
            <a:avLst/>
          </a:prstGeom>
        </p:spPr>
        <p:txBody>
          <a:bodyPr/>
          <a:lstStyle>
            <a:lvl1pPr>
              <a:defRPr/>
            </a:lvl1pPr>
          </a:lstStyle>
          <a:p>
            <a:pPr eaLnBrk="0" fontAlgn="base" hangingPunct="0">
              <a:spcBef>
                <a:spcPct val="0"/>
              </a:spcBef>
              <a:spcAft>
                <a:spcPct val="0"/>
              </a:spcAft>
              <a:defRPr/>
            </a:pPr>
            <a:endParaRPr lang="en-GB" sz="1575">
              <a:solidFill>
                <a:srgbClr val="003082"/>
              </a:solidFill>
            </a:endParaRPr>
          </a:p>
        </p:txBody>
      </p:sp>
      <p:sp>
        <p:nvSpPr>
          <p:cNvPr id="6" name="Rectangle 6"/>
          <p:cNvSpPr>
            <a:spLocks noGrp="1" noChangeArrowheads="1"/>
          </p:cNvSpPr>
          <p:nvPr>
            <p:ph type="sldNum" sz="quarter" idx="12"/>
          </p:nvPr>
        </p:nvSpPr>
        <p:spPr/>
        <p:txBody>
          <a:bodyPr/>
          <a:lstStyle>
            <a:lvl1pPr>
              <a:defRPr/>
            </a:lvl1pPr>
          </a:lstStyle>
          <a:p>
            <a:pPr>
              <a:defRPr/>
            </a:pPr>
            <a:fld id="{317EBE9D-5A7E-4B32-BFE7-7F65DA8AB321}" type="slidenum">
              <a:rPr lang="en-GB">
                <a:solidFill>
                  <a:srgbClr val="003082"/>
                </a:solidFill>
              </a:rPr>
            </a:fld>
            <a:endParaRPr lang="en-GB">
              <a:solidFill>
                <a:srgbClr val="003082"/>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19"/>
            <a:ext cx="10363200" cy="1362075"/>
          </a:xfrm>
        </p:spPr>
        <p:txBody>
          <a:bodyPr/>
          <a:lstStyle>
            <a:lvl1pPr algn="l">
              <a:defRPr sz="3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endParaRPr lang="en-US"/>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pPr eaLnBrk="0" fontAlgn="base" hangingPunct="0">
              <a:spcBef>
                <a:spcPct val="0"/>
              </a:spcBef>
              <a:spcAft>
                <a:spcPct val="0"/>
              </a:spcAft>
              <a:defRPr/>
            </a:pPr>
            <a:fld id="{6A75A153-3E9B-4B79-AD32-AEA32C52D2D5}" type="datetime1">
              <a:rPr lang="en-ZA" sz="1575" smtClean="0">
                <a:solidFill>
                  <a:srgbClr val="003082"/>
                </a:solidFill>
              </a:rPr>
            </a:fld>
            <a:endParaRPr lang="en-GB" sz="1575">
              <a:solidFill>
                <a:srgbClr val="003082"/>
              </a:solidFill>
            </a:endParaRPr>
          </a:p>
        </p:txBody>
      </p:sp>
      <p:sp>
        <p:nvSpPr>
          <p:cNvPr id="5" name="Rectangle 5"/>
          <p:cNvSpPr>
            <a:spLocks noGrp="1" noChangeArrowheads="1"/>
          </p:cNvSpPr>
          <p:nvPr>
            <p:ph type="ftr" sz="quarter" idx="11"/>
          </p:nvPr>
        </p:nvSpPr>
        <p:spPr>
          <a:xfrm>
            <a:off x="4165600" y="6268457"/>
            <a:ext cx="3860800" cy="476250"/>
          </a:xfrm>
          <a:prstGeom prst="rect">
            <a:avLst/>
          </a:prstGeom>
        </p:spPr>
        <p:txBody>
          <a:bodyPr/>
          <a:lstStyle>
            <a:lvl1pPr>
              <a:defRPr/>
            </a:lvl1pPr>
          </a:lstStyle>
          <a:p>
            <a:pPr eaLnBrk="0" fontAlgn="base" hangingPunct="0">
              <a:spcBef>
                <a:spcPct val="0"/>
              </a:spcBef>
              <a:spcAft>
                <a:spcPct val="0"/>
              </a:spcAft>
              <a:defRPr/>
            </a:pPr>
            <a:endParaRPr lang="en-GB" sz="1575">
              <a:solidFill>
                <a:srgbClr val="003082"/>
              </a:solidFill>
            </a:endParaRPr>
          </a:p>
        </p:txBody>
      </p:sp>
      <p:sp>
        <p:nvSpPr>
          <p:cNvPr id="6" name="Rectangle 6"/>
          <p:cNvSpPr>
            <a:spLocks noGrp="1" noChangeArrowheads="1"/>
          </p:cNvSpPr>
          <p:nvPr>
            <p:ph type="sldNum" sz="quarter" idx="12"/>
          </p:nvPr>
        </p:nvSpPr>
        <p:spPr/>
        <p:txBody>
          <a:bodyPr/>
          <a:lstStyle>
            <a:lvl1pPr>
              <a:defRPr/>
            </a:lvl1pPr>
          </a:lstStyle>
          <a:p>
            <a:pPr>
              <a:defRPr/>
            </a:pPr>
            <a:fld id="{40F660EB-E736-4F65-924A-F78C954F5721}" type="slidenum">
              <a:rPr lang="en-GB">
                <a:solidFill>
                  <a:srgbClr val="003082"/>
                </a:solidFill>
              </a:rPr>
            </a:fld>
            <a:endParaRPr lang="en-GB">
              <a:solidFill>
                <a:srgbClr val="003082"/>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404858"/>
            <a:ext cx="5384800" cy="429752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Content Placeholder 3"/>
          <p:cNvSpPr>
            <a:spLocks noGrp="1"/>
          </p:cNvSpPr>
          <p:nvPr>
            <p:ph sz="half" idx="2"/>
          </p:nvPr>
        </p:nvSpPr>
        <p:spPr>
          <a:xfrm>
            <a:off x="6197600" y="1404858"/>
            <a:ext cx="5384800" cy="429752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pPr eaLnBrk="0" fontAlgn="base" hangingPunct="0">
              <a:spcBef>
                <a:spcPct val="0"/>
              </a:spcBef>
              <a:spcAft>
                <a:spcPct val="0"/>
              </a:spcAft>
              <a:defRPr/>
            </a:pPr>
            <a:fld id="{7FB0931A-929E-4030-B317-1CC99524A27B}" type="datetime1">
              <a:rPr lang="en-ZA" sz="1575" smtClean="0">
                <a:solidFill>
                  <a:srgbClr val="003082"/>
                </a:solidFill>
              </a:rPr>
            </a:fld>
            <a:endParaRPr lang="en-GB" sz="1575">
              <a:solidFill>
                <a:srgbClr val="003082"/>
              </a:solidFill>
            </a:endParaRPr>
          </a:p>
        </p:txBody>
      </p:sp>
      <p:sp>
        <p:nvSpPr>
          <p:cNvPr id="6" name="Footer Placeholder 5"/>
          <p:cNvSpPr>
            <a:spLocks noGrp="1" noChangeArrowheads="1"/>
          </p:cNvSpPr>
          <p:nvPr>
            <p:ph type="ftr" sz="quarter" idx="11"/>
          </p:nvPr>
        </p:nvSpPr>
        <p:spPr>
          <a:xfrm>
            <a:off x="4165600" y="6268457"/>
            <a:ext cx="3860800" cy="476250"/>
          </a:xfrm>
          <a:prstGeom prst="rect">
            <a:avLst/>
          </a:prstGeom>
        </p:spPr>
        <p:txBody>
          <a:bodyPr/>
          <a:lstStyle>
            <a:lvl1pPr>
              <a:defRPr/>
            </a:lvl1pPr>
          </a:lstStyle>
          <a:p>
            <a:pPr eaLnBrk="0" fontAlgn="base" hangingPunct="0">
              <a:spcBef>
                <a:spcPct val="0"/>
              </a:spcBef>
              <a:spcAft>
                <a:spcPct val="0"/>
              </a:spcAft>
              <a:defRPr/>
            </a:pPr>
            <a:endParaRPr lang="en-GB" sz="1575">
              <a:solidFill>
                <a:srgbClr val="003082"/>
              </a:solidFill>
            </a:endParaRPr>
          </a:p>
        </p:txBody>
      </p:sp>
      <p:sp>
        <p:nvSpPr>
          <p:cNvPr id="7" name="Rectangle 6"/>
          <p:cNvSpPr>
            <a:spLocks noGrp="1" noChangeArrowheads="1"/>
          </p:cNvSpPr>
          <p:nvPr>
            <p:ph type="sldNum" sz="quarter" idx="12"/>
          </p:nvPr>
        </p:nvSpPr>
        <p:spPr/>
        <p:txBody>
          <a:bodyPr/>
          <a:lstStyle>
            <a:lvl1pPr>
              <a:defRPr/>
            </a:lvl1pPr>
          </a:lstStyle>
          <a:p>
            <a:pPr>
              <a:defRPr/>
            </a:pPr>
            <a:fld id="{60850CEE-CFBF-4553-828F-E974242E4E61}" type="slidenum">
              <a:rPr lang="en-GB">
                <a:solidFill>
                  <a:srgbClr val="003082"/>
                </a:solidFill>
              </a:rPr>
            </a:fld>
            <a:endParaRPr lang="en-GB">
              <a:solidFill>
                <a:srgbClr val="003082"/>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5" name="Text Placeholder 4"/>
          <p:cNvSpPr>
            <a:spLocks noGrp="1"/>
          </p:cNvSpPr>
          <p:nvPr>
            <p:ph type="body" sz="quarter" idx="3"/>
          </p:nvPr>
        </p:nvSpPr>
        <p:spPr>
          <a:xfrm>
            <a:off x="6193380"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6193380"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7"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pPr eaLnBrk="0" fontAlgn="base" hangingPunct="0">
              <a:spcBef>
                <a:spcPct val="0"/>
              </a:spcBef>
              <a:spcAft>
                <a:spcPct val="0"/>
              </a:spcAft>
              <a:defRPr/>
            </a:pPr>
            <a:fld id="{F389C5D8-3340-489C-9119-AB5EE346667A}" type="datetime1">
              <a:rPr lang="en-ZA" sz="1575" smtClean="0">
                <a:solidFill>
                  <a:srgbClr val="003082"/>
                </a:solidFill>
              </a:rPr>
            </a:fld>
            <a:endParaRPr lang="en-GB" sz="1575">
              <a:solidFill>
                <a:srgbClr val="003082"/>
              </a:solidFill>
            </a:endParaRPr>
          </a:p>
        </p:txBody>
      </p:sp>
      <p:sp>
        <p:nvSpPr>
          <p:cNvPr id="8" name="Rectangle 5"/>
          <p:cNvSpPr>
            <a:spLocks noGrp="1" noChangeArrowheads="1"/>
          </p:cNvSpPr>
          <p:nvPr>
            <p:ph type="ftr" sz="quarter" idx="11"/>
          </p:nvPr>
        </p:nvSpPr>
        <p:spPr>
          <a:xfrm>
            <a:off x="4165600" y="6268457"/>
            <a:ext cx="3860800" cy="476250"/>
          </a:xfrm>
          <a:prstGeom prst="rect">
            <a:avLst/>
          </a:prstGeom>
        </p:spPr>
        <p:txBody>
          <a:bodyPr/>
          <a:lstStyle>
            <a:lvl1pPr>
              <a:defRPr/>
            </a:lvl1pPr>
          </a:lstStyle>
          <a:p>
            <a:pPr eaLnBrk="0" fontAlgn="base" hangingPunct="0">
              <a:spcBef>
                <a:spcPct val="0"/>
              </a:spcBef>
              <a:spcAft>
                <a:spcPct val="0"/>
              </a:spcAft>
              <a:defRPr/>
            </a:pPr>
            <a:endParaRPr lang="en-GB" sz="1575">
              <a:solidFill>
                <a:srgbClr val="003082"/>
              </a:solidFill>
            </a:endParaRPr>
          </a:p>
        </p:txBody>
      </p:sp>
      <p:sp>
        <p:nvSpPr>
          <p:cNvPr id="9" name="Rectangle 6"/>
          <p:cNvSpPr>
            <a:spLocks noGrp="1" noChangeArrowheads="1"/>
          </p:cNvSpPr>
          <p:nvPr>
            <p:ph type="sldNum" sz="quarter" idx="12"/>
          </p:nvPr>
        </p:nvSpPr>
        <p:spPr/>
        <p:txBody>
          <a:bodyPr/>
          <a:lstStyle>
            <a:lvl1pPr>
              <a:defRPr/>
            </a:lvl1pPr>
          </a:lstStyle>
          <a:p>
            <a:pPr>
              <a:defRPr/>
            </a:pPr>
            <a:fld id="{B26D4D19-1E2D-417F-9059-1D8B5D6BB224}" type="slidenum">
              <a:rPr lang="en-GB">
                <a:solidFill>
                  <a:srgbClr val="003082"/>
                </a:solidFill>
              </a:rPr>
            </a:fld>
            <a:endParaRPr lang="en-GB">
              <a:solidFill>
                <a:srgbClr val="003082"/>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pPr eaLnBrk="0" fontAlgn="base" hangingPunct="0">
              <a:spcBef>
                <a:spcPct val="0"/>
              </a:spcBef>
              <a:spcAft>
                <a:spcPct val="0"/>
              </a:spcAft>
              <a:defRPr/>
            </a:pPr>
            <a:fld id="{923B069F-13E9-494A-A172-935EE2CA4022}" type="datetime1">
              <a:rPr lang="en-ZA" sz="1575" smtClean="0">
                <a:solidFill>
                  <a:srgbClr val="003082"/>
                </a:solidFill>
              </a:rPr>
            </a:fld>
            <a:endParaRPr lang="en-GB" sz="1575">
              <a:solidFill>
                <a:srgbClr val="003082"/>
              </a:solidFill>
            </a:endParaRPr>
          </a:p>
        </p:txBody>
      </p:sp>
      <p:sp>
        <p:nvSpPr>
          <p:cNvPr id="4" name="Rectangle 5"/>
          <p:cNvSpPr>
            <a:spLocks noGrp="1" noChangeArrowheads="1"/>
          </p:cNvSpPr>
          <p:nvPr>
            <p:ph type="ftr" sz="quarter" idx="11"/>
          </p:nvPr>
        </p:nvSpPr>
        <p:spPr>
          <a:xfrm>
            <a:off x="4165600" y="6268457"/>
            <a:ext cx="3860800" cy="476250"/>
          </a:xfrm>
          <a:prstGeom prst="rect">
            <a:avLst/>
          </a:prstGeom>
        </p:spPr>
        <p:txBody>
          <a:bodyPr/>
          <a:lstStyle>
            <a:lvl1pPr>
              <a:defRPr/>
            </a:lvl1pPr>
          </a:lstStyle>
          <a:p>
            <a:pPr eaLnBrk="0" fontAlgn="base" hangingPunct="0">
              <a:spcBef>
                <a:spcPct val="0"/>
              </a:spcBef>
              <a:spcAft>
                <a:spcPct val="0"/>
              </a:spcAft>
              <a:defRPr/>
            </a:pPr>
            <a:endParaRPr lang="en-GB" sz="1575">
              <a:solidFill>
                <a:srgbClr val="003082"/>
              </a:solidFill>
            </a:endParaRPr>
          </a:p>
        </p:txBody>
      </p:sp>
      <p:sp>
        <p:nvSpPr>
          <p:cNvPr id="5" name="Rectangle 6"/>
          <p:cNvSpPr>
            <a:spLocks noGrp="1" noChangeArrowheads="1"/>
          </p:cNvSpPr>
          <p:nvPr>
            <p:ph type="sldNum" sz="quarter" idx="12"/>
          </p:nvPr>
        </p:nvSpPr>
        <p:spPr/>
        <p:txBody>
          <a:bodyPr/>
          <a:lstStyle>
            <a:lvl1pPr>
              <a:defRPr/>
            </a:lvl1pPr>
          </a:lstStyle>
          <a:p>
            <a:pPr>
              <a:defRPr/>
            </a:pPr>
            <a:fld id="{A125DC6B-8F47-47C2-8948-6C50FBF28C5A}" type="slidenum">
              <a:rPr lang="en-GB">
                <a:solidFill>
                  <a:srgbClr val="003082"/>
                </a:solidFill>
              </a:rPr>
            </a:fld>
            <a:endParaRPr lang="en-GB">
              <a:solidFill>
                <a:srgbClr val="003082"/>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pPr eaLnBrk="0" fontAlgn="base" hangingPunct="0">
              <a:spcBef>
                <a:spcPct val="0"/>
              </a:spcBef>
              <a:spcAft>
                <a:spcPct val="0"/>
              </a:spcAft>
              <a:defRPr/>
            </a:pPr>
            <a:fld id="{F6B3177A-E204-4C73-A9CE-AE6FAD453633}" type="datetime1">
              <a:rPr lang="en-ZA" sz="1575" smtClean="0">
                <a:solidFill>
                  <a:srgbClr val="003082"/>
                </a:solidFill>
              </a:rPr>
            </a:fld>
            <a:endParaRPr lang="en-GB" sz="1575">
              <a:solidFill>
                <a:srgbClr val="003082"/>
              </a:solidFill>
            </a:endParaRPr>
          </a:p>
        </p:txBody>
      </p:sp>
      <p:sp>
        <p:nvSpPr>
          <p:cNvPr id="3" name="Rectangle 5"/>
          <p:cNvSpPr>
            <a:spLocks noGrp="1" noChangeArrowheads="1"/>
          </p:cNvSpPr>
          <p:nvPr>
            <p:ph type="ftr" sz="quarter" idx="11"/>
          </p:nvPr>
        </p:nvSpPr>
        <p:spPr>
          <a:xfrm>
            <a:off x="4165600" y="6268457"/>
            <a:ext cx="3860800" cy="476250"/>
          </a:xfrm>
          <a:prstGeom prst="rect">
            <a:avLst/>
          </a:prstGeom>
        </p:spPr>
        <p:txBody>
          <a:bodyPr/>
          <a:lstStyle>
            <a:lvl1pPr>
              <a:defRPr/>
            </a:lvl1pPr>
          </a:lstStyle>
          <a:p>
            <a:pPr eaLnBrk="0" fontAlgn="base" hangingPunct="0">
              <a:spcBef>
                <a:spcPct val="0"/>
              </a:spcBef>
              <a:spcAft>
                <a:spcPct val="0"/>
              </a:spcAft>
              <a:defRPr/>
            </a:pPr>
            <a:endParaRPr lang="en-GB" sz="1575">
              <a:solidFill>
                <a:srgbClr val="003082"/>
              </a:solidFill>
            </a:endParaRPr>
          </a:p>
        </p:txBody>
      </p:sp>
      <p:sp>
        <p:nvSpPr>
          <p:cNvPr id="4" name="Rectangle 6"/>
          <p:cNvSpPr>
            <a:spLocks noGrp="1" noChangeArrowheads="1"/>
          </p:cNvSpPr>
          <p:nvPr>
            <p:ph type="sldNum" sz="quarter" idx="12"/>
          </p:nvPr>
        </p:nvSpPr>
        <p:spPr/>
        <p:txBody>
          <a:bodyPr/>
          <a:lstStyle>
            <a:lvl1pPr>
              <a:defRPr/>
            </a:lvl1pPr>
          </a:lstStyle>
          <a:p>
            <a:pPr>
              <a:defRPr/>
            </a:pPr>
            <a:fld id="{2736758C-78E8-412D-8F02-C97500697EA1}" type="slidenum">
              <a:rPr lang="en-GB">
                <a:solidFill>
                  <a:srgbClr val="003082"/>
                </a:solidFill>
              </a:rPr>
            </a:fld>
            <a:endParaRPr lang="en-GB">
              <a:solidFill>
                <a:srgbClr val="003082"/>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1500" b="1"/>
            </a:lvl1pPr>
          </a:lstStyle>
          <a:p>
            <a:r>
              <a:rPr lang="en-US"/>
              <a:t>Click to edit Master title style</a:t>
            </a:r>
            <a:endParaRPr lang="en-GB"/>
          </a:p>
        </p:txBody>
      </p:sp>
      <p:sp>
        <p:nvSpPr>
          <p:cNvPr id="3" name="Content Placeholder 2"/>
          <p:cNvSpPr>
            <a:spLocks noGrp="1"/>
          </p:cNvSpPr>
          <p:nvPr>
            <p:ph idx="1"/>
          </p:nvPr>
        </p:nvSpPr>
        <p:spPr>
          <a:xfrm>
            <a:off x="4766733" y="273058"/>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pPr eaLnBrk="0" fontAlgn="base" hangingPunct="0">
              <a:spcBef>
                <a:spcPct val="0"/>
              </a:spcBef>
              <a:spcAft>
                <a:spcPct val="0"/>
              </a:spcAft>
              <a:defRPr/>
            </a:pPr>
            <a:fld id="{0789DB3A-D83A-4C69-940F-A497F92ED421}" type="datetime1">
              <a:rPr lang="en-ZA" sz="1575" smtClean="0">
                <a:solidFill>
                  <a:srgbClr val="003082"/>
                </a:solidFill>
              </a:rPr>
            </a:fld>
            <a:endParaRPr lang="en-GB" sz="1575">
              <a:solidFill>
                <a:srgbClr val="003082"/>
              </a:solidFill>
            </a:endParaRPr>
          </a:p>
        </p:txBody>
      </p:sp>
      <p:sp>
        <p:nvSpPr>
          <p:cNvPr id="6" name="Footer Placeholder 5"/>
          <p:cNvSpPr>
            <a:spLocks noGrp="1" noChangeArrowheads="1"/>
          </p:cNvSpPr>
          <p:nvPr>
            <p:ph type="ftr" sz="quarter" idx="11"/>
          </p:nvPr>
        </p:nvSpPr>
        <p:spPr>
          <a:xfrm>
            <a:off x="4165600" y="6268457"/>
            <a:ext cx="3860800" cy="476250"/>
          </a:xfrm>
          <a:prstGeom prst="rect">
            <a:avLst/>
          </a:prstGeom>
        </p:spPr>
        <p:txBody>
          <a:bodyPr/>
          <a:lstStyle>
            <a:lvl1pPr>
              <a:defRPr/>
            </a:lvl1pPr>
          </a:lstStyle>
          <a:p>
            <a:pPr eaLnBrk="0" fontAlgn="base" hangingPunct="0">
              <a:spcBef>
                <a:spcPct val="0"/>
              </a:spcBef>
              <a:spcAft>
                <a:spcPct val="0"/>
              </a:spcAft>
              <a:defRPr/>
            </a:pPr>
            <a:endParaRPr lang="en-GB" sz="1575">
              <a:solidFill>
                <a:srgbClr val="003082"/>
              </a:solidFill>
            </a:endParaRPr>
          </a:p>
        </p:txBody>
      </p:sp>
      <p:sp>
        <p:nvSpPr>
          <p:cNvPr id="7" name="Rectangle 6"/>
          <p:cNvSpPr>
            <a:spLocks noGrp="1" noChangeArrowheads="1"/>
          </p:cNvSpPr>
          <p:nvPr>
            <p:ph type="sldNum" sz="quarter" idx="12"/>
          </p:nvPr>
        </p:nvSpPr>
        <p:spPr/>
        <p:txBody>
          <a:bodyPr/>
          <a:lstStyle>
            <a:lvl1pPr>
              <a:defRPr/>
            </a:lvl1pPr>
          </a:lstStyle>
          <a:p>
            <a:pPr>
              <a:defRPr/>
            </a:pPr>
            <a:fld id="{2A7F8A55-2493-4F27-AB62-1508D34D8377}" type="slidenum">
              <a:rPr lang="en-GB">
                <a:solidFill>
                  <a:srgbClr val="003082"/>
                </a:solidFill>
              </a:rPr>
            </a:fld>
            <a:endParaRPr lang="en-GB">
              <a:solidFill>
                <a:srgbClr val="003082"/>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pPr eaLnBrk="0" fontAlgn="base" hangingPunct="0">
              <a:spcBef>
                <a:spcPct val="0"/>
              </a:spcBef>
              <a:spcAft>
                <a:spcPct val="0"/>
              </a:spcAft>
              <a:defRPr/>
            </a:pPr>
            <a:fld id="{DD51774C-75CA-4E5C-AE4D-E1AD1882D062}" type="datetime1">
              <a:rPr lang="en-ZA" sz="1575" smtClean="0">
                <a:solidFill>
                  <a:srgbClr val="003082"/>
                </a:solidFill>
              </a:rPr>
            </a:fld>
            <a:endParaRPr lang="en-GB" sz="1575">
              <a:solidFill>
                <a:srgbClr val="003082"/>
              </a:solidFill>
            </a:endParaRPr>
          </a:p>
        </p:txBody>
      </p:sp>
      <p:sp>
        <p:nvSpPr>
          <p:cNvPr id="6" name="Footer Placeholder 5"/>
          <p:cNvSpPr>
            <a:spLocks noGrp="1" noChangeArrowheads="1"/>
          </p:cNvSpPr>
          <p:nvPr>
            <p:ph type="ftr" sz="quarter" idx="11"/>
          </p:nvPr>
        </p:nvSpPr>
        <p:spPr>
          <a:xfrm>
            <a:off x="4165600" y="6268457"/>
            <a:ext cx="3860800" cy="476250"/>
          </a:xfrm>
          <a:prstGeom prst="rect">
            <a:avLst/>
          </a:prstGeom>
        </p:spPr>
        <p:txBody>
          <a:bodyPr/>
          <a:lstStyle>
            <a:lvl1pPr>
              <a:defRPr/>
            </a:lvl1pPr>
          </a:lstStyle>
          <a:p>
            <a:pPr eaLnBrk="0" fontAlgn="base" hangingPunct="0">
              <a:spcBef>
                <a:spcPct val="0"/>
              </a:spcBef>
              <a:spcAft>
                <a:spcPct val="0"/>
              </a:spcAft>
              <a:defRPr/>
            </a:pPr>
            <a:endParaRPr lang="en-GB" sz="1575">
              <a:solidFill>
                <a:srgbClr val="003082"/>
              </a:solidFill>
            </a:endParaRPr>
          </a:p>
        </p:txBody>
      </p:sp>
      <p:sp>
        <p:nvSpPr>
          <p:cNvPr id="7" name="Rectangle 6"/>
          <p:cNvSpPr>
            <a:spLocks noGrp="1" noChangeArrowheads="1"/>
          </p:cNvSpPr>
          <p:nvPr>
            <p:ph type="sldNum" sz="quarter" idx="12"/>
          </p:nvPr>
        </p:nvSpPr>
        <p:spPr/>
        <p:txBody>
          <a:bodyPr/>
          <a:lstStyle>
            <a:lvl1pPr>
              <a:defRPr/>
            </a:lvl1pPr>
          </a:lstStyle>
          <a:p>
            <a:pPr>
              <a:defRPr/>
            </a:pPr>
            <a:fld id="{53572BC3-6D04-4C75-BEB1-C188D7B8D201}" type="slidenum">
              <a:rPr lang="en-GB">
                <a:solidFill>
                  <a:srgbClr val="003082"/>
                </a:solidFill>
              </a:rPr>
            </a:fld>
            <a:endParaRPr lang="en-GB">
              <a:solidFill>
                <a:srgbClr val="003082"/>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a:xfrm>
            <a:off x="60960" y="1404858"/>
            <a:ext cx="12070080" cy="4297522"/>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pPr eaLnBrk="0" fontAlgn="base" hangingPunct="0">
              <a:spcBef>
                <a:spcPct val="0"/>
              </a:spcBef>
              <a:spcAft>
                <a:spcPct val="0"/>
              </a:spcAft>
              <a:defRPr/>
            </a:pPr>
            <a:fld id="{3819E186-49AD-41B7-9672-D8C122BD11FF}" type="datetime1">
              <a:rPr lang="en-ZA" sz="1575" smtClean="0">
                <a:solidFill>
                  <a:srgbClr val="003082"/>
                </a:solidFill>
              </a:rPr>
            </a:fld>
            <a:endParaRPr lang="en-GB" sz="1575">
              <a:solidFill>
                <a:srgbClr val="003082"/>
              </a:solidFill>
            </a:endParaRPr>
          </a:p>
        </p:txBody>
      </p:sp>
      <p:sp>
        <p:nvSpPr>
          <p:cNvPr id="5" name="Rectangle 5"/>
          <p:cNvSpPr>
            <a:spLocks noGrp="1" noChangeArrowheads="1"/>
          </p:cNvSpPr>
          <p:nvPr>
            <p:ph type="ftr" sz="quarter" idx="11"/>
          </p:nvPr>
        </p:nvSpPr>
        <p:spPr>
          <a:xfrm>
            <a:off x="4165600" y="6268457"/>
            <a:ext cx="3860800" cy="476250"/>
          </a:xfrm>
          <a:prstGeom prst="rect">
            <a:avLst/>
          </a:prstGeom>
        </p:spPr>
        <p:txBody>
          <a:bodyPr/>
          <a:lstStyle>
            <a:lvl1pPr>
              <a:defRPr/>
            </a:lvl1pPr>
          </a:lstStyle>
          <a:p>
            <a:pPr eaLnBrk="0" fontAlgn="base" hangingPunct="0">
              <a:spcBef>
                <a:spcPct val="0"/>
              </a:spcBef>
              <a:spcAft>
                <a:spcPct val="0"/>
              </a:spcAft>
              <a:defRPr/>
            </a:pPr>
            <a:endParaRPr lang="en-GB" sz="1575">
              <a:solidFill>
                <a:srgbClr val="003082"/>
              </a:solidFill>
            </a:endParaRPr>
          </a:p>
        </p:txBody>
      </p:sp>
      <p:sp>
        <p:nvSpPr>
          <p:cNvPr id="6" name="Rectangle 6"/>
          <p:cNvSpPr>
            <a:spLocks noGrp="1" noChangeArrowheads="1"/>
          </p:cNvSpPr>
          <p:nvPr>
            <p:ph type="sldNum" sz="quarter" idx="12"/>
          </p:nvPr>
        </p:nvSpPr>
        <p:spPr/>
        <p:txBody>
          <a:bodyPr/>
          <a:lstStyle>
            <a:lvl1pPr>
              <a:defRPr/>
            </a:lvl1pPr>
          </a:lstStyle>
          <a:p>
            <a:pPr>
              <a:defRPr/>
            </a:pPr>
            <a:fld id="{4347B883-200D-4435-B471-57D1597EF2A2}" type="slidenum">
              <a:rPr lang="en-GB">
                <a:solidFill>
                  <a:srgbClr val="003082"/>
                </a:solidFill>
              </a:rPr>
            </a:fld>
            <a:endParaRPr lang="en-GB">
              <a:solidFill>
                <a:srgbClr val="003082"/>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05903" y="274638"/>
            <a:ext cx="2832100" cy="5232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603" y="274638"/>
            <a:ext cx="8293100" cy="52324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pPr eaLnBrk="0" fontAlgn="base" hangingPunct="0">
              <a:spcBef>
                <a:spcPct val="0"/>
              </a:spcBef>
              <a:spcAft>
                <a:spcPct val="0"/>
              </a:spcAft>
              <a:defRPr/>
            </a:pPr>
            <a:fld id="{0ACCB870-B009-4DD7-8840-ED0AC07C1630}" type="datetime1">
              <a:rPr lang="en-ZA" sz="1575" smtClean="0">
                <a:solidFill>
                  <a:srgbClr val="003082"/>
                </a:solidFill>
              </a:rPr>
            </a:fld>
            <a:endParaRPr lang="en-GB" sz="1575">
              <a:solidFill>
                <a:srgbClr val="003082"/>
              </a:solidFill>
            </a:endParaRPr>
          </a:p>
        </p:txBody>
      </p:sp>
      <p:sp>
        <p:nvSpPr>
          <p:cNvPr id="5" name="Rectangle 5"/>
          <p:cNvSpPr>
            <a:spLocks noGrp="1" noChangeArrowheads="1"/>
          </p:cNvSpPr>
          <p:nvPr>
            <p:ph type="ftr" sz="quarter" idx="11"/>
          </p:nvPr>
        </p:nvSpPr>
        <p:spPr>
          <a:xfrm>
            <a:off x="4165600" y="6268457"/>
            <a:ext cx="3860800" cy="476250"/>
          </a:xfrm>
          <a:prstGeom prst="rect">
            <a:avLst/>
          </a:prstGeom>
        </p:spPr>
        <p:txBody>
          <a:bodyPr/>
          <a:lstStyle>
            <a:lvl1pPr>
              <a:defRPr/>
            </a:lvl1pPr>
          </a:lstStyle>
          <a:p>
            <a:pPr eaLnBrk="0" fontAlgn="base" hangingPunct="0">
              <a:spcBef>
                <a:spcPct val="0"/>
              </a:spcBef>
              <a:spcAft>
                <a:spcPct val="0"/>
              </a:spcAft>
              <a:defRPr/>
            </a:pPr>
            <a:endParaRPr lang="en-GB" sz="1575">
              <a:solidFill>
                <a:srgbClr val="003082"/>
              </a:solidFill>
            </a:endParaRPr>
          </a:p>
        </p:txBody>
      </p:sp>
      <p:sp>
        <p:nvSpPr>
          <p:cNvPr id="6" name="Rectangle 6"/>
          <p:cNvSpPr>
            <a:spLocks noGrp="1" noChangeArrowheads="1"/>
          </p:cNvSpPr>
          <p:nvPr>
            <p:ph type="sldNum" sz="quarter" idx="12"/>
          </p:nvPr>
        </p:nvSpPr>
        <p:spPr/>
        <p:txBody>
          <a:bodyPr/>
          <a:lstStyle>
            <a:lvl1pPr>
              <a:defRPr/>
            </a:lvl1pPr>
          </a:lstStyle>
          <a:p>
            <a:pPr>
              <a:defRPr/>
            </a:pPr>
            <a:fld id="{A5367794-C7AD-4C0A-A9D8-E42240917DE8}" type="slidenum">
              <a:rPr lang="en-GB">
                <a:solidFill>
                  <a:srgbClr val="003082"/>
                </a:solidFill>
              </a:rPr>
            </a:fld>
            <a:endParaRPr lang="en-GB">
              <a:solidFill>
                <a:srgbClr val="003082"/>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2.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6" Type="http://schemas.openxmlformats.org/officeDocument/2006/relationships/theme" Target="../theme/theme3.xml"/><Relationship Id="rId15" Type="http://schemas.openxmlformats.org/officeDocument/2006/relationships/image" Target="../media/image10.jpeg"/><Relationship Id="rId14" Type="http://schemas.openxmlformats.org/officeDocument/2006/relationships/slideLayout" Target="../slideLayouts/slideLayout36.xml"/><Relationship Id="rId13" Type="http://schemas.openxmlformats.org/officeDocument/2006/relationships/slideLayout" Target="../slideLayouts/slideLayout35.xml"/><Relationship Id="rId12" Type="http://schemas.openxmlformats.org/officeDocument/2006/relationships/slideLayout" Target="../slideLayouts/slideLayout34.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6" Type="http://schemas.openxmlformats.org/officeDocument/2006/relationships/theme" Target="../theme/theme4.xml"/><Relationship Id="rId15" Type="http://schemas.openxmlformats.org/officeDocument/2006/relationships/image" Target="../media/image10.jpeg"/><Relationship Id="rId14" Type="http://schemas.openxmlformats.org/officeDocument/2006/relationships/slideLayout" Target="../slideLayouts/slideLayout50.xml"/><Relationship Id="rId13" Type="http://schemas.openxmlformats.org/officeDocument/2006/relationships/slideLayout" Target="../slideLayouts/slideLayout49.xml"/><Relationship Id="rId12" Type="http://schemas.openxmlformats.org/officeDocument/2006/relationships/slideLayout" Target="../slideLayouts/slideLayout48.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9.xml"/><Relationship Id="rId8" Type="http://schemas.openxmlformats.org/officeDocument/2006/relationships/slideLayout" Target="../slideLayouts/slideLayout58.xml"/><Relationship Id="rId7" Type="http://schemas.openxmlformats.org/officeDocument/2006/relationships/slideLayout" Target="../slideLayouts/slideLayout57.xml"/><Relationship Id="rId6" Type="http://schemas.openxmlformats.org/officeDocument/2006/relationships/slideLayout" Target="../slideLayouts/slideLayout56.xml"/><Relationship Id="rId5" Type="http://schemas.openxmlformats.org/officeDocument/2006/relationships/slideLayout" Target="../slideLayouts/slideLayout55.xml"/><Relationship Id="rId4" Type="http://schemas.openxmlformats.org/officeDocument/2006/relationships/slideLayout" Target="../slideLayouts/slideLayout54.xml"/><Relationship Id="rId3" Type="http://schemas.openxmlformats.org/officeDocument/2006/relationships/slideLayout" Target="../slideLayouts/slideLayout53.xml"/><Relationship Id="rId2" Type="http://schemas.openxmlformats.org/officeDocument/2006/relationships/slideLayout" Target="../slideLayouts/slideLayout52.xml"/><Relationship Id="rId13" Type="http://schemas.openxmlformats.org/officeDocument/2006/relationships/theme" Target="../theme/theme5.xml"/><Relationship Id="rId12" Type="http://schemas.openxmlformats.org/officeDocument/2006/relationships/image" Target="../media/image1.jpeg"/><Relationship Id="rId11" Type="http://schemas.openxmlformats.org/officeDocument/2006/relationships/slideLayout" Target="../slideLayouts/slideLayout61.xml"/><Relationship Id="rId10" Type="http://schemas.openxmlformats.org/officeDocument/2006/relationships/slideLayout" Target="../slideLayouts/slideLayout60.xml"/><Relationship Id="rId1" Type="http://schemas.openxmlformats.org/officeDocument/2006/relationships/slideLayout" Target="../slideLayouts/slideLayout51.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70.xml"/><Relationship Id="rId8" Type="http://schemas.openxmlformats.org/officeDocument/2006/relationships/slideLayout" Target="../slideLayouts/slideLayout69.xml"/><Relationship Id="rId7" Type="http://schemas.openxmlformats.org/officeDocument/2006/relationships/slideLayout" Target="../slideLayouts/slideLayout68.xml"/><Relationship Id="rId6" Type="http://schemas.openxmlformats.org/officeDocument/2006/relationships/slideLayout" Target="../slideLayouts/slideLayout67.xml"/><Relationship Id="rId5" Type="http://schemas.openxmlformats.org/officeDocument/2006/relationships/slideLayout" Target="../slideLayouts/slideLayout66.xml"/><Relationship Id="rId4" Type="http://schemas.openxmlformats.org/officeDocument/2006/relationships/slideLayout" Target="../slideLayouts/slideLayout65.xml"/><Relationship Id="rId3" Type="http://schemas.openxmlformats.org/officeDocument/2006/relationships/slideLayout" Target="../slideLayouts/slideLayout64.xml"/><Relationship Id="rId2" Type="http://schemas.openxmlformats.org/officeDocument/2006/relationships/slideLayout" Target="../slideLayouts/slideLayout63.xml"/><Relationship Id="rId13" Type="http://schemas.openxmlformats.org/officeDocument/2006/relationships/theme" Target="../theme/theme6.xml"/><Relationship Id="rId12" Type="http://schemas.openxmlformats.org/officeDocument/2006/relationships/image" Target="../media/image2.jpeg"/><Relationship Id="rId11" Type="http://schemas.openxmlformats.org/officeDocument/2006/relationships/slideLayout" Target="../slideLayouts/slideLayout72.xml"/><Relationship Id="rId10" Type="http://schemas.openxmlformats.org/officeDocument/2006/relationships/slideLayout" Target="../slideLayouts/slideLayout71.xml"/><Relationship Id="rId1"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a:solidFill>
            <a:srgbClr val="C00000"/>
          </a:solidFill>
        </p:spPr>
        <p:txBody>
          <a:bodyPr vert="horz" lIns="91440" tIns="45720" rIns="91440" bIns="45720" rtlCol="0" anchor="ctr">
            <a:normAutofit/>
          </a:bodyPr>
          <a:lstStyle/>
          <a:p>
            <a:r>
              <a:rPr lang="en-US"/>
              <a:t>Click to edit Master title style</a:t>
            </a:r>
            <a:endParaRPr lang="en-ZA"/>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4DC252-1442-438B-A140-1627EE769DB9}" type="datetimeFigureOut">
              <a:rPr lang="en-ZA" smtClean="0"/>
            </a:fld>
            <a:endParaRPr lang="en-ZA"/>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AF2325-CD8E-41DA-A2A9-A4D3E4CE53DE}" type="slidenum">
              <a:rPr lang="en-ZA" smtClean="0"/>
            </a:fld>
            <a:endParaRPr lang="en-ZA"/>
          </a:p>
        </p:txBody>
      </p:sp>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0870571" y="5849888"/>
            <a:ext cx="1315407" cy="1008112"/>
          </a:xfrm>
          <a:prstGeom prst="rect">
            <a:avLst/>
          </a:prstGeom>
        </p:spPr>
      </p:pic>
      <p:sp>
        <p:nvSpPr>
          <p:cNvPr id="9" name="Isosceles Triangle 8"/>
          <p:cNvSpPr/>
          <p:nvPr/>
        </p:nvSpPr>
        <p:spPr>
          <a:xfrm rot="5760707">
            <a:off x="4505782" y="1496148"/>
            <a:ext cx="527972" cy="9632441"/>
          </a:xfrm>
          <a:prstGeom prst="triangle">
            <a:avLst>
              <a:gd name="adj" fmla="val 10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800"/>
          </a:p>
        </p:txBody>
      </p:sp>
      <p:sp>
        <p:nvSpPr>
          <p:cNvPr id="10" name="Isosceles Triangle 9"/>
          <p:cNvSpPr/>
          <p:nvPr/>
        </p:nvSpPr>
        <p:spPr>
          <a:xfrm rot="5581508">
            <a:off x="4481254" y="1674925"/>
            <a:ext cx="551838" cy="9604129"/>
          </a:xfrm>
          <a:prstGeom prst="triangle">
            <a:avLst>
              <a:gd name="adj" fmla="val 10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800"/>
          </a:p>
        </p:txBody>
      </p:sp>
      <p:sp>
        <p:nvSpPr>
          <p:cNvPr id="11" name="Isosceles Triangle 10"/>
          <p:cNvSpPr/>
          <p:nvPr/>
        </p:nvSpPr>
        <p:spPr>
          <a:xfrm rot="5400000">
            <a:off x="4488160" y="1893168"/>
            <a:ext cx="576064" cy="9552384"/>
          </a:xfrm>
          <a:prstGeom prst="triangle">
            <a:avLst>
              <a:gd name="adj" fmla="val 10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8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b="1"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bwMode="auto">
          <a:xfrm>
            <a:off x="630621" y="274638"/>
            <a:ext cx="11307379" cy="1143000"/>
          </a:xfrm>
          <a:prstGeom prst="rect">
            <a:avLst/>
          </a:prstGeom>
          <a:noFill/>
          <a:ln>
            <a:noFill/>
          </a:ln>
        </p:spPr>
        <p:txBody>
          <a:bodyPr vert="horz" wrap="square" lIns="91440" tIns="45720" rIns="91440" bIns="45720" numCol="1" anchor="t" anchorCtr="0" compatLnSpc="1"/>
          <a:lstStyle/>
          <a:p>
            <a:pPr lvl="0"/>
            <a:br>
              <a:rPr lang="en-US"/>
            </a:br>
            <a:r>
              <a:rPr lang="en-US"/>
              <a:t>Click to edit Master title style</a:t>
            </a:r>
            <a:endParaRPr lang="en-GB"/>
          </a:p>
        </p:txBody>
      </p:sp>
      <p:sp>
        <p:nvSpPr>
          <p:cNvPr id="3077" name="Rectangle 3"/>
          <p:cNvSpPr>
            <a:spLocks noGrp="1" noChangeArrowheads="1"/>
          </p:cNvSpPr>
          <p:nvPr>
            <p:ph type="body" idx="1"/>
          </p:nvPr>
        </p:nvSpPr>
        <p:spPr bwMode="auto">
          <a:xfrm>
            <a:off x="609600" y="1600200"/>
            <a:ext cx="10972800" cy="3906838"/>
          </a:xfrm>
          <a:prstGeom prst="rect">
            <a:avLst/>
          </a:prstGeom>
          <a:noFill/>
          <a:ln>
            <a:noFill/>
          </a:ln>
        </p:spPr>
        <p:txBody>
          <a:bodyPr vert="horz" wrap="square" lIns="91440" tIns="45720" rIns="91440" bIns="45720" numCol="1" anchor="t" anchorCtr="0" compatLnSpc="1"/>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28678" name="Rectangle 6"/>
          <p:cNvSpPr>
            <a:spLocks noGrp="1" noChangeArrowheads="1"/>
          </p:cNvSpPr>
          <p:nvPr>
            <p:ph type="sldNum" sz="quarter" idx="4"/>
          </p:nvPr>
        </p:nvSpPr>
        <p:spPr bwMode="auto">
          <a:xfrm>
            <a:off x="8216900" y="6245225"/>
            <a:ext cx="1016000" cy="476250"/>
          </a:xfrm>
          <a:prstGeom prst="rect">
            <a:avLst/>
          </a:prstGeom>
          <a:noFill/>
          <a:ln w="9525">
            <a:noFill/>
            <a:miter lim="800000"/>
          </a:ln>
          <a:effectLst/>
        </p:spPr>
        <p:txBody>
          <a:bodyPr vert="horz" wrap="square" lIns="91440" tIns="45720" rIns="91440" bIns="45720" numCol="1" anchor="t" anchorCtr="0" compatLnSpc="1"/>
          <a:lstStyle>
            <a:lvl1pPr algn="r">
              <a:defRPr sz="1050">
                <a:solidFill>
                  <a:schemeClr val="tx1"/>
                </a:solidFill>
              </a:defRPr>
            </a:lvl1pPr>
          </a:lstStyle>
          <a:p>
            <a:pPr eaLnBrk="0" fontAlgn="base" hangingPunct="0">
              <a:spcBef>
                <a:spcPct val="0"/>
              </a:spcBef>
              <a:spcAft>
                <a:spcPct val="0"/>
              </a:spcAft>
              <a:defRPr/>
            </a:pPr>
            <a:fld id="{1610AEC6-42FD-418E-AA9D-9BD70B8BE8A7}" type="slidenum">
              <a:rPr lang="en-GB">
                <a:solidFill>
                  <a:srgbClr val="003082"/>
                </a:solidFill>
              </a:rPr>
            </a:fld>
            <a:endParaRPr lang="en-GB">
              <a:solidFill>
                <a:srgbClr val="003082"/>
              </a:solidFill>
            </a:endParaRPr>
          </a:p>
        </p:txBody>
      </p:sp>
      <p:pic>
        <p:nvPicPr>
          <p:cNvPr id="14" name="Picture 13" descr="C:\Users\chi55417\AppData\Local\Microsoft\Windows\Temporary Internet Files\Content.Word\ehpsa-Logo(RGB).jpg"/>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317745" y="5858943"/>
            <a:ext cx="3789751" cy="885764"/>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rtl="0" eaLnBrk="1" fontAlgn="base" hangingPunct="1">
        <a:spcBef>
          <a:spcPct val="0"/>
        </a:spcBef>
        <a:spcAft>
          <a:spcPct val="0"/>
        </a:spcAft>
        <a:defRPr sz="2325" b="1">
          <a:solidFill>
            <a:schemeClr val="tx1">
              <a:lumMod val="50000"/>
            </a:schemeClr>
          </a:solidFill>
          <a:latin typeface="Calibri" panose="020F0502020204030204" pitchFamily="34" charset="0"/>
          <a:ea typeface="+mj-ea"/>
          <a:cs typeface="+mj-cs"/>
        </a:defRPr>
      </a:lvl1pPr>
      <a:lvl2pPr algn="r" rtl="0" eaLnBrk="1" fontAlgn="base" hangingPunct="1">
        <a:spcBef>
          <a:spcPct val="0"/>
        </a:spcBef>
        <a:spcAft>
          <a:spcPct val="0"/>
        </a:spcAft>
        <a:defRPr sz="2325">
          <a:solidFill>
            <a:srgbClr val="003082"/>
          </a:solidFill>
          <a:latin typeface="Arial" panose="020B0604020202020204" pitchFamily="34" charset="0"/>
        </a:defRPr>
      </a:lvl2pPr>
      <a:lvl3pPr algn="r" rtl="0" eaLnBrk="1" fontAlgn="base" hangingPunct="1">
        <a:spcBef>
          <a:spcPct val="0"/>
        </a:spcBef>
        <a:spcAft>
          <a:spcPct val="0"/>
        </a:spcAft>
        <a:defRPr sz="2325">
          <a:solidFill>
            <a:srgbClr val="003082"/>
          </a:solidFill>
          <a:latin typeface="Arial" panose="020B0604020202020204" pitchFamily="34" charset="0"/>
        </a:defRPr>
      </a:lvl3pPr>
      <a:lvl4pPr algn="r" rtl="0" eaLnBrk="1" fontAlgn="base" hangingPunct="1">
        <a:spcBef>
          <a:spcPct val="0"/>
        </a:spcBef>
        <a:spcAft>
          <a:spcPct val="0"/>
        </a:spcAft>
        <a:defRPr sz="2325">
          <a:solidFill>
            <a:srgbClr val="003082"/>
          </a:solidFill>
          <a:latin typeface="Arial" panose="020B0604020202020204" pitchFamily="34" charset="0"/>
        </a:defRPr>
      </a:lvl4pPr>
      <a:lvl5pPr algn="r" rtl="0" eaLnBrk="1" fontAlgn="base" hangingPunct="1">
        <a:spcBef>
          <a:spcPct val="0"/>
        </a:spcBef>
        <a:spcAft>
          <a:spcPct val="0"/>
        </a:spcAft>
        <a:defRPr sz="2325">
          <a:solidFill>
            <a:srgbClr val="003082"/>
          </a:solidFill>
          <a:latin typeface="Arial" panose="020B0604020202020204" pitchFamily="34" charset="0"/>
        </a:defRPr>
      </a:lvl5pPr>
      <a:lvl6pPr marL="342900" algn="r" rtl="0" eaLnBrk="1" fontAlgn="base" hangingPunct="1">
        <a:spcBef>
          <a:spcPct val="0"/>
        </a:spcBef>
        <a:spcAft>
          <a:spcPct val="0"/>
        </a:spcAft>
        <a:defRPr sz="2325">
          <a:solidFill>
            <a:srgbClr val="003082"/>
          </a:solidFill>
          <a:latin typeface="Arial" panose="020B0604020202020204" pitchFamily="34" charset="0"/>
        </a:defRPr>
      </a:lvl6pPr>
      <a:lvl7pPr marL="685800" algn="r" rtl="0" eaLnBrk="1" fontAlgn="base" hangingPunct="1">
        <a:spcBef>
          <a:spcPct val="0"/>
        </a:spcBef>
        <a:spcAft>
          <a:spcPct val="0"/>
        </a:spcAft>
        <a:defRPr sz="2325">
          <a:solidFill>
            <a:srgbClr val="003082"/>
          </a:solidFill>
          <a:latin typeface="Arial" panose="020B0604020202020204" pitchFamily="34" charset="0"/>
        </a:defRPr>
      </a:lvl7pPr>
      <a:lvl8pPr marL="1028700" algn="r" rtl="0" eaLnBrk="1" fontAlgn="base" hangingPunct="1">
        <a:spcBef>
          <a:spcPct val="0"/>
        </a:spcBef>
        <a:spcAft>
          <a:spcPct val="0"/>
        </a:spcAft>
        <a:defRPr sz="2325">
          <a:solidFill>
            <a:srgbClr val="003082"/>
          </a:solidFill>
          <a:latin typeface="Arial" panose="020B0604020202020204" pitchFamily="34" charset="0"/>
        </a:defRPr>
      </a:lvl8pPr>
      <a:lvl9pPr marL="1371600" algn="r" rtl="0" eaLnBrk="1" fontAlgn="base" hangingPunct="1">
        <a:spcBef>
          <a:spcPct val="0"/>
        </a:spcBef>
        <a:spcAft>
          <a:spcPct val="0"/>
        </a:spcAft>
        <a:defRPr sz="2325">
          <a:solidFill>
            <a:srgbClr val="003082"/>
          </a:solidFill>
          <a:latin typeface="Arial" panose="020B0604020202020204" pitchFamily="34" charset="0"/>
        </a:defRPr>
      </a:lvl9pPr>
    </p:titleStyle>
    <p:bodyStyle>
      <a:lvl1pPr marL="257175" indent="-257175" algn="l" rtl="0" eaLnBrk="1" fontAlgn="base" hangingPunct="1">
        <a:spcBef>
          <a:spcPct val="50000"/>
        </a:spcBef>
        <a:spcAft>
          <a:spcPct val="0"/>
        </a:spcAft>
        <a:buClr>
          <a:srgbClr val="FF0000"/>
        </a:buClr>
        <a:buFont typeface="Arial" panose="020B0604020202020204" pitchFamily="34" charset="0"/>
        <a:buChar char="•"/>
        <a:defRPr sz="1800">
          <a:solidFill>
            <a:schemeClr val="tx1">
              <a:lumMod val="50000"/>
            </a:schemeClr>
          </a:solidFill>
          <a:latin typeface="Calibri" panose="020F0502020204030204" pitchFamily="34" charset="0"/>
          <a:ea typeface="+mn-ea"/>
          <a:cs typeface="+mn-cs"/>
        </a:defRPr>
      </a:lvl1pPr>
      <a:lvl2pPr marL="557530" indent="-214630" algn="l" rtl="0" eaLnBrk="1" fontAlgn="base" hangingPunct="1">
        <a:spcBef>
          <a:spcPct val="50000"/>
        </a:spcBef>
        <a:spcAft>
          <a:spcPct val="0"/>
        </a:spcAft>
        <a:buClr>
          <a:srgbClr val="FF0000"/>
        </a:buClr>
        <a:buFont typeface="Arial" panose="020B0604020202020204" pitchFamily="34" charset="0"/>
        <a:buChar char="•"/>
        <a:defRPr sz="1650">
          <a:solidFill>
            <a:schemeClr val="tx1">
              <a:lumMod val="50000"/>
            </a:schemeClr>
          </a:solidFill>
          <a:latin typeface="Calibri" panose="020F0502020204030204" pitchFamily="34" charset="0"/>
        </a:defRPr>
      </a:lvl2pPr>
      <a:lvl3pPr marL="857250" indent="-171450" algn="l" rtl="0" eaLnBrk="1" fontAlgn="base" hangingPunct="1">
        <a:spcBef>
          <a:spcPct val="50000"/>
        </a:spcBef>
        <a:spcAft>
          <a:spcPct val="0"/>
        </a:spcAft>
        <a:buClr>
          <a:srgbClr val="FF0000"/>
        </a:buClr>
        <a:buFont typeface="Arial" panose="020B0604020202020204" pitchFamily="34" charset="0"/>
        <a:buChar char="•"/>
        <a:defRPr sz="1500">
          <a:solidFill>
            <a:schemeClr val="tx1">
              <a:lumMod val="50000"/>
            </a:schemeClr>
          </a:solidFill>
          <a:latin typeface="Calibri" panose="020F0502020204030204" pitchFamily="34" charset="0"/>
        </a:defRPr>
      </a:lvl3pPr>
      <a:lvl4pPr marL="1200150" indent="-171450" algn="l" rtl="0" eaLnBrk="1" fontAlgn="base" hangingPunct="1">
        <a:spcBef>
          <a:spcPct val="50000"/>
        </a:spcBef>
        <a:spcAft>
          <a:spcPct val="0"/>
        </a:spcAft>
        <a:buClr>
          <a:srgbClr val="FF0000"/>
        </a:buClr>
        <a:buFont typeface="Arial" panose="020B0604020202020204" pitchFamily="34" charset="0"/>
        <a:buChar char="•"/>
        <a:defRPr sz="1425">
          <a:solidFill>
            <a:schemeClr val="tx1">
              <a:lumMod val="50000"/>
            </a:schemeClr>
          </a:solidFill>
          <a:latin typeface="Calibri" panose="020F0502020204030204" pitchFamily="34" charset="0"/>
        </a:defRPr>
      </a:lvl4pPr>
      <a:lvl5pPr marL="1543050" indent="-171450" algn="l" rtl="0" eaLnBrk="1" fontAlgn="base" hangingPunct="1">
        <a:spcBef>
          <a:spcPct val="50000"/>
        </a:spcBef>
        <a:spcAft>
          <a:spcPct val="0"/>
        </a:spcAft>
        <a:buClr>
          <a:srgbClr val="FF0000"/>
        </a:buClr>
        <a:buFont typeface="Arial" panose="020B0604020202020204" pitchFamily="34" charset="0"/>
        <a:buChar char="•"/>
        <a:defRPr sz="1425">
          <a:solidFill>
            <a:schemeClr val="tx1">
              <a:lumMod val="50000"/>
            </a:schemeClr>
          </a:solidFill>
          <a:latin typeface="Calibri" panose="020F0502020204030204" pitchFamily="34" charset="0"/>
        </a:defRPr>
      </a:lvl5pPr>
      <a:lvl6pPr marL="1885950" indent="-171450" algn="l" rtl="0" eaLnBrk="1" fontAlgn="base" hangingPunct="1">
        <a:spcBef>
          <a:spcPct val="50000"/>
        </a:spcBef>
        <a:spcAft>
          <a:spcPct val="0"/>
        </a:spcAft>
        <a:buClr>
          <a:schemeClr val="folHlink"/>
        </a:buClr>
        <a:buChar char="•"/>
        <a:defRPr sz="1425">
          <a:solidFill>
            <a:srgbClr val="003082"/>
          </a:solidFill>
          <a:latin typeface="+mn-lt"/>
        </a:defRPr>
      </a:lvl6pPr>
      <a:lvl7pPr marL="2228850" indent="-171450" algn="l" rtl="0" eaLnBrk="1" fontAlgn="base" hangingPunct="1">
        <a:spcBef>
          <a:spcPct val="50000"/>
        </a:spcBef>
        <a:spcAft>
          <a:spcPct val="0"/>
        </a:spcAft>
        <a:buClr>
          <a:schemeClr val="folHlink"/>
        </a:buClr>
        <a:buChar char="•"/>
        <a:defRPr sz="1425">
          <a:solidFill>
            <a:srgbClr val="003082"/>
          </a:solidFill>
          <a:latin typeface="+mn-lt"/>
        </a:defRPr>
      </a:lvl7pPr>
      <a:lvl8pPr marL="2571750" indent="-171450" algn="l" rtl="0" eaLnBrk="1" fontAlgn="base" hangingPunct="1">
        <a:spcBef>
          <a:spcPct val="50000"/>
        </a:spcBef>
        <a:spcAft>
          <a:spcPct val="0"/>
        </a:spcAft>
        <a:buClr>
          <a:schemeClr val="folHlink"/>
        </a:buClr>
        <a:buChar char="•"/>
        <a:defRPr sz="1425">
          <a:solidFill>
            <a:srgbClr val="003082"/>
          </a:solidFill>
          <a:latin typeface="+mn-lt"/>
        </a:defRPr>
      </a:lvl8pPr>
      <a:lvl9pPr marL="2914650" indent="-171450" algn="l" rtl="0" eaLnBrk="1" fontAlgn="base" hangingPunct="1">
        <a:spcBef>
          <a:spcPct val="50000"/>
        </a:spcBef>
        <a:spcAft>
          <a:spcPct val="0"/>
        </a:spcAft>
        <a:buClr>
          <a:schemeClr val="folHlink"/>
        </a:buClr>
        <a:buChar char="•"/>
        <a:defRPr sz="1425">
          <a:solidFill>
            <a:srgbClr val="003082"/>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close up of a sign&#10;&#10;Description generated with high confidence"/>
          <p:cNvPicPr>
            <a:picLocks noChangeAspect="1"/>
          </p:cNvPicPr>
          <p:nvPr/>
        </p:nvPicPr>
        <p:blipFill rotWithShape="1">
          <a:blip r:embed="rId15" cstate="print">
            <a:extLst>
              <a:ext uri="{28A0092B-C50C-407E-A947-70E740481C1C}">
                <a14:useLocalDpi xmlns:a14="http://schemas.microsoft.com/office/drawing/2010/main" val="0"/>
              </a:ext>
            </a:extLst>
          </a:blip>
          <a:srcRect l="19799" r="17997" b="40826"/>
          <a:stretch>
            <a:fillRect/>
          </a:stretch>
        </p:blipFill>
        <p:spPr>
          <a:xfrm>
            <a:off x="11208568" y="6087478"/>
            <a:ext cx="612576" cy="581882"/>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txStyles>
    <p:titleStyle>
      <a:lvl1pPr algn="ctr" defTabSz="914400" rtl="0" eaLnBrk="1" latinLnBrk="0" hangingPunct="1">
        <a:spcBef>
          <a:spcPct val="0"/>
        </a:spcBef>
        <a:buNone/>
        <a:defRPr sz="4400" b="1"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Picture 1" descr="A close up of a sign&#10;&#10;Description generated with high confidence"/>
          <p:cNvPicPr>
            <a:picLocks noChangeAspect="1"/>
          </p:cNvPicPr>
          <p:nvPr/>
        </p:nvPicPr>
        <p:blipFill rotWithShape="1">
          <a:blip r:embed="rId15" cstate="print">
            <a:extLst>
              <a:ext uri="{28A0092B-C50C-407E-A947-70E740481C1C}">
                <a14:useLocalDpi xmlns:a14="http://schemas.microsoft.com/office/drawing/2010/main" val="0"/>
              </a:ext>
            </a:extLst>
          </a:blip>
          <a:srcRect l="19799" r="17997" b="40826"/>
          <a:stretch>
            <a:fillRect/>
          </a:stretch>
        </p:blipFill>
        <p:spPr>
          <a:xfrm>
            <a:off x="11208568" y="6087478"/>
            <a:ext cx="612576" cy="581882"/>
          </a:xfrm>
          <a:prstGeom prst="rect">
            <a:avLst/>
          </a:prstGeom>
        </p:spPr>
      </p:pic>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Lst>
  <mc:AlternateContent xmlns:mc="http://schemas.openxmlformats.org/markup-compatibility/2006">
    <mc:Choice xmlns:p14="http://schemas.microsoft.com/office/powerpoint/2010/main" Requires="p14">
      <p:transition spd="slow" p14:dur="1600">
        <p14:prism isInverted="1" isContent="1"/>
      </p:transition>
    </mc:Choice>
    <mc:Fallback>
      <p:transition spd="slow">
        <p:fade/>
      </p:transition>
    </mc:Fallback>
  </mc:AlternateContent>
  <p:txStyles>
    <p:titleStyle>
      <a:lvl1pPr algn="ctr" defTabSz="914400" rtl="0" eaLnBrk="1" latinLnBrk="0" hangingPunct="1">
        <a:spcBef>
          <a:spcPct val="0"/>
        </a:spcBef>
        <a:buNone/>
        <a:defRPr sz="4400" b="1"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a:solidFill>
            <a:srgbClr val="C00000"/>
          </a:solidFill>
        </p:spPr>
        <p:txBody>
          <a:bodyPr vert="horz" lIns="91440" tIns="45720" rIns="91440" bIns="45720" rtlCol="0" anchor="ctr">
            <a:normAutofit/>
          </a:bodyPr>
          <a:lstStyle/>
          <a:p>
            <a:r>
              <a:rPr lang="en-US"/>
              <a:t>Click to edit Master title style</a:t>
            </a:r>
            <a:endParaRPr lang="en-ZA"/>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ZA"/>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9F34C-98D1-4FBE-86E5-3840EE1AF143}" type="datetime1">
              <a:rPr lang="en-ZA" smtClean="0"/>
            </a:fld>
            <a:endParaRPr lang="en-ZA"/>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AF2325-CD8E-41DA-A2A9-A4D3E4CE53DE}" type="slidenum">
              <a:rPr lang="en-ZA" smtClean="0"/>
            </a:fld>
            <a:endParaRPr lang="en-ZA"/>
          </a:p>
        </p:txBody>
      </p:sp>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0870571" y="5849888"/>
            <a:ext cx="1315407" cy="1008112"/>
          </a:xfrm>
          <a:prstGeom prst="rect">
            <a:avLst/>
          </a:prstGeom>
        </p:spPr>
      </p:pic>
      <p:sp>
        <p:nvSpPr>
          <p:cNvPr id="9" name="Isosceles Triangle 8"/>
          <p:cNvSpPr/>
          <p:nvPr/>
        </p:nvSpPr>
        <p:spPr>
          <a:xfrm rot="5760707">
            <a:off x="4505782" y="1496148"/>
            <a:ext cx="527972" cy="9632441"/>
          </a:xfrm>
          <a:prstGeom prst="triangle">
            <a:avLst>
              <a:gd name="adj" fmla="val 10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800"/>
          </a:p>
        </p:txBody>
      </p:sp>
      <p:sp>
        <p:nvSpPr>
          <p:cNvPr id="10" name="Isosceles Triangle 9"/>
          <p:cNvSpPr/>
          <p:nvPr/>
        </p:nvSpPr>
        <p:spPr>
          <a:xfrm rot="5581508">
            <a:off x="4481254" y="1674925"/>
            <a:ext cx="551838" cy="9604129"/>
          </a:xfrm>
          <a:prstGeom prst="triangle">
            <a:avLst>
              <a:gd name="adj" fmla="val 10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800"/>
          </a:p>
        </p:txBody>
      </p:sp>
      <p:sp>
        <p:nvSpPr>
          <p:cNvPr id="11" name="Isosceles Triangle 10"/>
          <p:cNvSpPr/>
          <p:nvPr/>
        </p:nvSpPr>
        <p:spPr>
          <a:xfrm rot="5400000">
            <a:off x="4488160" y="1893168"/>
            <a:ext cx="576064" cy="9552384"/>
          </a:xfrm>
          <a:prstGeom prst="triangle">
            <a:avLst>
              <a:gd name="adj" fmla="val 10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800"/>
          </a:p>
        </p:txBody>
      </p:sp>
    </p:spTree>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hf hdr="0" ftr="0" dt="0"/>
  <p:txStyles>
    <p:titleStyle>
      <a:lvl1pPr algn="ctr" defTabSz="914400" rtl="0" eaLnBrk="1" latinLnBrk="0" hangingPunct="1">
        <a:spcBef>
          <a:spcPct val="0"/>
        </a:spcBef>
        <a:buNone/>
        <a:defRPr sz="4400" b="1"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bwMode="auto">
          <a:xfrm>
            <a:off x="630621" y="274638"/>
            <a:ext cx="11307379" cy="1143000"/>
          </a:xfrm>
          <a:prstGeom prst="rect">
            <a:avLst/>
          </a:prstGeom>
          <a:noFill/>
          <a:ln>
            <a:noFill/>
          </a:ln>
        </p:spPr>
        <p:txBody>
          <a:bodyPr vert="horz" wrap="square" lIns="91440" tIns="45720" rIns="91440" bIns="45720" numCol="1" anchor="t" anchorCtr="0" compatLnSpc="1"/>
          <a:lstStyle/>
          <a:p>
            <a:pPr lvl="0"/>
            <a:br>
              <a:rPr lang="en-US"/>
            </a:br>
            <a:r>
              <a:rPr lang="en-US"/>
              <a:t>Click to edit Master title style</a:t>
            </a:r>
            <a:endParaRPr lang="en-GB"/>
          </a:p>
        </p:txBody>
      </p:sp>
      <p:sp>
        <p:nvSpPr>
          <p:cNvPr id="3077" name="Rectangle 3"/>
          <p:cNvSpPr>
            <a:spLocks noGrp="1" noChangeArrowheads="1"/>
          </p:cNvSpPr>
          <p:nvPr>
            <p:ph type="body" idx="1"/>
          </p:nvPr>
        </p:nvSpPr>
        <p:spPr bwMode="auto">
          <a:xfrm>
            <a:off x="609600" y="1600200"/>
            <a:ext cx="10972800" cy="3906838"/>
          </a:xfrm>
          <a:prstGeom prst="rect">
            <a:avLst/>
          </a:prstGeom>
          <a:noFill/>
          <a:ln>
            <a:noFill/>
          </a:ln>
        </p:spPr>
        <p:txBody>
          <a:bodyPr vert="horz" wrap="square" lIns="91440" tIns="45720" rIns="91440" bIns="45720"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28678" name="Rectangle 6"/>
          <p:cNvSpPr>
            <a:spLocks noGrp="1" noChangeArrowheads="1"/>
          </p:cNvSpPr>
          <p:nvPr>
            <p:ph type="sldNum" sz="quarter" idx="4"/>
          </p:nvPr>
        </p:nvSpPr>
        <p:spPr bwMode="auto">
          <a:xfrm>
            <a:off x="8216900" y="6245225"/>
            <a:ext cx="1016000" cy="476250"/>
          </a:xfrm>
          <a:prstGeom prst="rect">
            <a:avLst/>
          </a:prstGeom>
          <a:noFill/>
          <a:ln w="9525">
            <a:noFill/>
            <a:miter lim="800000"/>
          </a:ln>
          <a:effectLst/>
        </p:spPr>
        <p:txBody>
          <a:bodyPr vert="horz" wrap="square" lIns="91440" tIns="45720" rIns="91440" bIns="45720" numCol="1" anchor="t" anchorCtr="0" compatLnSpc="1"/>
          <a:lstStyle>
            <a:lvl1pPr algn="r">
              <a:defRPr sz="1050">
                <a:solidFill>
                  <a:schemeClr val="tx1"/>
                </a:solidFill>
              </a:defRPr>
            </a:lvl1pPr>
          </a:lstStyle>
          <a:p>
            <a:pPr eaLnBrk="0" fontAlgn="base" hangingPunct="0">
              <a:spcBef>
                <a:spcPct val="0"/>
              </a:spcBef>
              <a:spcAft>
                <a:spcPct val="0"/>
              </a:spcAft>
              <a:defRPr/>
            </a:pPr>
            <a:fld id="{1610AEC6-42FD-418E-AA9D-9BD70B8BE8A7}" type="slidenum">
              <a:rPr lang="en-GB">
                <a:solidFill>
                  <a:srgbClr val="003082"/>
                </a:solidFill>
              </a:rPr>
            </a:fld>
            <a:endParaRPr lang="en-GB">
              <a:solidFill>
                <a:srgbClr val="003082"/>
              </a:solidFill>
            </a:endParaRPr>
          </a:p>
        </p:txBody>
      </p:sp>
      <p:pic>
        <p:nvPicPr>
          <p:cNvPr id="14" name="Picture 13" descr="C:\Users\chi55417\AppData\Local\Microsoft\Windows\Temporary Internet Files\Content.Word\ehpsa-Logo(RGB).jpg"/>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317745" y="5858943"/>
            <a:ext cx="3789751" cy="885764"/>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rtl="0" eaLnBrk="1" fontAlgn="base" hangingPunct="1">
        <a:spcBef>
          <a:spcPct val="0"/>
        </a:spcBef>
        <a:spcAft>
          <a:spcPct val="0"/>
        </a:spcAft>
        <a:defRPr sz="2325" b="1">
          <a:solidFill>
            <a:schemeClr val="tx1">
              <a:lumMod val="50000"/>
            </a:schemeClr>
          </a:solidFill>
          <a:latin typeface="Calibri" panose="020F0502020204030204" pitchFamily="34" charset="0"/>
          <a:ea typeface="+mj-ea"/>
          <a:cs typeface="+mj-cs"/>
        </a:defRPr>
      </a:lvl1pPr>
      <a:lvl2pPr algn="r" rtl="0" eaLnBrk="1" fontAlgn="base" hangingPunct="1">
        <a:spcBef>
          <a:spcPct val="0"/>
        </a:spcBef>
        <a:spcAft>
          <a:spcPct val="0"/>
        </a:spcAft>
        <a:defRPr sz="2325">
          <a:solidFill>
            <a:srgbClr val="003082"/>
          </a:solidFill>
          <a:latin typeface="Arial" panose="020B0604020202020204" pitchFamily="34" charset="0"/>
        </a:defRPr>
      </a:lvl2pPr>
      <a:lvl3pPr algn="r" rtl="0" eaLnBrk="1" fontAlgn="base" hangingPunct="1">
        <a:spcBef>
          <a:spcPct val="0"/>
        </a:spcBef>
        <a:spcAft>
          <a:spcPct val="0"/>
        </a:spcAft>
        <a:defRPr sz="2325">
          <a:solidFill>
            <a:srgbClr val="003082"/>
          </a:solidFill>
          <a:latin typeface="Arial" panose="020B0604020202020204" pitchFamily="34" charset="0"/>
        </a:defRPr>
      </a:lvl3pPr>
      <a:lvl4pPr algn="r" rtl="0" eaLnBrk="1" fontAlgn="base" hangingPunct="1">
        <a:spcBef>
          <a:spcPct val="0"/>
        </a:spcBef>
        <a:spcAft>
          <a:spcPct val="0"/>
        </a:spcAft>
        <a:defRPr sz="2325">
          <a:solidFill>
            <a:srgbClr val="003082"/>
          </a:solidFill>
          <a:latin typeface="Arial" panose="020B0604020202020204" pitchFamily="34" charset="0"/>
        </a:defRPr>
      </a:lvl4pPr>
      <a:lvl5pPr algn="r" rtl="0" eaLnBrk="1" fontAlgn="base" hangingPunct="1">
        <a:spcBef>
          <a:spcPct val="0"/>
        </a:spcBef>
        <a:spcAft>
          <a:spcPct val="0"/>
        </a:spcAft>
        <a:defRPr sz="2325">
          <a:solidFill>
            <a:srgbClr val="003082"/>
          </a:solidFill>
          <a:latin typeface="Arial" panose="020B0604020202020204" pitchFamily="34" charset="0"/>
        </a:defRPr>
      </a:lvl5pPr>
      <a:lvl6pPr marL="342900" algn="r" rtl="0" eaLnBrk="1" fontAlgn="base" hangingPunct="1">
        <a:spcBef>
          <a:spcPct val="0"/>
        </a:spcBef>
        <a:spcAft>
          <a:spcPct val="0"/>
        </a:spcAft>
        <a:defRPr sz="2325">
          <a:solidFill>
            <a:srgbClr val="003082"/>
          </a:solidFill>
          <a:latin typeface="Arial" panose="020B0604020202020204" pitchFamily="34" charset="0"/>
        </a:defRPr>
      </a:lvl6pPr>
      <a:lvl7pPr marL="685800" algn="r" rtl="0" eaLnBrk="1" fontAlgn="base" hangingPunct="1">
        <a:spcBef>
          <a:spcPct val="0"/>
        </a:spcBef>
        <a:spcAft>
          <a:spcPct val="0"/>
        </a:spcAft>
        <a:defRPr sz="2325">
          <a:solidFill>
            <a:srgbClr val="003082"/>
          </a:solidFill>
          <a:latin typeface="Arial" panose="020B0604020202020204" pitchFamily="34" charset="0"/>
        </a:defRPr>
      </a:lvl7pPr>
      <a:lvl8pPr marL="1028700" algn="r" rtl="0" eaLnBrk="1" fontAlgn="base" hangingPunct="1">
        <a:spcBef>
          <a:spcPct val="0"/>
        </a:spcBef>
        <a:spcAft>
          <a:spcPct val="0"/>
        </a:spcAft>
        <a:defRPr sz="2325">
          <a:solidFill>
            <a:srgbClr val="003082"/>
          </a:solidFill>
          <a:latin typeface="Arial" panose="020B0604020202020204" pitchFamily="34" charset="0"/>
        </a:defRPr>
      </a:lvl8pPr>
      <a:lvl9pPr marL="1371600" algn="r" rtl="0" eaLnBrk="1" fontAlgn="base" hangingPunct="1">
        <a:spcBef>
          <a:spcPct val="0"/>
        </a:spcBef>
        <a:spcAft>
          <a:spcPct val="0"/>
        </a:spcAft>
        <a:defRPr sz="2325">
          <a:solidFill>
            <a:srgbClr val="003082"/>
          </a:solidFill>
          <a:latin typeface="Arial" panose="020B0604020202020204" pitchFamily="34" charset="0"/>
        </a:defRPr>
      </a:lvl9pPr>
    </p:titleStyle>
    <p:bodyStyle>
      <a:lvl1pPr marL="257175" indent="-257175" algn="l" rtl="0" eaLnBrk="1" fontAlgn="base" hangingPunct="1">
        <a:spcBef>
          <a:spcPct val="50000"/>
        </a:spcBef>
        <a:spcAft>
          <a:spcPct val="0"/>
        </a:spcAft>
        <a:buClr>
          <a:srgbClr val="FF0000"/>
        </a:buClr>
        <a:buFont typeface="Arial" panose="020B0604020202020204" pitchFamily="34" charset="0"/>
        <a:buChar char="•"/>
        <a:defRPr sz="1800">
          <a:solidFill>
            <a:schemeClr val="tx1">
              <a:lumMod val="50000"/>
            </a:schemeClr>
          </a:solidFill>
          <a:latin typeface="Calibri" panose="020F0502020204030204" pitchFamily="34" charset="0"/>
          <a:ea typeface="+mn-ea"/>
          <a:cs typeface="+mn-cs"/>
        </a:defRPr>
      </a:lvl1pPr>
      <a:lvl2pPr marL="557530" indent="-214630" algn="l" rtl="0" eaLnBrk="1" fontAlgn="base" hangingPunct="1">
        <a:spcBef>
          <a:spcPct val="50000"/>
        </a:spcBef>
        <a:spcAft>
          <a:spcPct val="0"/>
        </a:spcAft>
        <a:buClr>
          <a:srgbClr val="FF0000"/>
        </a:buClr>
        <a:buFont typeface="Arial" panose="020B0604020202020204" pitchFamily="34" charset="0"/>
        <a:buChar char="•"/>
        <a:defRPr sz="1650">
          <a:solidFill>
            <a:schemeClr val="tx1">
              <a:lumMod val="50000"/>
            </a:schemeClr>
          </a:solidFill>
          <a:latin typeface="Calibri" panose="020F0502020204030204" pitchFamily="34" charset="0"/>
        </a:defRPr>
      </a:lvl2pPr>
      <a:lvl3pPr marL="857250" indent="-171450" algn="l" rtl="0" eaLnBrk="1" fontAlgn="base" hangingPunct="1">
        <a:spcBef>
          <a:spcPct val="50000"/>
        </a:spcBef>
        <a:spcAft>
          <a:spcPct val="0"/>
        </a:spcAft>
        <a:buClr>
          <a:srgbClr val="FF0000"/>
        </a:buClr>
        <a:buFont typeface="Arial" panose="020B0604020202020204" pitchFamily="34" charset="0"/>
        <a:buChar char="•"/>
        <a:defRPr sz="1500">
          <a:solidFill>
            <a:schemeClr val="tx1">
              <a:lumMod val="50000"/>
            </a:schemeClr>
          </a:solidFill>
          <a:latin typeface="Calibri" panose="020F0502020204030204" pitchFamily="34" charset="0"/>
        </a:defRPr>
      </a:lvl3pPr>
      <a:lvl4pPr marL="1200150" indent="-171450" algn="l" rtl="0" eaLnBrk="1" fontAlgn="base" hangingPunct="1">
        <a:spcBef>
          <a:spcPct val="50000"/>
        </a:spcBef>
        <a:spcAft>
          <a:spcPct val="0"/>
        </a:spcAft>
        <a:buClr>
          <a:srgbClr val="FF0000"/>
        </a:buClr>
        <a:buFont typeface="Arial" panose="020B0604020202020204" pitchFamily="34" charset="0"/>
        <a:buChar char="•"/>
        <a:defRPr sz="1425">
          <a:solidFill>
            <a:schemeClr val="tx1">
              <a:lumMod val="50000"/>
            </a:schemeClr>
          </a:solidFill>
          <a:latin typeface="Calibri" panose="020F0502020204030204" pitchFamily="34" charset="0"/>
        </a:defRPr>
      </a:lvl4pPr>
      <a:lvl5pPr marL="1543050" indent="-171450" algn="l" rtl="0" eaLnBrk="1" fontAlgn="base" hangingPunct="1">
        <a:spcBef>
          <a:spcPct val="50000"/>
        </a:spcBef>
        <a:spcAft>
          <a:spcPct val="0"/>
        </a:spcAft>
        <a:buClr>
          <a:srgbClr val="FF0000"/>
        </a:buClr>
        <a:buFont typeface="Arial" panose="020B0604020202020204" pitchFamily="34" charset="0"/>
        <a:buChar char="•"/>
        <a:defRPr sz="1425">
          <a:solidFill>
            <a:schemeClr val="tx1">
              <a:lumMod val="50000"/>
            </a:schemeClr>
          </a:solidFill>
          <a:latin typeface="Calibri" panose="020F0502020204030204" pitchFamily="34" charset="0"/>
        </a:defRPr>
      </a:lvl5pPr>
      <a:lvl6pPr marL="1885950" indent="-171450" algn="l" rtl="0" eaLnBrk="1" fontAlgn="base" hangingPunct="1">
        <a:spcBef>
          <a:spcPct val="50000"/>
        </a:spcBef>
        <a:spcAft>
          <a:spcPct val="0"/>
        </a:spcAft>
        <a:buClr>
          <a:schemeClr val="folHlink"/>
        </a:buClr>
        <a:buChar char="•"/>
        <a:defRPr sz="1425">
          <a:solidFill>
            <a:srgbClr val="003082"/>
          </a:solidFill>
          <a:latin typeface="+mn-lt"/>
        </a:defRPr>
      </a:lvl6pPr>
      <a:lvl7pPr marL="2228850" indent="-171450" algn="l" rtl="0" eaLnBrk="1" fontAlgn="base" hangingPunct="1">
        <a:spcBef>
          <a:spcPct val="50000"/>
        </a:spcBef>
        <a:spcAft>
          <a:spcPct val="0"/>
        </a:spcAft>
        <a:buClr>
          <a:schemeClr val="folHlink"/>
        </a:buClr>
        <a:buChar char="•"/>
        <a:defRPr sz="1425">
          <a:solidFill>
            <a:srgbClr val="003082"/>
          </a:solidFill>
          <a:latin typeface="+mn-lt"/>
        </a:defRPr>
      </a:lvl7pPr>
      <a:lvl8pPr marL="2571750" indent="-171450" algn="l" rtl="0" eaLnBrk="1" fontAlgn="base" hangingPunct="1">
        <a:spcBef>
          <a:spcPct val="50000"/>
        </a:spcBef>
        <a:spcAft>
          <a:spcPct val="0"/>
        </a:spcAft>
        <a:buClr>
          <a:schemeClr val="folHlink"/>
        </a:buClr>
        <a:buChar char="•"/>
        <a:defRPr sz="1425">
          <a:solidFill>
            <a:srgbClr val="003082"/>
          </a:solidFill>
          <a:latin typeface="+mn-lt"/>
        </a:defRPr>
      </a:lvl8pPr>
      <a:lvl9pPr marL="2914650" indent="-171450" algn="l" rtl="0" eaLnBrk="1" fontAlgn="base" hangingPunct="1">
        <a:spcBef>
          <a:spcPct val="50000"/>
        </a:spcBef>
        <a:spcAft>
          <a:spcPct val="0"/>
        </a:spcAft>
        <a:buClr>
          <a:schemeClr val="folHlink"/>
        </a:buClr>
        <a:buChar char="•"/>
        <a:defRPr sz="1425">
          <a:solidFill>
            <a:srgbClr val="003082"/>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16.png"/><Relationship Id="rId1" Type="http://schemas.openxmlformats.org/officeDocument/2006/relationships/image" Target="../media/image15.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9.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21.png"/><Relationship Id="rId1"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23.png"/><Relationship Id="rId1"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9.xml"/><Relationship Id="rId1" Type="http://schemas.openxmlformats.org/officeDocument/2006/relationships/hyperlink" Target="https://pmc.ncbi.nlm.nih.gov/articles/PMC7269618/"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9.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28.jpeg"/><Relationship Id="rId1"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30.png"/><Relationship Id="rId1" Type="http://schemas.openxmlformats.org/officeDocument/2006/relationships/image" Target="../media/image2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1.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9.xml"/><Relationship Id="rId2" Type="http://schemas.openxmlformats.org/officeDocument/2006/relationships/image" Target="../media/image33.png"/><Relationship Id="rId1" Type="http://schemas.openxmlformats.org/officeDocument/2006/relationships/image" Target="../media/image3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34.png"/><Relationship Id="rId1" Type="http://schemas.openxmlformats.org/officeDocument/2006/relationships/hyperlink" Target="https://www.who.int/health-topics/vaccines-and-immunization/#tab=tab_1"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5.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6.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9.xml"/><Relationship Id="rId1" Type="http://schemas.openxmlformats.org/officeDocument/2006/relationships/hyperlink" Target="https://ndpr.nd.edu/reviews/prevention-vs-treatment-what-s-the-right-balance/" TargetMode="Externa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9.xml"/><Relationship Id="rId2" Type="http://schemas.openxmlformats.org/officeDocument/2006/relationships/hyperlink" Target="https://ndpr.nd.edu/reviews/prevention-vs-treatment-what-s-the-right-balance/" TargetMode="External"/><Relationship Id="rId1" Type="http://schemas.openxmlformats.org/officeDocument/2006/relationships/hyperlink" Target="https://ndpr.nd.edu/reviews/prevention-vs-treatment-what-s-the-right-balance/#_edn1" TargetMode="Externa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7818" y="2449128"/>
            <a:ext cx="11658600" cy="1713298"/>
          </a:xfrm>
          <a:solidFill>
            <a:srgbClr val="C00000"/>
          </a:solidFill>
        </p:spPr>
        <p:txBody>
          <a:bodyPr>
            <a:noAutofit/>
          </a:bodyPr>
          <a:lstStyle/>
          <a:p>
            <a:r>
              <a:rPr lang="en-ZA" sz="3600" b="0" dirty="0">
                <a:solidFill>
                  <a:schemeClr val="bg1"/>
                </a:solidFill>
                <a:latin typeface="+mj-lt"/>
                <a:cs typeface="+mj-lt"/>
              </a:rPr>
              <a:t>Bridging the Gap Between Prevention and</a:t>
            </a:r>
            <a:br>
              <a:rPr lang="en-ZA" sz="3600" b="0" dirty="0">
                <a:solidFill>
                  <a:schemeClr val="bg1"/>
                </a:solidFill>
                <a:latin typeface="+mj-lt"/>
                <a:cs typeface="+mj-lt"/>
              </a:rPr>
            </a:br>
            <a:r>
              <a:rPr lang="en-ZA" sz="3600" b="0" dirty="0">
                <a:solidFill>
                  <a:schemeClr val="bg1"/>
                </a:solidFill>
                <a:latin typeface="+mj-lt"/>
                <a:cs typeface="+mj-lt"/>
              </a:rPr>
              <a:t>Treatment: A Public Health Imperative</a:t>
            </a:r>
            <a:endParaRPr lang="en-ZA" sz="3600" dirty="0">
              <a:solidFill>
                <a:schemeClr val="bg1"/>
              </a:solidFill>
              <a:latin typeface="+mj-lt"/>
              <a:cs typeface="+mj-lt"/>
            </a:endParaRPr>
          </a:p>
        </p:txBody>
      </p:sp>
      <p:sp>
        <p:nvSpPr>
          <p:cNvPr id="3" name="Subtitle 2"/>
          <p:cNvSpPr>
            <a:spLocks noGrp="1"/>
          </p:cNvSpPr>
          <p:nvPr>
            <p:ph type="subTitle" idx="1"/>
          </p:nvPr>
        </p:nvSpPr>
        <p:spPr>
          <a:xfrm>
            <a:off x="1113989" y="4519067"/>
            <a:ext cx="9792571" cy="1853158"/>
          </a:xfrm>
        </p:spPr>
        <p:txBody>
          <a:bodyPr>
            <a:normAutofit lnSpcReduction="10000"/>
          </a:bodyPr>
          <a:lstStyle/>
          <a:p>
            <a:r>
              <a:rPr lang="en-ZA" sz="2000" b="1" dirty="0">
                <a:solidFill>
                  <a:schemeClr val="tx1"/>
                </a:solidFill>
                <a:latin typeface="+mj-lt"/>
                <a:cs typeface="+mj-lt"/>
              </a:rPr>
              <a:t>Prof Geoffrey Setswe DrPH, MPH</a:t>
            </a:r>
            <a:endParaRPr lang="en-ZA" sz="2000" b="1" dirty="0">
              <a:solidFill>
                <a:schemeClr val="tx1"/>
              </a:solidFill>
              <a:latin typeface="+mj-lt"/>
              <a:cs typeface="+mj-lt"/>
            </a:endParaRPr>
          </a:p>
          <a:p>
            <a:r>
              <a:rPr lang="en-ZA" sz="2000" b="1" dirty="0">
                <a:solidFill>
                  <a:schemeClr val="tx1"/>
                </a:solidFill>
                <a:latin typeface="+mj-lt"/>
                <a:cs typeface="+mj-lt"/>
              </a:rPr>
              <a:t>Health Professionals Symposium</a:t>
            </a:r>
            <a:endParaRPr lang="en-ZA" sz="2000" b="1" dirty="0">
              <a:solidFill>
                <a:schemeClr val="tx1"/>
              </a:solidFill>
              <a:latin typeface="+mj-lt"/>
              <a:cs typeface="+mj-lt"/>
            </a:endParaRPr>
          </a:p>
          <a:p>
            <a:r>
              <a:rPr lang="en-ZA" sz="2000" b="1" dirty="0">
                <a:solidFill>
                  <a:schemeClr val="tx1"/>
                </a:solidFill>
                <a:latin typeface="+mj-lt"/>
                <a:cs typeface="+mj-lt"/>
              </a:rPr>
              <a:t>Theme: Integrating Preventive &amp; Curative Care in Multidisciplinary Health Practice</a:t>
            </a:r>
            <a:endParaRPr lang="en-ZA" sz="2000" b="1" dirty="0">
              <a:solidFill>
                <a:schemeClr val="tx1"/>
              </a:solidFill>
              <a:latin typeface="+mj-lt"/>
              <a:cs typeface="+mj-lt"/>
            </a:endParaRPr>
          </a:p>
          <a:p>
            <a:r>
              <a:rPr lang="en-ZA" sz="2000" b="1" dirty="0">
                <a:solidFill>
                  <a:schemeClr val="tx1"/>
                </a:solidFill>
                <a:latin typeface="+mj-lt"/>
                <a:cs typeface="+mj-lt"/>
              </a:rPr>
              <a:t>Date: 12 January 2026</a:t>
            </a:r>
            <a:endParaRPr lang="en-ZA" sz="2000" b="1" dirty="0">
              <a:solidFill>
                <a:schemeClr val="tx1"/>
              </a:solidFill>
              <a:latin typeface="+mj-lt"/>
              <a:cs typeface="+mj-lt"/>
            </a:endParaRPr>
          </a:p>
          <a:p>
            <a:r>
              <a:rPr lang="en-ZA" sz="2000" b="1" dirty="0">
                <a:solidFill>
                  <a:schemeClr val="tx1"/>
                </a:solidFill>
                <a:latin typeface="+mj-lt"/>
                <a:cs typeface="+mj-lt"/>
              </a:rPr>
              <a:t>Venue: Virtual</a:t>
            </a:r>
            <a:endParaRPr lang="en-ZA" sz="2000" dirty="0">
              <a:solidFill>
                <a:schemeClr val="tx1"/>
              </a:solidFill>
              <a:latin typeface="+mj-lt"/>
              <a:cs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90561"/>
          </a:xfrm>
        </p:spPr>
        <p:txBody>
          <a:bodyPr/>
          <a:lstStyle/>
          <a:p>
            <a:r>
              <a:rPr lang="en-GB" sz="3200" dirty="0">
                <a:solidFill>
                  <a:srgbClr val="C00000"/>
                </a:solidFill>
                <a:latin typeface="Calibri" panose="020F0502020204030204" pitchFamily="34" charset="0"/>
                <a:cs typeface="Calibri" panose="020F0502020204030204" pitchFamily="34" charset="0"/>
              </a:rPr>
              <a:t>Introduction</a:t>
            </a:r>
            <a:endParaRPr lang="en-GB" sz="3200" dirty="0">
              <a:solidFill>
                <a:srgbClr val="C00000"/>
              </a:solidFill>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276225" y="1039812"/>
            <a:ext cx="10972800" cy="4778376"/>
          </a:xfrm>
        </p:spPr>
        <p:txBody>
          <a:bodyPr/>
          <a:lstStyle/>
          <a:p>
            <a:r>
              <a:rPr lang="en-GB" sz="2400" dirty="0">
                <a:latin typeface="Calibri" panose="020F0502020204030204" pitchFamily="34" charset="0"/>
                <a:cs typeface="Calibri" panose="020F0502020204030204" pitchFamily="34" charset="0"/>
              </a:rPr>
              <a:t>South Africa has a </a:t>
            </a:r>
            <a:r>
              <a:rPr lang="en-GB" sz="2400" b="1" dirty="0">
                <a:latin typeface="Calibri" panose="020F0502020204030204" pitchFamily="34" charset="0"/>
                <a:cs typeface="Calibri" panose="020F0502020204030204" pitchFamily="34" charset="0"/>
              </a:rPr>
              <a:t>quadruple burden of disease </a:t>
            </a:r>
            <a:r>
              <a:rPr lang="en-GB" sz="2400" dirty="0">
                <a:latin typeface="Calibri" panose="020F0502020204030204" pitchFamily="34" charset="0"/>
                <a:cs typeface="Calibri" panose="020F0502020204030204" pitchFamily="34" charset="0"/>
              </a:rPr>
              <a:t>consisting of HIV/AIDS, communicable disease, non-communicable disease &amp; violence &amp; injuries. </a:t>
            </a:r>
            <a:endParaRPr lang="en-GB" sz="2400" dirty="0">
              <a:latin typeface="Calibri" panose="020F0502020204030204" pitchFamily="34" charset="0"/>
              <a:cs typeface="Calibri" panose="020F0502020204030204" pitchFamily="34" charset="0"/>
            </a:endParaRPr>
          </a:p>
          <a:p>
            <a:pPr lvl="1"/>
            <a:r>
              <a:rPr lang="en-GB" sz="2000" dirty="0">
                <a:latin typeface="Calibri" panose="020F0502020204030204" pitchFamily="34" charset="0"/>
                <a:cs typeface="Calibri" panose="020F0502020204030204" pitchFamily="34" charset="0"/>
              </a:rPr>
              <a:t>South Africa has the </a:t>
            </a:r>
            <a:r>
              <a:rPr lang="en-GB" sz="2000" dirty="0">
                <a:solidFill>
                  <a:srgbClr val="0070C0"/>
                </a:solidFill>
                <a:latin typeface="Calibri" panose="020F0502020204030204" pitchFamily="34" charset="0"/>
                <a:cs typeface="Calibri" panose="020F0502020204030204" pitchFamily="34" charset="0"/>
              </a:rPr>
              <a:t>world’s largest population of people living with HIV</a:t>
            </a:r>
            <a:r>
              <a:rPr lang="en-GB" sz="2000" dirty="0">
                <a:latin typeface="Calibri" panose="020F0502020204030204" pitchFamily="34" charset="0"/>
                <a:cs typeface="Calibri" panose="020F0502020204030204" pitchFamily="34" charset="0"/>
              </a:rPr>
              <a:t>—7.1 million—and </a:t>
            </a:r>
            <a:r>
              <a:rPr lang="en-GB" sz="2000" dirty="0">
                <a:solidFill>
                  <a:srgbClr val="0070C0"/>
                </a:solidFill>
                <a:latin typeface="Calibri" panose="020F0502020204030204" pitchFamily="34" charset="0"/>
                <a:cs typeface="Calibri" panose="020F0502020204030204" pitchFamily="34" charset="0"/>
              </a:rPr>
              <a:t>one of the highest incidence rates of multi-drug resistant TB </a:t>
            </a:r>
            <a:r>
              <a:rPr lang="en-GB" sz="2000" dirty="0">
                <a:latin typeface="Calibri" panose="020F0502020204030204" pitchFamily="34" charset="0"/>
                <a:cs typeface="Calibri" panose="020F0502020204030204" pitchFamily="34" charset="0"/>
              </a:rPr>
              <a:t>in the world [1]. </a:t>
            </a:r>
            <a:endParaRPr lang="en-GB" sz="2000" dirty="0">
              <a:latin typeface="Calibri" panose="020F0502020204030204" pitchFamily="34" charset="0"/>
              <a:cs typeface="Calibri" panose="020F0502020204030204" pitchFamily="34" charset="0"/>
            </a:endParaRPr>
          </a:p>
          <a:p>
            <a:pPr lvl="1"/>
            <a:r>
              <a:rPr lang="en-GB" sz="2000" dirty="0">
                <a:latin typeface="Calibri" panose="020F0502020204030204" pitchFamily="34" charset="0"/>
                <a:cs typeface="Calibri" panose="020F0502020204030204" pitchFamily="34" charset="0"/>
              </a:rPr>
              <a:t>South Africa is further experiencing </a:t>
            </a:r>
            <a:r>
              <a:rPr lang="en-GB" sz="2000" dirty="0">
                <a:solidFill>
                  <a:srgbClr val="0070C0"/>
                </a:solidFill>
                <a:latin typeface="Calibri" panose="020F0502020204030204" pitchFamily="34" charset="0"/>
                <a:cs typeface="Calibri" panose="020F0502020204030204" pitchFamily="34" charset="0"/>
              </a:rPr>
              <a:t>a growing burden of chronic non-communicable disease</a:t>
            </a:r>
            <a:r>
              <a:rPr lang="en-GB" sz="2000" dirty="0">
                <a:latin typeface="Calibri" panose="020F0502020204030204" pitchFamily="34" charset="0"/>
                <a:cs typeface="Calibri" panose="020F0502020204030204" pitchFamily="34" charset="0"/>
              </a:rPr>
              <a:t>. </a:t>
            </a:r>
            <a:endParaRPr lang="en-GB" sz="2000" dirty="0">
              <a:latin typeface="Calibri" panose="020F0502020204030204" pitchFamily="34" charset="0"/>
              <a:cs typeface="Calibri" panose="020F0502020204030204" pitchFamily="34" charset="0"/>
            </a:endParaRPr>
          </a:p>
          <a:p>
            <a:pPr lvl="1"/>
            <a:r>
              <a:rPr lang="en-GB" sz="2000" dirty="0">
                <a:latin typeface="Calibri" panose="020F0502020204030204" pitchFamily="34" charset="0"/>
                <a:cs typeface="Calibri" panose="020F0502020204030204" pitchFamily="34" charset="0"/>
              </a:rPr>
              <a:t>In 2016, </a:t>
            </a:r>
            <a:r>
              <a:rPr lang="en-GB" sz="2000" dirty="0">
                <a:solidFill>
                  <a:srgbClr val="0070C0"/>
                </a:solidFill>
                <a:latin typeface="Calibri" panose="020F0502020204030204" pitchFamily="34" charset="0"/>
                <a:cs typeface="Calibri" panose="020F0502020204030204" pitchFamily="34" charset="0"/>
              </a:rPr>
              <a:t>cardiometabolic conditions (diabetes, cerebrovascular, heart and hypertensive disease) and other NCDs accounted for 57.4% of deaths</a:t>
            </a:r>
            <a:r>
              <a:rPr lang="en-GB" sz="2000" dirty="0">
                <a:latin typeface="Calibri" panose="020F0502020204030204" pitchFamily="34" charset="0"/>
                <a:cs typeface="Calibri" panose="020F0502020204030204" pitchFamily="34" charset="0"/>
              </a:rPr>
              <a:t> in the country [2].</a:t>
            </a:r>
            <a:endParaRPr lang="en-GB" sz="2000" dirty="0">
              <a:latin typeface="Calibri" panose="020F0502020204030204" pitchFamily="34" charset="0"/>
              <a:cs typeface="Calibri" panose="020F0502020204030204" pitchFamily="34" charset="0"/>
            </a:endParaRPr>
          </a:p>
          <a:p>
            <a:endParaRPr lang="en-GB" sz="2400" dirty="0">
              <a:latin typeface="Calibri" panose="020F0502020204030204" pitchFamily="34" charset="0"/>
              <a:cs typeface="Calibri" panose="020F0502020204030204" pitchFamily="34" charset="0"/>
            </a:endParaRPr>
          </a:p>
          <a:p>
            <a:r>
              <a:rPr lang="en-GB" sz="2400" dirty="0">
                <a:latin typeface="Calibri" panose="020F0502020204030204" pitchFamily="34" charset="0"/>
                <a:cs typeface="Calibri" panose="020F0502020204030204" pitchFamily="34" charset="0"/>
              </a:rPr>
              <a:t>The consequence of these colliding epidemics is </a:t>
            </a:r>
            <a:r>
              <a:rPr lang="en-GB" sz="2400" dirty="0">
                <a:solidFill>
                  <a:srgbClr val="0070C0"/>
                </a:solidFill>
                <a:latin typeface="Calibri" panose="020F0502020204030204" pitchFamily="34" charset="0"/>
                <a:cs typeface="Calibri" panose="020F0502020204030204" pitchFamily="34" charset="0"/>
              </a:rPr>
              <a:t>high levels of mortality and morbidity</a:t>
            </a:r>
            <a:r>
              <a:rPr lang="en-GB" sz="2400" dirty="0">
                <a:latin typeface="Calibri" panose="020F0502020204030204" pitchFamily="34" charset="0"/>
                <a:cs typeface="Calibri" panose="020F0502020204030204" pitchFamily="34" charset="0"/>
              </a:rPr>
              <a:t> [3].</a:t>
            </a:r>
            <a:endParaRPr lang="en-GB" sz="2400" dirty="0">
              <a:latin typeface="Calibri" panose="020F0502020204030204" pitchFamily="34" charset="0"/>
              <a:cs typeface="Calibri" panose="020F0502020204030204" pitchFamily="34" charset="0"/>
            </a:endParaRPr>
          </a:p>
          <a:p>
            <a:endParaRPr lang="en-GB" sz="2400" dirty="0">
              <a:latin typeface="Calibri" panose="020F0502020204030204" pitchFamily="34" charset="0"/>
              <a:cs typeface="Calibri" panose="020F0502020204030204" pitchFamily="34" charset="0"/>
            </a:endParaRPr>
          </a:p>
          <a:p>
            <a:r>
              <a:rPr lang="en-GB" sz="2400" dirty="0">
                <a:latin typeface="Calibri" panose="020F0502020204030204" pitchFamily="34" charset="0"/>
                <a:cs typeface="Calibri" panose="020F0502020204030204" pitchFamily="34" charset="0"/>
              </a:rPr>
              <a:t>We need to strike a balance between Prevention &amp; Treatment for this quadruple burden of disease</a:t>
            </a:r>
            <a:endParaRPr lang="en-ZA" sz="2400" dirty="0">
              <a:latin typeface="Calibri" panose="020F0502020204030204" pitchFamily="34" charset="0"/>
              <a:cs typeface="Calibri" panose="020F0502020204030204" pitchFamily="34" charset="0"/>
            </a:endParaRPr>
          </a:p>
        </p:txBody>
      </p:sp>
      <p:sp>
        <p:nvSpPr>
          <p:cNvPr id="5" name="TextBox 4"/>
          <p:cNvSpPr txBox="1"/>
          <p:nvPr/>
        </p:nvSpPr>
        <p:spPr>
          <a:xfrm>
            <a:off x="609600" y="5892801"/>
            <a:ext cx="9667875" cy="830997"/>
          </a:xfrm>
          <a:prstGeom prst="rect">
            <a:avLst/>
          </a:prstGeom>
          <a:noFill/>
        </p:spPr>
        <p:txBody>
          <a:bodyPr wrap="square">
            <a:spAutoFit/>
          </a:bodyPr>
          <a:lstStyle/>
          <a:p>
            <a:pPr marL="228600" indent="-228600">
              <a:spcAft>
                <a:spcPts val="1200"/>
              </a:spcAft>
              <a:buAutoNum type="arabicParenR"/>
            </a:pPr>
            <a:r>
              <a:rPr lang="en-GB" sz="1200" dirty="0">
                <a:solidFill>
                  <a:srgbClr val="333333"/>
                </a:solidFill>
                <a:latin typeface="Calibri" panose="020F0502020204030204" pitchFamily="34" charset="0"/>
                <a:cs typeface="Calibri" panose="020F0502020204030204" pitchFamily="34" charset="0"/>
              </a:rPr>
              <a:t>UNAIDS. AIDSinfo.unaids.org. Accessed October 2019 						     2) P0309.3—Mortality and causes of death in South Africa: Findings from death notification (2018) / Statistics South Africa. Pretoria: Stats SA, 2018                                                                                                                                                                                         3</a:t>
            </a:r>
            <a:r>
              <a:rPr lang="en-GB" sz="1200" b="0" i="0" dirty="0">
                <a:solidFill>
                  <a:srgbClr val="333333"/>
                </a:solidFill>
                <a:effectLst/>
                <a:latin typeface="Calibri" panose="020F0502020204030204" pitchFamily="34" charset="0"/>
                <a:cs typeface="Calibri" panose="020F0502020204030204" pitchFamily="34" charset="0"/>
              </a:rPr>
              <a:t>) Dr. </a:t>
            </a:r>
            <a:r>
              <a:rPr lang="en-GB" sz="1200" b="0" i="0" dirty="0" err="1">
                <a:solidFill>
                  <a:srgbClr val="333333"/>
                </a:solidFill>
                <a:effectLst/>
                <a:latin typeface="Calibri" panose="020F0502020204030204" pitchFamily="34" charset="0"/>
                <a:cs typeface="Calibri" panose="020F0502020204030204" pitchFamily="34" charset="0"/>
              </a:rPr>
              <a:t>Motsoaledi</a:t>
            </a:r>
            <a:r>
              <a:rPr lang="en-GB" sz="1200" b="0" i="0" dirty="0">
                <a:solidFill>
                  <a:srgbClr val="333333"/>
                </a:solidFill>
                <a:effectLst/>
                <a:latin typeface="Calibri" panose="020F0502020204030204" pitchFamily="34" charset="0"/>
                <a:cs typeface="Calibri" panose="020F0502020204030204" pitchFamily="34" charset="0"/>
              </a:rPr>
              <a:t>, Minister of Health, Forward to the National Department of Health Strategic Plan, 2010/2011–2012/2013.</a:t>
            </a:r>
            <a:endParaRPr lang="en-GB" sz="1200" b="0" i="0" dirty="0">
              <a:solidFill>
                <a:srgbClr val="333333"/>
              </a:solidFill>
              <a:effectLst/>
              <a:latin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30237"/>
          </a:xfrm>
        </p:spPr>
        <p:txBody>
          <a:bodyPr/>
          <a:lstStyle/>
          <a:p>
            <a:r>
              <a:rPr lang="en-ZA" sz="3200" dirty="0">
                <a:solidFill>
                  <a:srgbClr val="C00000"/>
                </a:solidFill>
                <a:latin typeface="Calibri" panose="020F0502020204030204" pitchFamily="34" charset="0"/>
                <a:cs typeface="Calibri" panose="020F0502020204030204" pitchFamily="34" charset="0"/>
              </a:rPr>
              <a:t>NHI for Universal Health Coverage</a:t>
            </a:r>
            <a:endParaRPr lang="en-ZA" sz="3200" dirty="0">
              <a:solidFill>
                <a:srgbClr val="C00000"/>
              </a:solidFill>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609600" y="1063014"/>
            <a:ext cx="10972800" cy="4914900"/>
          </a:xfrm>
        </p:spPr>
        <p:txBody>
          <a:bodyPr/>
          <a:lstStyle/>
          <a:p>
            <a:r>
              <a:rPr lang="en-GB" sz="2000" dirty="0">
                <a:latin typeface="Calibri" panose="020F0502020204030204" pitchFamily="34" charset="0"/>
                <a:cs typeface="Calibri" panose="020F0502020204030204" pitchFamily="34" charset="0"/>
              </a:rPr>
              <a:t>South Africa is currently </a:t>
            </a:r>
            <a:r>
              <a:rPr lang="en-GB" sz="2000" dirty="0">
                <a:solidFill>
                  <a:srgbClr val="0070C0"/>
                </a:solidFill>
                <a:latin typeface="Calibri" panose="020F0502020204030204" pitchFamily="34" charset="0"/>
                <a:cs typeface="Calibri" panose="020F0502020204030204" pitchFamily="34" charset="0"/>
              </a:rPr>
              <a:t>establishing a NHI to ensure universal health coverage to deliver comprehensive care</a:t>
            </a:r>
            <a:r>
              <a:rPr lang="en-GB" sz="2000" dirty="0">
                <a:latin typeface="Calibri" panose="020F0502020204030204" pitchFamily="34" charset="0"/>
                <a:cs typeface="Calibri" panose="020F0502020204030204" pitchFamily="34" charset="0"/>
              </a:rPr>
              <a:t> that is accessible, affordable and acceptable to patients and families.</a:t>
            </a:r>
            <a:endParaRPr lang="en-GB" sz="2000" dirty="0">
              <a:latin typeface="Calibri" panose="020F0502020204030204" pitchFamily="34" charset="0"/>
              <a:cs typeface="Calibri" panose="020F0502020204030204" pitchFamily="34" charset="0"/>
            </a:endParaRPr>
          </a:p>
          <a:p>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The goal of the NHI is </a:t>
            </a:r>
            <a:r>
              <a:rPr lang="en-GB" sz="2000" dirty="0">
                <a:solidFill>
                  <a:srgbClr val="0070C0"/>
                </a:solidFill>
                <a:latin typeface="Calibri" panose="020F0502020204030204" pitchFamily="34" charset="0"/>
                <a:cs typeface="Calibri" panose="020F0502020204030204" pitchFamily="34" charset="0"/>
              </a:rPr>
              <a:t>to foster healthcare reform to improve service provision and healthcare delivery for all socioeconomic groups</a:t>
            </a:r>
            <a:r>
              <a:rPr lang="en-GB" sz="2000" dirty="0">
                <a:latin typeface="Calibri" panose="020F0502020204030204" pitchFamily="34" charset="0"/>
                <a:cs typeface="Calibri" panose="020F0502020204030204" pitchFamily="34" charset="0"/>
              </a:rPr>
              <a:t>, while also partnering with providers and organizations within the private sector in the delivery of healthcare. </a:t>
            </a:r>
            <a:endParaRPr lang="en-GB" sz="2000" dirty="0">
              <a:latin typeface="Calibri" panose="020F0502020204030204" pitchFamily="34" charset="0"/>
              <a:cs typeface="Calibri" panose="020F0502020204030204" pitchFamily="34" charset="0"/>
            </a:endParaRPr>
          </a:p>
          <a:p>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Private sector healthcare and medical aid schemes will remain in existence, but the NHI is </a:t>
            </a:r>
            <a:r>
              <a:rPr lang="en-GB" sz="2000" dirty="0">
                <a:solidFill>
                  <a:srgbClr val="0070C0"/>
                </a:solidFill>
                <a:latin typeface="Calibri" panose="020F0502020204030204" pitchFamily="34" charset="0"/>
                <a:cs typeface="Calibri" panose="020F0502020204030204" pitchFamily="34" charset="0"/>
              </a:rPr>
              <a:t>intended to ensure that South Africans are able to access both the public and the private sectors through a blended model</a:t>
            </a:r>
            <a:r>
              <a:rPr lang="en-GB" sz="2000" dirty="0">
                <a:latin typeface="Calibri" panose="020F0502020204030204" pitchFamily="34" charset="0"/>
                <a:cs typeface="Calibri" panose="020F0502020204030204" pitchFamily="34" charset="0"/>
              </a:rPr>
              <a:t> that will provide services in a manner that will benefit the entire population.</a:t>
            </a:r>
            <a:endParaRPr lang="en-GB" sz="2000" dirty="0">
              <a:latin typeface="Calibri" panose="020F0502020204030204" pitchFamily="34" charset="0"/>
              <a:cs typeface="Calibri" panose="020F0502020204030204" pitchFamily="34" charset="0"/>
            </a:endParaRPr>
          </a:p>
          <a:p>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The public sector’s critical shortages, maldistribution of resources, and underrepresentation of medical personnel and other health professionals highlights the urgent need for a more integrated health system, and the necessity of improving quality of care, access to services and general health equity [4].</a:t>
            </a:r>
            <a:endParaRPr lang="en-ZA" sz="2000" dirty="0">
              <a:latin typeface="Calibri" panose="020F0502020204030204" pitchFamily="34" charset="0"/>
              <a:cs typeface="Calibri" panose="020F0502020204030204" pitchFamily="34" charset="0"/>
            </a:endParaRPr>
          </a:p>
        </p:txBody>
      </p:sp>
      <p:sp>
        <p:nvSpPr>
          <p:cNvPr id="5" name="TextBox 4"/>
          <p:cNvSpPr txBox="1"/>
          <p:nvPr/>
        </p:nvSpPr>
        <p:spPr>
          <a:xfrm>
            <a:off x="769143" y="6268134"/>
            <a:ext cx="9794081" cy="461665"/>
          </a:xfrm>
          <a:prstGeom prst="rect">
            <a:avLst/>
          </a:prstGeom>
          <a:noFill/>
        </p:spPr>
        <p:txBody>
          <a:bodyPr wrap="square">
            <a:spAutoFit/>
          </a:bodyPr>
          <a:lstStyle/>
          <a:p>
            <a:r>
              <a:rPr lang="en-GB" sz="1200" dirty="0">
                <a:solidFill>
                  <a:srgbClr val="333333"/>
                </a:solidFill>
                <a:latin typeface="Calibri" panose="020F0502020204030204" pitchFamily="34" charset="0"/>
                <a:cs typeface="Calibri" panose="020F0502020204030204" pitchFamily="34" charset="0"/>
              </a:rPr>
              <a:t>4</a:t>
            </a:r>
            <a:r>
              <a:rPr lang="en-GB" sz="1200" b="0" i="0" dirty="0">
                <a:solidFill>
                  <a:srgbClr val="333333"/>
                </a:solidFill>
                <a:effectLst/>
                <a:latin typeface="Calibri" panose="020F0502020204030204" pitchFamily="34" charset="0"/>
                <a:cs typeface="Calibri" panose="020F0502020204030204" pitchFamily="34" charset="0"/>
              </a:rPr>
              <a:t>) Smith A, Ranchod S, </a:t>
            </a:r>
            <a:r>
              <a:rPr lang="en-GB" sz="1200" b="0" i="0" dirty="0" err="1">
                <a:solidFill>
                  <a:srgbClr val="333333"/>
                </a:solidFill>
                <a:effectLst/>
                <a:latin typeface="Calibri" panose="020F0502020204030204" pitchFamily="34" charset="0"/>
                <a:cs typeface="Calibri" panose="020F0502020204030204" pitchFamily="34" charset="0"/>
              </a:rPr>
              <a:t>Strugnell</a:t>
            </a:r>
            <a:r>
              <a:rPr lang="en-GB" sz="1200" b="0" i="0" dirty="0">
                <a:solidFill>
                  <a:srgbClr val="333333"/>
                </a:solidFill>
                <a:effectLst/>
                <a:latin typeface="Calibri" panose="020F0502020204030204" pitchFamily="34" charset="0"/>
                <a:cs typeface="Calibri" panose="020F0502020204030204" pitchFamily="34" charset="0"/>
              </a:rPr>
              <a:t> D, </a:t>
            </a:r>
            <a:r>
              <a:rPr lang="en-GB" sz="1200" b="0" i="0" dirty="0" err="1">
                <a:solidFill>
                  <a:srgbClr val="333333"/>
                </a:solidFill>
                <a:effectLst/>
                <a:latin typeface="Calibri" panose="020F0502020204030204" pitchFamily="34" charset="0"/>
                <a:cs typeface="Calibri" panose="020F0502020204030204" pitchFamily="34" charset="0"/>
              </a:rPr>
              <a:t>Wishnia</a:t>
            </a:r>
            <a:r>
              <a:rPr lang="en-GB" sz="1200" b="0" i="0" dirty="0">
                <a:solidFill>
                  <a:srgbClr val="333333"/>
                </a:solidFill>
                <a:effectLst/>
                <a:latin typeface="Calibri" panose="020F0502020204030204" pitchFamily="34" charset="0"/>
                <a:cs typeface="Calibri" panose="020F0502020204030204" pitchFamily="34" charset="0"/>
              </a:rPr>
              <a:t> J. Human Resources for Health Planning and National Health Insurance: the urgency and the opportunity. In: </a:t>
            </a:r>
            <a:r>
              <a:rPr lang="en-GB" sz="1200" b="0" i="0" dirty="0" err="1">
                <a:solidFill>
                  <a:srgbClr val="333333"/>
                </a:solidFill>
                <a:effectLst/>
                <a:latin typeface="Calibri" panose="020F0502020204030204" pitchFamily="34" charset="0"/>
                <a:cs typeface="Calibri" panose="020F0502020204030204" pitchFamily="34" charset="0"/>
              </a:rPr>
              <a:t>Rispel</a:t>
            </a:r>
            <a:r>
              <a:rPr lang="en-GB" sz="1200" b="0" i="0" dirty="0">
                <a:solidFill>
                  <a:srgbClr val="333333"/>
                </a:solidFill>
                <a:effectLst/>
                <a:latin typeface="Calibri" panose="020F0502020204030204" pitchFamily="34" charset="0"/>
                <a:cs typeface="Calibri" panose="020F0502020204030204" pitchFamily="34" charset="0"/>
              </a:rPr>
              <a:t> LC, Padarath A, editors. South African Health Review 2018. Durban: Health Systems Trust, 2018.</a:t>
            </a:r>
            <a:endParaRPr lang="en-ZA" sz="1200" dirty="0">
              <a:latin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933450" y="981075"/>
            <a:ext cx="10044430" cy="5339715"/>
          </a:xfrm>
          <a:prstGeom prst="rect">
            <a:avLst/>
          </a:prstGeom>
        </p:spPr>
      </p:pic>
      <p:sp>
        <p:nvSpPr>
          <p:cNvPr id="2" name="Title 1"/>
          <p:cNvSpPr>
            <a:spLocks noGrp="1"/>
          </p:cNvSpPr>
          <p:nvPr>
            <p:ph type="title"/>
          </p:nvPr>
        </p:nvSpPr>
        <p:spPr>
          <a:xfrm>
            <a:off x="609600" y="189548"/>
            <a:ext cx="10972800" cy="630237"/>
          </a:xfrm>
        </p:spPr>
        <p:txBody>
          <a:bodyPr/>
          <a:lstStyle/>
          <a:p>
            <a:r>
              <a:rPr lang="en-ZA" sz="3200" dirty="0">
                <a:solidFill>
                  <a:srgbClr val="C00000"/>
                </a:solidFill>
                <a:latin typeface="Calibri" panose="020F0502020204030204" pitchFamily="34" charset="0"/>
                <a:cs typeface="Calibri" panose="020F0502020204030204" pitchFamily="34" charset="0"/>
              </a:rPr>
              <a:t>Progression from Prevention to Treatment</a:t>
            </a:r>
            <a:endParaRPr lang="en-ZA" sz="3200" dirty="0">
              <a:solidFill>
                <a:srgbClr val="C00000"/>
              </a:solidFill>
              <a:latin typeface="Calibri" panose="020F0502020204030204" pitchFamily="34"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6096000" y="3634581"/>
            <a:ext cx="6030686" cy="3026228"/>
          </a:xfrm>
          <a:prstGeom prst="rect">
            <a:avLst/>
          </a:prstGeom>
        </p:spPr>
      </p:pic>
      <p:pic>
        <p:nvPicPr>
          <p:cNvPr id="6" name="Picture 5"/>
          <p:cNvPicPr>
            <a:picLocks noChangeAspect="1"/>
          </p:cNvPicPr>
          <p:nvPr/>
        </p:nvPicPr>
        <p:blipFill>
          <a:blip r:embed="rId2"/>
          <a:stretch>
            <a:fillRect/>
          </a:stretch>
        </p:blipFill>
        <p:spPr>
          <a:xfrm>
            <a:off x="0" y="564810"/>
            <a:ext cx="5889171" cy="6139543"/>
          </a:xfrm>
          <a:prstGeom prst="rect">
            <a:avLst/>
          </a:prstGeom>
        </p:spPr>
      </p:pic>
      <p:pic>
        <p:nvPicPr>
          <p:cNvPr id="7" name="Picture 6"/>
          <p:cNvPicPr>
            <a:picLocks noChangeAspect="1"/>
          </p:cNvPicPr>
          <p:nvPr/>
        </p:nvPicPr>
        <p:blipFill>
          <a:blip r:embed="rId3"/>
          <a:stretch>
            <a:fillRect/>
          </a:stretch>
        </p:blipFill>
        <p:spPr>
          <a:xfrm>
            <a:off x="6161406" y="564334"/>
            <a:ext cx="6030685" cy="3069771"/>
          </a:xfrm>
          <a:prstGeom prst="rect">
            <a:avLst/>
          </a:prstGeom>
        </p:spPr>
      </p:pic>
      <p:sp>
        <p:nvSpPr>
          <p:cNvPr id="2" name="Title 1"/>
          <p:cNvSpPr>
            <a:spLocks noGrp="1"/>
          </p:cNvSpPr>
          <p:nvPr>
            <p:ph type="title"/>
          </p:nvPr>
        </p:nvSpPr>
        <p:spPr>
          <a:xfrm>
            <a:off x="292100" y="176848"/>
            <a:ext cx="10972800" cy="630237"/>
          </a:xfrm>
        </p:spPr>
        <p:txBody>
          <a:bodyPr/>
          <a:lstStyle/>
          <a:p>
            <a:r>
              <a:rPr lang="en-ZA" sz="3200" dirty="0">
                <a:solidFill>
                  <a:srgbClr val="C00000"/>
                </a:solidFill>
                <a:latin typeface="Calibri" panose="020F0502020204030204" pitchFamily="34" charset="0"/>
                <a:cs typeface="Calibri" panose="020F0502020204030204" pitchFamily="34" charset="0"/>
              </a:rPr>
              <a:t>Prevention: Definition, Examples &amp; Intervention Points</a:t>
            </a:r>
            <a:endParaRPr lang="en-ZA" sz="3200" dirty="0">
              <a:solidFill>
                <a:srgbClr val="C00000"/>
              </a:solidFill>
              <a:latin typeface="Calibri" panose="020F0502020204030204" pitchFamily="34" charset="0"/>
              <a:cs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3585" y="299766"/>
            <a:ext cx="10972800" cy="672419"/>
          </a:xfrm>
        </p:spPr>
        <p:txBody>
          <a:bodyPr/>
          <a:lstStyle/>
          <a:p>
            <a:r>
              <a:rPr lang="en-ZA" sz="3200" dirty="0">
                <a:solidFill>
                  <a:srgbClr val="C00000"/>
                </a:solidFill>
                <a:latin typeface="Calibri" panose="020F0502020204030204" pitchFamily="34" charset="0"/>
                <a:cs typeface="Calibri" panose="020F0502020204030204" pitchFamily="34" charset="0"/>
              </a:rPr>
              <a:t>Individual vs Population-level Prevention Strategies </a:t>
            </a:r>
            <a:endParaRPr lang="en-ZA" sz="3200" dirty="0">
              <a:solidFill>
                <a:srgbClr val="C00000"/>
              </a:solidFill>
              <a:latin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1"/>
          <a:stretch>
            <a:fillRect/>
          </a:stretch>
        </p:blipFill>
        <p:spPr>
          <a:xfrm>
            <a:off x="195943" y="1502228"/>
            <a:ext cx="6357258" cy="4613048"/>
          </a:xfrm>
          <a:prstGeom prst="rect">
            <a:avLst/>
          </a:prstGeom>
        </p:spPr>
      </p:pic>
      <p:pic>
        <p:nvPicPr>
          <p:cNvPr id="4" name="Picture 3"/>
          <p:cNvPicPr>
            <a:picLocks noChangeAspect="1"/>
          </p:cNvPicPr>
          <p:nvPr/>
        </p:nvPicPr>
        <p:blipFill>
          <a:blip r:embed="rId2"/>
          <a:stretch>
            <a:fillRect/>
          </a:stretch>
        </p:blipFill>
        <p:spPr>
          <a:xfrm>
            <a:off x="6683350" y="1502228"/>
            <a:ext cx="5312707" cy="474617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573087"/>
          </a:xfrm>
        </p:spPr>
        <p:txBody>
          <a:bodyPr/>
          <a:lstStyle/>
          <a:p>
            <a:r>
              <a:rPr lang="en-ZA" sz="3200" dirty="0">
                <a:solidFill>
                  <a:srgbClr val="C00000"/>
                </a:solidFill>
              </a:rPr>
              <a:t>Treatment: Definition &amp; Types</a:t>
            </a:r>
            <a:endParaRPr lang="en-ZA" sz="3200" dirty="0">
              <a:solidFill>
                <a:srgbClr val="C00000"/>
              </a:solidFill>
            </a:endParaRPr>
          </a:p>
        </p:txBody>
      </p:sp>
      <p:pic>
        <p:nvPicPr>
          <p:cNvPr id="5" name="Picture 4"/>
          <p:cNvPicPr>
            <a:picLocks noChangeAspect="1"/>
          </p:cNvPicPr>
          <p:nvPr/>
        </p:nvPicPr>
        <p:blipFill>
          <a:blip r:embed="rId1"/>
          <a:stretch>
            <a:fillRect/>
          </a:stretch>
        </p:blipFill>
        <p:spPr>
          <a:xfrm>
            <a:off x="5277485" y="1362075"/>
            <a:ext cx="6789420" cy="5343525"/>
          </a:xfrm>
          <a:prstGeom prst="rect">
            <a:avLst/>
          </a:prstGeom>
        </p:spPr>
      </p:pic>
      <p:pic>
        <p:nvPicPr>
          <p:cNvPr id="8" name="Picture 7"/>
          <p:cNvPicPr>
            <a:picLocks noChangeAspect="1"/>
          </p:cNvPicPr>
          <p:nvPr/>
        </p:nvPicPr>
        <p:blipFill>
          <a:blip r:embed="rId2"/>
          <a:stretch>
            <a:fillRect/>
          </a:stretch>
        </p:blipFill>
        <p:spPr>
          <a:xfrm>
            <a:off x="261257" y="1210129"/>
            <a:ext cx="4848225" cy="2991757"/>
          </a:xfrm>
          <a:prstGeom prst="rect">
            <a:avLst/>
          </a:prstGeom>
        </p:spPr>
      </p:pic>
      <p:pic>
        <p:nvPicPr>
          <p:cNvPr id="9" name="Picture 8"/>
          <p:cNvPicPr>
            <a:picLocks noChangeAspect="1"/>
          </p:cNvPicPr>
          <p:nvPr/>
        </p:nvPicPr>
        <p:blipFill>
          <a:blip r:embed="rId3"/>
          <a:stretch>
            <a:fillRect/>
          </a:stretch>
        </p:blipFill>
        <p:spPr>
          <a:xfrm>
            <a:off x="9469755" y="442595"/>
            <a:ext cx="1825625" cy="12172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3508"/>
            <a:ext cx="10972800" cy="696912"/>
          </a:xfrm>
        </p:spPr>
        <p:txBody>
          <a:bodyPr/>
          <a:lstStyle/>
          <a:p>
            <a:r>
              <a:rPr lang="en-ZA" sz="3200" dirty="0">
                <a:solidFill>
                  <a:srgbClr val="C00000"/>
                </a:solidFill>
                <a:latin typeface="Calibri" panose="020F0502020204030204" pitchFamily="34" charset="0"/>
                <a:cs typeface="Calibri" panose="020F0502020204030204" pitchFamily="34" charset="0"/>
              </a:rPr>
              <a:t>Medicines for the Treatment of Disease</a:t>
            </a:r>
            <a:endParaRPr lang="en-ZA" sz="3200" dirty="0">
              <a:solidFill>
                <a:srgbClr val="C00000"/>
              </a:solidFill>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609600" y="971550"/>
            <a:ext cx="8047990" cy="5211445"/>
          </a:xfrm>
        </p:spPr>
        <p:txBody>
          <a:bodyPr/>
          <a:lstStyle/>
          <a:p>
            <a:r>
              <a:rPr lang="en-GB" sz="2000" dirty="0">
                <a:latin typeface="Calibri" panose="020F0502020204030204" pitchFamily="34" charset="0"/>
                <a:cs typeface="Calibri" panose="020F0502020204030204" pitchFamily="34" charset="0"/>
              </a:rPr>
              <a:t>Medicines are substances or compounds designed to cure, prevent, or relieve diseases.</a:t>
            </a:r>
            <a:endParaRPr lang="en-GB" sz="2000" dirty="0">
              <a:latin typeface="Calibri" panose="020F0502020204030204" pitchFamily="34" charset="0"/>
              <a:cs typeface="Calibri" panose="020F0502020204030204" pitchFamily="34" charset="0"/>
            </a:endParaRPr>
          </a:p>
          <a:p>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The wide variety of available treatments can address everything from a common cold to chronic diseases </a:t>
            </a:r>
            <a:endParaRPr lang="en-GB" sz="2000" dirty="0">
              <a:latin typeface="Calibri" panose="020F0502020204030204" pitchFamily="34" charset="0"/>
              <a:cs typeface="Calibri" panose="020F0502020204030204" pitchFamily="34" charset="0"/>
            </a:endParaRPr>
          </a:p>
          <a:p>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Medicines reduce the overall burden of disease and premature death</a:t>
            </a:r>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The value of medicines derives not only from the health outcomes that they deliver but also from the broader non- health impacts to our society, the community and the economy.</a:t>
            </a:r>
            <a:endParaRPr lang="en-GB" sz="2000" dirty="0">
              <a:latin typeface="Calibri" panose="020F0502020204030204" pitchFamily="34" charset="0"/>
              <a:cs typeface="Calibri" panose="020F0502020204030204" pitchFamily="34" charset="0"/>
            </a:endParaRPr>
          </a:p>
          <a:p>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Medicines generate broader economic value to the Government through health and wellbeing and through second round effects of improving productivity, increasing GDP, generating government revenue through income tax collection and reducing expenditure on welfare benefits</a:t>
            </a:r>
            <a:endParaRPr lang="en-ZA" sz="2000" dirty="0">
              <a:latin typeface="Calibri" panose="020F0502020204030204" pitchFamily="34" charset="0"/>
              <a:cs typeface="Calibri" panose="020F0502020204030204" pitchFamily="34" charset="0"/>
            </a:endParaRPr>
          </a:p>
        </p:txBody>
      </p:sp>
      <p:sp>
        <p:nvSpPr>
          <p:cNvPr id="5" name="TextBox 4"/>
          <p:cNvSpPr txBox="1"/>
          <p:nvPr/>
        </p:nvSpPr>
        <p:spPr>
          <a:xfrm>
            <a:off x="1114425" y="6346606"/>
            <a:ext cx="7489030" cy="307777"/>
          </a:xfrm>
          <a:prstGeom prst="rect">
            <a:avLst/>
          </a:prstGeom>
          <a:noFill/>
        </p:spPr>
        <p:txBody>
          <a:bodyPr wrap="square">
            <a:spAutoFit/>
          </a:bodyPr>
          <a:lstStyle/>
          <a:p>
            <a:r>
              <a:rPr lang="en-ZA" sz="1400" dirty="0">
                <a:latin typeface="Calibri" panose="020F0502020204030204" pitchFamily="34" charset="0"/>
                <a:cs typeface="Calibri" panose="020F0502020204030204" pitchFamily="34" charset="0"/>
              </a:rPr>
              <a:t>Source: https://www.medicinesaustralia.com.au/publications/issues-briefs/value-of-medicines/</a:t>
            </a:r>
            <a:endParaRPr lang="en-ZA" sz="1400" dirty="0">
              <a:latin typeface="Calibri" panose="020F0502020204030204" pitchFamily="34" charset="0"/>
              <a:cs typeface="Calibri" panose="020F0502020204030204" pitchFamily="34" charset="0"/>
            </a:endParaRPr>
          </a:p>
        </p:txBody>
      </p:sp>
      <p:pic>
        <p:nvPicPr>
          <p:cNvPr id="7" name="Picture 6"/>
          <p:cNvPicPr>
            <a:picLocks noChangeAspect="1"/>
          </p:cNvPicPr>
          <p:nvPr/>
        </p:nvPicPr>
        <p:blipFill>
          <a:blip r:embed="rId1"/>
          <a:stretch>
            <a:fillRect/>
          </a:stretch>
        </p:blipFill>
        <p:spPr>
          <a:xfrm>
            <a:off x="8905875" y="1143001"/>
            <a:ext cx="2876550" cy="1452716"/>
          </a:xfrm>
          <a:prstGeom prst="rect">
            <a:avLst/>
          </a:prstGeom>
        </p:spPr>
      </p:pic>
      <p:pic>
        <p:nvPicPr>
          <p:cNvPr id="9" name="Picture 8"/>
          <p:cNvPicPr>
            <a:picLocks noChangeAspect="1"/>
          </p:cNvPicPr>
          <p:nvPr/>
        </p:nvPicPr>
        <p:blipFill>
          <a:blip r:embed="rId2"/>
          <a:stretch>
            <a:fillRect/>
          </a:stretch>
        </p:blipFill>
        <p:spPr>
          <a:xfrm flipH="1">
            <a:off x="8905875" y="2767168"/>
            <a:ext cx="2876550" cy="18853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9534"/>
            <a:ext cx="10972800" cy="705841"/>
          </a:xfrm>
        </p:spPr>
        <p:txBody>
          <a:bodyPr/>
          <a:lstStyle/>
          <a:p>
            <a:r>
              <a:rPr lang="en-ZA" sz="3200" dirty="0">
                <a:solidFill>
                  <a:srgbClr val="C00000"/>
                </a:solidFill>
                <a:latin typeface="Calibri" panose="020F0502020204030204" pitchFamily="34" charset="0"/>
                <a:cs typeface="Calibri" panose="020F0502020204030204" pitchFamily="34" charset="0"/>
              </a:rPr>
              <a:t>Treatment options for Diabetes &amp; Cancer</a:t>
            </a:r>
            <a:endParaRPr lang="en-ZA" sz="3200" dirty="0">
              <a:solidFill>
                <a:srgbClr val="C00000"/>
              </a:solidFill>
              <a:latin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1"/>
          <a:stretch>
            <a:fillRect/>
          </a:stretch>
        </p:blipFill>
        <p:spPr>
          <a:xfrm>
            <a:off x="439101" y="1647526"/>
            <a:ext cx="5656899" cy="4820939"/>
          </a:xfrm>
          <a:prstGeom prst="rect">
            <a:avLst/>
          </a:prstGeom>
        </p:spPr>
      </p:pic>
      <p:pic>
        <p:nvPicPr>
          <p:cNvPr id="4" name="Picture 3"/>
          <p:cNvPicPr>
            <a:picLocks noChangeAspect="1"/>
          </p:cNvPicPr>
          <p:nvPr/>
        </p:nvPicPr>
        <p:blipFill>
          <a:blip r:embed="rId2"/>
          <a:stretch>
            <a:fillRect/>
          </a:stretch>
        </p:blipFill>
        <p:spPr>
          <a:xfrm>
            <a:off x="6629717" y="1524000"/>
            <a:ext cx="5492972" cy="494446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 y="286332"/>
            <a:ext cx="11315700" cy="668337"/>
          </a:xfrm>
        </p:spPr>
        <p:txBody>
          <a:bodyPr/>
          <a:lstStyle/>
          <a:p>
            <a:r>
              <a:rPr lang="en-GB" sz="3200" dirty="0">
                <a:solidFill>
                  <a:srgbClr val="C00000"/>
                </a:solidFill>
                <a:latin typeface="Calibri" panose="020F0502020204030204" pitchFamily="34" charset="0"/>
                <a:cs typeface="Calibri" panose="020F0502020204030204" pitchFamily="34" charset="0"/>
              </a:rPr>
              <a:t>Clinical medicine (Treatment) vs Public health (Prevention)</a:t>
            </a:r>
            <a:endParaRPr lang="en-GB" sz="3200" dirty="0">
              <a:solidFill>
                <a:srgbClr val="C00000"/>
              </a:solidFill>
              <a:latin typeface="Calibri" panose="020F0502020204030204" pitchFamily="34" charset="0"/>
              <a:cs typeface="Calibri" panose="020F0502020204030204" pitchFamily="34" charset="0"/>
            </a:endParaRPr>
          </a:p>
        </p:txBody>
      </p:sp>
      <p:sp>
        <p:nvSpPr>
          <p:cNvPr id="5" name="TextBox 4"/>
          <p:cNvSpPr txBox="1"/>
          <p:nvPr/>
        </p:nvSpPr>
        <p:spPr>
          <a:xfrm>
            <a:off x="642937" y="1023951"/>
            <a:ext cx="5019675" cy="3139321"/>
          </a:xfrm>
          <a:prstGeom prst="rect">
            <a:avLst/>
          </a:prstGeom>
          <a:noFill/>
        </p:spPr>
        <p:txBody>
          <a:bodyPr wrap="square">
            <a:spAutoFit/>
          </a:bodyPr>
          <a:lstStyle/>
          <a:p>
            <a:r>
              <a:rPr lang="en-GB" b="1" dirty="0">
                <a:latin typeface="Calibri" panose="020F0502020204030204" pitchFamily="34" charset="0"/>
                <a:cs typeface="Calibri" panose="020F0502020204030204" pitchFamily="34" charset="0"/>
              </a:rPr>
              <a:t>Clinical medicine </a:t>
            </a:r>
            <a:r>
              <a:rPr lang="en-GB" dirty="0">
                <a:latin typeface="Calibri" panose="020F0502020204030204" pitchFamily="34" charset="0"/>
                <a:cs typeface="Calibri" panose="020F0502020204030204" pitchFamily="34" charset="0"/>
              </a:rPr>
              <a:t>emphasizes the </a:t>
            </a:r>
            <a:r>
              <a:rPr lang="en-GB" dirty="0">
                <a:solidFill>
                  <a:srgbClr val="0070C0"/>
                </a:solidFill>
                <a:latin typeface="Calibri" panose="020F0502020204030204" pitchFamily="34" charset="0"/>
                <a:cs typeface="Calibri" panose="020F0502020204030204" pitchFamily="34" charset="0"/>
              </a:rPr>
              <a:t>diagnosis, treatment, and management of individual patients</a:t>
            </a:r>
            <a:r>
              <a:rPr lang="en-GB" dirty="0">
                <a:latin typeface="Calibri" panose="020F0502020204030204" pitchFamily="34" charset="0"/>
                <a:cs typeface="Calibri" panose="020F0502020204030204" pitchFamily="34" charset="0"/>
              </a:rPr>
              <a:t>, addressing immediate health concerns. </a:t>
            </a:r>
            <a:endParaRPr lang="en-GB" dirty="0">
              <a:latin typeface="Calibri" panose="020F0502020204030204" pitchFamily="34" charset="0"/>
              <a:cs typeface="Calibri" panose="020F0502020204030204" pitchFamily="34" charset="0"/>
            </a:endParaRPr>
          </a:p>
          <a:p>
            <a:endParaRPr lang="en-GB" dirty="0">
              <a:solidFill>
                <a:srgbClr val="0070C0"/>
              </a:solidFill>
              <a:latin typeface="Calibri" panose="020F0502020204030204" pitchFamily="34" charset="0"/>
              <a:cs typeface="Calibri" panose="020F0502020204030204" pitchFamily="34" charset="0"/>
            </a:endParaRPr>
          </a:p>
          <a:p>
            <a:r>
              <a:rPr lang="en-ZA" dirty="0">
                <a:latin typeface="Calibri" panose="020F0502020204030204" pitchFamily="34" charset="0"/>
                <a:cs typeface="Calibri" panose="020F0502020204030204" pitchFamily="34" charset="0"/>
              </a:rPr>
              <a:t>Expertise in disease management</a:t>
            </a:r>
            <a:endParaRPr lang="en-ZA" dirty="0">
              <a:latin typeface="Calibri" panose="020F0502020204030204" pitchFamily="34" charset="0"/>
              <a:cs typeface="Calibri" panose="020F0502020204030204" pitchFamily="34" charset="0"/>
            </a:endParaRPr>
          </a:p>
          <a:p>
            <a:r>
              <a:rPr lang="en-ZA" dirty="0">
                <a:latin typeface="Calibri" panose="020F0502020204030204" pitchFamily="34" charset="0"/>
                <a:cs typeface="Calibri" panose="020F0502020204030204" pitchFamily="34" charset="0"/>
              </a:rPr>
              <a:t>Patient-</a:t>
            </a:r>
            <a:r>
              <a:rPr lang="en-ZA" dirty="0" err="1">
                <a:latin typeface="Calibri" panose="020F0502020204030204" pitchFamily="34" charset="0"/>
                <a:cs typeface="Calibri" panose="020F0502020204030204" pitchFamily="34" charset="0"/>
              </a:rPr>
              <a:t>centered</a:t>
            </a:r>
            <a:r>
              <a:rPr lang="en-ZA" dirty="0">
                <a:latin typeface="Calibri" panose="020F0502020204030204" pitchFamily="34" charset="0"/>
                <a:cs typeface="Calibri" panose="020F0502020204030204" pitchFamily="34" charset="0"/>
              </a:rPr>
              <a:t> approach</a:t>
            </a:r>
            <a:endParaRPr lang="en-GB" dirty="0">
              <a:solidFill>
                <a:srgbClr val="0070C0"/>
              </a:solidFill>
              <a:latin typeface="Calibri" panose="020F0502020204030204" pitchFamily="34" charset="0"/>
              <a:cs typeface="Calibri" panose="020F0502020204030204" pitchFamily="34" charset="0"/>
            </a:endParaRPr>
          </a:p>
          <a:p>
            <a:endParaRPr lang="en-GB" dirty="0">
              <a:solidFill>
                <a:srgbClr val="0070C0"/>
              </a:solidFill>
              <a:latin typeface="Calibri" panose="020F0502020204030204" pitchFamily="34" charset="0"/>
              <a:cs typeface="Calibri" panose="020F0502020204030204" pitchFamily="34" charset="0"/>
            </a:endParaRPr>
          </a:p>
          <a:p>
            <a:endParaRPr lang="en-GB" dirty="0">
              <a:solidFill>
                <a:srgbClr val="0070C0"/>
              </a:solidFill>
              <a:latin typeface="Calibri" panose="020F0502020204030204" pitchFamily="34" charset="0"/>
              <a:cs typeface="Calibri" panose="020F0502020204030204" pitchFamily="34" charset="0"/>
            </a:endParaRPr>
          </a:p>
          <a:p>
            <a:endParaRPr lang="en-GB" dirty="0">
              <a:solidFill>
                <a:srgbClr val="0070C0"/>
              </a:solidFill>
              <a:latin typeface="Calibri" panose="020F0502020204030204" pitchFamily="34" charset="0"/>
              <a:cs typeface="Calibri" panose="020F0502020204030204" pitchFamily="34" charset="0"/>
            </a:endParaRPr>
          </a:p>
          <a:p>
            <a:endParaRPr lang="en-GB" dirty="0">
              <a:solidFill>
                <a:srgbClr val="0070C0"/>
              </a:solidFill>
              <a:latin typeface="Calibri" panose="020F0502020204030204" pitchFamily="34" charset="0"/>
              <a:cs typeface="Calibri" panose="020F0502020204030204" pitchFamily="34" charset="0"/>
            </a:endParaRPr>
          </a:p>
          <a:p>
            <a:endParaRPr lang="en-GB" dirty="0">
              <a:solidFill>
                <a:srgbClr val="0070C0"/>
              </a:solidFill>
              <a:latin typeface="Calibri" panose="020F0502020204030204" pitchFamily="34" charset="0"/>
              <a:cs typeface="Calibri" panose="020F0502020204030204" pitchFamily="34" charset="0"/>
            </a:endParaRPr>
          </a:p>
        </p:txBody>
      </p:sp>
      <p:sp>
        <p:nvSpPr>
          <p:cNvPr id="3" name="TextBox 2"/>
          <p:cNvSpPr txBox="1"/>
          <p:nvPr/>
        </p:nvSpPr>
        <p:spPr>
          <a:xfrm>
            <a:off x="6276975" y="997070"/>
            <a:ext cx="5438775" cy="1754326"/>
          </a:xfrm>
          <a:prstGeom prst="rect">
            <a:avLst/>
          </a:prstGeom>
          <a:noFill/>
        </p:spPr>
        <p:txBody>
          <a:bodyPr wrap="square">
            <a:spAutoFit/>
          </a:bodyPr>
          <a:lstStyle/>
          <a:p>
            <a:r>
              <a:rPr lang="en-GB" b="1" dirty="0">
                <a:latin typeface="Calibri" panose="020F0502020204030204" pitchFamily="34" charset="0"/>
                <a:cs typeface="Calibri" panose="020F0502020204030204" pitchFamily="34" charset="0"/>
              </a:rPr>
              <a:t>Public health </a:t>
            </a:r>
            <a:r>
              <a:rPr lang="en-GB" dirty="0">
                <a:latin typeface="Calibri" panose="020F0502020204030204" pitchFamily="34" charset="0"/>
                <a:cs typeface="Calibri" panose="020F0502020204030204" pitchFamily="34" charset="0"/>
              </a:rPr>
              <a:t>focuses on preventing diseases, promoting health, and improving population health outcomes through interventions and policies.</a:t>
            </a:r>
            <a:endParaRPr lang="en-GB" dirty="0">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a:p>
            <a:r>
              <a:rPr lang="en-ZA" dirty="0">
                <a:latin typeface="Calibri" panose="020F0502020204030204" pitchFamily="34" charset="0"/>
                <a:cs typeface="Calibri" panose="020F0502020204030204" pitchFamily="34" charset="0"/>
              </a:rPr>
              <a:t>Population-level perspectives</a:t>
            </a:r>
            <a:endParaRPr lang="en-ZA" dirty="0">
              <a:latin typeface="Calibri" panose="020F0502020204030204" pitchFamily="34" charset="0"/>
              <a:cs typeface="Calibri" panose="020F0502020204030204" pitchFamily="34" charset="0"/>
            </a:endParaRPr>
          </a:p>
          <a:p>
            <a:r>
              <a:rPr lang="en-ZA" dirty="0">
                <a:latin typeface="Calibri" panose="020F0502020204030204" pitchFamily="34" charset="0"/>
                <a:cs typeface="Calibri" panose="020F0502020204030204" pitchFamily="34" charset="0"/>
              </a:rPr>
              <a:t>Translating Research into Practice</a:t>
            </a:r>
            <a:endParaRPr lang="en-GB" dirty="0">
              <a:solidFill>
                <a:srgbClr val="0070C0"/>
              </a:solidFill>
              <a:latin typeface="Calibri" panose="020F0502020204030204" pitchFamily="34" charset="0"/>
              <a:cs typeface="Calibri" panose="020F0502020204030204" pitchFamily="34" charset="0"/>
            </a:endParaRPr>
          </a:p>
        </p:txBody>
      </p:sp>
      <p:sp>
        <p:nvSpPr>
          <p:cNvPr id="6" name="TextBox 5"/>
          <p:cNvSpPr txBox="1"/>
          <p:nvPr/>
        </p:nvSpPr>
        <p:spPr>
          <a:xfrm>
            <a:off x="677367" y="5971693"/>
            <a:ext cx="10391775" cy="738664"/>
          </a:xfrm>
          <a:prstGeom prst="rect">
            <a:avLst/>
          </a:prstGeom>
          <a:noFill/>
        </p:spPr>
        <p:txBody>
          <a:bodyPr wrap="square">
            <a:spAutoFit/>
          </a:bodyPr>
          <a:lstStyle/>
          <a:p>
            <a:r>
              <a:rPr lang="en-GB" sz="1400" b="1" dirty="0">
                <a:latin typeface="Calibri" panose="020F0502020204030204" pitchFamily="34" charset="0"/>
                <a:cs typeface="Calibri" panose="020F0502020204030204" pitchFamily="34" charset="0"/>
              </a:rPr>
              <a:t>Sources</a:t>
            </a:r>
            <a:r>
              <a:rPr lang="en-GB" sz="1400" dirty="0">
                <a:latin typeface="Calibri" panose="020F0502020204030204" pitchFamily="34" charset="0"/>
                <a:cs typeface="Calibri" panose="020F0502020204030204" pitchFamily="34" charset="0"/>
              </a:rPr>
              <a:t>: Phillips R. Bridging the gap: Clinical medicine applied in public health. J Pub Health Nutri. 2023;6(3):148</a:t>
            </a:r>
            <a:endParaRPr lang="en-GB" sz="1400" dirty="0">
              <a:latin typeface="Calibri" panose="020F0502020204030204" pitchFamily="34" charset="0"/>
              <a:cs typeface="Calibri" panose="020F0502020204030204" pitchFamily="34" charset="0"/>
            </a:endParaRPr>
          </a:p>
          <a:p>
            <a:r>
              <a:rPr lang="en-GB" sz="1400" dirty="0" err="1">
                <a:latin typeface="Calibri" panose="020F0502020204030204" pitchFamily="34" charset="0"/>
                <a:cs typeface="Calibri" panose="020F0502020204030204" pitchFamily="34" charset="0"/>
              </a:rPr>
              <a:t>Mushlin</a:t>
            </a:r>
            <a:r>
              <a:rPr lang="en-GB" sz="1400" dirty="0">
                <a:latin typeface="Calibri" panose="020F0502020204030204" pitchFamily="34" charset="0"/>
                <a:cs typeface="Calibri" panose="020F0502020204030204" pitchFamily="34" charset="0"/>
              </a:rPr>
              <a:t> AI. Covid-19: an Imperative to Bridge the Gap Between Medicine And Public Health. J Gen Intern Med. 2020 Aug;35(8):2445-2446. </a:t>
            </a:r>
            <a:r>
              <a:rPr lang="en-GB" sz="1400" dirty="0" err="1">
                <a:latin typeface="Calibri" panose="020F0502020204030204" pitchFamily="34" charset="0"/>
                <a:cs typeface="Calibri" panose="020F0502020204030204" pitchFamily="34" charset="0"/>
              </a:rPr>
              <a:t>doi</a:t>
            </a:r>
            <a:r>
              <a:rPr lang="en-GB" sz="1400" dirty="0">
                <a:latin typeface="Calibri" panose="020F0502020204030204" pitchFamily="34" charset="0"/>
                <a:cs typeface="Calibri" panose="020F0502020204030204" pitchFamily="34" charset="0"/>
              </a:rPr>
              <a:t>: 10.1007/s11606-020-05932-w. </a:t>
            </a:r>
            <a:r>
              <a:rPr lang="en-ZA" sz="1400" dirty="0">
                <a:latin typeface="Calibri" panose="020F0502020204030204" pitchFamily="34" charset="0"/>
                <a:cs typeface="Calibri" panose="020F0502020204030204" pitchFamily="34" charset="0"/>
                <a:hlinkClick r:id="rId1"/>
              </a:rPr>
              <a:t>https://pmc.ncbi.nlm.nih.gov/articles/PMC7269618/</a:t>
            </a:r>
            <a:r>
              <a:rPr lang="en-ZA" sz="1400" dirty="0">
                <a:latin typeface="Calibri" panose="020F0502020204030204" pitchFamily="34" charset="0"/>
                <a:cs typeface="Calibri" panose="020F0502020204030204" pitchFamily="34" charset="0"/>
              </a:rPr>
              <a:t> </a:t>
            </a:r>
            <a:endParaRPr lang="en-ZA" sz="1400" dirty="0">
              <a:latin typeface="Calibri" panose="020F0502020204030204" pitchFamily="34" charset="0"/>
              <a:cs typeface="Calibri" panose="020F0502020204030204" pitchFamily="34" charset="0"/>
            </a:endParaRPr>
          </a:p>
        </p:txBody>
      </p:sp>
      <p:graphicFrame>
        <p:nvGraphicFramePr>
          <p:cNvPr id="7" name="Table 6"/>
          <p:cNvGraphicFramePr>
            <a:graphicFrameLocks noGrp="1"/>
          </p:cNvGraphicFramePr>
          <p:nvPr/>
        </p:nvGraphicFramePr>
        <p:xfrm>
          <a:off x="677367" y="2887432"/>
          <a:ext cx="4456608" cy="2551680"/>
        </p:xfrm>
        <a:graphic>
          <a:graphicData uri="http://schemas.openxmlformats.org/drawingml/2006/table">
            <a:tbl>
              <a:tblPr/>
              <a:tblGrid>
                <a:gridCol w="4456608"/>
              </a:tblGrid>
              <a:tr h="0">
                <a:tc>
                  <a:txBody>
                    <a:bodyPr/>
                    <a:lstStyle/>
                    <a:p>
                      <a:pPr fontAlgn="t">
                        <a:buNone/>
                      </a:pPr>
                      <a:r>
                        <a:rPr lang="en-GB" dirty="0">
                          <a:effectLst/>
                          <a:latin typeface="Calibri" panose="020F0502020204030204" pitchFamily="34" charset="0"/>
                          <a:cs typeface="Calibri" panose="020F0502020204030204" pitchFamily="34" charset="0"/>
                        </a:rPr>
                        <a:t>Purpose is cure of disease and alleviation of suffering in individuals</a:t>
                      </a:r>
                      <a:endParaRPr lang="en-GB" dirty="0">
                        <a:effectLst/>
                        <a:latin typeface="Calibri" panose="020F0502020204030204" pitchFamily="34" charset="0"/>
                        <a:cs typeface="Calibri" panose="020F0502020204030204" pitchFamily="34" charset="0"/>
                      </a:endParaRPr>
                    </a:p>
                  </a:txBody>
                  <a:tcPr marL="35712" marR="35712" marT="35712" marB="35712">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FF0"/>
                    </a:solidFill>
                  </a:tcPr>
                </a:tc>
              </a:tr>
              <a:tr h="0">
                <a:tc>
                  <a:txBody>
                    <a:bodyPr/>
                    <a:lstStyle/>
                    <a:p>
                      <a:pPr fontAlgn="t">
                        <a:buNone/>
                      </a:pPr>
                      <a:r>
                        <a:rPr lang="en-GB" dirty="0">
                          <a:effectLst/>
                          <a:latin typeface="Calibri" panose="020F0502020204030204" pitchFamily="34" charset="0"/>
                          <a:cs typeface="Calibri" panose="020F0502020204030204" pitchFamily="34" charset="0"/>
                        </a:rPr>
                        <a:t>Emphasis on treatment of illness</a:t>
                      </a:r>
                      <a:endParaRPr lang="en-GB" dirty="0">
                        <a:effectLst/>
                        <a:latin typeface="Calibri" panose="020F0502020204030204" pitchFamily="34" charset="0"/>
                        <a:cs typeface="Calibri" panose="020F0502020204030204" pitchFamily="34" charset="0"/>
                      </a:endParaRPr>
                    </a:p>
                  </a:txBody>
                  <a:tcPr marL="35712" marR="35712" marT="35712" marB="35712">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FF0"/>
                    </a:solidFill>
                  </a:tcPr>
                </a:tc>
              </a:tr>
              <a:tr h="0">
                <a:tc>
                  <a:txBody>
                    <a:bodyPr/>
                    <a:lstStyle/>
                    <a:p>
                      <a:pPr fontAlgn="t">
                        <a:buNone/>
                      </a:pPr>
                      <a:r>
                        <a:rPr lang="en-GB">
                          <a:effectLst/>
                          <a:latin typeface="Calibri" panose="020F0502020204030204" pitchFamily="34" charset="0"/>
                          <a:cs typeface="Calibri" panose="020F0502020204030204" pitchFamily="34" charset="0"/>
                        </a:rPr>
                        <a:t>Based largely on basic biology and biomedical sciences</a:t>
                      </a:r>
                      <a:endParaRPr lang="en-GB">
                        <a:effectLst/>
                        <a:latin typeface="Calibri" panose="020F0502020204030204" pitchFamily="34" charset="0"/>
                        <a:cs typeface="Calibri" panose="020F0502020204030204" pitchFamily="34" charset="0"/>
                      </a:endParaRPr>
                    </a:p>
                  </a:txBody>
                  <a:tcPr marL="35712" marR="35712" marT="35712" marB="35712">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FF0"/>
                    </a:solidFill>
                  </a:tcPr>
                </a:tc>
              </a:tr>
              <a:tr h="0">
                <a:tc>
                  <a:txBody>
                    <a:bodyPr/>
                    <a:lstStyle/>
                    <a:p>
                      <a:pPr fontAlgn="t">
                        <a:buNone/>
                      </a:pPr>
                      <a:r>
                        <a:rPr lang="en-GB">
                          <a:effectLst/>
                          <a:latin typeface="Calibri" panose="020F0502020204030204" pitchFamily="34" charset="0"/>
                          <a:cs typeface="Calibri" panose="020F0502020204030204" pitchFamily="34" charset="0"/>
                        </a:rPr>
                        <a:t>Uses deterministic reasoning based on pathophysiology</a:t>
                      </a:r>
                      <a:endParaRPr lang="en-GB">
                        <a:effectLst/>
                        <a:latin typeface="Calibri" panose="020F0502020204030204" pitchFamily="34" charset="0"/>
                        <a:cs typeface="Calibri" panose="020F0502020204030204" pitchFamily="34" charset="0"/>
                      </a:endParaRPr>
                    </a:p>
                  </a:txBody>
                  <a:tcPr marL="35712" marR="35712" marT="35712" marB="35712">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FF0"/>
                    </a:solidFill>
                  </a:tcPr>
                </a:tc>
              </a:tr>
              <a:tr h="0">
                <a:tc>
                  <a:txBody>
                    <a:bodyPr/>
                    <a:lstStyle/>
                    <a:p>
                      <a:pPr fontAlgn="t">
                        <a:buNone/>
                      </a:pPr>
                      <a:r>
                        <a:rPr lang="en-GB" dirty="0">
                          <a:effectLst/>
                          <a:latin typeface="Calibri" panose="020F0502020204030204" pitchFamily="34" charset="0"/>
                          <a:cs typeface="Calibri" panose="020F0502020204030204" pitchFamily="34" charset="0"/>
                        </a:rPr>
                        <a:t>Located in hospitals, clinics, and offices</a:t>
                      </a:r>
                      <a:endParaRPr lang="en-GB" dirty="0">
                        <a:effectLst/>
                        <a:latin typeface="Calibri" panose="020F0502020204030204" pitchFamily="34" charset="0"/>
                        <a:cs typeface="Calibri" panose="020F0502020204030204" pitchFamily="34" charset="0"/>
                      </a:endParaRPr>
                    </a:p>
                  </a:txBody>
                  <a:tcPr marL="35712" marR="35712" marT="35712" marB="35712">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FF0"/>
                    </a:solidFill>
                  </a:tcPr>
                </a:tc>
              </a:tr>
            </a:tbl>
          </a:graphicData>
        </a:graphic>
      </p:graphicFrame>
      <p:graphicFrame>
        <p:nvGraphicFramePr>
          <p:cNvPr id="8" name="Table 7"/>
          <p:cNvGraphicFramePr>
            <a:graphicFrameLocks noGrp="1"/>
          </p:cNvGraphicFramePr>
          <p:nvPr/>
        </p:nvGraphicFramePr>
        <p:xfrm>
          <a:off x="6343650" y="2887432"/>
          <a:ext cx="5019674" cy="2277360"/>
        </p:xfrm>
        <a:graphic>
          <a:graphicData uri="http://schemas.openxmlformats.org/drawingml/2006/table">
            <a:tbl>
              <a:tblPr/>
              <a:tblGrid>
                <a:gridCol w="5019674"/>
              </a:tblGrid>
              <a:tr h="0">
                <a:tc>
                  <a:txBody>
                    <a:bodyPr/>
                    <a:lstStyle/>
                    <a:p>
                      <a:pPr fontAlgn="t">
                        <a:buNone/>
                      </a:pPr>
                      <a:r>
                        <a:rPr lang="en-GB" dirty="0">
                          <a:effectLst/>
                          <a:latin typeface="Calibri" panose="020F0502020204030204" pitchFamily="34" charset="0"/>
                          <a:cs typeface="Calibri" panose="020F0502020204030204" pitchFamily="34" charset="0"/>
                        </a:rPr>
                        <a:t>Goal is the prevention or control of disease in a population</a:t>
                      </a:r>
                      <a:endParaRPr lang="en-GB" dirty="0">
                        <a:effectLst/>
                        <a:latin typeface="Calibri" panose="020F0502020204030204" pitchFamily="34" charset="0"/>
                        <a:cs typeface="Calibri" panose="020F0502020204030204" pitchFamily="34" charset="0"/>
                      </a:endParaRPr>
                    </a:p>
                  </a:txBody>
                  <a:tcPr marL="35712" marR="35712" marT="35712" marB="35712">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FF0"/>
                    </a:solidFill>
                  </a:tcPr>
                </a:tc>
              </a:tr>
              <a:tr h="0">
                <a:tc>
                  <a:txBody>
                    <a:bodyPr/>
                    <a:lstStyle/>
                    <a:p>
                      <a:pPr fontAlgn="t">
                        <a:buNone/>
                      </a:pPr>
                      <a:r>
                        <a:rPr lang="en-GB">
                          <a:effectLst/>
                          <a:latin typeface="Calibri" panose="020F0502020204030204" pitchFamily="34" charset="0"/>
                          <a:cs typeface="Calibri" panose="020F0502020204030204" pitchFamily="34" charset="0"/>
                        </a:rPr>
                        <a:t>Emphasis on disease prevention and early detection</a:t>
                      </a:r>
                      <a:endParaRPr lang="en-GB">
                        <a:effectLst/>
                        <a:latin typeface="Calibri" panose="020F0502020204030204" pitchFamily="34" charset="0"/>
                        <a:cs typeface="Calibri" panose="020F0502020204030204" pitchFamily="34" charset="0"/>
                      </a:endParaRPr>
                    </a:p>
                  </a:txBody>
                  <a:tcPr marL="35712" marR="35712" marT="35712" marB="35712">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FF0"/>
                    </a:solidFill>
                  </a:tcPr>
                </a:tc>
              </a:tr>
              <a:tr h="0">
                <a:tc>
                  <a:txBody>
                    <a:bodyPr/>
                    <a:lstStyle/>
                    <a:p>
                      <a:pPr fontAlgn="t">
                        <a:buNone/>
                      </a:pPr>
                      <a:r>
                        <a:rPr lang="en-GB">
                          <a:effectLst/>
                          <a:latin typeface="Calibri" panose="020F0502020204030204" pitchFamily="34" charset="0"/>
                          <a:cs typeface="Calibri" panose="020F0502020204030204" pitchFamily="34" charset="0"/>
                        </a:rPr>
                        <a:t>Depends on epidemiology and statistics</a:t>
                      </a:r>
                      <a:endParaRPr lang="en-GB">
                        <a:effectLst/>
                        <a:latin typeface="Calibri" panose="020F0502020204030204" pitchFamily="34" charset="0"/>
                        <a:cs typeface="Calibri" panose="020F0502020204030204" pitchFamily="34" charset="0"/>
                      </a:endParaRPr>
                    </a:p>
                  </a:txBody>
                  <a:tcPr marL="35712" marR="35712" marT="35712" marB="35712">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FF0"/>
                    </a:solidFill>
                  </a:tcPr>
                </a:tc>
              </a:tr>
              <a:tr h="0">
                <a:tc>
                  <a:txBody>
                    <a:bodyPr/>
                    <a:lstStyle/>
                    <a:p>
                      <a:pPr fontAlgn="t">
                        <a:buNone/>
                      </a:pPr>
                      <a:r>
                        <a:rPr lang="en-GB">
                          <a:effectLst/>
                          <a:latin typeface="Calibri" panose="020F0502020204030204" pitchFamily="34" charset="0"/>
                          <a:cs typeface="Calibri" panose="020F0502020204030204" pitchFamily="34" charset="0"/>
                        </a:rPr>
                        <a:t>Relies on probabilistic analysis and causal inference</a:t>
                      </a:r>
                      <a:endParaRPr lang="en-GB">
                        <a:effectLst/>
                        <a:latin typeface="Calibri" panose="020F0502020204030204" pitchFamily="34" charset="0"/>
                        <a:cs typeface="Calibri" panose="020F0502020204030204" pitchFamily="34" charset="0"/>
                      </a:endParaRPr>
                    </a:p>
                  </a:txBody>
                  <a:tcPr marL="35712" marR="35712" marT="35712" marB="35712">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FF0"/>
                    </a:solidFill>
                  </a:tcPr>
                </a:tc>
              </a:tr>
              <a:tr h="0">
                <a:tc>
                  <a:txBody>
                    <a:bodyPr/>
                    <a:lstStyle/>
                    <a:p>
                      <a:pPr fontAlgn="t">
                        <a:buNone/>
                      </a:pPr>
                      <a:r>
                        <a:rPr lang="en-GB" dirty="0">
                          <a:effectLst/>
                          <a:latin typeface="Calibri" panose="020F0502020204030204" pitchFamily="34" charset="0"/>
                          <a:cs typeface="Calibri" panose="020F0502020204030204" pitchFamily="34" charset="0"/>
                        </a:rPr>
                        <a:t>Based in organizations, mostly within governments and communities</a:t>
                      </a:r>
                      <a:endParaRPr lang="en-GB" dirty="0">
                        <a:effectLst/>
                        <a:latin typeface="Calibri" panose="020F0502020204030204" pitchFamily="34" charset="0"/>
                        <a:cs typeface="Calibri" panose="020F0502020204030204" pitchFamily="34" charset="0"/>
                      </a:endParaRPr>
                    </a:p>
                  </a:txBody>
                  <a:tcPr marL="35712" marR="35712" marT="35712" marB="35712">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5FFF0"/>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1903" y="161864"/>
            <a:ext cx="10401554" cy="691818"/>
          </a:xfrm>
          <a:solidFill>
            <a:srgbClr val="C00000"/>
          </a:solidFill>
        </p:spPr>
        <p:txBody>
          <a:bodyPr>
            <a:normAutofit/>
          </a:bodyPr>
          <a:lstStyle/>
          <a:p>
            <a:r>
              <a:rPr lang="en-ZA" sz="3200" dirty="0">
                <a:solidFill>
                  <a:schemeClr val="bg1"/>
                </a:solidFill>
                <a:latin typeface="Calibri" panose="020F0502020204030204" pitchFamily="34" charset="0"/>
                <a:cs typeface="Calibri" panose="020F0502020204030204" pitchFamily="34" charset="0"/>
              </a:rPr>
              <a:t>Preventive versus Treatment measures</a:t>
            </a:r>
            <a:endParaRPr lang="en-ZA" sz="3200" dirty="0">
              <a:solidFill>
                <a:schemeClr val="bg1"/>
              </a:solidFill>
              <a:latin typeface="Calibri" panose="020F0502020204030204" pitchFamily="34" charset="0"/>
              <a:cs typeface="Calibri" panose="020F0502020204030204" pitchFamily="34" charset="0"/>
            </a:endParaRPr>
          </a:p>
        </p:txBody>
      </p:sp>
      <p:sp>
        <p:nvSpPr>
          <p:cNvPr id="5" name="Content Placeholder 2"/>
          <p:cNvSpPr txBox="1"/>
          <p:nvPr/>
        </p:nvSpPr>
        <p:spPr>
          <a:xfrm>
            <a:off x="631902" y="5714423"/>
            <a:ext cx="10321847" cy="714952"/>
          </a:xfrm>
          <a:prstGeom prst="rect">
            <a:avLst/>
          </a:prstGeom>
        </p:spPr>
        <p:txBody>
          <a:bodyPr>
            <a:noAutofit/>
          </a:bodyPr>
          <a:lstStyle>
            <a:lvl1pPr marL="342900" indent="-342900" algn="l" defTabSz="914400" rtl="0" eaLnBrk="1" latinLnBrk="0" hangingPunct="1">
              <a:spcBef>
                <a:spcPct val="20000"/>
              </a:spcBef>
              <a:buClr>
                <a:srgbClr val="CF142B"/>
              </a:buClr>
              <a:buFont typeface="Arial" panose="020B0604020202020204"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rgbClr val="FFC000"/>
              </a:buClr>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sz="1800" dirty="0">
                <a:latin typeface="Calibri" panose="020F0502020204030204" pitchFamily="34" charset="0"/>
                <a:cs typeface="Calibri" panose="020F0502020204030204" pitchFamily="34" charset="0"/>
              </a:rPr>
              <a:t>Both preventive and therapeutic approaches are important in maintaining and improving overall health, with </a:t>
            </a:r>
            <a:r>
              <a:rPr lang="en-GB" sz="1800" dirty="0">
                <a:solidFill>
                  <a:srgbClr val="0070C0"/>
                </a:solidFill>
                <a:latin typeface="Calibri" panose="020F0502020204030204" pitchFamily="34" charset="0"/>
                <a:cs typeface="Calibri" panose="020F0502020204030204" pitchFamily="34" charset="0"/>
              </a:rPr>
              <a:t>preventive measures being proactive </a:t>
            </a:r>
            <a:r>
              <a:rPr lang="en-GB" sz="1800" dirty="0">
                <a:latin typeface="Calibri" panose="020F0502020204030204" pitchFamily="34" charset="0"/>
                <a:cs typeface="Calibri" panose="020F0502020204030204" pitchFamily="34" charset="0"/>
              </a:rPr>
              <a:t>&amp; </a:t>
            </a:r>
            <a:r>
              <a:rPr lang="en-GB" sz="1800" dirty="0">
                <a:solidFill>
                  <a:srgbClr val="0070C0"/>
                </a:solidFill>
                <a:latin typeface="Calibri" panose="020F0502020204030204" pitchFamily="34" charset="0"/>
                <a:cs typeface="Calibri" panose="020F0502020204030204" pitchFamily="34" charset="0"/>
              </a:rPr>
              <a:t>therapeutic measures being reactive </a:t>
            </a:r>
            <a:r>
              <a:rPr lang="en-GB" sz="1800" dirty="0">
                <a:latin typeface="Calibri" panose="020F0502020204030204" pitchFamily="34" charset="0"/>
                <a:cs typeface="Calibri" panose="020F0502020204030204" pitchFamily="34" charset="0"/>
              </a:rPr>
              <a:t>in nature</a:t>
            </a:r>
            <a:endParaRPr lang="en-ZA" sz="1800" dirty="0">
              <a:latin typeface="Calibri" panose="020F0502020204030204" pitchFamily="34" charset="0"/>
              <a:cs typeface="Calibri" panose="020F0502020204030204" pitchFamily="34" charset="0"/>
            </a:endParaRPr>
          </a:p>
        </p:txBody>
      </p:sp>
      <p:graphicFrame>
        <p:nvGraphicFramePr>
          <p:cNvPr id="6" name="Table 5"/>
          <p:cNvGraphicFramePr>
            <a:graphicFrameLocks noGrp="1"/>
          </p:cNvGraphicFramePr>
          <p:nvPr/>
        </p:nvGraphicFramePr>
        <p:xfrm>
          <a:off x="314325" y="1051969"/>
          <a:ext cx="11287124" cy="4525126"/>
        </p:xfrm>
        <a:graphic>
          <a:graphicData uri="http://schemas.openxmlformats.org/drawingml/2006/table">
            <a:tbl>
              <a:tblPr/>
              <a:tblGrid>
                <a:gridCol w="1559418"/>
                <a:gridCol w="5965331"/>
                <a:gridCol w="3762375"/>
              </a:tblGrid>
              <a:tr h="255961">
                <a:tc>
                  <a:txBody>
                    <a:bodyPr/>
                    <a:lstStyle/>
                    <a:p>
                      <a:pPr algn="l">
                        <a:buNone/>
                      </a:pPr>
                      <a:r>
                        <a:rPr lang="en-ZA" sz="2400" b="1">
                          <a:effectLst/>
                          <a:latin typeface="Calibri" panose="020F0502020204030204" pitchFamily="34" charset="0"/>
                          <a:cs typeface="Calibri" panose="020F0502020204030204" pitchFamily="34" charset="0"/>
                        </a:rPr>
                        <a:t>Attribute</a:t>
                      </a:r>
                      <a:endParaRPr lang="en-ZA" sz="2400" b="1">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c>
                  <a:txBody>
                    <a:bodyPr/>
                    <a:lstStyle/>
                    <a:p>
                      <a:pPr algn="l">
                        <a:buNone/>
                      </a:pPr>
                      <a:r>
                        <a:rPr lang="en-ZA" sz="2400" b="1" dirty="0">
                          <a:effectLst/>
                          <a:latin typeface="Calibri" panose="020F0502020204030204" pitchFamily="34" charset="0"/>
                          <a:cs typeface="Calibri" panose="020F0502020204030204" pitchFamily="34" charset="0"/>
                        </a:rPr>
                        <a:t>Preventive measures</a:t>
                      </a:r>
                      <a:endParaRPr lang="en-ZA" sz="2400" b="1" dirty="0">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c>
                  <a:txBody>
                    <a:bodyPr/>
                    <a:lstStyle/>
                    <a:p>
                      <a:pPr algn="l">
                        <a:buNone/>
                      </a:pPr>
                      <a:r>
                        <a:rPr lang="en-ZA" sz="2400" b="1" dirty="0">
                          <a:effectLst/>
                          <a:latin typeface="Calibri" panose="020F0502020204030204" pitchFamily="34" charset="0"/>
                          <a:cs typeface="Calibri" panose="020F0502020204030204" pitchFamily="34" charset="0"/>
                        </a:rPr>
                        <a:t>Therapeutic measures</a:t>
                      </a:r>
                      <a:endParaRPr lang="en-ZA" sz="2400" b="1" dirty="0">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r>
              <a:tr h="1023844">
                <a:tc>
                  <a:txBody>
                    <a:bodyPr/>
                    <a:lstStyle/>
                    <a:p>
                      <a:pPr algn="l">
                        <a:buNone/>
                      </a:pPr>
                      <a:r>
                        <a:rPr lang="en-ZA" sz="2000" b="1" dirty="0">
                          <a:effectLst/>
                          <a:latin typeface="Calibri" panose="020F0502020204030204" pitchFamily="34" charset="0"/>
                          <a:cs typeface="Calibri" panose="020F0502020204030204" pitchFamily="34" charset="0"/>
                        </a:rPr>
                        <a:t>Goal</a:t>
                      </a:r>
                      <a:endParaRPr lang="en-ZA" sz="2000" b="1" dirty="0">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c>
                  <a:txBody>
                    <a:bodyPr/>
                    <a:lstStyle/>
                    <a:p>
                      <a:pPr algn="l">
                        <a:buNone/>
                      </a:pPr>
                      <a:r>
                        <a:rPr lang="en-GB" sz="2000" dirty="0">
                          <a:effectLst/>
                          <a:latin typeface="Calibri" panose="020F0502020204030204" pitchFamily="34" charset="0"/>
                          <a:cs typeface="Calibri" panose="020F0502020204030204" pitchFamily="34" charset="0"/>
                        </a:rPr>
                        <a:t>To </a:t>
                      </a:r>
                      <a:r>
                        <a:rPr lang="en-GB" sz="2000" dirty="0">
                          <a:solidFill>
                            <a:srgbClr val="0070C0"/>
                          </a:solidFill>
                          <a:effectLst/>
                          <a:latin typeface="Calibri" panose="020F0502020204030204" pitchFamily="34" charset="0"/>
                          <a:cs typeface="Calibri" panose="020F0502020204030204" pitchFamily="34" charset="0"/>
                        </a:rPr>
                        <a:t>avoid the occurrence of a disease </a:t>
                      </a:r>
                      <a:r>
                        <a:rPr lang="en-GB" sz="2000" dirty="0">
                          <a:effectLst/>
                          <a:latin typeface="Calibri" panose="020F0502020204030204" pitchFamily="34" charset="0"/>
                          <a:cs typeface="Calibri" panose="020F0502020204030204" pitchFamily="34" charset="0"/>
                        </a:rPr>
                        <a:t>or health issue</a:t>
                      </a:r>
                      <a:endParaRPr lang="en-GB" sz="2000" dirty="0">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c>
                  <a:txBody>
                    <a:bodyPr/>
                    <a:lstStyle/>
                    <a:p>
                      <a:pPr algn="l">
                        <a:buNone/>
                      </a:pPr>
                      <a:r>
                        <a:rPr lang="en-GB" sz="2000" dirty="0">
                          <a:effectLst/>
                          <a:latin typeface="Calibri" panose="020F0502020204030204" pitchFamily="34" charset="0"/>
                          <a:cs typeface="Calibri" panose="020F0502020204030204" pitchFamily="34" charset="0"/>
                        </a:rPr>
                        <a:t>To </a:t>
                      </a:r>
                      <a:r>
                        <a:rPr lang="en-GB" sz="2000" dirty="0">
                          <a:solidFill>
                            <a:srgbClr val="C00000"/>
                          </a:solidFill>
                          <a:effectLst/>
                          <a:latin typeface="Calibri" panose="020F0502020204030204" pitchFamily="34" charset="0"/>
                          <a:cs typeface="Calibri" panose="020F0502020204030204" pitchFamily="34" charset="0"/>
                        </a:rPr>
                        <a:t>treat and cure a disease </a:t>
                      </a:r>
                      <a:r>
                        <a:rPr lang="en-GB" sz="2000" dirty="0">
                          <a:effectLst/>
                          <a:latin typeface="Calibri" panose="020F0502020204030204" pitchFamily="34" charset="0"/>
                          <a:cs typeface="Calibri" panose="020F0502020204030204" pitchFamily="34" charset="0"/>
                        </a:rPr>
                        <a:t>or health issue</a:t>
                      </a:r>
                      <a:endParaRPr lang="en-GB" sz="2000" dirty="0">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r>
              <a:tr h="831873">
                <a:tc>
                  <a:txBody>
                    <a:bodyPr/>
                    <a:lstStyle/>
                    <a:p>
                      <a:pPr algn="l">
                        <a:buNone/>
                      </a:pPr>
                      <a:r>
                        <a:rPr lang="en-ZA" sz="2000" b="1" dirty="0">
                          <a:effectLst/>
                          <a:latin typeface="Calibri" panose="020F0502020204030204" pitchFamily="34" charset="0"/>
                          <a:cs typeface="Calibri" panose="020F0502020204030204" pitchFamily="34" charset="0"/>
                        </a:rPr>
                        <a:t>Timing</a:t>
                      </a:r>
                      <a:endParaRPr lang="en-ZA" sz="2000" b="1" dirty="0">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c>
                  <a:txBody>
                    <a:bodyPr/>
                    <a:lstStyle/>
                    <a:p>
                      <a:pPr algn="l">
                        <a:buNone/>
                      </a:pPr>
                      <a:r>
                        <a:rPr lang="en-GB" sz="2000" dirty="0">
                          <a:effectLst/>
                          <a:latin typeface="Calibri" panose="020F0502020204030204" pitchFamily="34" charset="0"/>
                          <a:cs typeface="Calibri" panose="020F0502020204030204" pitchFamily="34" charset="0"/>
                        </a:rPr>
                        <a:t>Implemented </a:t>
                      </a:r>
                      <a:r>
                        <a:rPr lang="en-GB" sz="2000" dirty="0">
                          <a:solidFill>
                            <a:srgbClr val="0070C0"/>
                          </a:solidFill>
                          <a:effectLst/>
                          <a:latin typeface="Calibri" panose="020F0502020204030204" pitchFamily="34" charset="0"/>
                          <a:cs typeface="Calibri" panose="020F0502020204030204" pitchFamily="34" charset="0"/>
                        </a:rPr>
                        <a:t>before the onset of a disease</a:t>
                      </a:r>
                      <a:endParaRPr lang="en-GB" sz="2000" dirty="0">
                        <a:solidFill>
                          <a:srgbClr val="0070C0"/>
                        </a:solidFill>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c>
                  <a:txBody>
                    <a:bodyPr/>
                    <a:lstStyle/>
                    <a:p>
                      <a:pPr algn="l">
                        <a:buNone/>
                      </a:pPr>
                      <a:r>
                        <a:rPr lang="en-GB" sz="2000" dirty="0">
                          <a:effectLst/>
                          <a:latin typeface="Calibri" panose="020F0502020204030204" pitchFamily="34" charset="0"/>
                          <a:cs typeface="Calibri" panose="020F0502020204030204" pitchFamily="34" charset="0"/>
                        </a:rPr>
                        <a:t>Implemented </a:t>
                      </a:r>
                      <a:r>
                        <a:rPr lang="en-GB" sz="2000" dirty="0">
                          <a:solidFill>
                            <a:srgbClr val="C00000"/>
                          </a:solidFill>
                          <a:effectLst/>
                          <a:latin typeface="Calibri" panose="020F0502020204030204" pitchFamily="34" charset="0"/>
                          <a:cs typeface="Calibri" panose="020F0502020204030204" pitchFamily="34" charset="0"/>
                        </a:rPr>
                        <a:t>after the onset of a disease</a:t>
                      </a:r>
                      <a:endParaRPr lang="en-GB" sz="2000" dirty="0">
                        <a:solidFill>
                          <a:srgbClr val="C00000"/>
                        </a:solidFill>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r>
              <a:tr h="1023844">
                <a:tc>
                  <a:txBody>
                    <a:bodyPr/>
                    <a:lstStyle/>
                    <a:p>
                      <a:pPr algn="l">
                        <a:buNone/>
                      </a:pPr>
                      <a:r>
                        <a:rPr lang="en-ZA" sz="2000" b="1" dirty="0">
                          <a:effectLst/>
                          <a:latin typeface="Calibri" panose="020F0502020204030204" pitchFamily="34" charset="0"/>
                          <a:cs typeface="Calibri" panose="020F0502020204030204" pitchFamily="34" charset="0"/>
                        </a:rPr>
                        <a:t>Focus</a:t>
                      </a:r>
                      <a:endParaRPr lang="en-ZA" sz="2000" b="1" dirty="0">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c>
                  <a:txBody>
                    <a:bodyPr/>
                    <a:lstStyle/>
                    <a:p>
                      <a:pPr algn="l">
                        <a:buNone/>
                      </a:pPr>
                      <a:r>
                        <a:rPr lang="en-GB" sz="2000" dirty="0">
                          <a:effectLst/>
                          <a:latin typeface="Calibri" panose="020F0502020204030204" pitchFamily="34" charset="0"/>
                          <a:cs typeface="Calibri" panose="020F0502020204030204" pitchFamily="34" charset="0"/>
                        </a:rPr>
                        <a:t>Emphasis on </a:t>
                      </a:r>
                      <a:r>
                        <a:rPr lang="en-GB" sz="2000" dirty="0">
                          <a:solidFill>
                            <a:srgbClr val="0070C0"/>
                          </a:solidFill>
                          <a:effectLst/>
                          <a:latin typeface="Calibri" panose="020F0502020204030204" pitchFamily="34" charset="0"/>
                          <a:cs typeface="Calibri" panose="020F0502020204030204" pitchFamily="34" charset="0"/>
                        </a:rPr>
                        <a:t>maintaining health and wellness</a:t>
                      </a:r>
                      <a:endParaRPr lang="en-GB" sz="2000" dirty="0">
                        <a:solidFill>
                          <a:srgbClr val="0070C0"/>
                        </a:solidFill>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c>
                  <a:txBody>
                    <a:bodyPr/>
                    <a:lstStyle/>
                    <a:p>
                      <a:pPr algn="l">
                        <a:buNone/>
                      </a:pPr>
                      <a:r>
                        <a:rPr lang="en-GB" sz="2000" dirty="0">
                          <a:effectLst/>
                          <a:latin typeface="Calibri" panose="020F0502020204030204" pitchFamily="34" charset="0"/>
                          <a:cs typeface="Calibri" panose="020F0502020204030204" pitchFamily="34" charset="0"/>
                        </a:rPr>
                        <a:t>Emphasis on </a:t>
                      </a:r>
                      <a:r>
                        <a:rPr lang="en-GB" sz="2000" dirty="0">
                          <a:solidFill>
                            <a:srgbClr val="C00000"/>
                          </a:solidFill>
                          <a:effectLst/>
                          <a:latin typeface="Calibri" panose="020F0502020204030204" pitchFamily="34" charset="0"/>
                          <a:cs typeface="Calibri" panose="020F0502020204030204" pitchFamily="34" charset="0"/>
                        </a:rPr>
                        <a:t>alleviating symptoms </a:t>
                      </a:r>
                      <a:r>
                        <a:rPr lang="en-GB" sz="2000" dirty="0">
                          <a:effectLst/>
                          <a:latin typeface="Calibri" panose="020F0502020204030204" pitchFamily="34" charset="0"/>
                          <a:cs typeface="Calibri" panose="020F0502020204030204" pitchFamily="34" charset="0"/>
                        </a:rPr>
                        <a:t>and </a:t>
                      </a:r>
                      <a:r>
                        <a:rPr lang="en-GB" sz="2000" dirty="0">
                          <a:solidFill>
                            <a:srgbClr val="C00000"/>
                          </a:solidFill>
                          <a:effectLst/>
                          <a:latin typeface="Calibri" panose="020F0502020204030204" pitchFamily="34" charset="0"/>
                          <a:cs typeface="Calibri" panose="020F0502020204030204" pitchFamily="34" charset="0"/>
                        </a:rPr>
                        <a:t>curing illness</a:t>
                      </a:r>
                      <a:endParaRPr lang="en-GB" sz="2000" dirty="0">
                        <a:solidFill>
                          <a:srgbClr val="C00000"/>
                        </a:solidFill>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r>
              <a:tr h="1215815">
                <a:tc>
                  <a:txBody>
                    <a:bodyPr/>
                    <a:lstStyle/>
                    <a:p>
                      <a:pPr algn="l">
                        <a:buNone/>
                      </a:pPr>
                      <a:r>
                        <a:rPr lang="en-ZA" sz="2000" b="1" dirty="0">
                          <a:effectLst/>
                          <a:latin typeface="Calibri" panose="020F0502020204030204" pitchFamily="34" charset="0"/>
                          <a:cs typeface="Calibri" panose="020F0502020204030204" pitchFamily="34" charset="0"/>
                        </a:rPr>
                        <a:t>Methods</a:t>
                      </a:r>
                      <a:endParaRPr lang="en-ZA" sz="2000" b="1" dirty="0">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c>
                  <a:txBody>
                    <a:bodyPr/>
                    <a:lstStyle/>
                    <a:p>
                      <a:pPr algn="l">
                        <a:buNone/>
                      </a:pPr>
                      <a:r>
                        <a:rPr lang="en-GB" sz="2000" dirty="0">
                          <a:effectLst/>
                          <a:latin typeface="Calibri" panose="020F0502020204030204" pitchFamily="34" charset="0"/>
                          <a:cs typeface="Calibri" panose="020F0502020204030204" pitchFamily="34" charset="0"/>
                        </a:rPr>
                        <a:t>Includes </a:t>
                      </a:r>
                      <a:r>
                        <a:rPr lang="en-GB" sz="2000" dirty="0">
                          <a:solidFill>
                            <a:srgbClr val="0070C0"/>
                          </a:solidFill>
                          <a:effectLst/>
                          <a:latin typeface="Calibri" panose="020F0502020204030204" pitchFamily="34" charset="0"/>
                          <a:cs typeface="Calibri" panose="020F0502020204030204" pitchFamily="34" charset="0"/>
                        </a:rPr>
                        <a:t>vaccinations, screenings, healthy lifestyle </a:t>
                      </a:r>
                      <a:r>
                        <a:rPr lang="en-GB" sz="2000" dirty="0">
                          <a:effectLst/>
                          <a:latin typeface="Calibri" panose="020F0502020204030204" pitchFamily="34" charset="0"/>
                          <a:cs typeface="Calibri" panose="020F0502020204030204" pitchFamily="34" charset="0"/>
                        </a:rPr>
                        <a:t>choices</a:t>
                      </a:r>
                      <a:endParaRPr lang="en-GB" sz="2000" dirty="0">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c>
                  <a:txBody>
                    <a:bodyPr/>
                    <a:lstStyle/>
                    <a:p>
                      <a:pPr algn="l">
                        <a:buNone/>
                      </a:pPr>
                      <a:r>
                        <a:rPr lang="en-ZA" sz="2000" dirty="0">
                          <a:effectLst/>
                          <a:latin typeface="Calibri" panose="020F0502020204030204" pitchFamily="34" charset="0"/>
                          <a:cs typeface="Calibri" panose="020F0502020204030204" pitchFamily="34" charset="0"/>
                        </a:rPr>
                        <a:t>Includes </a:t>
                      </a:r>
                      <a:r>
                        <a:rPr lang="en-ZA" sz="2000" dirty="0">
                          <a:solidFill>
                            <a:srgbClr val="C00000"/>
                          </a:solidFill>
                          <a:effectLst/>
                          <a:latin typeface="Calibri" panose="020F0502020204030204" pitchFamily="34" charset="0"/>
                          <a:cs typeface="Calibri" panose="020F0502020204030204" pitchFamily="34" charset="0"/>
                        </a:rPr>
                        <a:t>medications, surgeries, therapies</a:t>
                      </a:r>
                      <a:endParaRPr lang="en-ZA" sz="2000" dirty="0">
                        <a:solidFill>
                          <a:srgbClr val="C00000"/>
                        </a:solidFill>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r>
            </a:tbl>
          </a:graphicData>
        </a:graphic>
      </p:graphicFrame>
      <p:sp>
        <p:nvSpPr>
          <p:cNvPr id="11" name="TextBox 10"/>
          <p:cNvSpPr txBox="1"/>
          <p:nvPr/>
        </p:nvSpPr>
        <p:spPr>
          <a:xfrm>
            <a:off x="2596435" y="6429375"/>
            <a:ext cx="6110286" cy="307777"/>
          </a:xfrm>
          <a:prstGeom prst="rect">
            <a:avLst/>
          </a:prstGeom>
          <a:noFill/>
        </p:spPr>
        <p:txBody>
          <a:bodyPr wrap="square">
            <a:spAutoFit/>
          </a:bodyPr>
          <a:lstStyle/>
          <a:p>
            <a:r>
              <a:rPr lang="en-ZA" sz="1400" dirty="0">
                <a:latin typeface="Calibri" panose="020F0502020204030204" pitchFamily="34" charset="0"/>
                <a:cs typeface="Calibri" panose="020F0502020204030204" pitchFamily="34" charset="0"/>
              </a:rPr>
              <a:t>Source: https://thisvsthat.io/preventive-vs-therapeutic</a:t>
            </a:r>
            <a:endParaRPr lang="en-ZA" sz="1400" dirty="0">
              <a:latin typeface="Calibri" panose="020F0502020204030204" pitchFamily="34" charset="0"/>
              <a:cs typeface="Calibri" panose="020F050202020403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1903" y="161864"/>
            <a:ext cx="10401554" cy="691818"/>
          </a:xfrm>
          <a:solidFill>
            <a:srgbClr val="C00000"/>
          </a:solidFill>
        </p:spPr>
        <p:txBody>
          <a:bodyPr>
            <a:normAutofit/>
          </a:bodyPr>
          <a:lstStyle/>
          <a:p>
            <a:r>
              <a:rPr lang="en-ZA" sz="3200" dirty="0">
                <a:solidFill>
                  <a:schemeClr val="bg1"/>
                </a:solidFill>
                <a:latin typeface="Calibri" panose="020F0502020204030204" pitchFamily="34" charset="0"/>
                <a:cs typeface="Calibri" panose="020F0502020204030204" pitchFamily="34" charset="0"/>
              </a:rPr>
              <a:t>Preventive versus Treatment measures</a:t>
            </a:r>
            <a:endParaRPr lang="en-ZA" sz="3200" dirty="0">
              <a:solidFill>
                <a:schemeClr val="bg1"/>
              </a:solidFill>
              <a:latin typeface="Calibri" panose="020F0502020204030204" pitchFamily="34" charset="0"/>
              <a:cs typeface="Calibri" panose="020F0502020204030204" pitchFamily="34" charset="0"/>
            </a:endParaRPr>
          </a:p>
        </p:txBody>
      </p:sp>
      <p:graphicFrame>
        <p:nvGraphicFramePr>
          <p:cNvPr id="6" name="Table 5"/>
          <p:cNvGraphicFramePr>
            <a:graphicFrameLocks noGrp="1"/>
          </p:cNvGraphicFramePr>
          <p:nvPr/>
        </p:nvGraphicFramePr>
        <p:xfrm>
          <a:off x="401052" y="853682"/>
          <a:ext cx="11502189" cy="5451868"/>
        </p:xfrm>
        <a:graphic>
          <a:graphicData uri="http://schemas.openxmlformats.org/drawingml/2006/table">
            <a:tbl>
              <a:tblPr/>
              <a:tblGrid>
                <a:gridCol w="1589131"/>
                <a:gridCol w="6078995"/>
                <a:gridCol w="3834063"/>
              </a:tblGrid>
              <a:tr h="380205">
                <a:tc>
                  <a:txBody>
                    <a:bodyPr/>
                    <a:lstStyle/>
                    <a:p>
                      <a:pPr algn="l">
                        <a:buNone/>
                      </a:pPr>
                      <a:r>
                        <a:rPr lang="en-ZA" sz="2000" b="1">
                          <a:effectLst/>
                          <a:latin typeface="Calibri" panose="020F0502020204030204" pitchFamily="34" charset="0"/>
                          <a:cs typeface="Calibri" panose="020F0502020204030204" pitchFamily="34" charset="0"/>
                        </a:rPr>
                        <a:t>Attribute</a:t>
                      </a:r>
                      <a:endParaRPr lang="en-ZA" sz="2000" b="1">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c>
                  <a:txBody>
                    <a:bodyPr/>
                    <a:lstStyle/>
                    <a:p>
                      <a:pPr algn="l">
                        <a:buNone/>
                      </a:pPr>
                      <a:r>
                        <a:rPr lang="en-ZA" sz="2000" b="1">
                          <a:effectLst/>
                          <a:latin typeface="Calibri" panose="020F0502020204030204" pitchFamily="34" charset="0"/>
                          <a:cs typeface="Calibri" panose="020F0502020204030204" pitchFamily="34" charset="0"/>
                        </a:rPr>
                        <a:t>Preventive</a:t>
                      </a:r>
                      <a:endParaRPr lang="en-ZA" sz="2000" b="1">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c>
                  <a:txBody>
                    <a:bodyPr/>
                    <a:lstStyle/>
                    <a:p>
                      <a:pPr algn="l">
                        <a:buNone/>
                      </a:pPr>
                      <a:r>
                        <a:rPr lang="en-ZA" sz="2000" b="1" dirty="0">
                          <a:effectLst/>
                          <a:latin typeface="Calibri" panose="020F0502020204030204" pitchFamily="34" charset="0"/>
                          <a:cs typeface="Calibri" panose="020F0502020204030204" pitchFamily="34" charset="0"/>
                        </a:rPr>
                        <a:t>Therapeutic</a:t>
                      </a:r>
                      <a:endParaRPr lang="en-ZA" sz="2000" b="1" dirty="0">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r>
              <a:tr h="1197213">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ZA" sz="2000" b="1" dirty="0">
                          <a:effectLst/>
                          <a:latin typeface="Calibri" panose="020F0502020204030204" pitchFamily="34" charset="0"/>
                          <a:cs typeface="Calibri" panose="020F0502020204030204" pitchFamily="34" charset="0"/>
                        </a:rPr>
                        <a:t>Accessibility</a:t>
                      </a:r>
                      <a:endParaRPr lang="en-ZA" sz="2000" b="1" dirty="0">
                        <a:effectLst/>
                        <a:latin typeface="Calibri" panose="020F0502020204030204" pitchFamily="34" charset="0"/>
                        <a:cs typeface="Calibri" panose="020F0502020204030204" pitchFamily="34" charset="0"/>
                      </a:endParaRPr>
                    </a:p>
                    <a:p>
                      <a:pPr algn="l">
                        <a:buNone/>
                      </a:pPr>
                      <a:endParaRPr lang="en-ZA" sz="2000" b="1" dirty="0">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c>
                  <a:txBody>
                    <a:bodyPr/>
                    <a:lstStyle/>
                    <a:p>
                      <a:pPr algn="l">
                        <a:buNone/>
                      </a:pPr>
                      <a:r>
                        <a:rPr lang="en-GB" sz="1800" b="0" i="0" kern="1200" dirty="0">
                          <a:solidFill>
                            <a:schemeClr val="tx1"/>
                          </a:solidFill>
                          <a:effectLst/>
                          <a:latin typeface="Calibri" panose="020F0502020204030204" pitchFamily="34" charset="0"/>
                          <a:ea typeface="+mn-ea"/>
                          <a:cs typeface="Calibri" panose="020F0502020204030204" pitchFamily="34" charset="0"/>
                        </a:rPr>
                        <a:t>Often more </a:t>
                      </a:r>
                      <a:r>
                        <a:rPr lang="en-GB" sz="1800" b="0" i="0" kern="1200" dirty="0">
                          <a:solidFill>
                            <a:srgbClr val="0070C0"/>
                          </a:solidFill>
                          <a:effectLst/>
                          <a:latin typeface="Calibri" panose="020F0502020204030204" pitchFamily="34" charset="0"/>
                          <a:ea typeface="+mn-ea"/>
                          <a:cs typeface="Calibri" panose="020F0502020204030204" pitchFamily="34" charset="0"/>
                        </a:rPr>
                        <a:t>accessible to a wider population</a:t>
                      </a:r>
                      <a:r>
                        <a:rPr lang="en-GB" sz="1800" b="0" i="0" kern="1200" dirty="0">
                          <a:solidFill>
                            <a:schemeClr val="tx1"/>
                          </a:solidFill>
                          <a:effectLst/>
                          <a:latin typeface="Calibri" panose="020F0502020204030204" pitchFamily="34" charset="0"/>
                          <a:ea typeface="+mn-ea"/>
                          <a:cs typeface="Calibri" panose="020F0502020204030204" pitchFamily="34" charset="0"/>
                        </a:rPr>
                        <a:t>, as they can be implemented by individuals in their daily lives. Include actions such as eating a healthy diet, exercising regularly, and getting recommended screenings</a:t>
                      </a:r>
                      <a:endParaRPr lang="en-GB" sz="2000" dirty="0">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c>
                  <a:txBody>
                    <a:bodyPr/>
                    <a:lstStyle/>
                    <a:p>
                      <a:pPr algn="l">
                        <a:buNone/>
                      </a:pPr>
                      <a:r>
                        <a:rPr lang="en-GB" sz="1800" b="0" i="0" kern="1200" dirty="0">
                          <a:solidFill>
                            <a:schemeClr val="tx1"/>
                          </a:solidFill>
                          <a:effectLst/>
                          <a:latin typeface="Calibri" panose="020F0502020204030204" pitchFamily="34" charset="0"/>
                          <a:ea typeface="+mn-ea"/>
                          <a:cs typeface="Calibri" panose="020F0502020204030204" pitchFamily="34" charset="0"/>
                        </a:rPr>
                        <a:t>May require </a:t>
                      </a:r>
                      <a:r>
                        <a:rPr lang="en-GB" sz="1800" b="0" i="0" kern="1200" dirty="0">
                          <a:solidFill>
                            <a:srgbClr val="C00000"/>
                          </a:solidFill>
                          <a:effectLst/>
                          <a:latin typeface="Calibri" panose="020F0502020204030204" pitchFamily="34" charset="0"/>
                          <a:ea typeface="+mn-ea"/>
                          <a:cs typeface="Calibri" panose="020F0502020204030204" pitchFamily="34" charset="0"/>
                        </a:rPr>
                        <a:t>access to healthcare providers, medications &amp; medical facilities</a:t>
                      </a:r>
                      <a:r>
                        <a:rPr lang="en-GB" sz="1800" b="0" i="0" kern="1200" dirty="0">
                          <a:solidFill>
                            <a:schemeClr val="tx1"/>
                          </a:solidFill>
                          <a:effectLst/>
                          <a:latin typeface="Calibri" panose="020F0502020204030204" pitchFamily="34" charset="0"/>
                          <a:ea typeface="+mn-ea"/>
                          <a:cs typeface="Calibri" panose="020F0502020204030204" pitchFamily="34" charset="0"/>
                        </a:rPr>
                        <a:t>, which may not be as readily available to everyone</a:t>
                      </a:r>
                      <a:endParaRPr lang="en-ZA" sz="2000" dirty="0">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r>
              <a:tr h="1480024">
                <a:tc>
                  <a:txBody>
                    <a:bodyPr/>
                    <a:lstStyle/>
                    <a:p>
                      <a:r>
                        <a:rPr lang="en-ZA" sz="1800" b="1" i="0" kern="1200" dirty="0">
                          <a:solidFill>
                            <a:schemeClr val="tx1"/>
                          </a:solidFill>
                          <a:effectLst/>
                          <a:latin typeface="Calibri" panose="020F0502020204030204" pitchFamily="34" charset="0"/>
                          <a:ea typeface="+mn-ea"/>
                          <a:cs typeface="Calibri" panose="020F0502020204030204" pitchFamily="34" charset="0"/>
                        </a:rPr>
                        <a:t>Cost</a:t>
                      </a:r>
                      <a:endParaRPr lang="en-ZA" sz="1800" b="1" i="0" kern="1200" dirty="0">
                        <a:solidFill>
                          <a:schemeClr val="tx1"/>
                        </a:solidFill>
                        <a:effectLst/>
                        <a:latin typeface="Calibri" panose="020F0502020204030204" pitchFamily="34" charset="0"/>
                        <a:ea typeface="+mn-ea"/>
                        <a:cs typeface="Calibri" panose="020F0502020204030204" pitchFamily="34" charset="0"/>
                      </a:endParaRPr>
                    </a:p>
                  </a:txBody>
                  <a:tcPr marL="63990" marR="63990" marT="31995" marB="31995" anchor="ctr">
                    <a:lnL>
                      <a:noFill/>
                    </a:lnL>
                    <a:lnR>
                      <a:noFill/>
                    </a:lnR>
                    <a:lnT>
                      <a:noFill/>
                    </a:lnT>
                    <a:lnB>
                      <a:noFill/>
                    </a:lnB>
                    <a:noFill/>
                  </a:tcPr>
                </a:tc>
                <a:tc>
                  <a:txBody>
                    <a:bodyPr/>
                    <a:lstStyle/>
                    <a:p>
                      <a:pPr algn="l">
                        <a:buNone/>
                      </a:pPr>
                      <a:r>
                        <a:rPr lang="en-GB" sz="1800" b="0" i="0" kern="1200" dirty="0">
                          <a:solidFill>
                            <a:srgbClr val="0070C0"/>
                          </a:solidFill>
                          <a:effectLst/>
                          <a:latin typeface="Calibri" panose="020F0502020204030204" pitchFamily="34" charset="0"/>
                          <a:ea typeface="+mn-ea"/>
                          <a:cs typeface="Calibri" panose="020F0502020204030204" pitchFamily="34" charset="0"/>
                        </a:rPr>
                        <a:t>More cost-effective</a:t>
                      </a:r>
                      <a:r>
                        <a:rPr lang="en-GB" sz="1800" b="0" i="0" kern="1200" dirty="0">
                          <a:solidFill>
                            <a:schemeClr val="tx1"/>
                          </a:solidFill>
                          <a:effectLst/>
                          <a:latin typeface="Calibri" panose="020F0502020204030204" pitchFamily="34" charset="0"/>
                          <a:ea typeface="+mn-ea"/>
                          <a:cs typeface="Calibri" panose="020F0502020204030204" pitchFamily="34" charset="0"/>
                        </a:rPr>
                        <a:t> in the long run; can help avoid the need for expensive treatments or hospitalizations down the line. Investing in preventive care leads to overall savings on health care costs by reducing the incidence of preventable diseases</a:t>
                      </a:r>
                      <a:endParaRPr lang="en-GB" sz="2000" dirty="0">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c>
                  <a:txBody>
                    <a:bodyPr/>
                    <a:lstStyle/>
                    <a:p>
                      <a:pPr algn="l">
                        <a:buNone/>
                      </a:pPr>
                      <a:r>
                        <a:rPr lang="en-GB" sz="1800" b="0" i="0" kern="1200" dirty="0">
                          <a:solidFill>
                            <a:schemeClr val="tx1"/>
                          </a:solidFill>
                          <a:effectLst/>
                          <a:latin typeface="Calibri" panose="020F0502020204030204" pitchFamily="34" charset="0"/>
                          <a:ea typeface="+mn-ea"/>
                          <a:cs typeface="Calibri" panose="020F0502020204030204" pitchFamily="34" charset="0"/>
                        </a:rPr>
                        <a:t>Can be </a:t>
                      </a:r>
                      <a:r>
                        <a:rPr lang="en-GB" sz="1800" b="0" i="0" kern="1200" dirty="0">
                          <a:solidFill>
                            <a:srgbClr val="C00000"/>
                          </a:solidFill>
                          <a:effectLst/>
                          <a:latin typeface="Calibri" panose="020F0502020204030204" pitchFamily="34" charset="0"/>
                          <a:ea typeface="+mn-ea"/>
                          <a:cs typeface="Calibri" panose="020F0502020204030204" pitchFamily="34" charset="0"/>
                        </a:rPr>
                        <a:t>more costly</a:t>
                      </a:r>
                      <a:r>
                        <a:rPr lang="en-GB" sz="1800" b="0" i="0" kern="1200" dirty="0">
                          <a:solidFill>
                            <a:schemeClr val="tx1"/>
                          </a:solidFill>
                          <a:effectLst/>
                          <a:latin typeface="Calibri" panose="020F0502020204030204" pitchFamily="34" charset="0"/>
                          <a:ea typeface="+mn-ea"/>
                          <a:cs typeface="Calibri" panose="020F0502020204030204" pitchFamily="34" charset="0"/>
                        </a:rPr>
                        <a:t>, as they often involve ongoing treatments, medications &amp; medical procedures to manage a health condition</a:t>
                      </a:r>
                      <a:endParaRPr lang="en-GB" sz="2000" dirty="0">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r>
              <a:tr h="1197213">
                <a:tc>
                  <a:txBody>
                    <a:bodyPr/>
                    <a:lstStyle/>
                    <a:p>
                      <a:pPr algn="l">
                        <a:buNone/>
                      </a:pPr>
                      <a:r>
                        <a:rPr lang="en-ZA" sz="2000" b="1" dirty="0">
                          <a:effectLst/>
                          <a:latin typeface="Calibri" panose="020F0502020204030204" pitchFamily="34" charset="0"/>
                          <a:cs typeface="Calibri" panose="020F0502020204030204" pitchFamily="34" charset="0"/>
                        </a:rPr>
                        <a:t>Effectiveness</a:t>
                      </a:r>
                      <a:endParaRPr lang="en-ZA" sz="2000" b="1" dirty="0">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c>
                  <a:txBody>
                    <a:bodyPr/>
                    <a:lstStyle/>
                    <a:p>
                      <a:pPr algn="l">
                        <a:buNone/>
                      </a:pPr>
                      <a:r>
                        <a:rPr lang="en-GB" sz="1800" b="0" i="0" kern="1200" dirty="0">
                          <a:solidFill>
                            <a:schemeClr val="tx1"/>
                          </a:solidFill>
                          <a:effectLst/>
                          <a:latin typeface="Calibri" panose="020F0502020204030204" pitchFamily="34" charset="0"/>
                          <a:ea typeface="+mn-ea"/>
                          <a:cs typeface="Calibri" panose="020F0502020204030204" pitchFamily="34" charset="0"/>
                        </a:rPr>
                        <a:t>Generally, </a:t>
                      </a:r>
                      <a:r>
                        <a:rPr lang="en-GB" sz="1800" b="0" i="0" kern="1200" dirty="0">
                          <a:solidFill>
                            <a:srgbClr val="0070C0"/>
                          </a:solidFill>
                          <a:effectLst/>
                          <a:latin typeface="Calibri" panose="020F0502020204030204" pitchFamily="34" charset="0"/>
                          <a:ea typeface="+mn-ea"/>
                          <a:cs typeface="Calibri" panose="020F0502020204030204" pitchFamily="34" charset="0"/>
                        </a:rPr>
                        <a:t>more effective at reducing the risk of developing certain diseases</a:t>
                      </a:r>
                      <a:r>
                        <a:rPr lang="en-GB" sz="1800" b="0" i="0" kern="1200" dirty="0">
                          <a:solidFill>
                            <a:schemeClr val="tx1"/>
                          </a:solidFill>
                          <a:effectLst/>
                          <a:latin typeface="Calibri" panose="020F0502020204030204" pitchFamily="34" charset="0"/>
                          <a:ea typeface="+mn-ea"/>
                          <a:cs typeface="Calibri" panose="020F0502020204030204" pitchFamily="34" charset="0"/>
                        </a:rPr>
                        <a:t> or health issues </a:t>
                      </a:r>
                      <a:r>
                        <a:rPr lang="en-GB" sz="1800" b="0" i="0" kern="1200" dirty="0" err="1">
                          <a:solidFill>
                            <a:schemeClr val="tx1"/>
                          </a:solidFill>
                          <a:effectLst/>
                          <a:latin typeface="Calibri" panose="020F0502020204030204" pitchFamily="34" charset="0"/>
                          <a:ea typeface="+mn-ea"/>
                          <a:cs typeface="Calibri" panose="020F0502020204030204" pitchFamily="34" charset="0"/>
                        </a:rPr>
                        <a:t>eg</a:t>
                      </a:r>
                      <a:r>
                        <a:rPr lang="en-GB" sz="1800" b="0" i="0" kern="1200" dirty="0">
                          <a:solidFill>
                            <a:schemeClr val="tx1"/>
                          </a:solidFill>
                          <a:effectLst/>
                          <a:latin typeface="Calibri" panose="020F0502020204030204" pitchFamily="34" charset="0"/>
                          <a:ea typeface="+mn-ea"/>
                          <a:cs typeface="Calibri" panose="020F0502020204030204" pitchFamily="34" charset="0"/>
                        </a:rPr>
                        <a:t> getting regular screening for cancer can help with early detection when it is more treatable.</a:t>
                      </a:r>
                      <a:endParaRPr lang="en-GB" sz="2000" dirty="0">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c>
                  <a:txBody>
                    <a:bodyPr/>
                    <a:lstStyle/>
                    <a:p>
                      <a:pPr algn="l">
                        <a:buNone/>
                      </a:pPr>
                      <a:r>
                        <a:rPr lang="en-GB" sz="1800" b="0" i="0" kern="1200" dirty="0">
                          <a:solidFill>
                            <a:schemeClr val="tx1"/>
                          </a:solidFill>
                          <a:effectLst/>
                          <a:latin typeface="Calibri" panose="020F0502020204030204" pitchFamily="34" charset="0"/>
                          <a:ea typeface="+mn-ea"/>
                          <a:cs typeface="Calibri" panose="020F0502020204030204" pitchFamily="34" charset="0"/>
                        </a:rPr>
                        <a:t>Aimed at </a:t>
                      </a:r>
                      <a:r>
                        <a:rPr lang="en-GB" sz="1800" b="0" i="0" kern="1200" dirty="0">
                          <a:solidFill>
                            <a:srgbClr val="C00000"/>
                          </a:solidFill>
                          <a:effectLst/>
                          <a:latin typeface="Calibri" panose="020F0502020204030204" pitchFamily="34" charset="0"/>
                          <a:ea typeface="+mn-ea"/>
                          <a:cs typeface="Calibri" panose="020F0502020204030204" pitchFamily="34" charset="0"/>
                        </a:rPr>
                        <a:t>treating a disease that has already developed</a:t>
                      </a:r>
                      <a:r>
                        <a:rPr lang="en-GB" sz="1800" b="0" i="0" kern="1200" dirty="0">
                          <a:solidFill>
                            <a:schemeClr val="tx1"/>
                          </a:solidFill>
                          <a:effectLst/>
                          <a:latin typeface="Calibri" panose="020F0502020204030204" pitchFamily="34" charset="0"/>
                          <a:ea typeface="+mn-ea"/>
                          <a:cs typeface="Calibri" panose="020F0502020204030204" pitchFamily="34" charset="0"/>
                        </a:rPr>
                        <a:t>, and may not always be able to fully cure the condition</a:t>
                      </a:r>
                      <a:endParaRPr lang="en-GB" sz="2000" dirty="0">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r>
              <a:tr h="1197213">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ZA" sz="1800" b="1" i="0" kern="1200" dirty="0">
                          <a:solidFill>
                            <a:schemeClr val="tx1"/>
                          </a:solidFill>
                          <a:effectLst/>
                          <a:latin typeface="Calibri" panose="020F0502020204030204" pitchFamily="34" charset="0"/>
                          <a:ea typeface="+mn-ea"/>
                          <a:cs typeface="Calibri" panose="020F0502020204030204" pitchFamily="34" charset="0"/>
                        </a:rPr>
                        <a:t>Long-term Impact</a:t>
                      </a:r>
                      <a:endParaRPr lang="en-ZA" sz="1800" b="1" i="0" kern="1200" dirty="0">
                        <a:solidFill>
                          <a:schemeClr val="tx1"/>
                        </a:solidFill>
                        <a:effectLst/>
                        <a:latin typeface="Calibri" panose="020F0502020204030204" pitchFamily="34" charset="0"/>
                        <a:ea typeface="+mn-ea"/>
                        <a:cs typeface="Calibri" panose="020F0502020204030204" pitchFamily="34" charset="0"/>
                      </a:endParaRPr>
                    </a:p>
                    <a:p>
                      <a:pPr algn="l">
                        <a:buNone/>
                      </a:pPr>
                      <a:endParaRPr lang="en-ZA" sz="2000" b="1" dirty="0">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c>
                  <a:txBody>
                    <a:bodyPr/>
                    <a:lstStyle/>
                    <a:p>
                      <a:pPr algn="l">
                        <a:buNone/>
                      </a:pPr>
                      <a:r>
                        <a:rPr lang="en-GB" sz="1800" b="0" i="0" kern="1200" dirty="0">
                          <a:solidFill>
                            <a:schemeClr val="tx1"/>
                          </a:solidFill>
                          <a:effectLst/>
                          <a:latin typeface="Calibri" panose="020F0502020204030204" pitchFamily="34" charset="0"/>
                          <a:ea typeface="+mn-ea"/>
                          <a:cs typeface="Calibri" panose="020F0502020204030204" pitchFamily="34" charset="0"/>
                        </a:rPr>
                        <a:t>Have the potential for </a:t>
                      </a:r>
                      <a:r>
                        <a:rPr lang="en-GB" sz="1800" b="0" i="0" kern="1200" dirty="0">
                          <a:solidFill>
                            <a:srgbClr val="0070C0"/>
                          </a:solidFill>
                          <a:effectLst/>
                          <a:latin typeface="Calibri" panose="020F0502020204030204" pitchFamily="34" charset="0"/>
                          <a:ea typeface="+mn-ea"/>
                          <a:cs typeface="Calibri" panose="020F0502020204030204" pitchFamily="34" charset="0"/>
                        </a:rPr>
                        <a:t>long-term impact on overall health &amp; well-being</a:t>
                      </a:r>
                      <a:r>
                        <a:rPr lang="en-GB" sz="1800" b="0" i="0" kern="1200" dirty="0">
                          <a:solidFill>
                            <a:schemeClr val="tx1"/>
                          </a:solidFill>
                          <a:effectLst/>
                          <a:latin typeface="Calibri" panose="020F0502020204030204" pitchFamily="34" charset="0"/>
                          <a:ea typeface="+mn-ea"/>
                          <a:cs typeface="Calibri" panose="020F0502020204030204" pitchFamily="34" charset="0"/>
                        </a:rPr>
                        <a:t> by reducing the risk of developing NCDs/health issues. By adopting healthy habits early on, individuals can improve their quality of life &amp; potentially extend their lifespan</a:t>
                      </a:r>
                      <a:endParaRPr lang="en-GB" sz="2000" dirty="0">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c>
                  <a:txBody>
                    <a:bodyPr/>
                    <a:lstStyle/>
                    <a:p>
                      <a:pPr algn="l">
                        <a:buNone/>
                      </a:pPr>
                      <a:r>
                        <a:rPr lang="en-GB" sz="1800" b="0" i="0" kern="1200" dirty="0">
                          <a:solidFill>
                            <a:schemeClr val="tx1"/>
                          </a:solidFill>
                          <a:effectLst/>
                          <a:latin typeface="Calibri" panose="020F0502020204030204" pitchFamily="34" charset="0"/>
                          <a:ea typeface="+mn-ea"/>
                          <a:cs typeface="Calibri" panose="020F0502020204030204" pitchFamily="34" charset="0"/>
                        </a:rPr>
                        <a:t>May </a:t>
                      </a:r>
                      <a:r>
                        <a:rPr lang="en-GB" sz="1800" b="0" i="0" kern="1200" dirty="0">
                          <a:solidFill>
                            <a:srgbClr val="C00000"/>
                          </a:solidFill>
                          <a:effectLst/>
                          <a:latin typeface="Calibri" panose="020F0502020204030204" pitchFamily="34" charset="0"/>
                          <a:ea typeface="+mn-ea"/>
                          <a:cs typeface="Calibri" panose="020F0502020204030204" pitchFamily="34" charset="0"/>
                        </a:rPr>
                        <a:t>provide short-term relief </a:t>
                      </a:r>
                      <a:r>
                        <a:rPr lang="en-GB" sz="1800" b="0" i="0" kern="1200" dirty="0">
                          <a:solidFill>
                            <a:schemeClr val="tx1"/>
                          </a:solidFill>
                          <a:effectLst/>
                          <a:latin typeface="Calibri" panose="020F0502020204030204" pitchFamily="34" charset="0"/>
                          <a:ea typeface="+mn-ea"/>
                          <a:cs typeface="Calibri" panose="020F0502020204030204" pitchFamily="34" charset="0"/>
                        </a:rPr>
                        <a:t>from symptoms or manage a condition, but </a:t>
                      </a:r>
                      <a:r>
                        <a:rPr lang="en-GB" sz="1800" b="0" i="0" kern="1200" dirty="0">
                          <a:solidFill>
                            <a:srgbClr val="C00000"/>
                          </a:solidFill>
                          <a:effectLst/>
                          <a:latin typeface="Calibri" panose="020F0502020204030204" pitchFamily="34" charset="0"/>
                          <a:ea typeface="+mn-ea"/>
                          <a:cs typeface="Calibri" panose="020F0502020204030204" pitchFamily="34" charset="0"/>
                        </a:rPr>
                        <a:t>may not always address the underlying causes of the disease</a:t>
                      </a:r>
                      <a:endParaRPr lang="en-ZA" sz="2000" dirty="0">
                        <a:solidFill>
                          <a:srgbClr val="C00000"/>
                        </a:solidFill>
                        <a:effectLst/>
                        <a:latin typeface="Calibri" panose="020F0502020204030204" pitchFamily="34" charset="0"/>
                        <a:cs typeface="Calibri" panose="020F0502020204030204" pitchFamily="34" charset="0"/>
                      </a:endParaRPr>
                    </a:p>
                  </a:txBody>
                  <a:tcPr marL="63990" marR="63990" marT="31995" marB="31995" anchor="ctr">
                    <a:lnL>
                      <a:noFill/>
                    </a:lnL>
                    <a:lnR>
                      <a:noFill/>
                    </a:lnR>
                    <a:lnT>
                      <a:noFill/>
                    </a:lnT>
                    <a:lnB>
                      <a:noFill/>
                    </a:lnB>
                    <a:noFill/>
                  </a:tcPr>
                </a:tc>
              </a:tr>
            </a:tbl>
          </a:graphicData>
        </a:graphic>
      </p:graphicFrame>
      <p:sp>
        <p:nvSpPr>
          <p:cNvPr id="11" name="TextBox 10"/>
          <p:cNvSpPr txBox="1"/>
          <p:nvPr/>
        </p:nvSpPr>
        <p:spPr>
          <a:xfrm>
            <a:off x="2910760" y="6419137"/>
            <a:ext cx="6110286" cy="276999"/>
          </a:xfrm>
          <a:prstGeom prst="rect">
            <a:avLst/>
          </a:prstGeom>
          <a:noFill/>
        </p:spPr>
        <p:txBody>
          <a:bodyPr wrap="square">
            <a:spAutoFit/>
          </a:bodyPr>
          <a:lstStyle/>
          <a:p>
            <a:r>
              <a:rPr lang="en-ZA" sz="1200" dirty="0">
                <a:latin typeface="Calibri" panose="020F0502020204030204" pitchFamily="34" charset="0"/>
                <a:cs typeface="Calibri" panose="020F0502020204030204" pitchFamily="34" charset="0"/>
              </a:rPr>
              <a:t>Source: https://thisvsthat.io/preventive-vs-therapeutic</a:t>
            </a:r>
            <a:endParaRPr lang="en-ZA" sz="1200" dirty="0">
              <a:latin typeface="Calibri" panose="020F0502020204030204" pitchFamily="34" charset="0"/>
              <a:cs typeface="Calibri" panose="020F0502020204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0" y="1093168"/>
            <a:ext cx="5784397" cy="2040557"/>
          </a:xfrm>
        </p:spPr>
        <p:txBody>
          <a:bodyPr/>
          <a:lstStyle/>
          <a:p>
            <a:r>
              <a:rPr lang="en-ZA" sz="2400" dirty="0">
                <a:latin typeface="Calibri" panose="020F0502020204030204" pitchFamily="34" charset="0"/>
                <a:cs typeface="Calibri" panose="020F0502020204030204" pitchFamily="34" charset="0"/>
              </a:rPr>
              <a:t>Preventive measures are </a:t>
            </a:r>
            <a:r>
              <a:rPr lang="en-GB" sz="2400" dirty="0">
                <a:solidFill>
                  <a:srgbClr val="0070C0"/>
                </a:solidFill>
                <a:latin typeface="Calibri" panose="020F0502020204030204" pitchFamily="34" charset="0"/>
                <a:cs typeface="Calibri" panose="020F0502020204030204" pitchFamily="34" charset="0"/>
              </a:rPr>
              <a:t>Actions taken to avoid the occurrence of a disease</a:t>
            </a:r>
            <a:r>
              <a:rPr lang="en-GB" sz="2400" dirty="0">
                <a:latin typeface="Calibri" panose="020F0502020204030204" pitchFamily="34" charset="0"/>
                <a:cs typeface="Calibri" panose="020F0502020204030204" pitchFamily="34" charset="0"/>
              </a:rPr>
              <a:t> or health issue. These can include lifestyle changes, vaccinations, screenings, and regular check-ups</a:t>
            </a:r>
            <a:endParaRPr lang="en-GB" sz="2400" dirty="0">
              <a:latin typeface="Calibri" panose="020F0502020204030204" pitchFamily="34" charset="0"/>
              <a:cs typeface="Calibri" panose="020F0502020204030204" pitchFamily="34" charset="0"/>
            </a:endParaRPr>
          </a:p>
          <a:p>
            <a:pPr marL="0" indent="0">
              <a:buNone/>
            </a:pPr>
            <a:endParaRPr lang="en-ZA" sz="2400" dirty="0">
              <a:latin typeface="Calibri" panose="020F0502020204030204" pitchFamily="34" charset="0"/>
              <a:cs typeface="Calibri" panose="020F0502020204030204" pitchFamily="34" charset="0"/>
            </a:endParaRPr>
          </a:p>
        </p:txBody>
      </p:sp>
      <p:sp>
        <p:nvSpPr>
          <p:cNvPr id="4" name="Title 1"/>
          <p:cNvSpPr>
            <a:spLocks noGrp="1"/>
          </p:cNvSpPr>
          <p:nvPr>
            <p:ph type="title"/>
          </p:nvPr>
        </p:nvSpPr>
        <p:spPr>
          <a:xfrm>
            <a:off x="631903" y="161864"/>
            <a:ext cx="11248492" cy="691818"/>
          </a:xfrm>
          <a:solidFill>
            <a:srgbClr val="C00000"/>
          </a:solidFill>
        </p:spPr>
        <p:txBody>
          <a:bodyPr>
            <a:normAutofit/>
          </a:bodyPr>
          <a:lstStyle/>
          <a:p>
            <a:r>
              <a:rPr lang="en-ZA" sz="3200" dirty="0">
                <a:solidFill>
                  <a:schemeClr val="bg1"/>
                </a:solidFill>
                <a:latin typeface="Calibri" panose="020F0502020204030204" pitchFamily="34" charset="0"/>
                <a:cs typeface="Calibri" panose="020F0502020204030204" pitchFamily="34" charset="0"/>
              </a:rPr>
              <a:t>About Preventive Measures</a:t>
            </a:r>
            <a:endParaRPr lang="en-ZA" sz="3200" dirty="0">
              <a:solidFill>
                <a:schemeClr val="bg1"/>
              </a:solidFill>
              <a:latin typeface="Calibri" panose="020F0502020204030204" pitchFamily="34" charset="0"/>
              <a:cs typeface="Calibri" panose="020F0502020204030204" pitchFamily="34" charset="0"/>
            </a:endParaRPr>
          </a:p>
        </p:txBody>
      </p:sp>
      <p:pic>
        <p:nvPicPr>
          <p:cNvPr id="5" name="Picture 4"/>
          <p:cNvPicPr>
            <a:picLocks noChangeAspect="1"/>
          </p:cNvPicPr>
          <p:nvPr/>
        </p:nvPicPr>
        <p:blipFill>
          <a:blip r:embed="rId1"/>
          <a:stretch>
            <a:fillRect/>
          </a:stretch>
        </p:blipFill>
        <p:spPr>
          <a:xfrm>
            <a:off x="859972" y="1093168"/>
            <a:ext cx="4811486" cy="2803918"/>
          </a:xfrm>
          <a:prstGeom prst="rect">
            <a:avLst/>
          </a:prstGeom>
        </p:spPr>
      </p:pic>
      <p:pic>
        <p:nvPicPr>
          <p:cNvPr id="6" name="Picture 5"/>
          <p:cNvPicPr>
            <a:picLocks noChangeAspect="1"/>
          </p:cNvPicPr>
          <p:nvPr/>
        </p:nvPicPr>
        <p:blipFill>
          <a:blip r:embed="rId2"/>
          <a:stretch>
            <a:fillRect/>
          </a:stretch>
        </p:blipFill>
        <p:spPr>
          <a:xfrm>
            <a:off x="990600" y="3984171"/>
            <a:ext cx="4680857" cy="2711965"/>
          </a:xfrm>
          <a:prstGeom prst="rect">
            <a:avLst/>
          </a:prstGeom>
        </p:spPr>
      </p:pic>
      <p:pic>
        <p:nvPicPr>
          <p:cNvPr id="8" name="Picture 7"/>
          <p:cNvPicPr>
            <a:picLocks noChangeAspect="1"/>
          </p:cNvPicPr>
          <p:nvPr/>
        </p:nvPicPr>
        <p:blipFill>
          <a:blip r:embed="rId3"/>
          <a:stretch>
            <a:fillRect/>
          </a:stretch>
        </p:blipFill>
        <p:spPr>
          <a:xfrm>
            <a:off x="6393995" y="3429000"/>
            <a:ext cx="5369380" cy="326713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609600" y="274639"/>
            <a:ext cx="10972800" cy="677862"/>
          </a:xfrm>
        </p:spPr>
        <p:txBody>
          <a:bodyPr/>
          <a:lstStyle/>
          <a:p>
            <a:r>
              <a:rPr lang="en-ZA" sz="3600" dirty="0">
                <a:solidFill>
                  <a:srgbClr val="C00000"/>
                </a:solidFill>
                <a:latin typeface="Calibri" panose="020F0502020204030204" pitchFamily="34" charset="0"/>
                <a:cs typeface="Calibri" panose="020F0502020204030204" pitchFamily="34" charset="0"/>
              </a:rPr>
              <a:t>Vaccines and/or Medicines</a:t>
            </a:r>
            <a:endParaRPr lang="en-ZA" sz="3600" dirty="0">
              <a:solidFill>
                <a:srgbClr val="C00000"/>
              </a:solidFill>
              <a:latin typeface="Calibri" panose="020F0502020204030204" pitchFamily="34" charset="0"/>
              <a:cs typeface="Calibri" panose="020F0502020204030204" pitchFamily="34" charset="0"/>
            </a:endParaRPr>
          </a:p>
        </p:txBody>
      </p:sp>
      <p:sp>
        <p:nvSpPr>
          <p:cNvPr id="9" name="Content Placeholder 2"/>
          <p:cNvSpPr>
            <a:spLocks noGrp="1"/>
          </p:cNvSpPr>
          <p:nvPr>
            <p:ph sz="half" idx="1"/>
          </p:nvPr>
        </p:nvSpPr>
        <p:spPr>
          <a:xfrm>
            <a:off x="533400" y="1417638"/>
            <a:ext cx="5384800" cy="4983161"/>
          </a:xfrm>
        </p:spPr>
        <p:txBody>
          <a:bodyPr/>
          <a:lstStyle/>
          <a:p>
            <a:r>
              <a:rPr lang="en-GB" sz="2000" b="1" dirty="0">
                <a:solidFill>
                  <a:srgbClr val="C00000"/>
                </a:solidFill>
                <a:latin typeface="Calibri" panose="020F0502020204030204" pitchFamily="34" charset="0"/>
                <a:cs typeface="Calibri" panose="020F0502020204030204" pitchFamily="34" charset="0"/>
              </a:rPr>
              <a:t>Vaccines</a:t>
            </a:r>
            <a:r>
              <a:rPr lang="en-GB" sz="2000" dirty="0">
                <a:latin typeface="Calibri" panose="020F0502020204030204" pitchFamily="34" charset="0"/>
                <a:cs typeface="Calibri" panose="020F0502020204030204" pitchFamily="34" charset="0"/>
              </a:rPr>
              <a:t> are indispensable in public health, significantly reducing the incidence of contagious and life-threatening diseases. </a:t>
            </a:r>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By achieving high vaccination rates, communities can establish </a:t>
            </a:r>
            <a:r>
              <a:rPr lang="en-GB" sz="2000" b="1" dirty="0">
                <a:latin typeface="Calibri" panose="020F0502020204030204" pitchFamily="34" charset="0"/>
                <a:cs typeface="Calibri" panose="020F0502020204030204" pitchFamily="34" charset="0"/>
              </a:rPr>
              <a:t>herd immunity</a:t>
            </a:r>
            <a:r>
              <a:rPr lang="en-GB" sz="2000" dirty="0">
                <a:latin typeface="Calibri" panose="020F0502020204030204" pitchFamily="34" charset="0"/>
                <a:cs typeface="Calibri" panose="020F0502020204030204" pitchFamily="34" charset="0"/>
              </a:rPr>
              <a:t>, protecting those who cannot receive vaccines, such as infants and immunocompromised individuals. </a:t>
            </a:r>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Immunization campaigns have demonstrated success in eradicating and controlling diseases, highlighting the critical role vaccines play in safeguarding both individual and community health.</a:t>
            </a:r>
            <a:endParaRPr lang="en-US" sz="2000" dirty="0">
              <a:latin typeface="Calibri" panose="020F0502020204030204" pitchFamily="34" charset="0"/>
              <a:cs typeface="Calibri" panose="020F0502020204030204" pitchFamily="34" charset="0"/>
            </a:endParaRPr>
          </a:p>
        </p:txBody>
      </p:sp>
      <p:sp>
        <p:nvSpPr>
          <p:cNvPr id="11" name="Content Placeholder 3"/>
          <p:cNvSpPr>
            <a:spLocks noGrp="1"/>
          </p:cNvSpPr>
          <p:nvPr>
            <p:ph sz="half" idx="2"/>
          </p:nvPr>
        </p:nvSpPr>
        <p:spPr>
          <a:xfrm>
            <a:off x="6197602" y="1417638"/>
            <a:ext cx="5594348" cy="4714874"/>
          </a:xfrm>
        </p:spPr>
        <p:txBody>
          <a:bodyPr/>
          <a:lstStyle/>
          <a:p>
            <a:r>
              <a:rPr lang="en-GB" sz="2000" b="1" dirty="0">
                <a:solidFill>
                  <a:srgbClr val="C00000"/>
                </a:solidFill>
                <a:latin typeface="Calibri" panose="020F0502020204030204" pitchFamily="34" charset="0"/>
                <a:cs typeface="Calibri" panose="020F0502020204030204" pitchFamily="34" charset="0"/>
              </a:rPr>
              <a:t>Medicines</a:t>
            </a:r>
            <a:r>
              <a:rPr lang="en-GB" sz="2000" dirty="0">
                <a:latin typeface="Calibri" panose="020F0502020204030204" pitchFamily="34" charset="0"/>
                <a:cs typeface="Calibri" panose="020F0502020204030204" pitchFamily="34" charset="0"/>
              </a:rPr>
              <a:t> enable us to more effectively treat the leading driver of health care costs: chronic disease.</a:t>
            </a:r>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Medicines play a central role in making our health care system more sustainable. </a:t>
            </a:r>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Use of medicines can help patients avoid other costlier services, such as emergency room visits, hospital stays, surgeries and long-term care. </a:t>
            </a:r>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Yet, despite the many health and economic benefits medicines provide, significant gaps in the appropriate use of medicines remain. </a:t>
            </a:r>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This is particularly true for patients with chronic disease. </a:t>
            </a:r>
            <a:endParaRPr lang="en-US" sz="2000" dirty="0">
              <a:latin typeface="Calibri" panose="020F0502020204030204" pitchFamily="34" charset="0"/>
              <a:cs typeface="Calibri" panose="020F050202020403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493713"/>
            <a:ext cx="10972800" cy="782637"/>
          </a:xfrm>
        </p:spPr>
        <p:txBody>
          <a:bodyPr/>
          <a:lstStyle/>
          <a:p>
            <a:r>
              <a:rPr lang="en-GB" sz="3200" dirty="0">
                <a:solidFill>
                  <a:srgbClr val="C00000"/>
                </a:solidFill>
                <a:latin typeface="Calibri" panose="020F0502020204030204" pitchFamily="34" charset="0"/>
                <a:cs typeface="Calibri" panose="020F0502020204030204" pitchFamily="34" charset="0"/>
              </a:rPr>
              <a:t>Why the Use of Preventive Services Is Still Low</a:t>
            </a:r>
            <a:endParaRPr lang="en-GB" sz="3200" dirty="0">
              <a:solidFill>
                <a:srgbClr val="C00000"/>
              </a:solidFill>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609600" y="1415662"/>
            <a:ext cx="7886700" cy="3886589"/>
          </a:xfrm>
        </p:spPr>
        <p:txBody>
          <a:bodyPr/>
          <a:lstStyle/>
          <a:p>
            <a:r>
              <a:rPr lang="en-ZA" sz="2400" dirty="0">
                <a:latin typeface="Calibri" panose="020F0502020204030204" pitchFamily="34" charset="0"/>
                <a:cs typeface="Calibri" panose="020F0502020204030204" pitchFamily="34" charset="0"/>
              </a:rPr>
              <a:t>Financial and economic considerations.</a:t>
            </a:r>
            <a:endParaRPr lang="en-ZA" sz="2400" dirty="0">
              <a:latin typeface="Calibri" panose="020F0502020204030204" pitchFamily="34" charset="0"/>
              <a:cs typeface="Calibri" panose="020F0502020204030204" pitchFamily="34" charset="0"/>
            </a:endParaRPr>
          </a:p>
          <a:p>
            <a:endParaRPr lang="en-GB" sz="2400" dirty="0">
              <a:latin typeface="Calibri" panose="020F0502020204030204" pitchFamily="34" charset="0"/>
              <a:cs typeface="Calibri" panose="020F0502020204030204" pitchFamily="34" charset="0"/>
            </a:endParaRPr>
          </a:p>
          <a:p>
            <a:r>
              <a:rPr lang="en-GB" sz="2400" dirty="0">
                <a:latin typeface="Calibri" panose="020F0502020204030204" pitchFamily="34" charset="0"/>
                <a:cs typeface="Calibri" panose="020F0502020204030204" pitchFamily="34" charset="0"/>
              </a:rPr>
              <a:t>Use of metrics to drive change in the health care system</a:t>
            </a:r>
            <a:endParaRPr lang="en-GB" sz="2400" dirty="0">
              <a:latin typeface="Calibri" panose="020F0502020204030204" pitchFamily="34" charset="0"/>
              <a:cs typeface="Calibri" panose="020F0502020204030204" pitchFamily="34" charset="0"/>
            </a:endParaRPr>
          </a:p>
          <a:p>
            <a:endParaRPr lang="en-GB" sz="2400" dirty="0">
              <a:latin typeface="Calibri" panose="020F0502020204030204" pitchFamily="34" charset="0"/>
              <a:cs typeface="Calibri" panose="020F0502020204030204" pitchFamily="34" charset="0"/>
            </a:endParaRPr>
          </a:p>
          <a:p>
            <a:r>
              <a:rPr lang="en-GB" sz="2400" dirty="0">
                <a:latin typeface="Calibri" panose="020F0502020204030204" pitchFamily="34" charset="0"/>
                <a:cs typeface="Calibri" panose="020F0502020204030204" pitchFamily="34" charset="0"/>
              </a:rPr>
              <a:t>Role of health care payers</a:t>
            </a:r>
            <a:endParaRPr lang="en-GB" sz="2400" dirty="0">
              <a:latin typeface="Calibri" panose="020F0502020204030204" pitchFamily="34" charset="0"/>
              <a:cs typeface="Calibri" panose="020F0502020204030204" pitchFamily="34" charset="0"/>
            </a:endParaRPr>
          </a:p>
          <a:p>
            <a:endParaRPr lang="en-GB" sz="2400" dirty="0">
              <a:latin typeface="Calibri" panose="020F0502020204030204" pitchFamily="34" charset="0"/>
              <a:cs typeface="Calibri" panose="020F0502020204030204" pitchFamily="34" charset="0"/>
            </a:endParaRPr>
          </a:p>
          <a:p>
            <a:r>
              <a:rPr lang="en-GB" sz="2400" dirty="0">
                <a:latin typeface="Calibri" panose="020F0502020204030204" pitchFamily="34" charset="0"/>
                <a:cs typeface="Calibri" panose="020F0502020204030204" pitchFamily="34" charset="0"/>
              </a:rPr>
              <a:t>Rapid changes in health care reimbursement models</a:t>
            </a:r>
            <a:endParaRPr lang="en-ZA" sz="2400" dirty="0">
              <a:latin typeface="Calibri" panose="020F0502020204030204" pitchFamily="34" charset="0"/>
              <a:cs typeface="Calibri" panose="020F0502020204030204" pitchFamily="34" charset="0"/>
            </a:endParaRPr>
          </a:p>
        </p:txBody>
      </p:sp>
      <p:sp>
        <p:nvSpPr>
          <p:cNvPr id="5" name="TextBox 4"/>
          <p:cNvSpPr txBox="1"/>
          <p:nvPr/>
        </p:nvSpPr>
        <p:spPr>
          <a:xfrm>
            <a:off x="609600" y="6042322"/>
            <a:ext cx="10325100" cy="523220"/>
          </a:xfrm>
          <a:prstGeom prst="rect">
            <a:avLst/>
          </a:prstGeom>
          <a:noFill/>
        </p:spPr>
        <p:txBody>
          <a:bodyPr wrap="square">
            <a:spAutoFit/>
          </a:bodyPr>
          <a:lstStyle/>
          <a:p>
            <a:r>
              <a:rPr lang="en-ZA" sz="1400" dirty="0">
                <a:latin typeface="Calibri" panose="020F0502020204030204" pitchFamily="34" charset="0"/>
                <a:cs typeface="Calibri" panose="020F0502020204030204" pitchFamily="34" charset="0"/>
              </a:rPr>
              <a:t>Source: </a:t>
            </a:r>
            <a:r>
              <a:rPr lang="en-GB" sz="1400" dirty="0">
                <a:latin typeface="Calibri" panose="020F0502020204030204" pitchFamily="34" charset="0"/>
                <a:cs typeface="Calibri" panose="020F0502020204030204" pitchFamily="34" charset="0"/>
              </a:rPr>
              <a:t>Levine S, Malone E, </a:t>
            </a:r>
            <a:r>
              <a:rPr lang="en-GB" sz="1400" dirty="0" err="1">
                <a:latin typeface="Calibri" panose="020F0502020204030204" pitchFamily="34" charset="0"/>
                <a:cs typeface="Calibri" panose="020F0502020204030204" pitchFamily="34" charset="0"/>
              </a:rPr>
              <a:t>Lekiachvili</a:t>
            </a:r>
            <a:r>
              <a:rPr lang="en-GB" sz="1400" dirty="0">
                <a:latin typeface="Calibri" panose="020F0502020204030204" pitchFamily="34" charset="0"/>
                <a:cs typeface="Calibri" panose="020F0502020204030204" pitchFamily="34" charset="0"/>
              </a:rPr>
              <a:t> A, Briss P. Health Care Industry Insights: Why the Use of Preventive Services Is Still Low. Prev Chronic Dis 2019;16:180625</a:t>
            </a:r>
            <a:r>
              <a:rPr lang="en-ZA" sz="1400" dirty="0">
                <a:latin typeface="Calibri" panose="020F0502020204030204" pitchFamily="34" charset="0"/>
                <a:cs typeface="Calibri" panose="020F0502020204030204" pitchFamily="34" charset="0"/>
              </a:rPr>
              <a:t>https://www.cdc.gov/pcd/issues/2019/18_0625.htm</a:t>
            </a:r>
            <a:endParaRPr lang="en-ZA" sz="1400" dirty="0">
              <a:latin typeface="Calibri" panose="020F0502020204030204" pitchFamily="34" charset="0"/>
              <a:cs typeface="Calibri" panose="020F05020202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310243"/>
            <a:ext cx="6564086" cy="6275614"/>
          </a:xfrm>
          <a:prstGeom prst="rect">
            <a:avLst/>
          </a:prstGeom>
        </p:spPr>
      </p:pic>
      <p:pic>
        <p:nvPicPr>
          <p:cNvPr id="2050" name="Picture 2" descr="PPT - Group 1: HIV PREVENTION PowerPoint Presentation, free downloa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310244"/>
            <a:ext cx="6008914" cy="53612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772886"/>
            <a:ext cx="5617028" cy="5807528"/>
          </a:xfrm>
          <a:prstGeom prst="rect">
            <a:avLst/>
          </a:prstGeom>
        </p:spPr>
      </p:pic>
      <p:pic>
        <p:nvPicPr>
          <p:cNvPr id="4" name="Picture 3"/>
          <p:cNvPicPr>
            <a:picLocks noChangeAspect="1"/>
          </p:cNvPicPr>
          <p:nvPr/>
        </p:nvPicPr>
        <p:blipFill>
          <a:blip r:embed="rId2"/>
          <a:stretch>
            <a:fillRect/>
          </a:stretch>
        </p:blipFill>
        <p:spPr>
          <a:xfrm>
            <a:off x="6096000" y="1285875"/>
            <a:ext cx="5934076" cy="4343400"/>
          </a:xfrm>
          <a:prstGeom prst="rect">
            <a:avLst/>
          </a:prstGeom>
        </p:spPr>
      </p:pic>
      <p:sp>
        <p:nvSpPr>
          <p:cNvPr id="5" name="Title 1"/>
          <p:cNvSpPr>
            <a:spLocks noGrp="1"/>
          </p:cNvSpPr>
          <p:nvPr>
            <p:ph type="title"/>
          </p:nvPr>
        </p:nvSpPr>
        <p:spPr>
          <a:xfrm>
            <a:off x="631903" y="161864"/>
            <a:ext cx="11248492" cy="691818"/>
          </a:xfrm>
          <a:solidFill>
            <a:srgbClr val="C00000"/>
          </a:solidFill>
        </p:spPr>
        <p:txBody>
          <a:bodyPr>
            <a:normAutofit/>
          </a:bodyPr>
          <a:lstStyle/>
          <a:p>
            <a:r>
              <a:rPr lang="en-ZA" sz="3200" dirty="0">
                <a:solidFill>
                  <a:schemeClr val="bg1"/>
                </a:solidFill>
                <a:latin typeface="Calibri" panose="020F0502020204030204" pitchFamily="34" charset="0"/>
                <a:cs typeface="Calibri" panose="020F0502020204030204" pitchFamily="34" charset="0"/>
              </a:rPr>
              <a:t>Gap between Prevention and Treatment/Care</a:t>
            </a:r>
            <a:endParaRPr lang="en-ZA" sz="3200" dirty="0">
              <a:solidFill>
                <a:schemeClr val="bg1"/>
              </a:solidFill>
              <a:latin typeface="Calibri" panose="020F0502020204030204" pitchFamily="34" charset="0"/>
              <a:cs typeface="Calibri" panose="020F050202020403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466725" y="269422"/>
            <a:ext cx="7429500" cy="599802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stretch>
            <a:fillRect/>
          </a:stretch>
        </p:blipFill>
        <p:spPr>
          <a:xfrm>
            <a:off x="5133975" y="599618"/>
            <a:ext cx="6638244" cy="4635163"/>
          </a:xfrm>
          <a:prstGeom prst="rect">
            <a:avLst/>
          </a:prstGeom>
        </p:spPr>
      </p:pic>
      <p:sp>
        <p:nvSpPr>
          <p:cNvPr id="3" name="TextBox 2"/>
          <p:cNvSpPr txBox="1"/>
          <p:nvPr/>
        </p:nvSpPr>
        <p:spPr>
          <a:xfrm>
            <a:off x="1095375" y="5010150"/>
            <a:ext cx="9866709" cy="1322070"/>
          </a:xfrm>
          <a:prstGeom prst="rect">
            <a:avLst/>
          </a:prstGeom>
          <a:noFill/>
        </p:spPr>
        <p:txBody>
          <a:bodyPr wrap="square">
            <a:spAutoFit/>
          </a:bodyPr>
          <a:lstStyle/>
          <a:p>
            <a:endParaRPr lang="en-GB" sz="2000" b="0" i="0" dirty="0">
              <a:solidFill>
                <a:srgbClr val="131314"/>
              </a:solidFill>
              <a:effectLst/>
              <a:latin typeface="Calibri" panose="020F0502020204030204" pitchFamily="34" charset="0"/>
              <a:cs typeface="Calibri" panose="020F0502020204030204" pitchFamily="34" charset="0"/>
            </a:endParaRPr>
          </a:p>
          <a:p>
            <a:r>
              <a:rPr lang="en-GB" sz="2000" dirty="0">
                <a:solidFill>
                  <a:srgbClr val="131314"/>
                </a:solidFill>
                <a:latin typeface="Calibri" panose="020F0502020204030204" pitchFamily="34" charset="0"/>
                <a:cs typeface="Calibri" panose="020F0502020204030204" pitchFamily="34" charset="0"/>
              </a:rPr>
              <a:t>However, “</a:t>
            </a:r>
            <a:r>
              <a:rPr lang="en-GB" sz="2000" i="1" dirty="0">
                <a:solidFill>
                  <a:srgbClr val="131314"/>
                </a:solidFill>
                <a:latin typeface="Calibri" panose="020F0502020204030204" pitchFamily="34" charset="0"/>
                <a:cs typeface="Calibri" panose="020F0502020204030204" pitchFamily="34" charset="0"/>
              </a:rPr>
              <a:t>p</a:t>
            </a:r>
            <a:r>
              <a:rPr lang="en-GB" sz="2000" b="0" i="1" dirty="0">
                <a:solidFill>
                  <a:srgbClr val="131314"/>
                </a:solidFill>
                <a:effectLst/>
                <a:latin typeface="Calibri" panose="020F0502020204030204" pitchFamily="34" charset="0"/>
                <a:cs typeface="Calibri" panose="020F0502020204030204" pitchFamily="34" charset="0"/>
              </a:rPr>
              <a:t>revention is underfunded while treatment attracts greater overall priority</a:t>
            </a:r>
            <a:r>
              <a:rPr lang="en-GB" sz="2000" b="0" i="0" dirty="0">
                <a:solidFill>
                  <a:srgbClr val="131314"/>
                </a:solidFill>
                <a:effectLst/>
                <a:latin typeface="Calibri" panose="020F0502020204030204" pitchFamily="34" charset="0"/>
                <a:cs typeface="Calibri" panose="020F0502020204030204" pitchFamily="34" charset="0"/>
              </a:rPr>
              <a:t>”</a:t>
            </a:r>
            <a:endParaRPr lang="en-GB" sz="2000" b="0" i="0" dirty="0">
              <a:solidFill>
                <a:srgbClr val="131314"/>
              </a:solidFill>
              <a:effectLst/>
              <a:latin typeface="Calibri" panose="020F0502020204030204" pitchFamily="34" charset="0"/>
              <a:cs typeface="Calibri" panose="020F0502020204030204" pitchFamily="34" charset="0"/>
            </a:endParaRPr>
          </a:p>
          <a:p>
            <a:endParaRPr lang="en-GB" sz="2000" b="0" i="0" dirty="0">
              <a:solidFill>
                <a:srgbClr val="131314"/>
              </a:solidFill>
              <a:effectLst/>
              <a:latin typeface="Calibri" panose="020F0502020204030204" pitchFamily="34" charset="0"/>
              <a:cs typeface="Calibri" panose="020F0502020204030204" pitchFamily="34" charset="0"/>
            </a:endParaRPr>
          </a:p>
          <a:p>
            <a:endParaRPr lang="en-ZA" sz="2000" dirty="0">
              <a:latin typeface="Calibri" panose="020F0502020204030204" pitchFamily="34" charset="0"/>
              <a:cs typeface="Calibri" panose="020F0502020204030204" pitchFamily="34" charset="0"/>
            </a:endParaRPr>
          </a:p>
        </p:txBody>
      </p:sp>
      <p:sp>
        <p:nvSpPr>
          <p:cNvPr id="5" name="TextBox 4"/>
          <p:cNvSpPr txBox="1"/>
          <p:nvPr/>
        </p:nvSpPr>
        <p:spPr>
          <a:xfrm>
            <a:off x="1408510" y="6369705"/>
            <a:ext cx="9553574" cy="307777"/>
          </a:xfrm>
          <a:prstGeom prst="rect">
            <a:avLst/>
          </a:prstGeom>
          <a:noFill/>
        </p:spPr>
        <p:txBody>
          <a:bodyPr wrap="square">
            <a:spAutoFit/>
          </a:bodyPr>
          <a:lstStyle/>
          <a:p>
            <a:r>
              <a:rPr lang="en-GB" sz="1400" b="0" i="0" dirty="0">
                <a:effectLst/>
                <a:latin typeface="Calibri" panose="020F0502020204030204" pitchFamily="34" charset="0"/>
                <a:cs typeface="Calibri" panose="020F0502020204030204" pitchFamily="34" charset="0"/>
              </a:rPr>
              <a:t>Halley S. Faust and Paul T. Menzel (eds.), </a:t>
            </a:r>
            <a:r>
              <a:rPr lang="en-GB" sz="1400" b="0" i="0" dirty="0">
                <a:effectLst/>
                <a:latin typeface="Calibri" panose="020F0502020204030204" pitchFamily="34" charset="0"/>
                <a:cs typeface="Calibri" panose="020F0502020204030204" pitchFamily="34" charset="0"/>
              </a:rPr>
              <a:t>Prevention vs. Treatment: What’s the Right Balance?, Oxford University Press, 2012,</a:t>
            </a:r>
            <a:endParaRPr lang="en-ZA" sz="1400" dirty="0">
              <a:latin typeface="Calibri" panose="020F0502020204030204" pitchFamily="34" charset="0"/>
              <a:cs typeface="Calibri" panose="020F0502020204030204" pitchFamily="34" charset="0"/>
            </a:endParaRPr>
          </a:p>
        </p:txBody>
      </p:sp>
      <p:pic>
        <p:nvPicPr>
          <p:cNvPr id="6" name="Picture 5"/>
          <p:cNvPicPr>
            <a:picLocks noChangeAspect="1"/>
          </p:cNvPicPr>
          <p:nvPr/>
        </p:nvPicPr>
        <p:blipFill>
          <a:blip r:embed="rId2"/>
          <a:stretch>
            <a:fillRect/>
          </a:stretch>
        </p:blipFill>
        <p:spPr>
          <a:xfrm>
            <a:off x="228600" y="990600"/>
            <a:ext cx="4572000" cy="35814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754062"/>
          </a:xfrm>
        </p:spPr>
        <p:txBody>
          <a:bodyPr/>
          <a:lstStyle/>
          <a:p>
            <a:r>
              <a:rPr lang="en-ZA" sz="3600" dirty="0">
                <a:solidFill>
                  <a:srgbClr val="C00000"/>
                </a:solidFill>
                <a:latin typeface="Calibri" panose="020F0502020204030204" pitchFamily="34" charset="0"/>
                <a:cs typeface="Calibri" panose="020F0502020204030204" pitchFamily="34" charset="0"/>
              </a:rPr>
              <a:t>“Prevention Praised, Cure Preferred…”</a:t>
            </a:r>
            <a:endParaRPr lang="en-ZA" sz="3600" dirty="0">
              <a:solidFill>
                <a:srgbClr val="C00000"/>
              </a:solidFill>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609600" y="1203324"/>
            <a:ext cx="10972800" cy="4625976"/>
          </a:xfrm>
        </p:spPr>
        <p:txBody>
          <a:bodyPr/>
          <a:lstStyle/>
          <a:p>
            <a:r>
              <a:rPr lang="en-GB" sz="2000" dirty="0">
                <a:solidFill>
                  <a:srgbClr val="0070C0"/>
                </a:solidFill>
                <a:latin typeface="Calibri" panose="020F0502020204030204" pitchFamily="34" charset="0"/>
                <a:cs typeface="Calibri" panose="020F0502020204030204" pitchFamily="34" charset="0"/>
              </a:rPr>
              <a:t>'</a:t>
            </a:r>
            <a:r>
              <a:rPr lang="en-GB" sz="2000" i="1" dirty="0">
                <a:solidFill>
                  <a:srgbClr val="0070C0"/>
                </a:solidFill>
                <a:latin typeface="Calibri" panose="020F0502020204030204" pitchFamily="34" charset="0"/>
                <a:cs typeface="Calibri" panose="020F0502020204030204" pitchFamily="34" charset="0"/>
              </a:rPr>
              <a:t>It is better to prevent than to cure</a:t>
            </a:r>
            <a:r>
              <a:rPr lang="en-GB" sz="2000" dirty="0">
                <a:latin typeface="Calibri" panose="020F0502020204030204" pitchFamily="34" charset="0"/>
                <a:cs typeface="Calibri" panose="020F0502020204030204" pitchFamily="34" charset="0"/>
              </a:rPr>
              <a:t>’ is an old adage that reaches as far back as Hippocrates in Ancient Greece. This preference for prevention over treatment ensues from the idea that small preventive efforts can substantially decrease, or altogether remove, substantial negative future outcomes. </a:t>
            </a:r>
            <a:endParaRPr lang="en-GB" sz="2000" dirty="0">
              <a:latin typeface="Calibri" panose="020F0502020204030204" pitchFamily="34" charset="0"/>
              <a:cs typeface="Calibri" panose="020F0502020204030204" pitchFamily="34" charset="0"/>
            </a:endParaRPr>
          </a:p>
          <a:p>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a:t>
            </a:r>
            <a:r>
              <a:rPr lang="en-GB" sz="2000" i="1" dirty="0">
                <a:solidFill>
                  <a:srgbClr val="0070C0"/>
                </a:solidFill>
                <a:latin typeface="Calibri" panose="020F0502020204030204" pitchFamily="34" charset="0"/>
                <a:cs typeface="Calibri" panose="020F0502020204030204" pitchFamily="34" charset="0"/>
              </a:rPr>
              <a:t>An ounce of prevention is worth a pound of cure</a:t>
            </a:r>
            <a:r>
              <a:rPr lang="en-GB" sz="2000" dirty="0">
                <a:latin typeface="Calibri" panose="020F0502020204030204" pitchFamily="34" charset="0"/>
                <a:cs typeface="Calibri" panose="020F0502020204030204" pitchFamily="34" charset="0"/>
              </a:rPr>
              <a:t>’ is a common saying, and indeed, most health economic studies conclude that </a:t>
            </a:r>
            <a:r>
              <a:rPr lang="en-GB" sz="2000" dirty="0">
                <a:solidFill>
                  <a:srgbClr val="0070C0"/>
                </a:solidFill>
                <a:latin typeface="Calibri" panose="020F0502020204030204" pitchFamily="34" charset="0"/>
                <a:cs typeface="Calibri" panose="020F0502020204030204" pitchFamily="34" charset="0"/>
              </a:rPr>
              <a:t>people are more willing to pay for preventive measures than for treatment activities</a:t>
            </a:r>
            <a:r>
              <a:rPr lang="en-GB" sz="2000" dirty="0">
                <a:latin typeface="Calibri" panose="020F0502020204030204" pitchFamily="34" charset="0"/>
                <a:cs typeface="Calibri" panose="020F0502020204030204" pitchFamily="34" charset="0"/>
              </a:rPr>
              <a:t>.</a:t>
            </a:r>
            <a:endParaRPr lang="en-GB" sz="2000" dirty="0">
              <a:latin typeface="Calibri" panose="020F0502020204030204" pitchFamily="34" charset="0"/>
              <a:cs typeface="Calibri" panose="020F0502020204030204" pitchFamily="34" charset="0"/>
            </a:endParaRPr>
          </a:p>
          <a:p>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National Institute for Public Health and the Environment in the Netherlands claims that, in many cases, preventive efforts can lead to great health benefits at only a small expense. This praise in </a:t>
            </a:r>
            <a:r>
              <a:rPr lang="en-GB" sz="2000" dirty="0" err="1">
                <a:latin typeface="Calibri" panose="020F0502020204030204" pitchFamily="34" charset="0"/>
                <a:cs typeface="Calibri" panose="020F0502020204030204" pitchFamily="34" charset="0"/>
              </a:rPr>
              <a:t>favor</a:t>
            </a:r>
            <a:r>
              <a:rPr lang="en-GB" sz="2000" dirty="0">
                <a:latin typeface="Calibri" panose="020F0502020204030204" pitchFamily="34" charset="0"/>
                <a:cs typeface="Calibri" panose="020F0502020204030204" pitchFamily="34" charset="0"/>
              </a:rPr>
              <a:t> of prevention would suggest that prevention is preferred over treatment.</a:t>
            </a:r>
            <a:endParaRPr lang="en-GB" sz="2000" dirty="0">
              <a:latin typeface="Calibri" panose="020F0502020204030204" pitchFamily="34" charset="0"/>
              <a:cs typeface="Calibri" panose="020F0502020204030204" pitchFamily="34" charset="0"/>
            </a:endParaRPr>
          </a:p>
          <a:p>
            <a:pPr lvl="1"/>
            <a:r>
              <a:rPr lang="en-GB" sz="1600" dirty="0">
                <a:latin typeface="Calibri" panose="020F0502020204030204" pitchFamily="34" charset="0"/>
                <a:cs typeface="Calibri" panose="020F0502020204030204" pitchFamily="34" charset="0"/>
              </a:rPr>
              <a:t>In the </a:t>
            </a:r>
            <a:r>
              <a:rPr lang="en-GB" sz="1600" dirty="0">
                <a:solidFill>
                  <a:srgbClr val="0070C0"/>
                </a:solidFill>
                <a:latin typeface="Calibri" panose="020F0502020204030204" pitchFamily="34" charset="0"/>
                <a:cs typeface="Calibri" panose="020F0502020204030204" pitchFamily="34" charset="0"/>
              </a:rPr>
              <a:t>Netherlands, a mere 5% of the health care budget is spent on prevention</a:t>
            </a:r>
            <a:r>
              <a:rPr lang="en-GB" sz="1600" dirty="0">
                <a:latin typeface="Calibri" panose="020F0502020204030204" pitchFamily="34" charset="0"/>
                <a:cs typeface="Calibri" panose="020F0502020204030204" pitchFamily="34" charset="0"/>
              </a:rPr>
              <a:t> while about 40% is spent on curative measures. </a:t>
            </a:r>
            <a:endParaRPr lang="en-GB" sz="1600" dirty="0">
              <a:latin typeface="Calibri" panose="020F0502020204030204" pitchFamily="34" charset="0"/>
              <a:cs typeface="Calibri" panose="020F0502020204030204" pitchFamily="34" charset="0"/>
            </a:endParaRPr>
          </a:p>
          <a:p>
            <a:pPr lvl="1"/>
            <a:r>
              <a:rPr lang="en-GB" sz="1600" dirty="0">
                <a:solidFill>
                  <a:srgbClr val="0070C0"/>
                </a:solidFill>
                <a:latin typeface="Calibri" panose="020F0502020204030204" pitchFamily="34" charset="0"/>
                <a:cs typeface="Calibri" panose="020F0502020204030204" pitchFamily="34" charset="0"/>
              </a:rPr>
              <a:t>Studies in the United States show comparable figures</a:t>
            </a:r>
            <a:r>
              <a:rPr lang="en-GB" sz="1600" dirty="0">
                <a:latin typeface="Calibri" panose="020F0502020204030204" pitchFamily="34" charset="0"/>
                <a:cs typeface="Calibri" panose="020F0502020204030204" pitchFamily="34" charset="0"/>
              </a:rPr>
              <a:t> despite U.S. citizens believing that the greater share of health spending should be earmarked for prevention rather than treatment of disease (1999 Harris Poll)</a:t>
            </a:r>
            <a:endParaRPr lang="en-GB" sz="1600" dirty="0">
              <a:latin typeface="Calibri" panose="020F0502020204030204" pitchFamily="34" charset="0"/>
              <a:cs typeface="Calibri" panose="020F0502020204030204" pitchFamily="34" charset="0"/>
            </a:endParaRPr>
          </a:p>
          <a:p>
            <a:pPr lvl="1"/>
            <a:endParaRPr lang="en-ZA" sz="1600" dirty="0">
              <a:latin typeface="Calibri" panose="020F0502020204030204" pitchFamily="34" charset="0"/>
              <a:cs typeface="Calibri" panose="020F0502020204030204" pitchFamily="34" charset="0"/>
            </a:endParaRPr>
          </a:p>
        </p:txBody>
      </p:sp>
      <p:sp>
        <p:nvSpPr>
          <p:cNvPr id="4" name="TextBox 3"/>
          <p:cNvSpPr txBox="1"/>
          <p:nvPr/>
        </p:nvSpPr>
        <p:spPr>
          <a:xfrm>
            <a:off x="550069" y="6243935"/>
            <a:ext cx="10146506" cy="646331"/>
          </a:xfrm>
          <a:prstGeom prst="rect">
            <a:avLst/>
          </a:prstGeom>
          <a:noFill/>
        </p:spPr>
        <p:txBody>
          <a:bodyPr wrap="square">
            <a:spAutoFit/>
          </a:bodyPr>
          <a:lstStyle/>
          <a:p>
            <a:r>
              <a:rPr lang="en-ZA" sz="1200" b="0" i="0" kern="1200" dirty="0">
                <a:solidFill>
                  <a:schemeClr val="tx1"/>
                </a:solidFill>
                <a:effectLst/>
                <a:latin typeface="Calibri" panose="020F0502020204030204" pitchFamily="34" charset="0"/>
                <a:cs typeface="Calibri" panose="020F0502020204030204" pitchFamily="34" charset="0"/>
              </a:rPr>
              <a:t>Source: </a:t>
            </a:r>
            <a:r>
              <a:rPr lang="en-ZA" sz="1200" b="0" i="0" kern="1200" dirty="0" err="1">
                <a:solidFill>
                  <a:schemeClr val="tx1"/>
                </a:solidFill>
                <a:effectLst/>
                <a:latin typeface="Calibri" panose="020F0502020204030204" pitchFamily="34" charset="0"/>
                <a:cs typeface="Calibri" panose="020F0502020204030204" pitchFamily="34" charset="0"/>
              </a:rPr>
              <a:t>Meertens</a:t>
            </a:r>
            <a:r>
              <a:rPr lang="en-ZA" sz="1200" b="0" i="0" kern="1200" dirty="0">
                <a:solidFill>
                  <a:schemeClr val="tx1"/>
                </a:solidFill>
                <a:effectLst/>
                <a:latin typeface="Calibri" panose="020F0502020204030204" pitchFamily="34" charset="0"/>
                <a:cs typeface="Calibri" panose="020F0502020204030204" pitchFamily="34" charset="0"/>
              </a:rPr>
              <a:t> RM, Van de Gaar VM, </a:t>
            </a:r>
            <a:r>
              <a:rPr lang="en-ZA" sz="1200" b="0" i="0" kern="1200" dirty="0" err="1">
                <a:solidFill>
                  <a:schemeClr val="tx1"/>
                </a:solidFill>
                <a:effectLst/>
                <a:latin typeface="Calibri" panose="020F0502020204030204" pitchFamily="34" charset="0"/>
                <a:cs typeface="Calibri" panose="020F0502020204030204" pitchFamily="34" charset="0"/>
              </a:rPr>
              <a:t>Spronken</a:t>
            </a:r>
            <a:r>
              <a:rPr lang="en-ZA" sz="1200" b="0" i="0" kern="1200" dirty="0">
                <a:solidFill>
                  <a:schemeClr val="tx1"/>
                </a:solidFill>
                <a:effectLst/>
                <a:latin typeface="Calibri" panose="020F0502020204030204" pitchFamily="34" charset="0"/>
                <a:cs typeface="Calibri" panose="020F0502020204030204" pitchFamily="34" charset="0"/>
              </a:rPr>
              <a:t> M, de Vries NK. Prevention praised, cure preferred: results of between-subjects experimental studies comparing (monetary) appreciation for preventive and curative interventions. BMC Med Inform </a:t>
            </a:r>
            <a:r>
              <a:rPr lang="en-ZA" sz="1200" b="0" i="0" kern="1200" dirty="0" err="1">
                <a:solidFill>
                  <a:schemeClr val="tx1"/>
                </a:solidFill>
                <a:effectLst/>
                <a:latin typeface="Calibri" panose="020F0502020204030204" pitchFamily="34" charset="0"/>
                <a:cs typeface="Calibri" panose="020F0502020204030204" pitchFamily="34" charset="0"/>
              </a:rPr>
              <a:t>Decis</a:t>
            </a:r>
            <a:r>
              <a:rPr lang="en-ZA" sz="1200" b="0" i="0" kern="1200" dirty="0">
                <a:solidFill>
                  <a:schemeClr val="tx1"/>
                </a:solidFill>
                <a:effectLst/>
                <a:latin typeface="Calibri" panose="020F0502020204030204" pitchFamily="34" charset="0"/>
                <a:cs typeface="Calibri" panose="020F0502020204030204" pitchFamily="34" charset="0"/>
              </a:rPr>
              <a:t> Mak. 2013 Dec 18;13:136. </a:t>
            </a:r>
            <a:r>
              <a:rPr lang="en-ZA" sz="1200" b="0" i="0" kern="1200" dirty="0" err="1">
                <a:solidFill>
                  <a:schemeClr val="tx1"/>
                </a:solidFill>
                <a:effectLst/>
                <a:latin typeface="Calibri" panose="020F0502020204030204" pitchFamily="34" charset="0"/>
                <a:cs typeface="Calibri" panose="020F0502020204030204" pitchFamily="34" charset="0"/>
              </a:rPr>
              <a:t>doi</a:t>
            </a:r>
            <a:r>
              <a:rPr lang="en-ZA" sz="1200" b="0" i="0" kern="1200" dirty="0">
                <a:solidFill>
                  <a:schemeClr val="tx1"/>
                </a:solidFill>
                <a:effectLst/>
                <a:latin typeface="Calibri" panose="020F0502020204030204" pitchFamily="34" charset="0"/>
                <a:cs typeface="Calibri" panose="020F0502020204030204" pitchFamily="34" charset="0"/>
              </a:rPr>
              <a:t>: 10.1186/1472-6947-13-136</a:t>
            </a:r>
            <a:endParaRPr lang="en-ZA" sz="1200" dirty="0">
              <a:latin typeface="Calibri" panose="020F0502020204030204" pitchFamily="34" charset="0"/>
              <a:cs typeface="Calibri" panose="020F050202020403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569324"/>
          </a:xfrm>
        </p:spPr>
        <p:txBody>
          <a:bodyPr/>
          <a:lstStyle/>
          <a:p>
            <a:r>
              <a:rPr lang="en-ZA" sz="3200" dirty="0">
                <a:solidFill>
                  <a:srgbClr val="C00000"/>
                </a:solidFill>
                <a:latin typeface="Calibri" panose="020F0502020204030204" pitchFamily="34" charset="0"/>
                <a:cs typeface="Calibri" panose="020F0502020204030204" pitchFamily="34" charset="0"/>
              </a:rPr>
              <a:t>Vaccines &amp; Immunization for Prevention of Disease</a:t>
            </a:r>
            <a:endParaRPr lang="en-ZA" sz="3200" dirty="0">
              <a:solidFill>
                <a:srgbClr val="C00000"/>
              </a:solidFill>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381001" y="1036888"/>
            <a:ext cx="8362949" cy="5045771"/>
          </a:xfrm>
        </p:spPr>
        <p:txBody>
          <a:bodyPr/>
          <a:lstStyle/>
          <a:p>
            <a:r>
              <a:rPr lang="en-GB" sz="2000" dirty="0">
                <a:latin typeface="Calibri" panose="020F0502020204030204" pitchFamily="34" charset="0"/>
                <a:cs typeface="Calibri" panose="020F0502020204030204" pitchFamily="34" charset="0"/>
              </a:rPr>
              <a:t>WHO) defines </a:t>
            </a:r>
            <a:r>
              <a:rPr lang="en-GB" sz="2000" dirty="0">
                <a:solidFill>
                  <a:srgbClr val="0070C0"/>
                </a:solidFill>
                <a:latin typeface="Calibri" panose="020F0502020204030204" pitchFamily="34" charset="0"/>
                <a:cs typeface="Calibri" panose="020F0502020204030204" pitchFamily="34" charset="0"/>
              </a:rPr>
              <a:t>immunisation as one of the most successful and cost-effective health interventions ever implemented</a:t>
            </a:r>
            <a:r>
              <a:rPr lang="en-GB" sz="2000" baseline="30000" dirty="0">
                <a:latin typeface="Calibri" panose="020F0502020204030204" pitchFamily="34" charset="0"/>
                <a:cs typeface="Calibri" panose="020F0502020204030204" pitchFamily="34" charset="0"/>
              </a:rPr>
              <a:t>8</a:t>
            </a:r>
            <a:endParaRPr lang="en-GB" sz="2000" baseline="30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Immunization is </a:t>
            </a:r>
            <a:r>
              <a:rPr lang="en-GB" sz="2000" dirty="0">
                <a:solidFill>
                  <a:srgbClr val="0070C0"/>
                </a:solidFill>
                <a:latin typeface="Calibri" panose="020F0502020204030204" pitchFamily="34" charset="0"/>
                <a:cs typeface="Calibri" panose="020F0502020204030204" pitchFamily="34" charset="0"/>
              </a:rPr>
              <a:t>a global health success story</a:t>
            </a:r>
            <a:r>
              <a:rPr lang="en-GB" sz="2000" dirty="0">
                <a:latin typeface="Calibri" panose="020F0502020204030204" pitchFamily="34" charset="0"/>
                <a:cs typeface="Calibri" panose="020F0502020204030204" pitchFamily="34" charset="0"/>
              </a:rPr>
              <a:t>, saving millions of lives every year. </a:t>
            </a:r>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Vaccines </a:t>
            </a:r>
            <a:r>
              <a:rPr lang="en-GB" sz="2000" dirty="0">
                <a:solidFill>
                  <a:srgbClr val="0070C0"/>
                </a:solidFill>
                <a:latin typeface="Calibri" panose="020F0502020204030204" pitchFamily="34" charset="0"/>
                <a:cs typeface="Calibri" panose="020F0502020204030204" pitchFamily="34" charset="0"/>
              </a:rPr>
              <a:t>reduce risks of getting a disease</a:t>
            </a:r>
            <a:r>
              <a:rPr lang="en-GB" sz="2000" dirty="0">
                <a:latin typeface="Calibri" panose="020F0502020204030204" pitchFamily="34" charset="0"/>
                <a:cs typeface="Calibri" panose="020F0502020204030204" pitchFamily="34" charset="0"/>
              </a:rPr>
              <a:t> by working with your body’s natural </a:t>
            </a:r>
            <a:r>
              <a:rPr lang="en-GB" sz="2000" dirty="0" err="1">
                <a:latin typeface="Calibri" panose="020F0502020204030204" pitchFamily="34" charset="0"/>
                <a:cs typeface="Calibri" panose="020F0502020204030204" pitchFamily="34" charset="0"/>
              </a:rPr>
              <a:t>defenses</a:t>
            </a:r>
            <a:r>
              <a:rPr lang="en-GB" sz="2000" dirty="0">
                <a:latin typeface="Calibri" panose="020F0502020204030204" pitchFamily="34" charset="0"/>
                <a:cs typeface="Calibri" panose="020F0502020204030204" pitchFamily="34" charset="0"/>
              </a:rPr>
              <a:t> to build protection. </a:t>
            </a:r>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We now have vaccines to </a:t>
            </a:r>
            <a:r>
              <a:rPr lang="en-GB" sz="2000" dirty="0">
                <a:solidFill>
                  <a:srgbClr val="0070C0"/>
                </a:solidFill>
                <a:latin typeface="Calibri" panose="020F0502020204030204" pitchFamily="34" charset="0"/>
                <a:cs typeface="Calibri" panose="020F0502020204030204" pitchFamily="34" charset="0"/>
              </a:rPr>
              <a:t>prevent more than 30 life-threatening diseases </a:t>
            </a:r>
            <a:r>
              <a:rPr lang="en-GB" sz="2000" dirty="0">
                <a:latin typeface="Calibri" panose="020F0502020204030204" pitchFamily="34" charset="0"/>
                <a:cs typeface="Calibri" panose="020F0502020204030204" pitchFamily="34" charset="0"/>
              </a:rPr>
              <a:t>and infections, </a:t>
            </a:r>
            <a:r>
              <a:rPr lang="en-GB" sz="2000" dirty="0">
                <a:solidFill>
                  <a:srgbClr val="0070C0"/>
                </a:solidFill>
                <a:latin typeface="Calibri" panose="020F0502020204030204" pitchFamily="34" charset="0"/>
                <a:cs typeface="Calibri" panose="020F0502020204030204" pitchFamily="34" charset="0"/>
              </a:rPr>
              <a:t>helping people of all ages live longer, healthier lives</a:t>
            </a:r>
            <a:r>
              <a:rPr lang="en-GB" sz="2000" dirty="0">
                <a:latin typeface="Calibri" panose="020F0502020204030204" pitchFamily="34" charset="0"/>
                <a:cs typeface="Calibri" panose="020F0502020204030204" pitchFamily="34" charset="0"/>
              </a:rPr>
              <a:t>. </a:t>
            </a:r>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Immunization currently </a:t>
            </a:r>
            <a:r>
              <a:rPr lang="en-GB" sz="2000" dirty="0">
                <a:solidFill>
                  <a:srgbClr val="0070C0"/>
                </a:solidFill>
                <a:latin typeface="Calibri" panose="020F0502020204030204" pitchFamily="34" charset="0"/>
                <a:cs typeface="Calibri" panose="020F0502020204030204" pitchFamily="34" charset="0"/>
              </a:rPr>
              <a:t>prevents 3.5 million to 5 million deaths every year</a:t>
            </a:r>
            <a:r>
              <a:rPr lang="en-GB" sz="2000" dirty="0">
                <a:latin typeface="Calibri" panose="020F0502020204030204" pitchFamily="34" charset="0"/>
                <a:cs typeface="Calibri" panose="020F0502020204030204" pitchFamily="34" charset="0"/>
              </a:rPr>
              <a:t> from diseases like diphtheria, tetanus, whooping cough, influenza and measles.</a:t>
            </a:r>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Immunization is </a:t>
            </a:r>
            <a:r>
              <a:rPr lang="en-GB" sz="2000" dirty="0">
                <a:solidFill>
                  <a:srgbClr val="0070C0"/>
                </a:solidFill>
                <a:latin typeface="Calibri" panose="020F0502020204030204" pitchFamily="34" charset="0"/>
                <a:cs typeface="Calibri" panose="020F0502020204030204" pitchFamily="34" charset="0"/>
              </a:rPr>
              <a:t>key to primary health care</a:t>
            </a:r>
            <a:r>
              <a:rPr lang="en-GB" sz="2000" dirty="0">
                <a:latin typeface="Calibri" panose="020F0502020204030204" pitchFamily="34" charset="0"/>
                <a:cs typeface="Calibri" panose="020F0502020204030204" pitchFamily="34" charset="0"/>
              </a:rPr>
              <a:t>, an indisputable human right, and </a:t>
            </a:r>
            <a:r>
              <a:rPr lang="en-GB" sz="2000" dirty="0">
                <a:solidFill>
                  <a:srgbClr val="0070C0"/>
                </a:solidFill>
                <a:latin typeface="Calibri" panose="020F0502020204030204" pitchFamily="34" charset="0"/>
                <a:cs typeface="Calibri" panose="020F0502020204030204" pitchFamily="34" charset="0"/>
              </a:rPr>
              <a:t>one of the best health investments money can buy</a:t>
            </a:r>
            <a:r>
              <a:rPr lang="en-GB" sz="2000" dirty="0">
                <a:latin typeface="Calibri" panose="020F0502020204030204" pitchFamily="34" charset="0"/>
                <a:cs typeface="Calibri" panose="020F0502020204030204" pitchFamily="34" charset="0"/>
              </a:rPr>
              <a:t>. </a:t>
            </a:r>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They </a:t>
            </a:r>
            <a:r>
              <a:rPr lang="en-GB" sz="2000" dirty="0">
                <a:solidFill>
                  <a:srgbClr val="0070C0"/>
                </a:solidFill>
                <a:latin typeface="Calibri" panose="020F0502020204030204" pitchFamily="34" charset="0"/>
                <a:cs typeface="Calibri" panose="020F0502020204030204" pitchFamily="34" charset="0"/>
              </a:rPr>
              <a:t>underpin global health security </a:t>
            </a:r>
            <a:r>
              <a:rPr lang="en-GB" sz="2000" dirty="0">
                <a:latin typeface="Calibri" panose="020F0502020204030204" pitchFamily="34" charset="0"/>
                <a:cs typeface="Calibri" panose="020F0502020204030204" pitchFamily="34" charset="0"/>
              </a:rPr>
              <a:t>and are a vital tool in the battle against antimicrobial resistance.</a:t>
            </a:r>
            <a:endParaRPr lang="en-GB" sz="2000" dirty="0">
              <a:latin typeface="Calibri" panose="020F0502020204030204" pitchFamily="34" charset="0"/>
              <a:cs typeface="Calibri" panose="020F0502020204030204" pitchFamily="34" charset="0"/>
            </a:endParaRPr>
          </a:p>
          <a:p>
            <a:endParaRPr lang="en-ZA" sz="2000" dirty="0">
              <a:latin typeface="Calibri" panose="020F0502020204030204" pitchFamily="34" charset="0"/>
              <a:cs typeface="Calibri" panose="020F0502020204030204" pitchFamily="34" charset="0"/>
            </a:endParaRPr>
          </a:p>
        </p:txBody>
      </p:sp>
      <p:sp>
        <p:nvSpPr>
          <p:cNvPr id="5" name="TextBox 4"/>
          <p:cNvSpPr txBox="1"/>
          <p:nvPr/>
        </p:nvSpPr>
        <p:spPr>
          <a:xfrm>
            <a:off x="1645443" y="6275585"/>
            <a:ext cx="6879431" cy="307777"/>
          </a:xfrm>
          <a:prstGeom prst="rect">
            <a:avLst/>
          </a:prstGeom>
          <a:noFill/>
        </p:spPr>
        <p:txBody>
          <a:bodyPr wrap="square">
            <a:spAutoFit/>
          </a:bodyPr>
          <a:lstStyle/>
          <a:p>
            <a:r>
              <a:rPr lang="en-ZA" sz="1400" dirty="0">
                <a:latin typeface="Calibri" panose="020F0502020204030204" pitchFamily="34" charset="0"/>
                <a:cs typeface="Calibri" panose="020F0502020204030204" pitchFamily="34" charset="0"/>
              </a:rPr>
              <a:t>Source: </a:t>
            </a:r>
            <a:r>
              <a:rPr lang="en-ZA" sz="1400" dirty="0">
                <a:latin typeface="Calibri" panose="020F0502020204030204" pitchFamily="34" charset="0"/>
                <a:cs typeface="Calibri" panose="020F0502020204030204" pitchFamily="34" charset="0"/>
                <a:hlinkClick r:id="rId1"/>
              </a:rPr>
              <a:t>https://www.who.int/health-topics/vaccines-and-immunization/#tab=tab_1</a:t>
            </a:r>
            <a:r>
              <a:rPr lang="en-ZA" sz="1400" dirty="0">
                <a:latin typeface="Calibri" panose="020F0502020204030204" pitchFamily="34" charset="0"/>
                <a:cs typeface="Calibri" panose="020F0502020204030204" pitchFamily="34" charset="0"/>
              </a:rPr>
              <a:t> </a:t>
            </a:r>
            <a:endParaRPr lang="en-ZA" sz="1400" dirty="0">
              <a:latin typeface="Calibri" panose="020F0502020204030204" pitchFamily="34" charset="0"/>
              <a:cs typeface="Calibri" panose="020F0502020204030204" pitchFamily="34" charset="0"/>
            </a:endParaRPr>
          </a:p>
        </p:txBody>
      </p:sp>
      <p:pic>
        <p:nvPicPr>
          <p:cNvPr id="6" name="Picture 5"/>
          <p:cNvPicPr>
            <a:picLocks noChangeAspect="1"/>
          </p:cNvPicPr>
          <p:nvPr/>
        </p:nvPicPr>
        <p:blipFill>
          <a:blip r:embed="rId2"/>
          <a:stretch>
            <a:fillRect/>
          </a:stretch>
        </p:blipFill>
        <p:spPr>
          <a:xfrm>
            <a:off x="8972549" y="1107086"/>
            <a:ext cx="3048000" cy="245268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893774" y="280863"/>
            <a:ext cx="10419268" cy="747837"/>
          </a:xfrm>
          <a:solidFill>
            <a:srgbClr val="C00000"/>
          </a:solidFill>
        </p:spPr>
        <p:txBody>
          <a:bodyPr>
            <a:noAutofit/>
          </a:bodyPr>
          <a:lstStyle/>
          <a:p>
            <a:r>
              <a:rPr lang="en-GB" sz="3200" dirty="0">
                <a:solidFill>
                  <a:schemeClr val="bg1"/>
                </a:solidFill>
                <a:latin typeface="Calibri" panose="020F0502020204030204" pitchFamily="34" charset="0"/>
                <a:cs typeface="Calibri" panose="020F0502020204030204" pitchFamily="34" charset="0"/>
              </a:rPr>
              <a:t>Preferences for Treatment vs Prevention</a:t>
            </a:r>
            <a:endParaRPr lang="en-GB" sz="3200" dirty="0">
              <a:solidFill>
                <a:schemeClr val="bg1"/>
              </a:solidFill>
              <a:latin typeface="Calibri" panose="020F0502020204030204" pitchFamily="34" charset="0"/>
              <a:cs typeface="Calibri" panose="020F0502020204030204" pitchFamily="34" charset="0"/>
            </a:endParaRPr>
          </a:p>
        </p:txBody>
      </p:sp>
      <p:sp>
        <p:nvSpPr>
          <p:cNvPr id="11" name="Slide Number Placeholder 3"/>
          <p:cNvSpPr>
            <a:spLocks noGrp="1"/>
          </p:cNvSpPr>
          <p:nvPr>
            <p:ph type="sldNum" sz="quarter" idx="12"/>
          </p:nvPr>
        </p:nvSpPr>
        <p:spPr>
          <a:xfrm>
            <a:off x="10696575" y="6340475"/>
            <a:ext cx="1381125" cy="365125"/>
          </a:xfrm>
        </p:spPr>
        <p:txBody>
          <a:bodyPr/>
          <a:lstStyle/>
          <a:p>
            <a:fld id="{C18A6DDB-0A55-40AB-A400-5B7B09585872}" type="slidenum">
              <a:rPr lang="en-US" smtClean="0">
                <a:latin typeface="Calibri" panose="020F0502020204030204" pitchFamily="34" charset="0"/>
                <a:cs typeface="Calibri" panose="020F0502020204030204" pitchFamily="34" charset="0"/>
              </a:rPr>
            </a:fld>
            <a:endParaRPr lang="en-US" dirty="0" smtClean="0">
              <a:latin typeface="Calibri" panose="020F0502020204030204" pitchFamily="34" charset="0"/>
              <a:cs typeface="Calibri" panose="020F0502020204030204" pitchFamily="34" charset="0"/>
            </a:endParaRPr>
          </a:p>
        </p:txBody>
      </p:sp>
      <p:sp>
        <p:nvSpPr>
          <p:cNvPr id="4" name="TextBox 3"/>
          <p:cNvSpPr txBox="1"/>
          <p:nvPr/>
        </p:nvSpPr>
        <p:spPr>
          <a:xfrm>
            <a:off x="428625" y="1257955"/>
            <a:ext cx="10884417" cy="4801314"/>
          </a:xfrm>
          <a:prstGeom prst="rect">
            <a:avLst/>
          </a:prstGeom>
          <a:noFill/>
        </p:spPr>
        <p:txBody>
          <a:bodyPr wrap="square">
            <a:spAutoFit/>
          </a:bodyPr>
          <a:lstStyle/>
          <a:p>
            <a:pPr marL="342900" indent="-342900">
              <a:buAutoNum type="arabicPeriod"/>
            </a:pPr>
            <a:r>
              <a:rPr lang="en-GB" b="1" dirty="0">
                <a:solidFill>
                  <a:srgbClr val="0070C0"/>
                </a:solidFill>
                <a:latin typeface="Calibri" panose="020F0502020204030204" pitchFamily="34" charset="0"/>
                <a:cs typeface="Calibri" panose="020F0502020204030204" pitchFamily="34" charset="0"/>
              </a:rPr>
              <a:t>Time interval required for benefits </a:t>
            </a:r>
            <a:r>
              <a:rPr lang="en-GB" dirty="0">
                <a:latin typeface="Calibri" panose="020F0502020204030204" pitchFamily="34" charset="0"/>
                <a:cs typeface="Calibri" panose="020F0502020204030204" pitchFamily="34" charset="0"/>
              </a:rPr>
              <a:t>to be seen plays a role. </a:t>
            </a:r>
            <a:r>
              <a:rPr lang="en-GB" dirty="0">
                <a:solidFill>
                  <a:srgbClr val="0070C0"/>
                </a:solidFill>
                <a:latin typeface="Calibri" panose="020F0502020204030204" pitchFamily="34" charset="0"/>
                <a:cs typeface="Calibri" panose="020F0502020204030204" pitchFamily="34" charset="0"/>
              </a:rPr>
              <a:t>In prevention, positive outcomes tend to be long term</a:t>
            </a:r>
            <a:r>
              <a:rPr lang="en-GB" dirty="0">
                <a:latin typeface="Calibri" panose="020F0502020204030204" pitchFamily="34" charset="0"/>
                <a:cs typeface="Calibri" panose="020F0502020204030204" pitchFamily="34" charset="0"/>
              </a:rPr>
              <a:t>, whereas </a:t>
            </a:r>
            <a:r>
              <a:rPr lang="en-GB" dirty="0">
                <a:solidFill>
                  <a:srgbClr val="0070C0"/>
                </a:solidFill>
                <a:latin typeface="Calibri" panose="020F0502020204030204" pitchFamily="34" charset="0"/>
                <a:cs typeface="Calibri" panose="020F0502020204030204" pitchFamily="34" charset="0"/>
              </a:rPr>
              <a:t>with treatment, the positive results are often evident in the short term</a:t>
            </a:r>
            <a:r>
              <a:rPr lang="en-GB" dirty="0">
                <a:latin typeface="Calibri" panose="020F0502020204030204" pitchFamily="34" charset="0"/>
                <a:cs typeface="Calibri" panose="020F0502020204030204" pitchFamily="34" charset="0"/>
              </a:rPr>
              <a:t>. Research shows that </a:t>
            </a:r>
            <a:r>
              <a:rPr lang="en-GB" dirty="0">
                <a:solidFill>
                  <a:srgbClr val="0070C0"/>
                </a:solidFill>
                <a:latin typeface="Calibri" panose="020F0502020204030204" pitchFamily="34" charset="0"/>
                <a:cs typeface="Calibri" panose="020F0502020204030204" pitchFamily="34" charset="0"/>
              </a:rPr>
              <a:t>health gains that occur immediately are preferred over delayed health gains</a:t>
            </a:r>
            <a:r>
              <a:rPr lang="en-GB" dirty="0">
                <a:latin typeface="Calibri" panose="020F0502020204030204" pitchFamily="34" charset="0"/>
                <a:cs typeface="Calibri" panose="020F0502020204030204" pitchFamily="34" charset="0"/>
              </a:rPr>
              <a:t>. Therefore, </a:t>
            </a:r>
            <a:r>
              <a:rPr lang="en-GB" b="1" dirty="0">
                <a:solidFill>
                  <a:srgbClr val="0070C0"/>
                </a:solidFill>
                <a:latin typeface="Calibri" panose="020F0502020204030204" pitchFamily="34" charset="0"/>
                <a:cs typeface="Calibri" panose="020F0502020204030204" pitchFamily="34" charset="0"/>
              </a:rPr>
              <a:t>treatment</a:t>
            </a:r>
            <a:r>
              <a:rPr lang="en-GB" dirty="0">
                <a:solidFill>
                  <a:srgbClr val="0070C0"/>
                </a:solidFill>
                <a:latin typeface="Calibri" panose="020F0502020204030204" pitchFamily="34" charset="0"/>
                <a:cs typeface="Calibri" panose="020F0502020204030204" pitchFamily="34" charset="0"/>
              </a:rPr>
              <a:t>, with its short-term results, </a:t>
            </a:r>
            <a:r>
              <a:rPr lang="en-GB" b="1" dirty="0">
                <a:solidFill>
                  <a:srgbClr val="0070C0"/>
                </a:solidFill>
                <a:latin typeface="Calibri" panose="020F0502020204030204" pitchFamily="34" charset="0"/>
                <a:cs typeface="Calibri" panose="020F0502020204030204" pitchFamily="34" charset="0"/>
              </a:rPr>
              <a:t>is preferred over prevention </a:t>
            </a:r>
            <a:r>
              <a:rPr lang="en-GB" dirty="0">
                <a:solidFill>
                  <a:srgbClr val="0070C0"/>
                </a:solidFill>
                <a:latin typeface="Calibri" panose="020F0502020204030204" pitchFamily="34" charset="0"/>
                <a:cs typeface="Calibri" panose="020F0502020204030204" pitchFamily="34" charset="0"/>
              </a:rPr>
              <a:t>with its long term payoff</a:t>
            </a:r>
            <a:r>
              <a:rPr lang="en-GB" dirty="0">
                <a:latin typeface="Calibri" panose="020F0502020204030204" pitchFamily="34" charset="0"/>
                <a:cs typeface="Calibri" panose="020F0502020204030204" pitchFamily="34" charset="0"/>
              </a:rPr>
              <a:t>.</a:t>
            </a:r>
            <a:endParaRPr lang="en-GB" dirty="0">
              <a:latin typeface="Calibri" panose="020F0502020204030204" pitchFamily="34" charset="0"/>
              <a:cs typeface="Calibri" panose="020F0502020204030204" pitchFamily="34" charset="0"/>
            </a:endParaRPr>
          </a:p>
          <a:p>
            <a:pPr marL="342900" indent="-342900">
              <a:buAutoNum type="arabicPeriod"/>
            </a:pPr>
            <a:r>
              <a:rPr lang="en-GB" dirty="0">
                <a:latin typeface="Calibri" panose="020F0502020204030204" pitchFamily="34" charset="0"/>
                <a:cs typeface="Calibri" panose="020F0502020204030204" pitchFamily="34" charset="0"/>
              </a:rPr>
              <a:t>The </a:t>
            </a:r>
            <a:r>
              <a:rPr lang="en-GB" b="1" dirty="0">
                <a:solidFill>
                  <a:srgbClr val="0070C0"/>
                </a:solidFill>
                <a:latin typeface="Calibri" panose="020F0502020204030204" pitchFamily="34" charset="0"/>
                <a:cs typeface="Calibri" panose="020F0502020204030204" pitchFamily="34" charset="0"/>
              </a:rPr>
              <a:t>certainty of the cause and effect </a:t>
            </a:r>
            <a:r>
              <a:rPr lang="en-GB" dirty="0">
                <a:latin typeface="Calibri" panose="020F0502020204030204" pitchFamily="34" charset="0"/>
                <a:cs typeface="Calibri" panose="020F0502020204030204" pitchFamily="34" charset="0"/>
              </a:rPr>
              <a:t>can impact evaluations of prevention and treatment. </a:t>
            </a:r>
            <a:r>
              <a:rPr lang="en-GB" dirty="0">
                <a:solidFill>
                  <a:srgbClr val="0070C0"/>
                </a:solidFill>
                <a:latin typeface="Calibri" panose="020F0502020204030204" pitchFamily="34" charset="0"/>
                <a:cs typeface="Calibri" panose="020F0502020204030204" pitchFamily="34" charset="0"/>
              </a:rPr>
              <a:t>People prefer a certain positive outcome (e.g. a sure gain of $240) over a less certain but even more positive outcome </a:t>
            </a:r>
            <a:r>
              <a:rPr lang="en-GB" dirty="0">
                <a:latin typeface="Calibri" panose="020F0502020204030204" pitchFamily="34" charset="0"/>
                <a:cs typeface="Calibri" panose="020F0502020204030204" pitchFamily="34" charset="0"/>
              </a:rPr>
              <a:t>(e.g. 25% chance to gain $1000).  As such, </a:t>
            </a:r>
            <a:r>
              <a:rPr lang="en-GB" b="1" dirty="0">
                <a:solidFill>
                  <a:srgbClr val="0070C0"/>
                </a:solidFill>
                <a:latin typeface="Calibri" panose="020F0502020204030204" pitchFamily="34" charset="0"/>
                <a:cs typeface="Calibri" panose="020F0502020204030204" pitchFamily="34" charset="0"/>
              </a:rPr>
              <a:t>a more certain treatment may be valued more than uncertain prevention</a:t>
            </a:r>
            <a:r>
              <a:rPr lang="en-GB" dirty="0">
                <a:latin typeface="Calibri" panose="020F0502020204030204" pitchFamily="34" charset="0"/>
                <a:cs typeface="Calibri" panose="020F0502020204030204" pitchFamily="34" charset="0"/>
              </a:rPr>
              <a:t>.</a:t>
            </a:r>
            <a:endParaRPr lang="en-GB" dirty="0">
              <a:latin typeface="Calibri" panose="020F0502020204030204" pitchFamily="34" charset="0"/>
              <a:cs typeface="Calibri" panose="020F0502020204030204" pitchFamily="34" charset="0"/>
            </a:endParaRPr>
          </a:p>
          <a:p>
            <a:pPr marL="342900" indent="-342900">
              <a:buAutoNum type="arabicPeriod"/>
            </a:pPr>
            <a:r>
              <a:rPr lang="en-GB" dirty="0">
                <a:latin typeface="Calibri" panose="020F0502020204030204" pitchFamily="34" charset="0"/>
                <a:cs typeface="Calibri" panose="020F0502020204030204" pitchFamily="34" charset="0"/>
              </a:rPr>
              <a:t>The </a:t>
            </a:r>
            <a:r>
              <a:rPr lang="en-GB" b="1" dirty="0">
                <a:solidFill>
                  <a:srgbClr val="0070C0"/>
                </a:solidFill>
                <a:latin typeface="Calibri" panose="020F0502020204030204" pitchFamily="34" charset="0"/>
                <a:cs typeface="Calibri" panose="020F0502020204030204" pitchFamily="34" charset="0"/>
              </a:rPr>
              <a:t>urgency of an intervention</a:t>
            </a:r>
            <a:r>
              <a:rPr lang="en-GB" dirty="0">
                <a:latin typeface="Calibri" panose="020F0502020204030204" pitchFamily="34" charset="0"/>
                <a:cs typeface="Calibri" panose="020F0502020204030204" pitchFamily="34" charset="0"/>
              </a:rPr>
              <a:t> is influenced by the degree to which the need for intervention is tangible. </a:t>
            </a:r>
            <a:r>
              <a:rPr lang="en-GB" dirty="0">
                <a:solidFill>
                  <a:srgbClr val="0070C0"/>
                </a:solidFill>
                <a:latin typeface="Calibri" panose="020F0502020204030204" pitchFamily="34" charset="0"/>
                <a:cs typeface="Calibri" panose="020F0502020204030204" pitchFamily="34" charset="0"/>
              </a:rPr>
              <a:t>With prevention, positive outcomes tend to only be evident at a collective level</a:t>
            </a:r>
            <a:r>
              <a:rPr lang="en-GB" dirty="0">
                <a:latin typeface="Calibri" panose="020F0502020204030204" pitchFamily="34" charset="0"/>
                <a:cs typeface="Calibri" panose="020F0502020204030204" pitchFamily="34" charset="0"/>
              </a:rPr>
              <a:t>, whereas </a:t>
            </a:r>
            <a:r>
              <a:rPr lang="en-GB" dirty="0">
                <a:solidFill>
                  <a:srgbClr val="0070C0"/>
                </a:solidFill>
                <a:latin typeface="Calibri" panose="020F0502020204030204" pitchFamily="34" charset="0"/>
                <a:cs typeface="Calibri" panose="020F0502020204030204" pitchFamily="34" charset="0"/>
              </a:rPr>
              <a:t>with treatment, success can be seen at the individual level</a:t>
            </a:r>
            <a:r>
              <a:rPr lang="en-GB" dirty="0">
                <a:latin typeface="Calibri" panose="020F0502020204030204" pitchFamily="34" charset="0"/>
                <a:cs typeface="Calibri" panose="020F0502020204030204" pitchFamily="34" charset="0"/>
              </a:rPr>
              <a:t>. Because </a:t>
            </a:r>
            <a:r>
              <a:rPr lang="en-GB" dirty="0">
                <a:solidFill>
                  <a:srgbClr val="0070C0"/>
                </a:solidFill>
                <a:latin typeface="Calibri" panose="020F0502020204030204" pitchFamily="34" charset="0"/>
                <a:cs typeface="Calibri" panose="020F0502020204030204" pitchFamily="34" charset="0"/>
              </a:rPr>
              <a:t>people are generally more willing to spend resources to save the life of identifiable individuals, they are probably also more likely to value programs that help identifiable people (i.e., treatment programs) </a:t>
            </a:r>
            <a:r>
              <a:rPr lang="en-GB" dirty="0">
                <a:latin typeface="Calibri" panose="020F0502020204030204" pitchFamily="34" charset="0"/>
                <a:cs typeface="Calibri" panose="020F0502020204030204" pitchFamily="34" charset="0"/>
              </a:rPr>
              <a:t>rather than programs that help people that are merely represented by statistics (i.e., preventive programs). </a:t>
            </a:r>
            <a:endParaRPr lang="en-GB" dirty="0">
              <a:latin typeface="Calibri" panose="020F0502020204030204" pitchFamily="34" charset="0"/>
              <a:cs typeface="Calibri" panose="020F0502020204030204" pitchFamily="34" charset="0"/>
            </a:endParaRPr>
          </a:p>
          <a:p>
            <a:pPr marL="342900" indent="-342900">
              <a:buAutoNum type="arabicPeriod"/>
            </a:pPr>
            <a:r>
              <a:rPr lang="en-GB" dirty="0">
                <a:latin typeface="Calibri" panose="020F0502020204030204" pitchFamily="34" charset="0"/>
                <a:cs typeface="Calibri" panose="020F0502020204030204" pitchFamily="34" charset="0"/>
              </a:rPr>
              <a:t>The </a:t>
            </a:r>
            <a:r>
              <a:rPr lang="en-GB" dirty="0">
                <a:solidFill>
                  <a:srgbClr val="0070C0"/>
                </a:solidFill>
                <a:latin typeface="Calibri" panose="020F0502020204030204" pitchFamily="34" charset="0"/>
                <a:cs typeface="Calibri" panose="020F0502020204030204" pitchFamily="34" charset="0"/>
              </a:rPr>
              <a:t>proportion of the </a:t>
            </a:r>
            <a:r>
              <a:rPr lang="en-GB" b="1" dirty="0">
                <a:solidFill>
                  <a:srgbClr val="0070C0"/>
                </a:solidFill>
                <a:latin typeface="Calibri" panose="020F0502020204030204" pitchFamily="34" charset="0"/>
                <a:cs typeface="Calibri" panose="020F0502020204030204" pitchFamily="34" charset="0"/>
              </a:rPr>
              <a:t>reference group that can be 'saved’ is greater in treatment programs than it is in prevention programs</a:t>
            </a:r>
            <a:r>
              <a:rPr lang="en-GB" dirty="0">
                <a:latin typeface="Calibri" panose="020F0502020204030204" pitchFamily="34" charset="0"/>
                <a:cs typeface="Calibri" panose="020F0502020204030204" pitchFamily="34" charset="0"/>
              </a:rPr>
              <a:t>. This means that for more people the preventive intervention is a waste of time. This too may lead to </a:t>
            </a:r>
            <a:r>
              <a:rPr lang="en-GB" dirty="0">
                <a:solidFill>
                  <a:srgbClr val="0070C0"/>
                </a:solidFill>
                <a:latin typeface="Calibri" panose="020F0502020204030204" pitchFamily="34" charset="0"/>
                <a:cs typeface="Calibri" panose="020F0502020204030204" pitchFamily="34" charset="0"/>
              </a:rPr>
              <a:t>a preference for, and a higher measured appreciation of treatment over prevention</a:t>
            </a:r>
            <a:r>
              <a:rPr lang="en-GB" dirty="0">
                <a:latin typeface="Calibri" panose="020F0502020204030204" pitchFamily="34" charset="0"/>
                <a:cs typeface="Calibri" panose="020F0502020204030204" pitchFamily="34" charset="0"/>
              </a:rPr>
              <a:t>.</a:t>
            </a:r>
            <a:endParaRPr lang="en-ZA" dirty="0">
              <a:solidFill>
                <a:srgbClr val="0070C0"/>
              </a:solidFill>
              <a:latin typeface="Calibri" panose="020F0502020204030204" pitchFamily="34" charset="0"/>
              <a:cs typeface="Calibri" panose="020F0502020204030204" pitchFamily="34" charset="0"/>
            </a:endParaRPr>
          </a:p>
        </p:txBody>
      </p:sp>
      <p:sp>
        <p:nvSpPr>
          <p:cNvPr id="3" name="TextBox 2"/>
          <p:cNvSpPr txBox="1"/>
          <p:nvPr/>
        </p:nvSpPr>
        <p:spPr>
          <a:xfrm>
            <a:off x="550069" y="6059269"/>
            <a:ext cx="10146506" cy="646331"/>
          </a:xfrm>
          <a:prstGeom prst="rect">
            <a:avLst/>
          </a:prstGeom>
          <a:noFill/>
        </p:spPr>
        <p:txBody>
          <a:bodyPr wrap="square">
            <a:spAutoFit/>
          </a:bodyPr>
          <a:lstStyle/>
          <a:p>
            <a:r>
              <a:rPr lang="en-ZA" sz="1200" b="0" i="0" kern="1200" dirty="0">
                <a:solidFill>
                  <a:schemeClr val="tx1"/>
                </a:solidFill>
                <a:effectLst/>
                <a:latin typeface="Calibri" panose="020F0502020204030204" pitchFamily="34" charset="0"/>
                <a:cs typeface="Calibri" panose="020F0502020204030204" pitchFamily="34" charset="0"/>
              </a:rPr>
              <a:t>Source: </a:t>
            </a:r>
            <a:r>
              <a:rPr lang="en-ZA" sz="1200" b="0" i="0" kern="1200" dirty="0" err="1">
                <a:solidFill>
                  <a:schemeClr val="tx1"/>
                </a:solidFill>
                <a:effectLst/>
                <a:latin typeface="Calibri" panose="020F0502020204030204" pitchFamily="34" charset="0"/>
                <a:cs typeface="Calibri" panose="020F0502020204030204" pitchFamily="34" charset="0"/>
              </a:rPr>
              <a:t>Meertens</a:t>
            </a:r>
            <a:r>
              <a:rPr lang="en-ZA" sz="1200" b="0" i="0" kern="1200" dirty="0">
                <a:solidFill>
                  <a:schemeClr val="tx1"/>
                </a:solidFill>
                <a:effectLst/>
                <a:latin typeface="Calibri" panose="020F0502020204030204" pitchFamily="34" charset="0"/>
                <a:cs typeface="Calibri" panose="020F0502020204030204" pitchFamily="34" charset="0"/>
              </a:rPr>
              <a:t> RM, Van de Gaar VM, </a:t>
            </a:r>
            <a:r>
              <a:rPr lang="en-ZA" sz="1200" b="0" i="0" kern="1200" dirty="0" err="1">
                <a:solidFill>
                  <a:schemeClr val="tx1"/>
                </a:solidFill>
                <a:effectLst/>
                <a:latin typeface="Calibri" panose="020F0502020204030204" pitchFamily="34" charset="0"/>
                <a:cs typeface="Calibri" panose="020F0502020204030204" pitchFamily="34" charset="0"/>
              </a:rPr>
              <a:t>Spronken</a:t>
            </a:r>
            <a:r>
              <a:rPr lang="en-ZA" sz="1200" b="0" i="0" kern="1200" dirty="0">
                <a:solidFill>
                  <a:schemeClr val="tx1"/>
                </a:solidFill>
                <a:effectLst/>
                <a:latin typeface="Calibri" panose="020F0502020204030204" pitchFamily="34" charset="0"/>
                <a:cs typeface="Calibri" panose="020F0502020204030204" pitchFamily="34" charset="0"/>
              </a:rPr>
              <a:t> M, de Vries NK. Prevention praised, cure preferred: results of between-subjects experimental studies comparing (monetary) appreciation for preventive and curative interventions. </a:t>
            </a:r>
            <a:r>
              <a:rPr lang="en-ZA" sz="1200" b="0" i="1" kern="1200" dirty="0">
                <a:solidFill>
                  <a:schemeClr val="tx1"/>
                </a:solidFill>
                <a:effectLst/>
                <a:latin typeface="Calibri" panose="020F0502020204030204" pitchFamily="34" charset="0"/>
                <a:cs typeface="Calibri" panose="020F0502020204030204" pitchFamily="34" charset="0"/>
              </a:rPr>
              <a:t>BMC Med Inform </a:t>
            </a:r>
            <a:r>
              <a:rPr lang="en-ZA" sz="1200" b="0" i="1" kern="1200" dirty="0" err="1">
                <a:solidFill>
                  <a:schemeClr val="tx1"/>
                </a:solidFill>
                <a:effectLst/>
                <a:latin typeface="Calibri" panose="020F0502020204030204" pitchFamily="34" charset="0"/>
                <a:cs typeface="Calibri" panose="020F0502020204030204" pitchFamily="34" charset="0"/>
              </a:rPr>
              <a:t>Decis</a:t>
            </a:r>
            <a:r>
              <a:rPr lang="en-ZA" sz="1200" b="0" i="1" kern="1200" dirty="0">
                <a:solidFill>
                  <a:schemeClr val="tx1"/>
                </a:solidFill>
                <a:effectLst/>
                <a:latin typeface="Calibri" panose="020F0502020204030204" pitchFamily="34" charset="0"/>
                <a:cs typeface="Calibri" panose="020F0502020204030204" pitchFamily="34" charset="0"/>
              </a:rPr>
              <a:t> Mak</a:t>
            </a:r>
            <a:r>
              <a:rPr lang="en-ZA" sz="1200" b="0" i="0" kern="1200" dirty="0">
                <a:solidFill>
                  <a:schemeClr val="tx1"/>
                </a:solidFill>
                <a:effectLst/>
                <a:latin typeface="Calibri" panose="020F0502020204030204" pitchFamily="34" charset="0"/>
                <a:cs typeface="Calibri" panose="020F0502020204030204" pitchFamily="34" charset="0"/>
              </a:rPr>
              <a:t>. 2013 Dec 18;13:136. </a:t>
            </a:r>
            <a:r>
              <a:rPr lang="en-ZA" sz="1200" b="0" i="0" kern="1200" dirty="0" err="1">
                <a:solidFill>
                  <a:schemeClr val="tx1"/>
                </a:solidFill>
                <a:effectLst/>
                <a:latin typeface="Calibri" panose="020F0502020204030204" pitchFamily="34" charset="0"/>
                <a:cs typeface="Calibri" panose="020F0502020204030204" pitchFamily="34" charset="0"/>
              </a:rPr>
              <a:t>doi</a:t>
            </a:r>
            <a:r>
              <a:rPr lang="en-ZA" sz="1200" b="0" i="0" kern="1200" dirty="0">
                <a:solidFill>
                  <a:schemeClr val="tx1"/>
                </a:solidFill>
                <a:effectLst/>
                <a:latin typeface="Calibri" panose="020F0502020204030204" pitchFamily="34" charset="0"/>
                <a:cs typeface="Calibri" panose="020F0502020204030204" pitchFamily="34" charset="0"/>
              </a:rPr>
              <a:t>: 10.1186/1472-6947-13-136</a:t>
            </a:r>
            <a:endParaRPr lang="en-ZA" sz="1200" dirty="0">
              <a:latin typeface="Calibri" panose="020F0502020204030204" pitchFamily="34" charset="0"/>
              <a:cs typeface="Calibri" panose="020F050202020403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1673860" y="326390"/>
            <a:ext cx="9090025" cy="620458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1427480" y="435610"/>
            <a:ext cx="9168130" cy="620458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1262744" y="560583"/>
            <a:ext cx="9339942" cy="573683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74955"/>
            <a:ext cx="10972800" cy="801370"/>
          </a:xfrm>
        </p:spPr>
        <p:txBody>
          <a:bodyPr vert="horz" rtlCol="0">
            <a:normAutofit/>
          </a:bodyPr>
          <a:p>
            <a:pPr lvl="0" algn="ctr">
              <a:buClrTx/>
              <a:buSzTx/>
              <a:buFontTx/>
            </a:pPr>
            <a:r>
              <a:rPr lang="en-US" altLang="en-GB" sz="3600">
                <a:solidFill>
                  <a:srgbClr val="C00000"/>
                </a:solidFill>
                <a:latin typeface="+mj-lt"/>
                <a:cs typeface="+mj-lt"/>
                <a:sym typeface="+mn-ea"/>
              </a:rPr>
              <a:t>Health Policy Shift in Favour of Prevention</a:t>
            </a:r>
            <a:endParaRPr lang="en-US" altLang="en-GB" sz="3600">
              <a:solidFill>
                <a:srgbClr val="C00000"/>
              </a:solidFill>
              <a:latin typeface="+mj-lt"/>
              <a:cs typeface="+mj-lt"/>
              <a:sym typeface="+mn-ea"/>
            </a:endParaRPr>
          </a:p>
        </p:txBody>
      </p:sp>
      <p:sp>
        <p:nvSpPr>
          <p:cNvPr id="3" name="Text Box 2"/>
          <p:cNvSpPr txBox="1"/>
          <p:nvPr/>
        </p:nvSpPr>
        <p:spPr>
          <a:xfrm>
            <a:off x="711200" y="1659890"/>
            <a:ext cx="10390505" cy="3784600"/>
          </a:xfrm>
          <a:prstGeom prst="rect">
            <a:avLst/>
          </a:prstGeom>
        </p:spPr>
        <p:txBody>
          <a:bodyPr wrap="square">
            <a:spAutoFit/>
          </a:bodyPr>
          <a:p>
            <a:pPr marL="342900" indent="-342900">
              <a:buFont typeface="Arial" panose="020B0604020202020204" pitchFamily="34" charset="0"/>
              <a:buChar char="•"/>
            </a:pPr>
            <a:r>
              <a:rPr sz="2400" b="0" i="0">
                <a:solidFill>
                  <a:srgbClr val="141413"/>
                </a:solidFill>
                <a:latin typeface="Calibri" panose="020F0502020204030204" pitchFamily="34" charset="0"/>
                <a:ea typeface="DM Sans"/>
                <a:cs typeface="Calibri" panose="020F0502020204030204" pitchFamily="34" charset="0"/>
              </a:rPr>
              <a:t>The last </a:t>
            </a:r>
            <a:r>
              <a:rPr lang="en-ZA" sz="2400" b="0" i="0">
                <a:solidFill>
                  <a:srgbClr val="141413"/>
                </a:solidFill>
                <a:latin typeface="Calibri" panose="020F0502020204030204" pitchFamily="34" charset="0"/>
                <a:ea typeface="DM Sans"/>
                <a:cs typeface="Calibri" panose="020F0502020204030204" pitchFamily="34" charset="0"/>
              </a:rPr>
              <a:t>20 years</a:t>
            </a:r>
            <a:r>
              <a:rPr sz="2400" b="0" i="0">
                <a:solidFill>
                  <a:srgbClr val="141413"/>
                </a:solidFill>
                <a:latin typeface="Calibri" panose="020F0502020204030204" pitchFamily="34" charset="0"/>
                <a:ea typeface="DM Sans"/>
                <a:cs typeface="Calibri" panose="020F0502020204030204" pitchFamily="34" charset="0"/>
              </a:rPr>
              <a:t> has seen a substantial growth in </a:t>
            </a:r>
            <a:r>
              <a:rPr sz="2400" b="0" i="0">
                <a:solidFill>
                  <a:srgbClr val="0070C0"/>
                </a:solidFill>
                <a:latin typeface="Calibri" panose="020F0502020204030204" pitchFamily="34" charset="0"/>
                <a:ea typeface="DM Sans"/>
                <a:cs typeface="Calibri" panose="020F0502020204030204" pitchFamily="34" charset="0"/>
              </a:rPr>
              <a:t>health policies stressing the need for “prevention orientated” solutions over treatment provision</a:t>
            </a:r>
            <a:r>
              <a:rPr sz="2400" b="0" i="0">
                <a:solidFill>
                  <a:srgbClr val="141413"/>
                </a:solidFill>
                <a:latin typeface="Calibri" panose="020F0502020204030204" pitchFamily="34" charset="0"/>
                <a:ea typeface="DM Sans"/>
                <a:cs typeface="Calibri" panose="020F0502020204030204" pitchFamily="34" charset="0"/>
              </a:rPr>
              <a:t> as an approach to addressing health needs. </a:t>
            </a:r>
            <a:endParaRPr sz="2400" b="0" i="0">
              <a:solidFill>
                <a:srgbClr val="141413"/>
              </a:solidFill>
              <a:latin typeface="Calibri" panose="020F0502020204030204" pitchFamily="34" charset="0"/>
              <a:ea typeface="DM Sans"/>
              <a:cs typeface="Calibri" panose="020F0502020204030204" pitchFamily="34" charset="0"/>
            </a:endParaRPr>
          </a:p>
          <a:p>
            <a:pPr marL="342900" indent="-342900">
              <a:buFont typeface="Arial" panose="020B0604020202020204" pitchFamily="34" charset="0"/>
              <a:buChar char="•"/>
            </a:pPr>
            <a:endParaRPr sz="2400" b="0" i="0">
              <a:solidFill>
                <a:srgbClr val="141413"/>
              </a:solidFill>
              <a:latin typeface="Calibri" panose="020F0502020204030204" pitchFamily="34" charset="0"/>
              <a:ea typeface="DM Sans"/>
              <a:cs typeface="Calibri" panose="020F0502020204030204" pitchFamily="34" charset="0"/>
            </a:endParaRPr>
          </a:p>
          <a:p>
            <a:pPr marL="342900" indent="-342900">
              <a:buFont typeface="Arial" panose="020B0604020202020204" pitchFamily="34" charset="0"/>
              <a:buChar char="•"/>
            </a:pPr>
            <a:r>
              <a:rPr sz="2400" b="0" i="0">
                <a:solidFill>
                  <a:srgbClr val="0070C0"/>
                </a:solidFill>
                <a:latin typeface="Calibri" panose="020F0502020204030204" pitchFamily="34" charset="0"/>
                <a:ea typeface="DM Sans"/>
                <a:cs typeface="Calibri" panose="020F0502020204030204" pitchFamily="34" charset="0"/>
              </a:rPr>
              <a:t>Such an approach infers</a:t>
            </a:r>
            <a:r>
              <a:rPr sz="2400" b="0" i="0">
                <a:solidFill>
                  <a:srgbClr val="141413"/>
                </a:solidFill>
                <a:latin typeface="Calibri" panose="020F0502020204030204" pitchFamily="34" charset="0"/>
                <a:ea typeface="DM Sans"/>
                <a:cs typeface="Calibri" panose="020F0502020204030204" pitchFamily="34" charset="0"/>
              </a:rPr>
              <a:t> that there is a clear distinction between the two approaches and that </a:t>
            </a:r>
            <a:r>
              <a:rPr sz="2400" b="0" i="0">
                <a:solidFill>
                  <a:srgbClr val="0070C0"/>
                </a:solidFill>
                <a:latin typeface="Calibri" panose="020F0502020204030204" pitchFamily="34" charset="0"/>
                <a:ea typeface="DM Sans"/>
                <a:cs typeface="Calibri" panose="020F0502020204030204" pitchFamily="34" charset="0"/>
              </a:rPr>
              <a:t>a shift of resources from</a:t>
            </a:r>
            <a:r>
              <a:rPr sz="2400" b="0" i="0">
                <a:solidFill>
                  <a:srgbClr val="141413"/>
                </a:solidFill>
                <a:latin typeface="Calibri" panose="020F0502020204030204" pitchFamily="34" charset="0"/>
                <a:ea typeface="DM Sans"/>
                <a:cs typeface="Calibri" panose="020F0502020204030204" pitchFamily="34" charset="0"/>
              </a:rPr>
              <a:t> current care modalities, with their emphasis on addressing health needs through </a:t>
            </a:r>
            <a:r>
              <a:rPr sz="2400" b="0" i="0">
                <a:solidFill>
                  <a:srgbClr val="0070C0"/>
                </a:solidFill>
                <a:latin typeface="Calibri" panose="020F0502020204030204" pitchFamily="34" charset="0"/>
                <a:ea typeface="DM Sans"/>
                <a:cs typeface="Calibri" panose="020F0502020204030204" pitchFamily="34" charset="0"/>
              </a:rPr>
              <a:t>treatment orientated health services, to approaches that adopt </a:t>
            </a:r>
            <a:r>
              <a:rPr lang="en-ZA" sz="2400" b="0" i="0">
                <a:solidFill>
                  <a:srgbClr val="0070C0"/>
                </a:solidFill>
                <a:latin typeface="Calibri" panose="020F0502020204030204" pitchFamily="34" charset="0"/>
                <a:ea typeface="DM Sans"/>
                <a:cs typeface="Calibri" panose="020F0502020204030204" pitchFamily="34" charset="0"/>
              </a:rPr>
              <a:t>prevention </a:t>
            </a:r>
            <a:r>
              <a:rPr sz="2400" b="0" i="0">
                <a:solidFill>
                  <a:srgbClr val="0070C0"/>
                </a:solidFill>
                <a:latin typeface="Calibri" panose="020F0502020204030204" pitchFamily="34" charset="0"/>
                <a:ea typeface="DM Sans"/>
                <a:cs typeface="Calibri" panose="020F0502020204030204" pitchFamily="34" charset="0"/>
              </a:rPr>
              <a:t>interventions aimed at addressing problems before they arise</a:t>
            </a:r>
            <a:r>
              <a:rPr sz="2400" b="0" i="0">
                <a:solidFill>
                  <a:srgbClr val="141413"/>
                </a:solidFill>
                <a:latin typeface="Calibri" panose="020F0502020204030204" pitchFamily="34" charset="0"/>
                <a:ea typeface="DM Sans"/>
                <a:cs typeface="Calibri" panose="020F0502020204030204" pitchFamily="34" charset="0"/>
              </a:rPr>
              <a:t>, will provide better outcomes, not least in terms of use of resources.</a:t>
            </a:r>
            <a:endParaRPr sz="2400" b="0" i="0">
              <a:solidFill>
                <a:srgbClr val="141413"/>
              </a:solidFill>
              <a:latin typeface="Calibri" panose="020F0502020204030204" pitchFamily="34" charset="0"/>
              <a:ea typeface="DM Sans"/>
              <a:cs typeface="Calibri" panose="020F0502020204030204" pitchFamily="34" charset="0"/>
            </a:endParaRPr>
          </a:p>
        </p:txBody>
      </p:sp>
      <p:sp>
        <p:nvSpPr>
          <p:cNvPr id="4" name="Text Box 3"/>
          <p:cNvSpPr txBox="1"/>
          <p:nvPr/>
        </p:nvSpPr>
        <p:spPr>
          <a:xfrm>
            <a:off x="894080" y="6076315"/>
            <a:ext cx="9353550" cy="578485"/>
          </a:xfrm>
          <a:prstGeom prst="rect">
            <a:avLst/>
          </a:prstGeom>
        </p:spPr>
        <p:txBody>
          <a:bodyPr wrap="square">
            <a:spAutoFit/>
          </a:bodyPr>
          <a:p>
            <a:pPr marL="0" indent="0">
              <a:lnSpc>
                <a:spcPts val="1900"/>
              </a:lnSpc>
              <a:spcBef>
                <a:spcPct val="0"/>
              </a:spcBef>
              <a:spcAft>
                <a:spcPct val="0"/>
              </a:spcAft>
            </a:pPr>
            <a:r>
              <a:rPr lang="en-ZA" sz="1200" b="0" i="0">
                <a:solidFill>
                  <a:srgbClr val="141413"/>
                </a:solidFill>
                <a:latin typeface="Calibri" panose="020F0502020204030204" pitchFamily="34" charset="0"/>
                <a:ea typeface="DM Sans"/>
                <a:cs typeface="Calibri" panose="020F0502020204030204" pitchFamily="34" charset="0"/>
              </a:rPr>
              <a:t>Source: Batchelor  P (2015). </a:t>
            </a:r>
            <a:r>
              <a:rPr sz="1200" b="0" i="0">
                <a:solidFill>
                  <a:srgbClr val="141413"/>
                </a:solidFill>
                <a:latin typeface="Calibri" panose="020F0502020204030204" pitchFamily="34" charset="0"/>
                <a:ea typeface="DM Sans"/>
                <a:cs typeface="Calibri" panose="020F0502020204030204" pitchFamily="34" charset="0"/>
              </a:rPr>
              <a:t>The false dichotomy between prevention and tratment and why it needs to be addressed</a:t>
            </a:r>
            <a:r>
              <a:rPr lang="en-ZA" sz="1200" b="0" i="0">
                <a:solidFill>
                  <a:srgbClr val="141413"/>
                </a:solidFill>
                <a:latin typeface="Calibri" panose="020F0502020204030204" pitchFamily="34" charset="0"/>
                <a:ea typeface="DM Sans"/>
                <a:cs typeface="Calibri" panose="020F0502020204030204" pitchFamily="34" charset="0"/>
              </a:rPr>
              <a:t>. Available at </a:t>
            </a:r>
            <a:r>
              <a:rPr lang="en-US" altLang="en-GB" sz="1200" b="0" i="0">
                <a:solidFill>
                  <a:srgbClr val="141413"/>
                </a:solidFill>
                <a:latin typeface="Calibri" panose="020F0502020204030204" pitchFamily="34" charset="0"/>
                <a:ea typeface="DM Sans"/>
                <a:cs typeface="Calibri" panose="020F0502020204030204" pitchFamily="34" charset="0"/>
              </a:rPr>
              <a:t>https://www.academia.edu/129067357/The_false_dichotomy_between_prevention_and_tratment_and_why_it_needs_to_be_addressed</a:t>
            </a:r>
            <a:r>
              <a:rPr lang="en-ZA" altLang="en-US" sz="1200" b="0" i="0">
                <a:solidFill>
                  <a:srgbClr val="141413"/>
                </a:solidFill>
                <a:latin typeface="Calibri" panose="020F0502020204030204" pitchFamily="34" charset="0"/>
                <a:ea typeface="DM Sans"/>
                <a:cs typeface="Calibri" panose="020F0502020204030204" pitchFamily="34" charset="0"/>
              </a:rPr>
              <a:t> </a:t>
            </a:r>
            <a:endParaRPr lang="en-ZA" altLang="en-US" sz="1200" b="0" i="0">
              <a:solidFill>
                <a:srgbClr val="141413"/>
              </a:solidFill>
              <a:latin typeface="Calibri" panose="020F0502020204030204" pitchFamily="34" charset="0"/>
              <a:ea typeface="DM Sans"/>
              <a:cs typeface="Calibri" panose="020F050202020403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0850" y="469900"/>
            <a:ext cx="11216640" cy="897890"/>
          </a:xfrm>
        </p:spPr>
        <p:txBody>
          <a:bodyPr/>
          <a:p>
            <a:r>
              <a:rPr lang="en-US" altLang="en-GB" sz="3600">
                <a:solidFill>
                  <a:srgbClr val="C00000"/>
                </a:solidFill>
                <a:latin typeface="+mj-lt"/>
                <a:cs typeface="+mj-lt"/>
              </a:rPr>
              <a:t>The false dichotomy between prevention </a:t>
            </a:r>
            <a:r>
              <a:rPr lang="en-ZA" altLang="en-US" sz="3600">
                <a:solidFill>
                  <a:srgbClr val="C00000"/>
                </a:solidFill>
                <a:latin typeface="+mj-lt"/>
                <a:cs typeface="+mj-lt"/>
              </a:rPr>
              <a:t>&amp;</a:t>
            </a:r>
            <a:r>
              <a:rPr lang="en-US" altLang="en-GB" sz="3600">
                <a:solidFill>
                  <a:srgbClr val="C00000"/>
                </a:solidFill>
                <a:latin typeface="+mj-lt"/>
                <a:cs typeface="+mj-lt"/>
              </a:rPr>
              <a:t> tr</a:t>
            </a:r>
            <a:r>
              <a:rPr lang="en-ZA" altLang="en-US" sz="3600">
                <a:solidFill>
                  <a:srgbClr val="C00000"/>
                </a:solidFill>
                <a:latin typeface="+mj-lt"/>
                <a:cs typeface="+mj-lt"/>
              </a:rPr>
              <a:t>e</a:t>
            </a:r>
            <a:r>
              <a:rPr lang="en-US" altLang="en-GB" sz="3600">
                <a:solidFill>
                  <a:srgbClr val="C00000"/>
                </a:solidFill>
                <a:latin typeface="+mj-lt"/>
                <a:cs typeface="+mj-lt"/>
              </a:rPr>
              <a:t>atment</a:t>
            </a:r>
            <a:endParaRPr lang="en-US" altLang="en-GB" sz="3600">
              <a:solidFill>
                <a:srgbClr val="C00000"/>
              </a:solidFill>
              <a:latin typeface="+mj-lt"/>
              <a:cs typeface="+mj-lt"/>
            </a:endParaRPr>
          </a:p>
        </p:txBody>
      </p:sp>
      <p:sp>
        <p:nvSpPr>
          <p:cNvPr id="3" name="Content Placeholder 2"/>
          <p:cNvSpPr>
            <a:spLocks noGrp="1"/>
          </p:cNvSpPr>
          <p:nvPr>
            <p:ph idx="1"/>
          </p:nvPr>
        </p:nvSpPr>
        <p:spPr>
          <a:xfrm>
            <a:off x="694690" y="1485900"/>
            <a:ext cx="10972800" cy="4288790"/>
          </a:xfrm>
        </p:spPr>
        <p:txBody>
          <a:bodyPr/>
          <a:p>
            <a:r>
              <a:rPr lang="en-ZA" altLang="en-US" sz="2400">
                <a:latin typeface="+mj-lt"/>
                <a:cs typeface="+mj-lt"/>
              </a:rPr>
              <a:t>We have an</a:t>
            </a:r>
            <a:r>
              <a:rPr lang="en-US" altLang="en-GB" sz="2400">
                <a:latin typeface="+mj-lt"/>
                <a:cs typeface="+mj-lt"/>
              </a:rPr>
              <a:t> </a:t>
            </a:r>
            <a:r>
              <a:rPr lang="en-US" altLang="en-GB" sz="2400">
                <a:solidFill>
                  <a:srgbClr val="0070C0"/>
                </a:solidFill>
                <a:latin typeface="+mj-lt"/>
                <a:cs typeface="+mj-lt"/>
              </a:rPr>
              <a:t>oversimplified dichotomy between prevention and treatmen</a:t>
            </a:r>
            <a:r>
              <a:rPr lang="en-US" altLang="en-GB" sz="2400">
                <a:latin typeface="+mj-lt"/>
                <a:cs typeface="+mj-lt"/>
              </a:rPr>
              <a:t>t in health policy.</a:t>
            </a:r>
            <a:endParaRPr lang="en-US" altLang="en-GB" sz="2400">
              <a:latin typeface="+mj-lt"/>
              <a:cs typeface="+mj-lt"/>
            </a:endParaRPr>
          </a:p>
          <a:p>
            <a:r>
              <a:rPr lang="en-US" altLang="en-GB" sz="2400">
                <a:latin typeface="+mj-lt"/>
                <a:cs typeface="+mj-lt"/>
              </a:rPr>
              <a:t>Chronic diseases have replaced acute conditions as the primary health challenges, </a:t>
            </a:r>
            <a:r>
              <a:rPr lang="en-US" altLang="en-GB" sz="2400">
                <a:solidFill>
                  <a:srgbClr val="0070C0"/>
                </a:solidFill>
                <a:latin typeface="+mj-lt"/>
                <a:cs typeface="+mj-lt"/>
              </a:rPr>
              <a:t>necessitating a paradigm shift</a:t>
            </a:r>
            <a:r>
              <a:rPr lang="en-US" altLang="en-GB" sz="2400">
                <a:latin typeface="+mj-lt"/>
                <a:cs typeface="+mj-lt"/>
              </a:rPr>
              <a:t>.</a:t>
            </a:r>
            <a:endParaRPr lang="en-US" altLang="en-GB" sz="2400">
              <a:latin typeface="+mj-lt"/>
              <a:cs typeface="+mj-lt"/>
            </a:endParaRPr>
          </a:p>
          <a:p>
            <a:r>
              <a:rPr lang="en-US" altLang="en-GB" sz="2400">
                <a:latin typeface="+mj-lt"/>
                <a:cs typeface="+mj-lt"/>
              </a:rPr>
              <a:t>Life course </a:t>
            </a:r>
            <a:r>
              <a:rPr lang="en-US" altLang="en-GB" sz="2400">
                <a:solidFill>
                  <a:srgbClr val="0070C0"/>
                </a:solidFill>
                <a:latin typeface="+mj-lt"/>
                <a:cs typeface="+mj-lt"/>
              </a:rPr>
              <a:t>epidemiology provides critical insights into how early factors influence long-term health outcomes</a:t>
            </a:r>
            <a:r>
              <a:rPr lang="en-US" altLang="en-GB" sz="2400">
                <a:latin typeface="+mj-lt"/>
                <a:cs typeface="+mj-lt"/>
              </a:rPr>
              <a:t>.</a:t>
            </a:r>
            <a:endParaRPr lang="en-US" altLang="en-GB" sz="2400">
              <a:latin typeface="+mj-lt"/>
              <a:cs typeface="+mj-lt"/>
            </a:endParaRPr>
          </a:p>
          <a:p>
            <a:r>
              <a:rPr lang="en-US" altLang="en-GB" sz="2400">
                <a:latin typeface="+mj-lt"/>
                <a:cs typeface="+mj-lt"/>
              </a:rPr>
              <a:t>A </a:t>
            </a:r>
            <a:r>
              <a:rPr lang="en-US" altLang="en-GB" sz="2400">
                <a:solidFill>
                  <a:srgbClr val="0070C0"/>
                </a:solidFill>
                <a:latin typeface="+mj-lt"/>
                <a:cs typeface="+mj-lt"/>
              </a:rPr>
              <a:t>unified approach integrating both prevention and treatment is essential</a:t>
            </a:r>
            <a:r>
              <a:rPr lang="en-US" altLang="en-GB" sz="2400">
                <a:latin typeface="+mj-lt"/>
                <a:cs typeface="+mj-lt"/>
              </a:rPr>
              <a:t> for effective health management.</a:t>
            </a:r>
            <a:endParaRPr lang="en-US" altLang="en-GB" sz="2400">
              <a:latin typeface="+mj-lt"/>
              <a:cs typeface="+mj-lt"/>
            </a:endParaRPr>
          </a:p>
          <a:p>
            <a:r>
              <a:rPr lang="en-US" altLang="en-GB" sz="2400">
                <a:latin typeface="+mj-lt"/>
                <a:cs typeface="+mj-lt"/>
              </a:rPr>
              <a:t>Policy should </a:t>
            </a:r>
            <a:r>
              <a:rPr lang="en-US" altLang="en-GB" sz="2400">
                <a:solidFill>
                  <a:srgbClr val="0070C0"/>
                </a:solidFill>
                <a:latin typeface="+mj-lt"/>
                <a:cs typeface="+mj-lt"/>
              </a:rPr>
              <a:t>focus on the health impacts of interventions across an individual's lifespan</a:t>
            </a:r>
            <a:r>
              <a:rPr lang="en-US" altLang="en-GB" sz="2400">
                <a:latin typeface="+mj-lt"/>
                <a:cs typeface="+mj-lt"/>
              </a:rPr>
              <a:t>, not just their preventive aspects.</a:t>
            </a:r>
            <a:endParaRPr lang="en-US" altLang="en-GB" sz="2400">
              <a:latin typeface="+mj-lt"/>
              <a:cs typeface="+mj-lt"/>
            </a:endParaRPr>
          </a:p>
        </p:txBody>
      </p:sp>
      <p:sp>
        <p:nvSpPr>
          <p:cNvPr id="4" name="Text Box 3"/>
          <p:cNvSpPr txBox="1"/>
          <p:nvPr/>
        </p:nvSpPr>
        <p:spPr>
          <a:xfrm>
            <a:off x="894080" y="6076315"/>
            <a:ext cx="9353550" cy="578485"/>
          </a:xfrm>
          <a:prstGeom prst="rect">
            <a:avLst/>
          </a:prstGeom>
        </p:spPr>
        <p:txBody>
          <a:bodyPr wrap="square">
            <a:spAutoFit/>
          </a:bodyPr>
          <a:p>
            <a:pPr marL="0" indent="0">
              <a:lnSpc>
                <a:spcPts val="1900"/>
              </a:lnSpc>
              <a:spcBef>
                <a:spcPct val="0"/>
              </a:spcBef>
              <a:spcAft>
                <a:spcPct val="0"/>
              </a:spcAft>
            </a:pPr>
            <a:r>
              <a:rPr lang="en-ZA" sz="1200" b="0" i="0">
                <a:solidFill>
                  <a:srgbClr val="141413"/>
                </a:solidFill>
                <a:latin typeface="Calibri" panose="020F0502020204030204" pitchFamily="34" charset="0"/>
                <a:ea typeface="DM Sans"/>
                <a:cs typeface="Calibri" panose="020F0502020204030204" pitchFamily="34" charset="0"/>
              </a:rPr>
              <a:t>Source: Batchelor  P (2015). </a:t>
            </a:r>
            <a:r>
              <a:rPr sz="1200" b="0" i="0">
                <a:solidFill>
                  <a:srgbClr val="141413"/>
                </a:solidFill>
                <a:latin typeface="Calibri" panose="020F0502020204030204" pitchFamily="34" charset="0"/>
                <a:ea typeface="DM Sans"/>
                <a:cs typeface="Calibri" panose="020F0502020204030204" pitchFamily="34" charset="0"/>
              </a:rPr>
              <a:t>The false dichotomy between prevention and tratment and why it needs to be addressed</a:t>
            </a:r>
            <a:r>
              <a:rPr lang="en-ZA" sz="1200" b="0" i="0">
                <a:solidFill>
                  <a:srgbClr val="141413"/>
                </a:solidFill>
                <a:latin typeface="Calibri" panose="020F0502020204030204" pitchFamily="34" charset="0"/>
                <a:ea typeface="DM Sans"/>
                <a:cs typeface="Calibri" panose="020F0502020204030204" pitchFamily="34" charset="0"/>
              </a:rPr>
              <a:t>. Available at </a:t>
            </a:r>
            <a:r>
              <a:rPr lang="en-US" altLang="en-GB" sz="1200" b="0" i="0">
                <a:solidFill>
                  <a:srgbClr val="141413"/>
                </a:solidFill>
                <a:latin typeface="Calibri" panose="020F0502020204030204" pitchFamily="34" charset="0"/>
                <a:ea typeface="DM Sans"/>
                <a:cs typeface="Calibri" panose="020F0502020204030204" pitchFamily="34" charset="0"/>
              </a:rPr>
              <a:t>https://www.academia.edu/129067357/The_false_dichotomy_between_prevention_and_tratment_and_why_it_needs_to_be_addressed</a:t>
            </a:r>
            <a:r>
              <a:rPr lang="en-ZA" altLang="en-US" sz="1200" b="0" i="0">
                <a:solidFill>
                  <a:srgbClr val="141413"/>
                </a:solidFill>
                <a:latin typeface="Calibri" panose="020F0502020204030204" pitchFamily="34" charset="0"/>
                <a:ea typeface="DM Sans"/>
                <a:cs typeface="Calibri" panose="020F0502020204030204" pitchFamily="34" charset="0"/>
              </a:rPr>
              <a:t> </a:t>
            </a:r>
            <a:endParaRPr lang="en-ZA" altLang="en-US" sz="1200" b="0" i="0">
              <a:solidFill>
                <a:srgbClr val="141413"/>
              </a:solidFill>
              <a:latin typeface="Calibri" panose="020F0502020204030204" pitchFamily="34" charset="0"/>
              <a:ea typeface="DM Sans"/>
              <a:cs typeface="Calibri" panose="020F050202020403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8099" y="237172"/>
            <a:ext cx="10515600" cy="699226"/>
          </a:xfrm>
        </p:spPr>
        <p:txBody>
          <a:bodyPr>
            <a:noAutofit/>
          </a:bodyPr>
          <a:lstStyle/>
          <a:p>
            <a:r>
              <a:rPr lang="en-GB" sz="3200" dirty="0">
                <a:solidFill>
                  <a:srgbClr val="C00000"/>
                </a:solidFill>
                <a:latin typeface="+mj-lt"/>
                <a:cs typeface="+mj-lt"/>
              </a:rPr>
              <a:t>Health Justice in Treatment and Prevention</a:t>
            </a:r>
            <a:br>
              <a:rPr lang="en-GB" sz="3200" dirty="0">
                <a:solidFill>
                  <a:srgbClr val="C00000"/>
                </a:solidFill>
                <a:latin typeface="+mj-lt"/>
                <a:cs typeface="+mj-lt"/>
              </a:rPr>
            </a:br>
            <a:br>
              <a:rPr lang="en-ZA" sz="3200" dirty="0">
                <a:solidFill>
                  <a:srgbClr val="C00000"/>
                </a:solidFill>
                <a:latin typeface="+mj-lt"/>
                <a:cs typeface="+mj-lt"/>
              </a:rPr>
            </a:br>
            <a:r>
              <a:rPr lang="en-ZA" sz="3200" dirty="0">
                <a:solidFill>
                  <a:srgbClr val="C00000"/>
                </a:solidFill>
                <a:latin typeface="+mj-lt"/>
                <a:cs typeface="+mj-lt"/>
              </a:rPr>
              <a:t> </a:t>
            </a:r>
            <a:endParaRPr lang="en-ZA" sz="3200" dirty="0">
              <a:solidFill>
                <a:srgbClr val="C00000"/>
              </a:solidFill>
              <a:latin typeface="+mj-lt"/>
              <a:cs typeface="+mj-lt"/>
            </a:endParaRPr>
          </a:p>
        </p:txBody>
      </p:sp>
      <p:sp>
        <p:nvSpPr>
          <p:cNvPr id="29" name="TextBox 28"/>
          <p:cNvSpPr txBox="1"/>
          <p:nvPr/>
        </p:nvSpPr>
        <p:spPr>
          <a:xfrm>
            <a:off x="669073" y="1212622"/>
            <a:ext cx="10594626" cy="4708981"/>
          </a:xfrm>
          <a:prstGeom prst="rect">
            <a:avLst/>
          </a:prstGeom>
          <a:noFill/>
        </p:spPr>
        <p:txBody>
          <a:bodyPr wrap="square">
            <a:spAutoFit/>
          </a:bodyPr>
          <a:lstStyle/>
          <a:p>
            <a:pPr marL="285750" indent="-285750" algn="just">
              <a:buFont typeface="Arial" panose="020B0604020202020204" pitchFamily="34" charset="0"/>
              <a:buChar char="•"/>
            </a:pPr>
            <a:r>
              <a:rPr lang="en-GB" sz="2000" dirty="0">
                <a:latin typeface="+mj-lt"/>
                <a:cs typeface="+mj-lt"/>
              </a:rPr>
              <a:t>Daniels's account of </a:t>
            </a:r>
            <a:r>
              <a:rPr lang="en-GB" sz="2000" b="1" dirty="0">
                <a:solidFill>
                  <a:srgbClr val="0070C0"/>
                </a:solidFill>
                <a:latin typeface="+mj-lt"/>
                <a:cs typeface="+mj-lt"/>
              </a:rPr>
              <a:t>health justice</a:t>
            </a:r>
            <a:r>
              <a:rPr lang="en-GB" sz="2000" dirty="0">
                <a:latin typeface="+mj-lt"/>
                <a:cs typeface="+mj-lt"/>
              </a:rPr>
              <a:t> holds that "</a:t>
            </a:r>
            <a:r>
              <a:rPr lang="en-GB" sz="2000" i="1" dirty="0">
                <a:solidFill>
                  <a:srgbClr val="0070C0"/>
                </a:solidFill>
                <a:latin typeface="+mj-lt"/>
                <a:cs typeface="+mj-lt"/>
              </a:rPr>
              <a:t>we have a robust social obligation to protect and promote health</a:t>
            </a:r>
            <a:r>
              <a:rPr lang="en-GB" sz="2000" i="1" dirty="0">
                <a:latin typeface="+mj-lt"/>
                <a:cs typeface="+mj-lt"/>
              </a:rPr>
              <a:t> and that this obligation means </a:t>
            </a:r>
            <a:r>
              <a:rPr lang="en-GB" sz="2000" i="1" dirty="0">
                <a:solidFill>
                  <a:srgbClr val="0070C0"/>
                </a:solidFill>
                <a:latin typeface="+mj-lt"/>
                <a:cs typeface="+mj-lt"/>
              </a:rPr>
              <a:t>we owe each other a reasonable array of both preventive and curative interventions</a:t>
            </a:r>
            <a:r>
              <a:rPr lang="en-GB" sz="2000" dirty="0">
                <a:latin typeface="+mj-lt"/>
                <a:cs typeface="+mj-lt"/>
              </a:rPr>
              <a:t>" (176). </a:t>
            </a:r>
            <a:endParaRPr lang="en-GB" sz="2000" dirty="0">
              <a:latin typeface="+mj-lt"/>
              <a:cs typeface="+mj-lt"/>
            </a:endParaRPr>
          </a:p>
          <a:p>
            <a:pPr marL="285750" indent="-285750" algn="just">
              <a:buFont typeface="Arial" panose="020B0604020202020204" pitchFamily="34" charset="0"/>
              <a:buChar char="•"/>
            </a:pPr>
            <a:r>
              <a:rPr lang="en-GB" sz="2000" dirty="0">
                <a:latin typeface="+mj-lt"/>
                <a:cs typeface="+mj-lt"/>
              </a:rPr>
              <a:t>Given limited resources and other pressing social concerns, this is </a:t>
            </a:r>
            <a:r>
              <a:rPr lang="en-GB" sz="2000" dirty="0">
                <a:solidFill>
                  <a:srgbClr val="0070C0"/>
                </a:solidFill>
                <a:latin typeface="+mj-lt"/>
                <a:cs typeface="+mj-lt"/>
              </a:rPr>
              <a:t>not an obligation to provide all possible health-promoting assistance</a:t>
            </a:r>
            <a:r>
              <a:rPr lang="en-GB" sz="2000" dirty="0">
                <a:latin typeface="+mj-lt"/>
                <a:cs typeface="+mj-lt"/>
              </a:rPr>
              <a:t>. </a:t>
            </a:r>
            <a:endParaRPr lang="en-GB" sz="2000" dirty="0">
              <a:latin typeface="+mj-lt"/>
              <a:cs typeface="+mj-lt"/>
            </a:endParaRPr>
          </a:p>
          <a:p>
            <a:pPr marL="285750" indent="-285750" algn="just">
              <a:buFont typeface="Arial" panose="020B0604020202020204" pitchFamily="34" charset="0"/>
              <a:buChar char="•"/>
            </a:pPr>
            <a:r>
              <a:rPr lang="en-GB" sz="2000" dirty="0">
                <a:latin typeface="+mj-lt"/>
                <a:cs typeface="+mj-lt"/>
              </a:rPr>
              <a:t>Daniels has long been </a:t>
            </a:r>
            <a:r>
              <a:rPr lang="en-GB" sz="2000" dirty="0" err="1">
                <a:solidFill>
                  <a:srgbClr val="0070C0"/>
                </a:solidFill>
                <a:latin typeface="+mj-lt"/>
                <a:cs typeface="+mj-lt"/>
              </a:rPr>
              <a:t>skeptical</a:t>
            </a:r>
            <a:r>
              <a:rPr lang="en-GB" sz="2000" dirty="0">
                <a:solidFill>
                  <a:srgbClr val="0070C0"/>
                </a:solidFill>
                <a:latin typeface="+mj-lt"/>
                <a:cs typeface="+mj-lt"/>
              </a:rPr>
              <a:t> that there is one right way to allocate scarce resources, and he encourages citizens to engage one another in respectful deliberation to arrive at publicly legitimate (if not timelessly true) approaches to rationing</a:t>
            </a:r>
            <a:r>
              <a:rPr lang="en-GB" sz="2000" dirty="0">
                <a:latin typeface="+mj-lt"/>
                <a:cs typeface="+mj-lt"/>
              </a:rPr>
              <a:t>. </a:t>
            </a:r>
            <a:endParaRPr lang="en-GB" sz="2000" dirty="0">
              <a:latin typeface="+mj-lt"/>
              <a:cs typeface="+mj-lt"/>
            </a:endParaRPr>
          </a:p>
          <a:p>
            <a:pPr marL="285750" indent="-285750" algn="just">
              <a:buFont typeface="Arial" panose="020B0604020202020204" pitchFamily="34" charset="0"/>
              <a:buChar char="•"/>
            </a:pPr>
            <a:r>
              <a:rPr lang="en-GB" sz="2000" dirty="0">
                <a:latin typeface="+mj-lt"/>
                <a:cs typeface="+mj-lt"/>
              </a:rPr>
              <a:t>This is his general tack toward the </a:t>
            </a:r>
            <a:r>
              <a:rPr lang="en-GB" sz="2000" b="1" dirty="0">
                <a:solidFill>
                  <a:srgbClr val="0070C0"/>
                </a:solidFill>
                <a:latin typeface="+mj-lt"/>
                <a:cs typeface="+mj-lt"/>
              </a:rPr>
              <a:t>prevention/treatment trade-off </a:t>
            </a:r>
            <a:r>
              <a:rPr lang="en-GB" sz="2000" dirty="0">
                <a:latin typeface="+mj-lt"/>
                <a:cs typeface="+mj-lt"/>
              </a:rPr>
              <a:t>as well, although he stresses that </a:t>
            </a:r>
            <a:r>
              <a:rPr lang="en-GB" sz="2000" dirty="0">
                <a:solidFill>
                  <a:srgbClr val="0070C0"/>
                </a:solidFill>
                <a:latin typeface="+mj-lt"/>
                <a:cs typeface="+mj-lt"/>
              </a:rPr>
              <a:t>socially disadvantaged groups should be granted special priority (especially for prevention) in light of the greater social and environmental risks they encounter</a:t>
            </a:r>
            <a:r>
              <a:rPr lang="en-GB" sz="2000" dirty="0">
                <a:latin typeface="+mj-lt"/>
                <a:cs typeface="+mj-lt"/>
              </a:rPr>
              <a:t>.</a:t>
            </a:r>
            <a:r>
              <a:rPr lang="en-US" sz="2000" dirty="0">
                <a:effectLst/>
                <a:latin typeface="+mj-lt"/>
                <a:ea typeface="Arial" panose="020B0604020202020204" pitchFamily="34" charset="0"/>
                <a:cs typeface="+mj-lt"/>
              </a:rPr>
              <a:t>  </a:t>
            </a:r>
            <a:endParaRPr lang="en-US" sz="2000" dirty="0">
              <a:effectLst/>
              <a:latin typeface="+mj-lt"/>
              <a:ea typeface="Arial" panose="020B0604020202020204" pitchFamily="34" charset="0"/>
              <a:cs typeface="+mj-lt"/>
            </a:endParaRPr>
          </a:p>
          <a:p>
            <a:pPr marL="285750" indent="-285750" algn="just">
              <a:buFont typeface="Arial" panose="020B0604020202020204" pitchFamily="34" charset="0"/>
              <a:buChar char="•"/>
            </a:pPr>
            <a:r>
              <a:rPr lang="en-GB" sz="2000" dirty="0">
                <a:latin typeface="+mj-lt"/>
                <a:cs typeface="+mj-lt"/>
              </a:rPr>
              <a:t>Daniels's new positive argument for treatment's limited priority focuses on the fact that </a:t>
            </a:r>
            <a:r>
              <a:rPr lang="en-GB" sz="2000" dirty="0">
                <a:solidFill>
                  <a:srgbClr val="0070C0"/>
                </a:solidFill>
                <a:latin typeface="+mj-lt"/>
                <a:cs typeface="+mj-lt"/>
              </a:rPr>
              <a:t>those in need of treatment are often "clearly worse off" than those who can benefit from prevention</a:t>
            </a:r>
            <a:r>
              <a:rPr lang="en-GB" sz="2000" dirty="0">
                <a:latin typeface="+mj-lt"/>
                <a:cs typeface="+mj-lt"/>
              </a:rPr>
              <a:t> (189). Specifically, they are worse off in having much higher baseline risk.</a:t>
            </a:r>
            <a:endParaRPr lang="en-GB" sz="2000" dirty="0">
              <a:latin typeface="+mj-lt"/>
              <a:cs typeface="+mj-lt"/>
            </a:endParaRPr>
          </a:p>
          <a:p>
            <a:pPr marL="342900" indent="-342900" algn="just">
              <a:buFont typeface="Arial" panose="020B0604020202020204" pitchFamily="34" charset="0"/>
              <a:buChar char="•"/>
            </a:pPr>
            <a:endParaRPr lang="en-ZA" sz="2000" dirty="0">
              <a:effectLst/>
              <a:latin typeface="+mj-lt"/>
              <a:ea typeface="Arial" panose="020B0604020202020204" pitchFamily="34" charset="0"/>
              <a:cs typeface="+mj-lt"/>
            </a:endParaRPr>
          </a:p>
        </p:txBody>
      </p:sp>
      <p:sp>
        <p:nvSpPr>
          <p:cNvPr id="4" name="TextBox 3"/>
          <p:cNvSpPr txBox="1"/>
          <p:nvPr/>
        </p:nvSpPr>
        <p:spPr>
          <a:xfrm>
            <a:off x="962025" y="6131153"/>
            <a:ext cx="9696450" cy="461665"/>
          </a:xfrm>
          <a:prstGeom prst="rect">
            <a:avLst/>
          </a:prstGeom>
          <a:noFill/>
        </p:spPr>
        <p:txBody>
          <a:bodyPr wrap="square">
            <a:spAutoFit/>
          </a:bodyPr>
          <a:lstStyle/>
          <a:p>
            <a:r>
              <a:rPr lang="en-GB" sz="1200" dirty="0">
                <a:latin typeface="+mj-lt"/>
                <a:cs typeface="+mj-lt"/>
              </a:rPr>
              <a:t>Norman Daniels (2012)"Treatment and Prevention: What Do We Owe Each Other?" </a:t>
            </a:r>
            <a:r>
              <a:rPr lang="en-GB" sz="1200" b="0" i="0" dirty="0">
                <a:solidFill>
                  <a:srgbClr val="333333"/>
                </a:solidFill>
                <a:effectLst/>
                <a:latin typeface="+mj-lt"/>
                <a:cs typeface="+mj-lt"/>
              </a:rPr>
              <a:t>.</a:t>
            </a:r>
            <a:r>
              <a:rPr lang="en-GB" sz="1200" dirty="0">
                <a:solidFill>
                  <a:srgbClr val="333333"/>
                </a:solidFill>
                <a:latin typeface="+mj-lt"/>
                <a:cs typeface="+mj-lt"/>
              </a:rPr>
              <a:t> </a:t>
            </a:r>
            <a:endParaRPr lang="en-GB" sz="1200" dirty="0">
              <a:solidFill>
                <a:srgbClr val="333333"/>
              </a:solidFill>
              <a:latin typeface="+mj-lt"/>
              <a:cs typeface="+mj-lt"/>
            </a:endParaRPr>
          </a:p>
          <a:p>
            <a:r>
              <a:rPr lang="en-GB" sz="1200" dirty="0">
                <a:solidFill>
                  <a:srgbClr val="333333"/>
                </a:solidFill>
                <a:latin typeface="+mj-lt"/>
                <a:cs typeface="+mj-lt"/>
                <a:hlinkClick r:id="rId1"/>
              </a:rPr>
              <a:t>https://ndpr.nd.edu/reviews/prevention-vs-treatment-what-s-the-right-balance/</a:t>
            </a:r>
            <a:r>
              <a:rPr lang="en-GB" sz="1200" dirty="0">
                <a:solidFill>
                  <a:srgbClr val="333333"/>
                </a:solidFill>
                <a:latin typeface="+mj-lt"/>
                <a:cs typeface="+mj-lt"/>
              </a:rPr>
              <a:t> </a:t>
            </a:r>
            <a:endParaRPr lang="en-ZA" sz="1200" dirty="0">
              <a:latin typeface="+mj-lt"/>
              <a:cs typeface="+mj-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8099" y="157281"/>
            <a:ext cx="10515600" cy="566620"/>
          </a:xfrm>
        </p:spPr>
        <p:txBody>
          <a:bodyPr>
            <a:noAutofit/>
          </a:bodyPr>
          <a:lstStyle/>
          <a:p>
            <a:r>
              <a:rPr lang="en-GB" sz="2800" dirty="0">
                <a:solidFill>
                  <a:srgbClr val="C00000"/>
                </a:solidFill>
                <a:latin typeface="Calibri" panose="020F0502020204030204" pitchFamily="34" charset="0"/>
                <a:cs typeface="Calibri" panose="020F0502020204030204" pitchFamily="34" charset="0"/>
              </a:rPr>
              <a:t>A Balance Between Prevention and Treatment?</a:t>
            </a:r>
            <a:br>
              <a:rPr lang="en-GB" sz="2800" dirty="0">
                <a:solidFill>
                  <a:srgbClr val="C00000"/>
                </a:solidFill>
                <a:latin typeface="Calibri" panose="020F0502020204030204" pitchFamily="34" charset="0"/>
                <a:cs typeface="Calibri" panose="020F0502020204030204" pitchFamily="34" charset="0"/>
              </a:rPr>
            </a:br>
            <a:br>
              <a:rPr lang="en-ZA" sz="2800" dirty="0">
                <a:solidFill>
                  <a:srgbClr val="C00000"/>
                </a:solidFill>
                <a:latin typeface="Calibri" panose="020F0502020204030204" pitchFamily="34" charset="0"/>
                <a:cs typeface="Calibri" panose="020F0502020204030204" pitchFamily="34" charset="0"/>
              </a:rPr>
            </a:br>
            <a:r>
              <a:rPr lang="en-ZA" sz="2800" dirty="0">
                <a:solidFill>
                  <a:srgbClr val="C00000"/>
                </a:solidFill>
                <a:latin typeface="Calibri" panose="020F0502020204030204" pitchFamily="34" charset="0"/>
                <a:cs typeface="Calibri" panose="020F0502020204030204" pitchFamily="34" charset="0"/>
              </a:rPr>
              <a:t> </a:t>
            </a:r>
            <a:endParaRPr lang="en-ZA" sz="2800" dirty="0">
              <a:solidFill>
                <a:srgbClr val="C00000"/>
              </a:solidFill>
              <a:latin typeface="Calibri" panose="020F0502020204030204" pitchFamily="34" charset="0"/>
              <a:cs typeface="Calibri" panose="020F0502020204030204" pitchFamily="34" charset="0"/>
            </a:endParaRPr>
          </a:p>
        </p:txBody>
      </p:sp>
      <p:sp>
        <p:nvSpPr>
          <p:cNvPr id="29" name="TextBox 28"/>
          <p:cNvSpPr txBox="1"/>
          <p:nvPr/>
        </p:nvSpPr>
        <p:spPr>
          <a:xfrm>
            <a:off x="583347" y="914520"/>
            <a:ext cx="10680351" cy="5324535"/>
          </a:xfrm>
          <a:prstGeom prst="rect">
            <a:avLst/>
          </a:prstGeom>
          <a:noFill/>
        </p:spPr>
        <p:txBody>
          <a:bodyPr wrap="square">
            <a:spAutoFit/>
          </a:bodyPr>
          <a:lstStyle/>
          <a:p>
            <a:pPr marL="285750" indent="-285750" algn="just">
              <a:buFont typeface="Arial" panose="020B0604020202020204" pitchFamily="34" charset="0"/>
              <a:buChar char="•"/>
            </a:pPr>
            <a:r>
              <a:rPr lang="en-GB" sz="2000" dirty="0">
                <a:latin typeface="Calibri" panose="020F0502020204030204" pitchFamily="34" charset="0"/>
                <a:cs typeface="Calibri" panose="020F0502020204030204" pitchFamily="34" charset="0"/>
              </a:rPr>
              <a:t>Russell's boldest and most intriguing thesis is that "</a:t>
            </a:r>
            <a:r>
              <a:rPr lang="en-GB" sz="2000" dirty="0">
                <a:solidFill>
                  <a:srgbClr val="0070C0"/>
                </a:solidFill>
                <a:latin typeface="Calibri" panose="020F0502020204030204" pitchFamily="34" charset="0"/>
                <a:cs typeface="Calibri" panose="020F0502020204030204" pitchFamily="34" charset="0"/>
              </a:rPr>
              <a:t>the balance between prevention and cure, at least in the medical sector, may not be so far wrong after all</a:t>
            </a:r>
            <a:r>
              <a:rPr lang="en-GB" sz="2000" dirty="0">
                <a:latin typeface="Calibri" panose="020F0502020204030204" pitchFamily="34" charset="0"/>
                <a:cs typeface="Calibri" panose="020F0502020204030204" pitchFamily="34" charset="0"/>
              </a:rPr>
              <a:t>" (75). This claim stems from studies that show </a:t>
            </a:r>
            <a:r>
              <a:rPr lang="en-GB" sz="2000" dirty="0">
                <a:solidFill>
                  <a:srgbClr val="0070C0"/>
                </a:solidFill>
                <a:latin typeface="Calibri" panose="020F0502020204030204" pitchFamily="34" charset="0"/>
                <a:cs typeface="Calibri" panose="020F0502020204030204" pitchFamily="34" charset="0"/>
              </a:rPr>
              <a:t>prevention and treatment are by and large </a:t>
            </a:r>
            <a:r>
              <a:rPr lang="en-GB" sz="2000" i="1" dirty="0">
                <a:solidFill>
                  <a:srgbClr val="0070C0"/>
                </a:solidFill>
                <a:latin typeface="Calibri" panose="020F0502020204030204" pitchFamily="34" charset="0"/>
                <a:cs typeface="Calibri" panose="020F0502020204030204" pitchFamily="34" charset="0"/>
              </a:rPr>
              <a:t>equally</a:t>
            </a:r>
            <a:r>
              <a:rPr lang="en-GB" sz="2000" dirty="0">
                <a:solidFill>
                  <a:srgbClr val="0070C0"/>
                </a:solidFill>
                <a:latin typeface="Calibri" panose="020F0502020204030204" pitchFamily="34" charset="0"/>
                <a:cs typeface="Calibri" panose="020F0502020204030204" pitchFamily="34" charset="0"/>
              </a:rPr>
              <a:t> </a:t>
            </a:r>
            <a:r>
              <a:rPr lang="en-GB" sz="2000" i="1" dirty="0">
                <a:solidFill>
                  <a:srgbClr val="0070C0"/>
                </a:solidFill>
                <a:latin typeface="Calibri" panose="020F0502020204030204" pitchFamily="34" charset="0"/>
                <a:cs typeface="Calibri" panose="020F0502020204030204" pitchFamily="34" charset="0"/>
              </a:rPr>
              <a:t>cost-effective</a:t>
            </a:r>
            <a:r>
              <a:rPr lang="en-GB" sz="2000" dirty="0">
                <a:latin typeface="Calibri" panose="020F0502020204030204" pitchFamily="34" charset="0"/>
                <a:cs typeface="Calibri" panose="020F0502020204030204" pitchFamily="34" charset="0"/>
              </a:rPr>
              <a:t>. </a:t>
            </a:r>
            <a:endParaRPr lang="en-GB" sz="2000" dirty="0">
              <a:latin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endParaRPr lang="en-GB" sz="2000" i="1" dirty="0">
              <a:latin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lang="en-GB" sz="2000" i="1" dirty="0">
                <a:latin typeface="Calibri" panose="020F0502020204030204" pitchFamily="34" charset="0"/>
                <a:cs typeface="Calibri" panose="020F0502020204030204" pitchFamily="34" charset="0"/>
              </a:rPr>
              <a:t>Cost-effectiveness analysis</a:t>
            </a:r>
            <a:r>
              <a:rPr lang="en-GB" sz="2000" dirty="0">
                <a:latin typeface="Calibri" panose="020F0502020204030204" pitchFamily="34" charset="0"/>
                <a:cs typeface="Calibri" panose="020F0502020204030204" pitchFamily="34" charset="0"/>
              </a:rPr>
              <a:t> (CEA) is a health economic framework that </a:t>
            </a:r>
            <a:r>
              <a:rPr lang="en-GB" sz="2000" dirty="0">
                <a:solidFill>
                  <a:srgbClr val="0070C0"/>
                </a:solidFill>
                <a:latin typeface="Calibri" panose="020F0502020204030204" pitchFamily="34" charset="0"/>
                <a:cs typeface="Calibri" panose="020F0502020204030204" pitchFamily="34" charset="0"/>
              </a:rPr>
              <a:t>compares a given intervention's monetary cost with its expected health benefit</a:t>
            </a:r>
            <a:r>
              <a:rPr lang="en-GB" sz="2000" dirty="0">
                <a:latin typeface="Calibri" panose="020F0502020204030204" pitchFamily="34" charset="0"/>
                <a:cs typeface="Calibri" panose="020F0502020204030204" pitchFamily="34" charset="0"/>
              </a:rPr>
              <a:t>. Health benefits are usually measured in quality-adjusted life-years (QALYs), which </a:t>
            </a:r>
            <a:r>
              <a:rPr lang="en-GB" sz="2000" dirty="0">
                <a:solidFill>
                  <a:srgbClr val="0070C0"/>
                </a:solidFill>
                <a:latin typeface="Calibri" panose="020F0502020204030204" pitchFamily="34" charset="0"/>
                <a:cs typeface="Calibri" panose="020F0502020204030204" pitchFamily="34" charset="0"/>
              </a:rPr>
              <a:t>combine quality-of-life and longevity into one metric</a:t>
            </a:r>
            <a:r>
              <a:rPr lang="en-GB" sz="2000" dirty="0">
                <a:latin typeface="Calibri" panose="020F0502020204030204" pitchFamily="34" charset="0"/>
                <a:cs typeface="Calibri" panose="020F0502020204030204" pitchFamily="34" charset="0"/>
              </a:rPr>
              <a:t> by multiplying a given health state's quality score by the time (in years) spent living in that state. Quality scores range from zero ("as bad as death") to 1 ("full health").</a:t>
            </a:r>
            <a:endParaRPr lang="en-GB" sz="2000" dirty="0">
              <a:latin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endParaRPr lang="en-GB" sz="2000" dirty="0">
              <a:solidFill>
                <a:srgbClr val="0070C0"/>
              </a:solidFill>
              <a:latin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lang="en-GB" sz="2000" dirty="0">
                <a:latin typeface="Calibri" panose="020F0502020204030204" pitchFamily="34" charset="0"/>
                <a:cs typeface="Calibri" panose="020F0502020204030204" pitchFamily="34" charset="0"/>
              </a:rPr>
              <a:t>Philosophers have raised</a:t>
            </a:r>
            <a:r>
              <a:rPr lang="en-GB" sz="2000" dirty="0">
                <a:solidFill>
                  <a:srgbClr val="0070C0"/>
                </a:solidFill>
                <a:latin typeface="Calibri" panose="020F0502020204030204" pitchFamily="34" charset="0"/>
                <a:cs typeface="Calibri" panose="020F0502020204030204" pitchFamily="34" charset="0"/>
              </a:rPr>
              <a:t> concerns about CEA, because they have mostly ignored a feature relevant to the prevention vs. treatment debate</a:t>
            </a:r>
            <a:r>
              <a:rPr lang="en-GB" sz="2000" dirty="0">
                <a:latin typeface="Calibri" panose="020F0502020204030204" pitchFamily="34" charset="0"/>
                <a:cs typeface="Calibri" panose="020F0502020204030204" pitchFamily="34" charset="0"/>
              </a:rPr>
              <a:t>.</a:t>
            </a:r>
            <a:r>
              <a:rPr lang="en-GB" sz="2000" baseline="30000" dirty="0">
                <a:latin typeface="Calibri" panose="020F0502020204030204" pitchFamily="34" charset="0"/>
                <a:cs typeface="Calibri" panose="020F0502020204030204" pitchFamily="34" charset="0"/>
                <a:hlinkClick r:id="rId1"/>
              </a:rPr>
              <a:t>[1]</a:t>
            </a:r>
            <a:r>
              <a:rPr lang="en-GB" sz="2000" dirty="0">
                <a:latin typeface="Calibri" panose="020F0502020204030204" pitchFamily="34" charset="0"/>
                <a:cs typeface="Calibri" panose="020F0502020204030204" pitchFamily="34" charset="0"/>
              </a:rPr>
              <a:t> - cost-effectiveness studies virtually </a:t>
            </a:r>
            <a:r>
              <a:rPr lang="en-GB" sz="2000" dirty="0">
                <a:solidFill>
                  <a:srgbClr val="0070C0"/>
                </a:solidFill>
                <a:latin typeface="Calibri" panose="020F0502020204030204" pitchFamily="34" charset="0"/>
                <a:cs typeface="Calibri" panose="020F0502020204030204" pitchFamily="34" charset="0"/>
              </a:rPr>
              <a:t>never evaluate the overall efficiency of the prevailing mix of covered interventions; they instead answer the narrower question of how much more expensive and/or more beneficial a new intervention is when compared to the current standard of care </a:t>
            </a:r>
            <a:r>
              <a:rPr lang="en-GB" sz="2000" dirty="0">
                <a:latin typeface="Calibri" panose="020F0502020204030204" pitchFamily="34" charset="0"/>
                <a:cs typeface="Calibri" panose="020F0502020204030204" pitchFamily="34" charset="0"/>
              </a:rPr>
              <a:t>for a specific health problem. </a:t>
            </a:r>
            <a:endParaRPr lang="en-GB" sz="2000" dirty="0">
              <a:latin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lang="en-GB" sz="2000" dirty="0">
                <a:latin typeface="Calibri" panose="020F0502020204030204" pitchFamily="34" charset="0"/>
                <a:cs typeface="Calibri" panose="020F0502020204030204" pitchFamily="34" charset="0"/>
              </a:rPr>
              <a:t>Thus, </a:t>
            </a:r>
            <a:r>
              <a:rPr lang="en-GB" sz="2000" dirty="0">
                <a:solidFill>
                  <a:srgbClr val="0070C0"/>
                </a:solidFill>
                <a:latin typeface="Calibri" panose="020F0502020204030204" pitchFamily="34" charset="0"/>
                <a:cs typeface="Calibri" panose="020F0502020204030204" pitchFamily="34" charset="0"/>
              </a:rPr>
              <a:t>standard CEAs evaluate new interventions in terms of their </a:t>
            </a:r>
            <a:r>
              <a:rPr lang="en-GB" sz="2000" i="1" dirty="0">
                <a:solidFill>
                  <a:srgbClr val="0070C0"/>
                </a:solidFill>
                <a:latin typeface="Calibri" panose="020F0502020204030204" pitchFamily="34" charset="0"/>
                <a:cs typeface="Calibri" panose="020F0502020204030204" pitchFamily="34" charset="0"/>
              </a:rPr>
              <a:t>incremental cost-effectiveness</a:t>
            </a:r>
            <a:r>
              <a:rPr lang="en-GB" sz="2000" dirty="0">
                <a:latin typeface="Calibri" panose="020F0502020204030204" pitchFamily="34" charset="0"/>
                <a:cs typeface="Calibri" panose="020F0502020204030204" pitchFamily="34" charset="0"/>
              </a:rPr>
              <a:t>, i.e., the ratio of the new intervention's </a:t>
            </a:r>
            <a:r>
              <a:rPr lang="en-GB" sz="2000" i="1" dirty="0">
                <a:latin typeface="Calibri" panose="020F0502020204030204" pitchFamily="34" charset="0"/>
                <a:cs typeface="Calibri" panose="020F0502020204030204" pitchFamily="34" charset="0"/>
              </a:rPr>
              <a:t>additional </a:t>
            </a:r>
            <a:r>
              <a:rPr lang="en-GB" sz="2000" dirty="0">
                <a:latin typeface="Calibri" panose="020F0502020204030204" pitchFamily="34" charset="0"/>
                <a:cs typeface="Calibri" panose="020F0502020204030204" pitchFamily="34" charset="0"/>
              </a:rPr>
              <a:t>costs to its </a:t>
            </a:r>
            <a:r>
              <a:rPr lang="en-GB" sz="2000" i="1" dirty="0">
                <a:latin typeface="Calibri" panose="020F0502020204030204" pitchFamily="34" charset="0"/>
                <a:cs typeface="Calibri" panose="020F0502020204030204" pitchFamily="34" charset="0"/>
              </a:rPr>
              <a:t>additional</a:t>
            </a:r>
            <a:r>
              <a:rPr lang="en-GB" sz="2000" dirty="0">
                <a:latin typeface="Calibri" panose="020F0502020204030204" pitchFamily="34" charset="0"/>
                <a:cs typeface="Calibri" panose="020F0502020204030204" pitchFamily="34" charset="0"/>
              </a:rPr>
              <a:t> benefits</a:t>
            </a:r>
            <a:endParaRPr lang="en-ZA" sz="2000" dirty="0">
              <a:effectLst/>
              <a:latin typeface="Calibri" panose="020F0502020204030204" pitchFamily="34" charset="0"/>
              <a:ea typeface="Arial" panose="020B0604020202020204" pitchFamily="34" charset="0"/>
              <a:cs typeface="Calibri" panose="020F0502020204030204" pitchFamily="34" charset="0"/>
            </a:endParaRPr>
          </a:p>
        </p:txBody>
      </p:sp>
      <p:sp>
        <p:nvSpPr>
          <p:cNvPr id="4" name="TextBox 3"/>
          <p:cNvSpPr txBox="1"/>
          <p:nvPr/>
        </p:nvSpPr>
        <p:spPr>
          <a:xfrm>
            <a:off x="1052899" y="6239055"/>
            <a:ext cx="9605576" cy="461665"/>
          </a:xfrm>
          <a:prstGeom prst="rect">
            <a:avLst/>
          </a:prstGeom>
          <a:noFill/>
        </p:spPr>
        <p:txBody>
          <a:bodyPr wrap="square">
            <a:spAutoFit/>
          </a:bodyPr>
          <a:lstStyle/>
          <a:p>
            <a:r>
              <a:rPr lang="en-GB" sz="1200" b="0" i="0" dirty="0">
                <a:solidFill>
                  <a:srgbClr val="333333"/>
                </a:solidFill>
                <a:effectLst/>
                <a:latin typeface="Calibri" panose="020F0502020204030204" pitchFamily="34" charset="0"/>
                <a:cs typeface="Calibri" panose="020F0502020204030204" pitchFamily="34" charset="0"/>
              </a:rPr>
              <a:t>Louise B. Russell (2012) "Prevention vs. Cure: An Economist's Perspective on the Right Balance.</a:t>
            </a:r>
            <a:r>
              <a:rPr lang="en-GB" sz="1200" dirty="0">
                <a:solidFill>
                  <a:srgbClr val="333333"/>
                </a:solidFill>
                <a:latin typeface="Calibri" panose="020F0502020204030204" pitchFamily="34" charset="0"/>
                <a:cs typeface="Calibri" panose="020F0502020204030204" pitchFamily="34" charset="0"/>
              </a:rPr>
              <a:t> </a:t>
            </a:r>
            <a:r>
              <a:rPr lang="en-GB" sz="1200" dirty="0">
                <a:solidFill>
                  <a:srgbClr val="333333"/>
                </a:solidFill>
                <a:latin typeface="Calibri" panose="020F0502020204030204" pitchFamily="34" charset="0"/>
                <a:cs typeface="Calibri" panose="020F0502020204030204" pitchFamily="34" charset="0"/>
                <a:hlinkClick r:id="rId2"/>
              </a:rPr>
              <a:t>https://ndpr.nd.edu/reviews/prevention-vs-treatment-what-s-the-right-balance/</a:t>
            </a:r>
            <a:r>
              <a:rPr lang="en-GB" sz="1200" dirty="0">
                <a:solidFill>
                  <a:srgbClr val="333333"/>
                </a:solidFill>
                <a:latin typeface="Calibri" panose="020F0502020204030204" pitchFamily="34" charset="0"/>
                <a:cs typeface="Calibri" panose="020F0502020204030204" pitchFamily="34" charset="0"/>
              </a:rPr>
              <a:t> </a:t>
            </a:r>
            <a:endParaRPr lang="en-ZA" sz="1200" dirty="0">
              <a:latin typeface="Calibri" panose="020F0502020204030204" pitchFamily="34" charset="0"/>
              <a:cs typeface="Calibri" panose="020F050202020403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1484630" y="1211580"/>
            <a:ext cx="7942580" cy="4913630"/>
          </a:xfrm>
          <a:prstGeom prst="rect">
            <a:avLst/>
          </a:prstGeom>
        </p:spPr>
      </p:pic>
      <p:sp>
        <p:nvSpPr>
          <p:cNvPr id="2" name="Text Box 1"/>
          <p:cNvSpPr txBox="1"/>
          <p:nvPr/>
        </p:nvSpPr>
        <p:spPr>
          <a:xfrm>
            <a:off x="1155065" y="240665"/>
            <a:ext cx="9404985" cy="583565"/>
          </a:xfrm>
          <a:prstGeom prst="rect">
            <a:avLst/>
          </a:prstGeom>
          <a:noFill/>
        </p:spPr>
        <p:txBody>
          <a:bodyPr wrap="square" rtlCol="0" anchor="t">
            <a:spAutoFit/>
          </a:bodyPr>
          <a:p>
            <a:r>
              <a:rPr lang="en-ZA" altLang="en-GB" sz="3200" b="1" dirty="0">
                <a:solidFill>
                  <a:srgbClr val="C00000"/>
                </a:solidFill>
                <a:latin typeface="Calibri" panose="020F0502020204030204" pitchFamily="34" charset="0"/>
                <a:cs typeface="Calibri" panose="020F0502020204030204" pitchFamily="34" charset="0"/>
                <a:sym typeface="+mn-ea"/>
              </a:rPr>
              <a:t>Unified approach</a:t>
            </a:r>
            <a:r>
              <a:rPr lang="en-GB" sz="3200" b="1" dirty="0">
                <a:solidFill>
                  <a:srgbClr val="C00000"/>
                </a:solidFill>
                <a:latin typeface="Calibri" panose="020F0502020204030204" pitchFamily="34" charset="0"/>
                <a:cs typeface="Calibri" panose="020F0502020204030204" pitchFamily="34" charset="0"/>
                <a:sym typeface="+mn-ea"/>
              </a:rPr>
              <a:t> between Prevention </a:t>
            </a:r>
            <a:r>
              <a:rPr lang="en-ZA" altLang="en-GB" sz="3200" b="1" dirty="0">
                <a:solidFill>
                  <a:srgbClr val="C00000"/>
                </a:solidFill>
                <a:latin typeface="Calibri" panose="020F0502020204030204" pitchFamily="34" charset="0"/>
                <a:cs typeface="Calibri" panose="020F0502020204030204" pitchFamily="34" charset="0"/>
                <a:sym typeface="+mn-ea"/>
              </a:rPr>
              <a:t>and</a:t>
            </a:r>
            <a:r>
              <a:rPr lang="en-GB" sz="3200" b="1" dirty="0">
                <a:solidFill>
                  <a:srgbClr val="C00000"/>
                </a:solidFill>
                <a:latin typeface="Calibri" panose="020F0502020204030204" pitchFamily="34" charset="0"/>
                <a:cs typeface="Calibri" panose="020F0502020204030204" pitchFamily="34" charset="0"/>
                <a:sym typeface="+mn-ea"/>
              </a:rPr>
              <a:t> Treatment</a:t>
            </a:r>
            <a:endParaRPr lang="en-GB" altLang="en-US" sz="3200" b="1" dirty="0">
              <a:solidFill>
                <a:srgbClr val="C00000"/>
              </a:solidFill>
              <a:latin typeface="Calibri" panose="020F0502020204030204" pitchFamily="34" charset="0"/>
              <a:cs typeface="Calibri" panose="020F0502020204030204" pitchFamily="34" charset="0"/>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74955"/>
            <a:ext cx="10972800" cy="923290"/>
          </a:xfrm>
        </p:spPr>
        <p:txBody>
          <a:bodyPr vert="horz" rtlCol="0">
            <a:normAutofit/>
          </a:bodyPr>
          <a:lstStyle/>
          <a:p>
            <a:pPr lvl="0" algn="ctr">
              <a:buClrTx/>
              <a:buSzTx/>
              <a:buFontTx/>
            </a:pPr>
            <a:r>
              <a:rPr lang="en-GB" sz="3200" dirty="0">
                <a:solidFill>
                  <a:srgbClr val="C00000"/>
                </a:solidFill>
                <a:latin typeface="Calibri" panose="020F0502020204030204" pitchFamily="34" charset="0"/>
                <a:cs typeface="Calibri" panose="020F0502020204030204" pitchFamily="34" charset="0"/>
                <a:sym typeface="+mn-ea"/>
              </a:rPr>
              <a:t>Debate: Gap between Prevention </a:t>
            </a:r>
            <a:r>
              <a:rPr lang="en-ZA" altLang="en-GB" sz="3200" dirty="0">
                <a:solidFill>
                  <a:srgbClr val="C00000"/>
                </a:solidFill>
                <a:latin typeface="Calibri" panose="020F0502020204030204" pitchFamily="34" charset="0"/>
                <a:cs typeface="Calibri" panose="020F0502020204030204" pitchFamily="34" charset="0"/>
                <a:sym typeface="+mn-ea"/>
              </a:rPr>
              <a:t>a</a:t>
            </a:r>
            <a:r>
              <a:rPr lang="en-ZA" altLang="en-GB" sz="3200" dirty="0">
                <a:solidFill>
                  <a:srgbClr val="C00000"/>
                </a:solidFill>
                <a:latin typeface="Calibri" panose="020F0502020204030204" pitchFamily="34" charset="0"/>
                <a:cs typeface="Calibri" panose="020F0502020204030204" pitchFamily="34" charset="0"/>
                <a:sym typeface="+mn-ea"/>
              </a:rPr>
              <a:t>nd</a:t>
            </a:r>
            <a:r>
              <a:rPr lang="en-GB" sz="3200" dirty="0">
                <a:solidFill>
                  <a:srgbClr val="C00000"/>
                </a:solidFill>
                <a:latin typeface="Calibri" panose="020F0502020204030204" pitchFamily="34" charset="0"/>
                <a:cs typeface="Calibri" panose="020F0502020204030204" pitchFamily="34" charset="0"/>
                <a:sym typeface="+mn-ea"/>
              </a:rPr>
              <a:t> Treatment</a:t>
            </a:r>
            <a:endParaRPr lang="en-GB" sz="3200" dirty="0">
              <a:solidFill>
                <a:srgbClr val="C00000"/>
              </a:solidFill>
              <a:latin typeface="Calibri" panose="020F0502020204030204" pitchFamily="34" charset="0"/>
              <a:cs typeface="Calibri" panose="020F0502020204030204" pitchFamily="34" charset="0"/>
              <a:sym typeface="+mn-ea"/>
            </a:endParaRPr>
          </a:p>
        </p:txBody>
      </p:sp>
      <p:sp>
        <p:nvSpPr>
          <p:cNvPr id="3" name="Content Placeholder 2"/>
          <p:cNvSpPr>
            <a:spLocks noGrp="1"/>
          </p:cNvSpPr>
          <p:nvPr>
            <p:ph idx="1"/>
          </p:nvPr>
        </p:nvSpPr>
        <p:spPr>
          <a:xfrm>
            <a:off x="609600" y="1082040"/>
            <a:ext cx="10972800" cy="5266055"/>
          </a:xfrm>
        </p:spPr>
        <p:txBody>
          <a:bodyPr/>
          <a:p>
            <a:r>
              <a:rPr lang="en-US" altLang="en-GB" sz="2400"/>
              <a:t>The debate between prevention and treatment centers on the balance between proactive measures to avert disease and reactive responses to illness. While prevention is often seen as a cost-effective strategy with long-term benefits, treatment can provide immediate relief but may come with higher costs and potential side effects. </a:t>
            </a:r>
            <a:endParaRPr lang="en-US" altLang="en-GB" sz="2400"/>
          </a:p>
          <a:p>
            <a:endParaRPr lang="en-ZA" altLang="en-US" sz="2400"/>
          </a:p>
          <a:p>
            <a:r>
              <a:rPr lang="en-ZA" altLang="en-US" sz="2400"/>
              <a:t>Is</a:t>
            </a:r>
            <a:r>
              <a:rPr lang="en-US" altLang="en-GB" sz="2400"/>
              <a:t> the</a:t>
            </a:r>
            <a:r>
              <a:rPr lang="en-ZA" altLang="en-US" sz="2400"/>
              <a:t>re</a:t>
            </a:r>
            <a:r>
              <a:rPr lang="en-US" altLang="en-GB" sz="2400"/>
              <a:t> a unified approach that integrates both prevention and treatment, considering the changing nature of health conditions and the importance of early detection and intervention.</a:t>
            </a:r>
            <a:endParaRPr lang="en-US" altLang="en-GB" sz="2400"/>
          </a:p>
          <a:p>
            <a:r>
              <a:rPr lang="en-ZA" altLang="en-US" sz="2400"/>
              <a:t>If so, give practical examples </a:t>
            </a:r>
            <a:endParaRPr lang="en-ZA" altLang="en-US" sz="2400"/>
          </a:p>
        </p:txBody>
      </p:sp>
    </p:spTree>
  </p:cSld>
  <p:clrMapOvr>
    <a:masterClrMapping/>
  </p:clrMapOvr>
</p:sld>
</file>

<file path=ppt/theme/theme1.xml><?xml version="1.0" encoding="utf-8"?>
<a:theme xmlns:a="http://schemas.openxmlformats.org/drawingml/2006/main" name="Aurum Trainin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LSP_white_tonal">
  <a:themeElements>
    <a:clrScheme name="MM_white_tonal_green 13">
      <a:dk1>
        <a:srgbClr val="003082"/>
      </a:dk1>
      <a:lt1>
        <a:srgbClr val="FFFFFF"/>
      </a:lt1>
      <a:dk2>
        <a:srgbClr val="003082"/>
      </a:dk2>
      <a:lt2>
        <a:srgbClr val="808080"/>
      </a:lt2>
      <a:accent1>
        <a:srgbClr val="BBE0E3"/>
      </a:accent1>
      <a:accent2>
        <a:srgbClr val="333399"/>
      </a:accent2>
      <a:accent3>
        <a:srgbClr val="FFFFFF"/>
      </a:accent3>
      <a:accent4>
        <a:srgbClr val="00276E"/>
      </a:accent4>
      <a:accent5>
        <a:srgbClr val="DAEDEF"/>
      </a:accent5>
      <a:accent6>
        <a:srgbClr val="2D2D8A"/>
      </a:accent6>
      <a:hlink>
        <a:srgbClr val="009999"/>
      </a:hlink>
      <a:folHlink>
        <a:srgbClr val="99CC00"/>
      </a:folHlink>
    </a:clrScheme>
    <a:fontScheme name="MM_white_tonal_gree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GB" sz="2100" b="0" i="0" u="none" strike="noStrike" cap="none" normalizeH="0" baseline="0" smtClean="0">
            <a:ln>
              <a:noFill/>
            </a:ln>
            <a:solidFill>
              <a:srgbClr val="003082"/>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GB" sz="2100" b="0" i="0" u="none" strike="noStrike" cap="none" normalizeH="0" baseline="0" smtClean="0">
            <a:ln>
              <a:noFill/>
            </a:ln>
            <a:solidFill>
              <a:srgbClr val="003082"/>
            </a:solidFill>
            <a:effectLst/>
            <a:latin typeface="Arial" panose="020B0604020202020204" pitchFamily="34" charset="0"/>
          </a:defRPr>
        </a:defPPr>
      </a:lstStyle>
    </a:lnDef>
  </a:objectDefaults>
  <a:extraClrSchemeLst>
    <a:extraClrScheme>
      <a:clrScheme name="MM_white_tonal_gree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M_white_tonal_gree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M_white_tonal_gree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M_white_tonal_gree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M_white_tonal_gree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M_white_tonal_gree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M_white_tonal_gree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M_white_tonal_gree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M_white_tonal_gree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M_white_tonal_gree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M_white_tonal_gree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M_white_tonal_gree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MM_white_tonal_green 13">
        <a:dk1>
          <a:srgbClr val="003082"/>
        </a:dk1>
        <a:lt1>
          <a:srgbClr val="FFFFFF"/>
        </a:lt1>
        <a:dk2>
          <a:srgbClr val="003082"/>
        </a:dk2>
        <a:lt2>
          <a:srgbClr val="808080"/>
        </a:lt2>
        <a:accent1>
          <a:srgbClr val="BBE0E3"/>
        </a:accent1>
        <a:accent2>
          <a:srgbClr val="333399"/>
        </a:accent2>
        <a:accent3>
          <a:srgbClr val="FFFFFF"/>
        </a:accent3>
        <a:accent4>
          <a:srgbClr val="00276E"/>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HLSP_white_tonal_yellow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HLSP_white_tonal_yellow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HLSP_white_tonal_yellow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HLSP_white_tonal_yellow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HLSP_white_tonal_yellow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HLSP_white_tonal_yellow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HLSP_white_tonal_yellow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HLSP_white_tonal_yellow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HLSP_white_tonal_yellow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HLSP_white_tonal_yellow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HLSP_white_tonal_yellow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HLSP_white_tonal_yellow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HLSP_white_tonal_yellow 13">
        <a:dk1>
          <a:srgbClr val="003082"/>
        </a:dk1>
        <a:lt1>
          <a:srgbClr val="FFFFFF"/>
        </a:lt1>
        <a:dk2>
          <a:srgbClr val="003082"/>
        </a:dk2>
        <a:lt2>
          <a:srgbClr val="808080"/>
        </a:lt2>
        <a:accent1>
          <a:srgbClr val="BBE0E3"/>
        </a:accent1>
        <a:accent2>
          <a:srgbClr val="333399"/>
        </a:accent2>
        <a:accent3>
          <a:srgbClr val="FFFFFF"/>
        </a:accent3>
        <a:accent4>
          <a:srgbClr val="00276E"/>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HLSP_white_tonal_yellow 14">
        <a:dk1>
          <a:srgbClr val="003082"/>
        </a:dk1>
        <a:lt1>
          <a:srgbClr val="FFFFFF"/>
        </a:lt1>
        <a:dk2>
          <a:srgbClr val="003082"/>
        </a:dk2>
        <a:lt2>
          <a:srgbClr val="808080"/>
        </a:lt2>
        <a:accent1>
          <a:srgbClr val="BBE0E3"/>
        </a:accent1>
        <a:accent2>
          <a:srgbClr val="333399"/>
        </a:accent2>
        <a:accent3>
          <a:srgbClr val="FFFFFF"/>
        </a:accent3>
        <a:accent4>
          <a:srgbClr val="00276E"/>
        </a:accent4>
        <a:accent5>
          <a:srgbClr val="DAEDEF"/>
        </a:accent5>
        <a:accent6>
          <a:srgbClr val="2D2D8A"/>
        </a:accent6>
        <a:hlink>
          <a:srgbClr val="009999"/>
        </a:hlink>
        <a:folHlink>
          <a:srgbClr val="FFA9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Aurum Trainin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Aurum Trainin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Aurum Trainin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HLSP_white_tonal">
  <a:themeElements>
    <a:clrScheme name="MM_white_tonal_green 13">
      <a:dk1>
        <a:srgbClr val="003082"/>
      </a:dk1>
      <a:lt1>
        <a:srgbClr val="FFFFFF"/>
      </a:lt1>
      <a:dk2>
        <a:srgbClr val="003082"/>
      </a:dk2>
      <a:lt2>
        <a:srgbClr val="808080"/>
      </a:lt2>
      <a:accent1>
        <a:srgbClr val="BBE0E3"/>
      </a:accent1>
      <a:accent2>
        <a:srgbClr val="333399"/>
      </a:accent2>
      <a:accent3>
        <a:srgbClr val="FFFFFF"/>
      </a:accent3>
      <a:accent4>
        <a:srgbClr val="00276E"/>
      </a:accent4>
      <a:accent5>
        <a:srgbClr val="DAEDEF"/>
      </a:accent5>
      <a:accent6>
        <a:srgbClr val="2D2D8A"/>
      </a:accent6>
      <a:hlink>
        <a:srgbClr val="009999"/>
      </a:hlink>
      <a:folHlink>
        <a:srgbClr val="99CC00"/>
      </a:folHlink>
    </a:clrScheme>
    <a:fontScheme name="MM_white_tonal_gree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GB" sz="2100" b="0" i="0" u="none" strike="noStrike" cap="none" normalizeH="0" baseline="0" smtClean="0">
            <a:ln>
              <a:noFill/>
            </a:ln>
            <a:solidFill>
              <a:srgbClr val="003082"/>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GB" sz="2100" b="0" i="0" u="none" strike="noStrike" cap="none" normalizeH="0" baseline="0" smtClean="0">
            <a:ln>
              <a:noFill/>
            </a:ln>
            <a:solidFill>
              <a:srgbClr val="003082"/>
            </a:solidFill>
            <a:effectLst/>
            <a:latin typeface="Arial" panose="020B0604020202020204" pitchFamily="34" charset="0"/>
          </a:defRPr>
        </a:defPPr>
      </a:lstStyle>
    </a:lnDef>
  </a:objectDefaults>
  <a:extraClrSchemeLst>
    <a:extraClrScheme>
      <a:clrScheme name="MM_white_tonal_gree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M_white_tonal_gree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M_white_tonal_gree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M_white_tonal_gree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M_white_tonal_gree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M_white_tonal_gree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M_white_tonal_gree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M_white_tonal_gree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M_white_tonal_gree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M_white_tonal_gree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M_white_tonal_gree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M_white_tonal_gree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MM_white_tonal_green 13">
        <a:dk1>
          <a:srgbClr val="003082"/>
        </a:dk1>
        <a:lt1>
          <a:srgbClr val="FFFFFF"/>
        </a:lt1>
        <a:dk2>
          <a:srgbClr val="003082"/>
        </a:dk2>
        <a:lt2>
          <a:srgbClr val="808080"/>
        </a:lt2>
        <a:accent1>
          <a:srgbClr val="BBE0E3"/>
        </a:accent1>
        <a:accent2>
          <a:srgbClr val="333399"/>
        </a:accent2>
        <a:accent3>
          <a:srgbClr val="FFFFFF"/>
        </a:accent3>
        <a:accent4>
          <a:srgbClr val="00276E"/>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HLSP_white_tonal_yellow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HLSP_white_tonal_yellow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HLSP_white_tonal_yellow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HLSP_white_tonal_yellow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HLSP_white_tonal_yellow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HLSP_white_tonal_yellow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HLSP_white_tonal_yellow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HLSP_white_tonal_yellow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HLSP_white_tonal_yellow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HLSP_white_tonal_yellow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HLSP_white_tonal_yellow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HLSP_white_tonal_yellow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HLSP_white_tonal_yellow 13">
        <a:dk1>
          <a:srgbClr val="003082"/>
        </a:dk1>
        <a:lt1>
          <a:srgbClr val="FFFFFF"/>
        </a:lt1>
        <a:dk2>
          <a:srgbClr val="003082"/>
        </a:dk2>
        <a:lt2>
          <a:srgbClr val="808080"/>
        </a:lt2>
        <a:accent1>
          <a:srgbClr val="BBE0E3"/>
        </a:accent1>
        <a:accent2>
          <a:srgbClr val="333399"/>
        </a:accent2>
        <a:accent3>
          <a:srgbClr val="FFFFFF"/>
        </a:accent3>
        <a:accent4>
          <a:srgbClr val="00276E"/>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HLSP_white_tonal_yellow 14">
        <a:dk1>
          <a:srgbClr val="003082"/>
        </a:dk1>
        <a:lt1>
          <a:srgbClr val="FFFFFF"/>
        </a:lt1>
        <a:dk2>
          <a:srgbClr val="003082"/>
        </a:dk2>
        <a:lt2>
          <a:srgbClr val="808080"/>
        </a:lt2>
        <a:accent1>
          <a:srgbClr val="BBE0E3"/>
        </a:accent1>
        <a:accent2>
          <a:srgbClr val="333399"/>
        </a:accent2>
        <a:accent3>
          <a:srgbClr val="FFFFFF"/>
        </a:accent3>
        <a:accent4>
          <a:srgbClr val="00276E"/>
        </a:accent4>
        <a:accent5>
          <a:srgbClr val="DAEDEF"/>
        </a:accent5>
        <a:accent6>
          <a:srgbClr val="2D2D8A"/>
        </a:accent6>
        <a:hlink>
          <a:srgbClr val="009999"/>
        </a:hlink>
        <a:folHlink>
          <a:srgbClr val="FFA9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1_HLSP_white_tonal_orange 14">
    <a:dk1>
      <a:srgbClr val="003082"/>
    </a:dk1>
    <a:lt1>
      <a:srgbClr val="FFFFFF"/>
    </a:lt1>
    <a:dk2>
      <a:srgbClr val="003082"/>
    </a:dk2>
    <a:lt2>
      <a:srgbClr val="808080"/>
    </a:lt2>
    <a:accent1>
      <a:srgbClr val="BBE0E3"/>
    </a:accent1>
    <a:accent2>
      <a:srgbClr val="333399"/>
    </a:accent2>
    <a:accent3>
      <a:srgbClr val="FFFFFF"/>
    </a:accent3>
    <a:accent4>
      <a:srgbClr val="00276E"/>
    </a:accent4>
    <a:accent5>
      <a:srgbClr val="DAEDEF"/>
    </a:accent5>
    <a:accent6>
      <a:srgbClr val="2D2D8A"/>
    </a:accent6>
    <a:hlink>
      <a:srgbClr val="009999"/>
    </a:hlink>
    <a:folHlink>
      <a:srgbClr val="FFA91D"/>
    </a:folHlink>
  </a:clrScheme>
</a:themeOverride>
</file>

<file path=ppt/theme/themeOverride2.xml><?xml version="1.0" encoding="utf-8"?>
<a:themeOverride xmlns:a="http://schemas.openxmlformats.org/drawingml/2006/main">
  <a:clrScheme name="1_HLSP_white_tonal_orange 14">
    <a:dk1>
      <a:srgbClr val="003082"/>
    </a:dk1>
    <a:lt1>
      <a:srgbClr val="FFFFFF"/>
    </a:lt1>
    <a:dk2>
      <a:srgbClr val="003082"/>
    </a:dk2>
    <a:lt2>
      <a:srgbClr val="808080"/>
    </a:lt2>
    <a:accent1>
      <a:srgbClr val="BBE0E3"/>
    </a:accent1>
    <a:accent2>
      <a:srgbClr val="333399"/>
    </a:accent2>
    <a:accent3>
      <a:srgbClr val="FFFFFF"/>
    </a:accent3>
    <a:accent4>
      <a:srgbClr val="00276E"/>
    </a:accent4>
    <a:accent5>
      <a:srgbClr val="DAEDEF"/>
    </a:accent5>
    <a:accent6>
      <a:srgbClr val="2D2D8A"/>
    </a:accent6>
    <a:hlink>
      <a:srgbClr val="009999"/>
    </a:hlink>
    <a:folHlink>
      <a:srgbClr val="FFA91D"/>
    </a:folHlink>
  </a:clrScheme>
</a:themeOverride>
</file>

<file path=docProps/app.xml><?xml version="1.0" encoding="utf-8"?>
<Properties xmlns="http://schemas.openxmlformats.org/officeDocument/2006/extended-properties" xmlns:vt="http://schemas.openxmlformats.org/officeDocument/2006/docPropsVTypes">
  <Template>HIV &amp; TB research in NW and implications for policy</Template>
  <TotalTime>0</TotalTime>
  <Words>19064</Words>
  <Application>WPS Presentation</Application>
  <PresentationFormat>Widescreen</PresentationFormat>
  <Paragraphs>292</Paragraphs>
  <Slides>31</Slides>
  <Notes>10</Notes>
  <HiddenSlides>0</HiddenSlides>
  <MMClips>0</MMClips>
  <ScaleCrop>false</ScaleCrop>
  <HeadingPairs>
    <vt:vector size="6" baseType="variant">
      <vt:variant>
        <vt:lpstr>已用的字体</vt:lpstr>
      </vt:variant>
      <vt:variant>
        <vt:i4>9</vt:i4>
      </vt:variant>
      <vt:variant>
        <vt:lpstr>主题</vt:lpstr>
      </vt:variant>
      <vt:variant>
        <vt:i4>6</vt:i4>
      </vt:variant>
      <vt:variant>
        <vt:lpstr>幻灯片标题</vt:lpstr>
      </vt:variant>
      <vt:variant>
        <vt:i4>31</vt:i4>
      </vt:variant>
    </vt:vector>
  </HeadingPairs>
  <TitlesOfParts>
    <vt:vector size="46" baseType="lpstr">
      <vt:lpstr>Arial</vt:lpstr>
      <vt:lpstr>SimSun</vt:lpstr>
      <vt:lpstr>Wingdings</vt:lpstr>
      <vt:lpstr>Calibri</vt:lpstr>
      <vt:lpstr>Adobe Devanagari</vt:lpstr>
      <vt:lpstr>Microsoft YaHei</vt:lpstr>
      <vt:lpstr>Arial Unicode MS</vt:lpstr>
      <vt:lpstr>Segoe Print</vt:lpstr>
      <vt:lpstr>DM Sans</vt:lpstr>
      <vt:lpstr>Aurum Training</vt:lpstr>
      <vt:lpstr>HLSP_white_tonal</vt:lpstr>
      <vt:lpstr>1_Aurum Training</vt:lpstr>
      <vt:lpstr>2_Aurum Training</vt:lpstr>
      <vt:lpstr>3_Aurum Training</vt:lpstr>
      <vt:lpstr>1_HLSP_white_tonal</vt:lpstr>
      <vt:lpstr>Bridging the Gap Between Prevention and Treatment: A Public Health Imperative</vt:lpstr>
      <vt:lpstr>Introduction</vt:lpstr>
      <vt:lpstr>NHI for Universal Health Coverage</vt:lpstr>
      <vt:lpstr>NHI for Universal Health Coverage</vt:lpstr>
      <vt:lpstr>NHI for Universal Health Coverage</vt:lpstr>
      <vt:lpstr>Individual vs Population-level Prevention Strategies </vt:lpstr>
      <vt:lpstr>Treatment</vt:lpstr>
      <vt:lpstr>Medicines for the Treatment of Disease</vt:lpstr>
      <vt:lpstr>Treatment options for Diabetes &amp; Cancer</vt:lpstr>
      <vt:lpstr>Clinical medicine (Treatment) vs Public health (Prevention)</vt:lpstr>
      <vt:lpstr>Preventive versus Treatment measures</vt:lpstr>
      <vt:lpstr>Preventive versus Treatment measures</vt:lpstr>
      <vt:lpstr>About Preventive Measures</vt:lpstr>
      <vt:lpstr>Vaccines and/or Medicines</vt:lpstr>
      <vt:lpstr>Why the Use of Preventive Services Is Still Low</vt:lpstr>
      <vt:lpstr>PowerPoint 演示文稿</vt:lpstr>
      <vt:lpstr>Gap between Prevention and Treatment/Care</vt:lpstr>
      <vt:lpstr>PowerPoint 演示文稿</vt:lpstr>
      <vt:lpstr>PowerPoint 演示文稿</vt:lpstr>
      <vt:lpstr>“Prevention Praised, Cure Preferred…”</vt:lpstr>
      <vt:lpstr>Vaccines &amp; Immunization for Prevention of Disease</vt:lpstr>
      <vt:lpstr>Preferences for Treatment vs Prevention</vt:lpstr>
      <vt:lpstr>PowerPoint 演示文稿</vt:lpstr>
      <vt:lpstr>PowerPoint 演示文稿</vt:lpstr>
      <vt:lpstr>PowerPoint 演示文稿</vt:lpstr>
      <vt:lpstr>PowerPoint 演示文稿</vt:lpstr>
      <vt:lpstr>PowerPoint 演示文稿</vt:lpstr>
      <vt:lpstr>Health Justice in Treatment and Prevention   </vt:lpstr>
      <vt:lpstr>A Balance Between Prevention and Treatment?   </vt:lpstr>
      <vt:lpstr>PowerPoint 演示文稿</vt:lpstr>
      <vt:lpstr>PowerPoint 演示文稿</vt:lpstr>
    </vt:vector>
  </TitlesOfParts>
  <Company>HP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AZIKO study: Investigating the social risk factors driving HIV infection in mineworkers in South Africa</dc:title>
  <dc:creator>Geoffrey Setswe</dc:creator>
  <cp:lastModifiedBy>Geoffrey Setswe</cp:lastModifiedBy>
  <cp:revision>11</cp:revision>
  <dcterms:created xsi:type="dcterms:W3CDTF">2019-10-04T09:01:00Z</dcterms:created>
  <dcterms:modified xsi:type="dcterms:W3CDTF">2025-12-04T10:33:46Z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84daea6-594f-49b0-ba2d-2a5c2b24ae75_Enabled">
    <vt:lpwstr>true</vt:lpwstr>
  </property>
  <property fmtid="{D5CDD505-2E9C-101B-9397-08002B2CF9AE}" pid="3" name="MSIP_Label_c84daea6-594f-49b0-ba2d-2a5c2b24ae75_SetDate">
    <vt:lpwstr>2024-07-01T14:16:07Z</vt:lpwstr>
  </property>
  <property fmtid="{D5CDD505-2E9C-101B-9397-08002B2CF9AE}" pid="4" name="MSIP_Label_c84daea6-594f-49b0-ba2d-2a5c2b24ae75_Method">
    <vt:lpwstr>Privileged</vt:lpwstr>
  </property>
  <property fmtid="{D5CDD505-2E9C-101B-9397-08002B2CF9AE}" pid="5" name="MSIP_Label_c84daea6-594f-49b0-ba2d-2a5c2b24ae75_Name">
    <vt:lpwstr>defa4170-0d19-0005-0001-bc88714345d2</vt:lpwstr>
  </property>
  <property fmtid="{D5CDD505-2E9C-101B-9397-08002B2CF9AE}" pid="6" name="MSIP_Label_c84daea6-594f-49b0-ba2d-2a5c2b24ae75_SiteId">
    <vt:lpwstr>70682427-7a66-4bae-9f42-f702a8ba8b2a</vt:lpwstr>
  </property>
  <property fmtid="{D5CDD505-2E9C-101B-9397-08002B2CF9AE}" pid="7" name="MSIP_Label_c84daea6-594f-49b0-ba2d-2a5c2b24ae75_ActionId">
    <vt:lpwstr>8820ddcc-022d-4ed6-bd74-15d8b66c3a1f</vt:lpwstr>
  </property>
  <property fmtid="{D5CDD505-2E9C-101B-9397-08002B2CF9AE}" pid="8" name="MSIP_Label_c84daea6-594f-49b0-ba2d-2a5c2b24ae75_ContentBits">
    <vt:lpwstr>0</vt:lpwstr>
  </property>
  <property fmtid="{D5CDD505-2E9C-101B-9397-08002B2CF9AE}" pid="9" name="ICV">
    <vt:lpwstr>9E18FE2D42194569B0FF2B0A435A53C2_12</vt:lpwstr>
  </property>
  <property fmtid="{D5CDD505-2E9C-101B-9397-08002B2CF9AE}" pid="10" name="KSOProductBuildVer">
    <vt:lpwstr>2057-12.2.0.23155</vt:lpwstr>
  </property>
</Properties>
</file>