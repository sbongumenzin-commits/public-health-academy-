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1" r:id="rId3"/>
    <p:sldId id="277" r:id="rId4"/>
    <p:sldId id="269" r:id="rId5"/>
    <p:sldId id="282" r:id="rId6"/>
    <p:sldId id="284" r:id="rId7"/>
    <p:sldId id="258" r:id="rId8"/>
    <p:sldId id="280" r:id="rId9"/>
    <p:sldId id="276" r:id="rId10"/>
    <p:sldId id="265" r:id="rId11"/>
    <p:sldId id="278" r:id="rId12"/>
    <p:sldId id="272" r:id="rId13"/>
    <p:sldId id="271" r:id="rId14"/>
    <p:sldId id="283" r:id="rId15"/>
    <p:sldId id="279" r:id="rId16"/>
    <p:sldId id="264" r:id="rId17"/>
    <p:sldId id="273" r:id="rId18"/>
    <p:sldId id="274" r:id="rId19"/>
    <p:sldId id="275" r:id="rId20"/>
    <p:sldId id="267" r:id="rId21"/>
    <p:sldId id="263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7C481D-B752-2E7B-A39B-DF8B3350301E}" name="Khumbudzo Booi" initials="KB" userId="S::Khumbudzo.Booi@Health.gov.za::be9c8e98-9263-4119-8dbb-baa4048830d6" providerId="AD"/>
  <p188:author id="{60A1633E-C88E-FE68-A6D9-778E3D73FB45}" name="Bono Nemukula" initials="BN" userId="S::Bono.Nemukula@health.gov.za::d509b635-7752-4f5a-ae7f-5990b99ad0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6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163AB6-3BD0-4E1E-8A7C-D5DD15802EC6}" v="1" dt="2026-04-22T07:11:4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929D8C-2630-4819-A607-C3B9AAAAB90E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A2D9A5-0A42-4405-B4E9-6310D80351B0}">
      <dgm:prSet/>
      <dgm:spPr/>
      <dgm:t>
        <a:bodyPr/>
        <a:lstStyle/>
        <a:p>
          <a:r>
            <a:rPr lang="en-US" b="0" i="0" baseline="0" dirty="0"/>
            <a:t>Health information systems</a:t>
          </a:r>
          <a:endParaRPr lang="en-US" dirty="0"/>
        </a:p>
      </dgm:t>
    </dgm:pt>
    <dgm:pt modelId="{3AE9B9E8-5E3A-4493-9BDF-7E9D5D5207E2}" type="parTrans" cxnId="{3BF2860E-B5E1-4963-B86C-A6EA13A76561}">
      <dgm:prSet/>
      <dgm:spPr/>
      <dgm:t>
        <a:bodyPr/>
        <a:lstStyle/>
        <a:p>
          <a:endParaRPr lang="en-US"/>
        </a:p>
      </dgm:t>
    </dgm:pt>
    <dgm:pt modelId="{9C8B294B-636C-4BC7-92D3-71DB5C1C05F0}" type="sibTrans" cxnId="{3BF2860E-B5E1-4963-B86C-A6EA13A76561}">
      <dgm:prSet/>
      <dgm:spPr/>
      <dgm:t>
        <a:bodyPr/>
        <a:lstStyle/>
        <a:p>
          <a:endParaRPr lang="en-US"/>
        </a:p>
      </dgm:t>
    </dgm:pt>
    <dgm:pt modelId="{53B33909-94B0-45D8-9805-A1771016A526}">
      <dgm:prSet/>
      <dgm:spPr/>
      <dgm:t>
        <a:bodyPr/>
        <a:lstStyle/>
        <a:p>
          <a:r>
            <a:rPr lang="en-US" b="0" i="0" baseline="0"/>
            <a:t>Outcome monitoring</a:t>
          </a:r>
          <a:endParaRPr lang="en-US"/>
        </a:p>
      </dgm:t>
    </dgm:pt>
    <dgm:pt modelId="{65535E6A-C389-4F26-9654-D40478EBD867}" type="parTrans" cxnId="{DA17146F-EA50-4E82-90FA-2E0724EB288E}">
      <dgm:prSet/>
      <dgm:spPr/>
      <dgm:t>
        <a:bodyPr/>
        <a:lstStyle/>
        <a:p>
          <a:endParaRPr lang="en-US"/>
        </a:p>
      </dgm:t>
    </dgm:pt>
    <dgm:pt modelId="{AB479AA6-3A9A-493C-A343-BF4603021AC1}" type="sibTrans" cxnId="{DA17146F-EA50-4E82-90FA-2E0724EB288E}">
      <dgm:prSet/>
      <dgm:spPr/>
      <dgm:t>
        <a:bodyPr/>
        <a:lstStyle/>
        <a:p>
          <a:endParaRPr lang="en-US"/>
        </a:p>
      </dgm:t>
    </dgm:pt>
    <dgm:pt modelId="{9B0A0EDD-D44A-461A-922A-866DA1D2FE84}">
      <dgm:prSet/>
      <dgm:spPr/>
      <dgm:t>
        <a:bodyPr/>
        <a:lstStyle/>
        <a:p>
          <a:r>
            <a:rPr lang="en-US" b="0" i="0" baseline="0"/>
            <a:t>Transparent reporting</a:t>
          </a:r>
          <a:endParaRPr lang="en-US"/>
        </a:p>
      </dgm:t>
    </dgm:pt>
    <dgm:pt modelId="{14F63769-E654-4CB8-BF4B-B859ADFCE682}" type="parTrans" cxnId="{B8BF594D-57D6-4938-A65E-D612AEA91E9B}">
      <dgm:prSet/>
      <dgm:spPr/>
      <dgm:t>
        <a:bodyPr/>
        <a:lstStyle/>
        <a:p>
          <a:endParaRPr lang="en-US"/>
        </a:p>
      </dgm:t>
    </dgm:pt>
    <dgm:pt modelId="{5D9F30BD-853D-4049-856A-815A0F17D8D6}" type="sibTrans" cxnId="{B8BF594D-57D6-4938-A65E-D612AEA91E9B}">
      <dgm:prSet/>
      <dgm:spPr/>
      <dgm:t>
        <a:bodyPr/>
        <a:lstStyle/>
        <a:p>
          <a:endParaRPr lang="en-US"/>
        </a:p>
      </dgm:t>
    </dgm:pt>
    <dgm:pt modelId="{3CF29B5F-BED7-4901-A60C-CCFAE66FD8EC}" type="pres">
      <dgm:prSet presAssocID="{65929D8C-2630-4819-A607-C3B9AAAAB90E}" presName="Name0" presStyleCnt="0">
        <dgm:presLayoutVars>
          <dgm:dir/>
          <dgm:animLvl val="lvl"/>
          <dgm:resizeHandles val="exact"/>
        </dgm:presLayoutVars>
      </dgm:prSet>
      <dgm:spPr/>
    </dgm:pt>
    <dgm:pt modelId="{CA4BD277-95E1-4A47-87C3-572B95597630}" type="pres">
      <dgm:prSet presAssocID="{3BA2D9A5-0A42-4405-B4E9-6310D80351B0}" presName="linNode" presStyleCnt="0"/>
      <dgm:spPr/>
    </dgm:pt>
    <dgm:pt modelId="{CA3B6AA8-7879-46DC-BE2F-EE84C4619061}" type="pres">
      <dgm:prSet presAssocID="{3BA2D9A5-0A42-4405-B4E9-6310D80351B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47AA0AB-F65F-41F3-87E4-EFC04F083C3A}" type="pres">
      <dgm:prSet presAssocID="{9C8B294B-636C-4BC7-92D3-71DB5C1C05F0}" presName="sp" presStyleCnt="0"/>
      <dgm:spPr/>
    </dgm:pt>
    <dgm:pt modelId="{1902AB43-7FD3-4D5A-996A-722C92EB720B}" type="pres">
      <dgm:prSet presAssocID="{53B33909-94B0-45D8-9805-A1771016A526}" presName="linNode" presStyleCnt="0"/>
      <dgm:spPr/>
    </dgm:pt>
    <dgm:pt modelId="{4A23B307-D240-436A-A718-8BC3755DF4F1}" type="pres">
      <dgm:prSet presAssocID="{53B33909-94B0-45D8-9805-A1771016A52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CB4D518-98BF-465B-9E02-9A80CC51C95F}" type="pres">
      <dgm:prSet presAssocID="{AB479AA6-3A9A-493C-A343-BF4603021AC1}" presName="sp" presStyleCnt="0"/>
      <dgm:spPr/>
    </dgm:pt>
    <dgm:pt modelId="{3A725D19-31BB-40D8-A8C2-BE4D7F0CB5FF}" type="pres">
      <dgm:prSet presAssocID="{9B0A0EDD-D44A-461A-922A-866DA1D2FE84}" presName="linNode" presStyleCnt="0"/>
      <dgm:spPr/>
    </dgm:pt>
    <dgm:pt modelId="{CEF8EB40-4865-4A77-B76A-4A960F5405DC}" type="pres">
      <dgm:prSet presAssocID="{9B0A0EDD-D44A-461A-922A-866DA1D2FE8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3BF2860E-B5E1-4963-B86C-A6EA13A76561}" srcId="{65929D8C-2630-4819-A607-C3B9AAAAB90E}" destId="{3BA2D9A5-0A42-4405-B4E9-6310D80351B0}" srcOrd="0" destOrd="0" parTransId="{3AE9B9E8-5E3A-4493-9BDF-7E9D5D5207E2}" sibTransId="{9C8B294B-636C-4BC7-92D3-71DB5C1C05F0}"/>
    <dgm:cxn modelId="{B8BF594D-57D6-4938-A65E-D612AEA91E9B}" srcId="{65929D8C-2630-4819-A607-C3B9AAAAB90E}" destId="{9B0A0EDD-D44A-461A-922A-866DA1D2FE84}" srcOrd="2" destOrd="0" parTransId="{14F63769-E654-4CB8-BF4B-B859ADFCE682}" sibTransId="{5D9F30BD-853D-4049-856A-815A0F17D8D6}"/>
    <dgm:cxn modelId="{DA17146F-EA50-4E82-90FA-2E0724EB288E}" srcId="{65929D8C-2630-4819-A607-C3B9AAAAB90E}" destId="{53B33909-94B0-45D8-9805-A1771016A526}" srcOrd="1" destOrd="0" parTransId="{65535E6A-C389-4F26-9654-D40478EBD867}" sibTransId="{AB479AA6-3A9A-493C-A343-BF4603021AC1}"/>
    <dgm:cxn modelId="{5B7FFA7D-C887-4F3B-9BC6-8A710FC2E880}" type="presOf" srcId="{3BA2D9A5-0A42-4405-B4E9-6310D80351B0}" destId="{CA3B6AA8-7879-46DC-BE2F-EE84C4619061}" srcOrd="0" destOrd="0" presId="urn:microsoft.com/office/officeart/2005/8/layout/vList5"/>
    <dgm:cxn modelId="{2C0F0B8C-4F3D-4AEC-B27A-68B3C5AE1EE3}" type="presOf" srcId="{9B0A0EDD-D44A-461A-922A-866DA1D2FE84}" destId="{CEF8EB40-4865-4A77-B76A-4A960F5405DC}" srcOrd="0" destOrd="0" presId="urn:microsoft.com/office/officeart/2005/8/layout/vList5"/>
    <dgm:cxn modelId="{18D43095-DF23-4905-A6A0-1B2E1CA9C3D5}" type="presOf" srcId="{65929D8C-2630-4819-A607-C3B9AAAAB90E}" destId="{3CF29B5F-BED7-4901-A60C-CCFAE66FD8EC}" srcOrd="0" destOrd="0" presId="urn:microsoft.com/office/officeart/2005/8/layout/vList5"/>
    <dgm:cxn modelId="{E7D291CA-318F-46A5-98CF-390C10B8F922}" type="presOf" srcId="{53B33909-94B0-45D8-9805-A1771016A526}" destId="{4A23B307-D240-436A-A718-8BC3755DF4F1}" srcOrd="0" destOrd="0" presId="urn:microsoft.com/office/officeart/2005/8/layout/vList5"/>
    <dgm:cxn modelId="{A2AD9B83-886B-46FD-8D0A-02C4E4380ECC}" type="presParOf" srcId="{3CF29B5F-BED7-4901-A60C-CCFAE66FD8EC}" destId="{CA4BD277-95E1-4A47-87C3-572B95597630}" srcOrd="0" destOrd="0" presId="urn:microsoft.com/office/officeart/2005/8/layout/vList5"/>
    <dgm:cxn modelId="{C9C439E7-DE6F-4D41-B240-F0FFB32D6900}" type="presParOf" srcId="{CA4BD277-95E1-4A47-87C3-572B95597630}" destId="{CA3B6AA8-7879-46DC-BE2F-EE84C4619061}" srcOrd="0" destOrd="0" presId="urn:microsoft.com/office/officeart/2005/8/layout/vList5"/>
    <dgm:cxn modelId="{5648EB3B-CD02-4FED-B023-265477823DBA}" type="presParOf" srcId="{3CF29B5F-BED7-4901-A60C-CCFAE66FD8EC}" destId="{C47AA0AB-F65F-41F3-87E4-EFC04F083C3A}" srcOrd="1" destOrd="0" presId="urn:microsoft.com/office/officeart/2005/8/layout/vList5"/>
    <dgm:cxn modelId="{AB641775-D429-4ED7-972B-F54841137488}" type="presParOf" srcId="{3CF29B5F-BED7-4901-A60C-CCFAE66FD8EC}" destId="{1902AB43-7FD3-4D5A-996A-722C92EB720B}" srcOrd="2" destOrd="0" presId="urn:microsoft.com/office/officeart/2005/8/layout/vList5"/>
    <dgm:cxn modelId="{6AF9E4BA-7ED1-4F3F-B6ED-8393EFC6B0ED}" type="presParOf" srcId="{1902AB43-7FD3-4D5A-996A-722C92EB720B}" destId="{4A23B307-D240-436A-A718-8BC3755DF4F1}" srcOrd="0" destOrd="0" presId="urn:microsoft.com/office/officeart/2005/8/layout/vList5"/>
    <dgm:cxn modelId="{806D4BCA-3750-42A7-8204-F8A572FE1FBD}" type="presParOf" srcId="{3CF29B5F-BED7-4901-A60C-CCFAE66FD8EC}" destId="{2CB4D518-98BF-465B-9E02-9A80CC51C95F}" srcOrd="3" destOrd="0" presId="urn:microsoft.com/office/officeart/2005/8/layout/vList5"/>
    <dgm:cxn modelId="{06A73DC2-8EB6-4014-8214-24DAFB0A3058}" type="presParOf" srcId="{3CF29B5F-BED7-4901-A60C-CCFAE66FD8EC}" destId="{3A725D19-31BB-40D8-A8C2-BE4D7F0CB5FF}" srcOrd="4" destOrd="0" presId="urn:microsoft.com/office/officeart/2005/8/layout/vList5"/>
    <dgm:cxn modelId="{646C6320-C7AC-4B57-A721-B8C9EFCD78E8}" type="presParOf" srcId="{3A725D19-31BB-40D8-A8C2-BE4D7F0CB5FF}" destId="{CEF8EB40-4865-4A77-B76A-4A960F5405D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8616D7-B9DF-4DB7-AEDF-7FA79FD1D2E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A1C00E8-FC3C-413A-90DD-A4486BADF9B1}">
      <dgm:prSet/>
      <dgm:spPr/>
      <dgm:t>
        <a:bodyPr/>
        <a:lstStyle/>
        <a:p>
          <a:pPr>
            <a:defRPr cap="all"/>
          </a:pPr>
          <a:r>
            <a:rPr lang="en-US" b="0" i="0" baseline="0"/>
            <a:t>Strengthen primary healthcare systems</a:t>
          </a:r>
          <a:endParaRPr lang="en-US"/>
        </a:p>
      </dgm:t>
    </dgm:pt>
    <dgm:pt modelId="{AC07D06B-7B6A-410E-B775-0D38441515AD}" type="parTrans" cxnId="{0B5C56D9-991C-44F5-BCE3-AE2888F56A80}">
      <dgm:prSet/>
      <dgm:spPr/>
      <dgm:t>
        <a:bodyPr/>
        <a:lstStyle/>
        <a:p>
          <a:endParaRPr lang="en-US"/>
        </a:p>
      </dgm:t>
    </dgm:pt>
    <dgm:pt modelId="{AB0EE255-94AA-4069-9368-60D00F45DB3C}" type="sibTrans" cxnId="{0B5C56D9-991C-44F5-BCE3-AE2888F56A80}">
      <dgm:prSet/>
      <dgm:spPr/>
      <dgm:t>
        <a:bodyPr/>
        <a:lstStyle/>
        <a:p>
          <a:endParaRPr lang="en-US"/>
        </a:p>
      </dgm:t>
    </dgm:pt>
    <dgm:pt modelId="{1B660596-3B6B-4CFD-9B40-3B84BA739048}">
      <dgm:prSet/>
      <dgm:spPr/>
      <dgm:t>
        <a:bodyPr/>
        <a:lstStyle/>
        <a:p>
          <a:pPr>
            <a:defRPr cap="all"/>
          </a:pPr>
          <a:r>
            <a:rPr lang="en-US" b="0" i="0" baseline="0"/>
            <a:t>Invest in workforce training</a:t>
          </a:r>
          <a:endParaRPr lang="en-US"/>
        </a:p>
      </dgm:t>
    </dgm:pt>
    <dgm:pt modelId="{B2EC0990-E83F-43F4-8C4C-53E9481A3AE2}" type="parTrans" cxnId="{B2EF8B7A-391C-4B95-B63B-17E2D35CCD75}">
      <dgm:prSet/>
      <dgm:spPr/>
      <dgm:t>
        <a:bodyPr/>
        <a:lstStyle/>
        <a:p>
          <a:endParaRPr lang="en-US"/>
        </a:p>
      </dgm:t>
    </dgm:pt>
    <dgm:pt modelId="{24BF8B00-E7C6-4217-807F-5390E4F8FC2F}" type="sibTrans" cxnId="{B2EF8B7A-391C-4B95-B63B-17E2D35CCD75}">
      <dgm:prSet/>
      <dgm:spPr/>
      <dgm:t>
        <a:bodyPr/>
        <a:lstStyle/>
        <a:p>
          <a:endParaRPr lang="en-US"/>
        </a:p>
      </dgm:t>
    </dgm:pt>
    <dgm:pt modelId="{5333371D-CDAF-4C37-9D52-9502F031047C}">
      <dgm:prSet/>
      <dgm:spPr/>
      <dgm:t>
        <a:bodyPr/>
        <a:lstStyle/>
        <a:p>
          <a:pPr>
            <a:defRPr cap="all"/>
          </a:pPr>
          <a:r>
            <a:rPr lang="en-US" b="0" i="0" baseline="0"/>
            <a:t>Embed quality and safety standards</a:t>
          </a:r>
          <a:endParaRPr lang="en-US"/>
        </a:p>
      </dgm:t>
    </dgm:pt>
    <dgm:pt modelId="{AA8096E8-FF77-4590-9861-9DD17DADE177}" type="parTrans" cxnId="{FF0BDD99-3CE4-42AE-87CD-22ED02449413}">
      <dgm:prSet/>
      <dgm:spPr/>
      <dgm:t>
        <a:bodyPr/>
        <a:lstStyle/>
        <a:p>
          <a:endParaRPr lang="en-US"/>
        </a:p>
      </dgm:t>
    </dgm:pt>
    <dgm:pt modelId="{C5E38105-DA73-492B-9FB4-96E2EFB8AD45}" type="sibTrans" cxnId="{FF0BDD99-3CE4-42AE-87CD-22ED02449413}">
      <dgm:prSet/>
      <dgm:spPr/>
      <dgm:t>
        <a:bodyPr/>
        <a:lstStyle/>
        <a:p>
          <a:endParaRPr lang="en-US"/>
        </a:p>
      </dgm:t>
    </dgm:pt>
    <dgm:pt modelId="{6DCBBE15-A2E7-46DD-9E1E-A3E67E713735}">
      <dgm:prSet/>
      <dgm:spPr/>
      <dgm:t>
        <a:bodyPr/>
        <a:lstStyle/>
        <a:p>
          <a:pPr>
            <a:defRPr cap="all"/>
          </a:pPr>
          <a:r>
            <a:rPr lang="en-US" b="0" i="0" baseline="0"/>
            <a:t>Enhance community participation</a:t>
          </a:r>
          <a:endParaRPr lang="en-US"/>
        </a:p>
      </dgm:t>
    </dgm:pt>
    <dgm:pt modelId="{643CCBD6-9EE2-4AE8-81AE-B2727996E53C}" type="parTrans" cxnId="{2F69078B-D1D1-4726-8303-2CADC8C4D03C}">
      <dgm:prSet/>
      <dgm:spPr/>
      <dgm:t>
        <a:bodyPr/>
        <a:lstStyle/>
        <a:p>
          <a:endParaRPr lang="en-US"/>
        </a:p>
      </dgm:t>
    </dgm:pt>
    <dgm:pt modelId="{A15BF3E7-5E41-4330-ACDB-5E00E58E6D5A}" type="sibTrans" cxnId="{2F69078B-D1D1-4726-8303-2CADC8C4D03C}">
      <dgm:prSet/>
      <dgm:spPr/>
      <dgm:t>
        <a:bodyPr/>
        <a:lstStyle/>
        <a:p>
          <a:endParaRPr lang="en-US"/>
        </a:p>
      </dgm:t>
    </dgm:pt>
    <dgm:pt modelId="{A7B84FDF-3192-4F2F-A9CB-D59587B716A9}">
      <dgm:prSet/>
      <dgm:spPr/>
      <dgm:t>
        <a:bodyPr/>
        <a:lstStyle/>
        <a:p>
          <a:pPr>
            <a:defRPr cap="all"/>
          </a:pPr>
          <a:r>
            <a:rPr lang="en-US" b="0" i="0" baseline="0"/>
            <a:t>Use digital health tools for monitoring</a:t>
          </a:r>
          <a:endParaRPr lang="en-US"/>
        </a:p>
      </dgm:t>
    </dgm:pt>
    <dgm:pt modelId="{51D63967-D686-4DD4-823D-A80C3C5CCEEC}" type="parTrans" cxnId="{89669A89-9EFB-41AF-A8B8-B7717BB0E0E8}">
      <dgm:prSet/>
      <dgm:spPr/>
      <dgm:t>
        <a:bodyPr/>
        <a:lstStyle/>
        <a:p>
          <a:endParaRPr lang="en-US"/>
        </a:p>
      </dgm:t>
    </dgm:pt>
    <dgm:pt modelId="{B6737080-7F3B-44C1-AE20-18247BCF2021}" type="sibTrans" cxnId="{89669A89-9EFB-41AF-A8B8-B7717BB0E0E8}">
      <dgm:prSet/>
      <dgm:spPr/>
      <dgm:t>
        <a:bodyPr/>
        <a:lstStyle/>
        <a:p>
          <a:endParaRPr lang="en-US"/>
        </a:p>
      </dgm:t>
    </dgm:pt>
    <dgm:pt modelId="{C4B13927-31AA-442D-872D-E135984832CE}" type="pres">
      <dgm:prSet presAssocID="{298616D7-B9DF-4DB7-AEDF-7FA79FD1D2EE}" presName="root" presStyleCnt="0">
        <dgm:presLayoutVars>
          <dgm:dir/>
          <dgm:resizeHandles val="exact"/>
        </dgm:presLayoutVars>
      </dgm:prSet>
      <dgm:spPr/>
    </dgm:pt>
    <dgm:pt modelId="{E33157EB-23E8-4A26-B3FA-68A8D55E3273}" type="pres">
      <dgm:prSet presAssocID="{8A1C00E8-FC3C-413A-90DD-A4486BADF9B1}" presName="compNode" presStyleCnt="0"/>
      <dgm:spPr/>
    </dgm:pt>
    <dgm:pt modelId="{0614A616-EA39-4FE4-B9A3-85CC884D675D}" type="pres">
      <dgm:prSet presAssocID="{8A1C00E8-FC3C-413A-90DD-A4486BADF9B1}" presName="iconBgRect" presStyleLbl="bgShp" presStyleIdx="0" presStyleCnt="5"/>
      <dgm:spPr/>
    </dgm:pt>
    <dgm:pt modelId="{D060A94A-30CD-492E-8437-04A59A65132B}" type="pres">
      <dgm:prSet presAssocID="{8A1C00E8-FC3C-413A-90DD-A4486BADF9B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98ADAB35-95C6-4DBC-BE8A-39BA798D597E}" type="pres">
      <dgm:prSet presAssocID="{8A1C00E8-FC3C-413A-90DD-A4486BADF9B1}" presName="spaceRect" presStyleCnt="0"/>
      <dgm:spPr/>
    </dgm:pt>
    <dgm:pt modelId="{8BD499B8-C139-475E-B8BC-A24414A5EFE8}" type="pres">
      <dgm:prSet presAssocID="{8A1C00E8-FC3C-413A-90DD-A4486BADF9B1}" presName="textRect" presStyleLbl="revTx" presStyleIdx="0" presStyleCnt="5">
        <dgm:presLayoutVars>
          <dgm:chMax val="1"/>
          <dgm:chPref val="1"/>
        </dgm:presLayoutVars>
      </dgm:prSet>
      <dgm:spPr/>
    </dgm:pt>
    <dgm:pt modelId="{65641693-C265-4ACA-8278-F0B52A4F6B1E}" type="pres">
      <dgm:prSet presAssocID="{AB0EE255-94AA-4069-9368-60D00F45DB3C}" presName="sibTrans" presStyleCnt="0"/>
      <dgm:spPr/>
    </dgm:pt>
    <dgm:pt modelId="{DA947113-4A36-4920-8601-5BB522D094B3}" type="pres">
      <dgm:prSet presAssocID="{1B660596-3B6B-4CFD-9B40-3B84BA739048}" presName="compNode" presStyleCnt="0"/>
      <dgm:spPr/>
    </dgm:pt>
    <dgm:pt modelId="{90525886-B930-4A5C-936D-C5398AEB2DAB}" type="pres">
      <dgm:prSet presAssocID="{1B660596-3B6B-4CFD-9B40-3B84BA739048}" presName="iconBgRect" presStyleLbl="bgShp" presStyleIdx="1" presStyleCnt="5"/>
      <dgm:spPr/>
    </dgm:pt>
    <dgm:pt modelId="{2FE9578C-C499-4A75-9286-2667AB7BCEEB}" type="pres">
      <dgm:prSet presAssocID="{1B660596-3B6B-4CFD-9B40-3B84BA73904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FFB3523F-C751-4791-BBAD-45342F7968B7}" type="pres">
      <dgm:prSet presAssocID="{1B660596-3B6B-4CFD-9B40-3B84BA739048}" presName="spaceRect" presStyleCnt="0"/>
      <dgm:spPr/>
    </dgm:pt>
    <dgm:pt modelId="{6CBCF45F-278F-46C6-93CB-C65DFB30A9CA}" type="pres">
      <dgm:prSet presAssocID="{1B660596-3B6B-4CFD-9B40-3B84BA739048}" presName="textRect" presStyleLbl="revTx" presStyleIdx="1" presStyleCnt="5">
        <dgm:presLayoutVars>
          <dgm:chMax val="1"/>
          <dgm:chPref val="1"/>
        </dgm:presLayoutVars>
      </dgm:prSet>
      <dgm:spPr/>
    </dgm:pt>
    <dgm:pt modelId="{9B37EAE8-3CA2-4F56-98A5-619AD83FFE2E}" type="pres">
      <dgm:prSet presAssocID="{24BF8B00-E7C6-4217-807F-5390E4F8FC2F}" presName="sibTrans" presStyleCnt="0"/>
      <dgm:spPr/>
    </dgm:pt>
    <dgm:pt modelId="{343DCE7B-3918-4D19-AEE5-19469004C225}" type="pres">
      <dgm:prSet presAssocID="{5333371D-CDAF-4C37-9D52-9502F031047C}" presName="compNode" presStyleCnt="0"/>
      <dgm:spPr/>
    </dgm:pt>
    <dgm:pt modelId="{51132C1A-7095-4236-A798-A34AFAEFAB19}" type="pres">
      <dgm:prSet presAssocID="{5333371D-CDAF-4C37-9D52-9502F031047C}" presName="iconBgRect" presStyleLbl="bgShp" presStyleIdx="2" presStyleCnt="5"/>
      <dgm:spPr/>
    </dgm:pt>
    <dgm:pt modelId="{DFCB27F6-A9CA-4911-BAA0-020DF78C49EF}" type="pres">
      <dgm:prSet presAssocID="{5333371D-CDAF-4C37-9D52-9502F031047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9812D72-5EB7-4148-A473-8E6CE379F6C9}" type="pres">
      <dgm:prSet presAssocID="{5333371D-CDAF-4C37-9D52-9502F031047C}" presName="spaceRect" presStyleCnt="0"/>
      <dgm:spPr/>
    </dgm:pt>
    <dgm:pt modelId="{16DF4808-C9CD-4FC2-8004-5468B4811AB2}" type="pres">
      <dgm:prSet presAssocID="{5333371D-CDAF-4C37-9D52-9502F031047C}" presName="textRect" presStyleLbl="revTx" presStyleIdx="2" presStyleCnt="5">
        <dgm:presLayoutVars>
          <dgm:chMax val="1"/>
          <dgm:chPref val="1"/>
        </dgm:presLayoutVars>
      </dgm:prSet>
      <dgm:spPr/>
    </dgm:pt>
    <dgm:pt modelId="{C2AAC92B-FED5-4FAB-A6E6-B90616797B37}" type="pres">
      <dgm:prSet presAssocID="{C5E38105-DA73-492B-9FB4-96E2EFB8AD45}" presName="sibTrans" presStyleCnt="0"/>
      <dgm:spPr/>
    </dgm:pt>
    <dgm:pt modelId="{2616D10B-4F49-4711-B7C2-685C29A96EE5}" type="pres">
      <dgm:prSet presAssocID="{6DCBBE15-A2E7-46DD-9E1E-A3E67E713735}" presName="compNode" presStyleCnt="0"/>
      <dgm:spPr/>
    </dgm:pt>
    <dgm:pt modelId="{6F273D04-CA10-490C-BE35-21FE51AB0436}" type="pres">
      <dgm:prSet presAssocID="{6DCBBE15-A2E7-46DD-9E1E-A3E67E713735}" presName="iconBgRect" presStyleLbl="bgShp" presStyleIdx="3" presStyleCnt="5"/>
      <dgm:spPr/>
    </dgm:pt>
    <dgm:pt modelId="{F729B730-3DA9-4701-BC7F-3777658F1BEC}" type="pres">
      <dgm:prSet presAssocID="{6DCBBE15-A2E7-46DD-9E1E-A3E67E71373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4FCC971-3C61-44AA-AB76-AD19D483F25E}" type="pres">
      <dgm:prSet presAssocID="{6DCBBE15-A2E7-46DD-9E1E-A3E67E713735}" presName="spaceRect" presStyleCnt="0"/>
      <dgm:spPr/>
    </dgm:pt>
    <dgm:pt modelId="{71E796F7-C0FC-45D4-A1E2-10962278EDF5}" type="pres">
      <dgm:prSet presAssocID="{6DCBBE15-A2E7-46DD-9E1E-A3E67E713735}" presName="textRect" presStyleLbl="revTx" presStyleIdx="3" presStyleCnt="5">
        <dgm:presLayoutVars>
          <dgm:chMax val="1"/>
          <dgm:chPref val="1"/>
        </dgm:presLayoutVars>
      </dgm:prSet>
      <dgm:spPr/>
    </dgm:pt>
    <dgm:pt modelId="{3AC8E772-D478-4ECF-AA35-8371EA7F8A3C}" type="pres">
      <dgm:prSet presAssocID="{A15BF3E7-5E41-4330-ACDB-5E00E58E6D5A}" presName="sibTrans" presStyleCnt="0"/>
      <dgm:spPr/>
    </dgm:pt>
    <dgm:pt modelId="{F963D73C-D2C0-4740-9B1E-40269394BF27}" type="pres">
      <dgm:prSet presAssocID="{A7B84FDF-3192-4F2F-A9CB-D59587B716A9}" presName="compNode" presStyleCnt="0"/>
      <dgm:spPr/>
    </dgm:pt>
    <dgm:pt modelId="{466E02FA-EFA9-473A-A900-14F7559B4617}" type="pres">
      <dgm:prSet presAssocID="{A7B84FDF-3192-4F2F-A9CB-D59587B716A9}" presName="iconBgRect" presStyleLbl="bgShp" presStyleIdx="4" presStyleCnt="5"/>
      <dgm:spPr/>
    </dgm:pt>
    <dgm:pt modelId="{F15F9B20-8F77-4C43-B8D1-1AD33A3FEAB3}" type="pres">
      <dgm:prSet presAssocID="{A7B84FDF-3192-4F2F-A9CB-D59587B716A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1DDD160-511E-4194-9C5C-59B19DDB6FCD}" type="pres">
      <dgm:prSet presAssocID="{A7B84FDF-3192-4F2F-A9CB-D59587B716A9}" presName="spaceRect" presStyleCnt="0"/>
      <dgm:spPr/>
    </dgm:pt>
    <dgm:pt modelId="{3B0396E0-2EE9-497E-BB4C-8BFC09EEB729}" type="pres">
      <dgm:prSet presAssocID="{A7B84FDF-3192-4F2F-A9CB-D59587B716A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787F308-CBE2-4CE8-A2E0-C958BC257098}" type="presOf" srcId="{298616D7-B9DF-4DB7-AEDF-7FA79FD1D2EE}" destId="{C4B13927-31AA-442D-872D-E135984832CE}" srcOrd="0" destOrd="0" presId="urn:microsoft.com/office/officeart/2018/5/layout/IconCircleLabelList"/>
    <dgm:cxn modelId="{90D1D675-88E0-4C4C-BD99-9DBCDC41D554}" type="presOf" srcId="{5333371D-CDAF-4C37-9D52-9502F031047C}" destId="{16DF4808-C9CD-4FC2-8004-5468B4811AB2}" srcOrd="0" destOrd="0" presId="urn:microsoft.com/office/officeart/2018/5/layout/IconCircleLabelList"/>
    <dgm:cxn modelId="{B2EF8B7A-391C-4B95-B63B-17E2D35CCD75}" srcId="{298616D7-B9DF-4DB7-AEDF-7FA79FD1D2EE}" destId="{1B660596-3B6B-4CFD-9B40-3B84BA739048}" srcOrd="1" destOrd="0" parTransId="{B2EC0990-E83F-43F4-8C4C-53E9481A3AE2}" sibTransId="{24BF8B00-E7C6-4217-807F-5390E4F8FC2F}"/>
    <dgm:cxn modelId="{89669A89-9EFB-41AF-A8B8-B7717BB0E0E8}" srcId="{298616D7-B9DF-4DB7-AEDF-7FA79FD1D2EE}" destId="{A7B84FDF-3192-4F2F-A9CB-D59587B716A9}" srcOrd="4" destOrd="0" parTransId="{51D63967-D686-4DD4-823D-A80C3C5CCEEC}" sibTransId="{B6737080-7F3B-44C1-AE20-18247BCF2021}"/>
    <dgm:cxn modelId="{2F69078B-D1D1-4726-8303-2CADC8C4D03C}" srcId="{298616D7-B9DF-4DB7-AEDF-7FA79FD1D2EE}" destId="{6DCBBE15-A2E7-46DD-9E1E-A3E67E713735}" srcOrd="3" destOrd="0" parTransId="{643CCBD6-9EE2-4AE8-81AE-B2727996E53C}" sibTransId="{A15BF3E7-5E41-4330-ACDB-5E00E58E6D5A}"/>
    <dgm:cxn modelId="{FF0BDD99-3CE4-42AE-87CD-22ED02449413}" srcId="{298616D7-B9DF-4DB7-AEDF-7FA79FD1D2EE}" destId="{5333371D-CDAF-4C37-9D52-9502F031047C}" srcOrd="2" destOrd="0" parTransId="{AA8096E8-FF77-4590-9861-9DD17DADE177}" sibTransId="{C5E38105-DA73-492B-9FB4-96E2EFB8AD45}"/>
    <dgm:cxn modelId="{FBFF249F-2182-42F8-AAEE-4E454652B329}" type="presOf" srcId="{1B660596-3B6B-4CFD-9B40-3B84BA739048}" destId="{6CBCF45F-278F-46C6-93CB-C65DFB30A9CA}" srcOrd="0" destOrd="0" presId="urn:microsoft.com/office/officeart/2018/5/layout/IconCircleLabelList"/>
    <dgm:cxn modelId="{BD59A4BE-597C-47D7-83FD-63CA12E87195}" type="presOf" srcId="{8A1C00E8-FC3C-413A-90DD-A4486BADF9B1}" destId="{8BD499B8-C139-475E-B8BC-A24414A5EFE8}" srcOrd="0" destOrd="0" presId="urn:microsoft.com/office/officeart/2018/5/layout/IconCircleLabelList"/>
    <dgm:cxn modelId="{0B5C56D9-991C-44F5-BCE3-AE2888F56A80}" srcId="{298616D7-B9DF-4DB7-AEDF-7FA79FD1D2EE}" destId="{8A1C00E8-FC3C-413A-90DD-A4486BADF9B1}" srcOrd="0" destOrd="0" parTransId="{AC07D06B-7B6A-410E-B775-0D38441515AD}" sibTransId="{AB0EE255-94AA-4069-9368-60D00F45DB3C}"/>
    <dgm:cxn modelId="{FA4349FE-25D5-4F0D-A3E7-02FB1B9C9797}" type="presOf" srcId="{A7B84FDF-3192-4F2F-A9CB-D59587B716A9}" destId="{3B0396E0-2EE9-497E-BB4C-8BFC09EEB729}" srcOrd="0" destOrd="0" presId="urn:microsoft.com/office/officeart/2018/5/layout/IconCircleLabelList"/>
    <dgm:cxn modelId="{99A8A6FE-10C9-41D1-9AB5-FDD977FE3D4B}" type="presOf" srcId="{6DCBBE15-A2E7-46DD-9E1E-A3E67E713735}" destId="{71E796F7-C0FC-45D4-A1E2-10962278EDF5}" srcOrd="0" destOrd="0" presId="urn:microsoft.com/office/officeart/2018/5/layout/IconCircleLabelList"/>
    <dgm:cxn modelId="{16A0E061-0BBD-40C1-9BD1-0EFE3707D340}" type="presParOf" srcId="{C4B13927-31AA-442D-872D-E135984832CE}" destId="{E33157EB-23E8-4A26-B3FA-68A8D55E3273}" srcOrd="0" destOrd="0" presId="urn:microsoft.com/office/officeart/2018/5/layout/IconCircleLabelList"/>
    <dgm:cxn modelId="{9CAC5227-67AC-480A-8205-98B99FDBA671}" type="presParOf" srcId="{E33157EB-23E8-4A26-B3FA-68A8D55E3273}" destId="{0614A616-EA39-4FE4-B9A3-85CC884D675D}" srcOrd="0" destOrd="0" presId="urn:microsoft.com/office/officeart/2018/5/layout/IconCircleLabelList"/>
    <dgm:cxn modelId="{A5A6200B-39FE-4EA3-9FEE-0DB0AC564747}" type="presParOf" srcId="{E33157EB-23E8-4A26-B3FA-68A8D55E3273}" destId="{D060A94A-30CD-492E-8437-04A59A65132B}" srcOrd="1" destOrd="0" presId="urn:microsoft.com/office/officeart/2018/5/layout/IconCircleLabelList"/>
    <dgm:cxn modelId="{ED029A3F-E70D-4E78-800C-30181B099592}" type="presParOf" srcId="{E33157EB-23E8-4A26-B3FA-68A8D55E3273}" destId="{98ADAB35-95C6-4DBC-BE8A-39BA798D597E}" srcOrd="2" destOrd="0" presId="urn:microsoft.com/office/officeart/2018/5/layout/IconCircleLabelList"/>
    <dgm:cxn modelId="{E1B2BC8B-0651-45A1-A5F4-4460935C3E8B}" type="presParOf" srcId="{E33157EB-23E8-4A26-B3FA-68A8D55E3273}" destId="{8BD499B8-C139-475E-B8BC-A24414A5EFE8}" srcOrd="3" destOrd="0" presId="urn:microsoft.com/office/officeart/2018/5/layout/IconCircleLabelList"/>
    <dgm:cxn modelId="{4F11409B-2C41-4532-AD69-3934C96E8A38}" type="presParOf" srcId="{C4B13927-31AA-442D-872D-E135984832CE}" destId="{65641693-C265-4ACA-8278-F0B52A4F6B1E}" srcOrd="1" destOrd="0" presId="urn:microsoft.com/office/officeart/2018/5/layout/IconCircleLabelList"/>
    <dgm:cxn modelId="{36E1DBF2-3DAD-46D0-9F54-DADB48610679}" type="presParOf" srcId="{C4B13927-31AA-442D-872D-E135984832CE}" destId="{DA947113-4A36-4920-8601-5BB522D094B3}" srcOrd="2" destOrd="0" presId="urn:microsoft.com/office/officeart/2018/5/layout/IconCircleLabelList"/>
    <dgm:cxn modelId="{57EF4D3A-5872-4720-A911-278C2EADD09B}" type="presParOf" srcId="{DA947113-4A36-4920-8601-5BB522D094B3}" destId="{90525886-B930-4A5C-936D-C5398AEB2DAB}" srcOrd="0" destOrd="0" presId="urn:microsoft.com/office/officeart/2018/5/layout/IconCircleLabelList"/>
    <dgm:cxn modelId="{2B437054-B4EE-45E1-BDDF-B69E2123E7D3}" type="presParOf" srcId="{DA947113-4A36-4920-8601-5BB522D094B3}" destId="{2FE9578C-C499-4A75-9286-2667AB7BCEEB}" srcOrd="1" destOrd="0" presId="urn:microsoft.com/office/officeart/2018/5/layout/IconCircleLabelList"/>
    <dgm:cxn modelId="{AC805A30-4714-4B8B-9894-36C27CA3DA0E}" type="presParOf" srcId="{DA947113-4A36-4920-8601-5BB522D094B3}" destId="{FFB3523F-C751-4791-BBAD-45342F7968B7}" srcOrd="2" destOrd="0" presId="urn:microsoft.com/office/officeart/2018/5/layout/IconCircleLabelList"/>
    <dgm:cxn modelId="{B6508336-9F23-4DF6-97B0-A38BD8DB75F3}" type="presParOf" srcId="{DA947113-4A36-4920-8601-5BB522D094B3}" destId="{6CBCF45F-278F-46C6-93CB-C65DFB30A9CA}" srcOrd="3" destOrd="0" presId="urn:microsoft.com/office/officeart/2018/5/layout/IconCircleLabelList"/>
    <dgm:cxn modelId="{8E793936-BD9E-4C71-B0F2-6755C155ED60}" type="presParOf" srcId="{C4B13927-31AA-442D-872D-E135984832CE}" destId="{9B37EAE8-3CA2-4F56-98A5-619AD83FFE2E}" srcOrd="3" destOrd="0" presId="urn:microsoft.com/office/officeart/2018/5/layout/IconCircleLabelList"/>
    <dgm:cxn modelId="{C8970442-CACB-4AC5-AC43-BFFCA7E4018B}" type="presParOf" srcId="{C4B13927-31AA-442D-872D-E135984832CE}" destId="{343DCE7B-3918-4D19-AEE5-19469004C225}" srcOrd="4" destOrd="0" presId="urn:microsoft.com/office/officeart/2018/5/layout/IconCircleLabelList"/>
    <dgm:cxn modelId="{BC984F11-EB1F-41A7-98C3-6A7D33F4EE9A}" type="presParOf" srcId="{343DCE7B-3918-4D19-AEE5-19469004C225}" destId="{51132C1A-7095-4236-A798-A34AFAEFAB19}" srcOrd="0" destOrd="0" presId="urn:microsoft.com/office/officeart/2018/5/layout/IconCircleLabelList"/>
    <dgm:cxn modelId="{7CC3DFB4-3ED8-4790-B3AC-0D1546244A80}" type="presParOf" srcId="{343DCE7B-3918-4D19-AEE5-19469004C225}" destId="{DFCB27F6-A9CA-4911-BAA0-020DF78C49EF}" srcOrd="1" destOrd="0" presId="urn:microsoft.com/office/officeart/2018/5/layout/IconCircleLabelList"/>
    <dgm:cxn modelId="{32D29903-C102-4BD0-9F8F-046BED7C2043}" type="presParOf" srcId="{343DCE7B-3918-4D19-AEE5-19469004C225}" destId="{19812D72-5EB7-4148-A473-8E6CE379F6C9}" srcOrd="2" destOrd="0" presId="urn:microsoft.com/office/officeart/2018/5/layout/IconCircleLabelList"/>
    <dgm:cxn modelId="{90C7A7CA-717A-43E4-8987-7DC012F2A7F1}" type="presParOf" srcId="{343DCE7B-3918-4D19-AEE5-19469004C225}" destId="{16DF4808-C9CD-4FC2-8004-5468B4811AB2}" srcOrd="3" destOrd="0" presId="urn:microsoft.com/office/officeart/2018/5/layout/IconCircleLabelList"/>
    <dgm:cxn modelId="{1F82858D-1342-4972-95CB-2093B28BCC00}" type="presParOf" srcId="{C4B13927-31AA-442D-872D-E135984832CE}" destId="{C2AAC92B-FED5-4FAB-A6E6-B90616797B37}" srcOrd="5" destOrd="0" presId="urn:microsoft.com/office/officeart/2018/5/layout/IconCircleLabelList"/>
    <dgm:cxn modelId="{59EB0C00-C249-4DCF-8604-2C5C01C7B401}" type="presParOf" srcId="{C4B13927-31AA-442D-872D-E135984832CE}" destId="{2616D10B-4F49-4711-B7C2-685C29A96EE5}" srcOrd="6" destOrd="0" presId="urn:microsoft.com/office/officeart/2018/5/layout/IconCircleLabelList"/>
    <dgm:cxn modelId="{9B4972D4-EE68-4EAC-B05F-D41772D05993}" type="presParOf" srcId="{2616D10B-4F49-4711-B7C2-685C29A96EE5}" destId="{6F273D04-CA10-490C-BE35-21FE51AB0436}" srcOrd="0" destOrd="0" presId="urn:microsoft.com/office/officeart/2018/5/layout/IconCircleLabelList"/>
    <dgm:cxn modelId="{60F37900-D6F9-4E8C-AA2A-363EC7DEDBC2}" type="presParOf" srcId="{2616D10B-4F49-4711-B7C2-685C29A96EE5}" destId="{F729B730-3DA9-4701-BC7F-3777658F1BEC}" srcOrd="1" destOrd="0" presId="urn:microsoft.com/office/officeart/2018/5/layout/IconCircleLabelList"/>
    <dgm:cxn modelId="{1E62D97C-682C-4E6F-8F49-DF4D6AFD6851}" type="presParOf" srcId="{2616D10B-4F49-4711-B7C2-685C29A96EE5}" destId="{94FCC971-3C61-44AA-AB76-AD19D483F25E}" srcOrd="2" destOrd="0" presId="urn:microsoft.com/office/officeart/2018/5/layout/IconCircleLabelList"/>
    <dgm:cxn modelId="{9E66E0D9-1C0D-4713-82DF-B975B1CB4119}" type="presParOf" srcId="{2616D10B-4F49-4711-B7C2-685C29A96EE5}" destId="{71E796F7-C0FC-45D4-A1E2-10962278EDF5}" srcOrd="3" destOrd="0" presId="urn:microsoft.com/office/officeart/2018/5/layout/IconCircleLabelList"/>
    <dgm:cxn modelId="{A58451CB-DDF3-444D-B5F5-42FD32B9C79D}" type="presParOf" srcId="{C4B13927-31AA-442D-872D-E135984832CE}" destId="{3AC8E772-D478-4ECF-AA35-8371EA7F8A3C}" srcOrd="7" destOrd="0" presId="urn:microsoft.com/office/officeart/2018/5/layout/IconCircleLabelList"/>
    <dgm:cxn modelId="{EACC7CD9-2024-44EE-8879-1D4DE0FE2A42}" type="presParOf" srcId="{C4B13927-31AA-442D-872D-E135984832CE}" destId="{F963D73C-D2C0-4740-9B1E-40269394BF27}" srcOrd="8" destOrd="0" presId="urn:microsoft.com/office/officeart/2018/5/layout/IconCircleLabelList"/>
    <dgm:cxn modelId="{DC842049-951E-48BC-B99C-1C178701E2FB}" type="presParOf" srcId="{F963D73C-D2C0-4740-9B1E-40269394BF27}" destId="{466E02FA-EFA9-473A-A900-14F7559B4617}" srcOrd="0" destOrd="0" presId="urn:microsoft.com/office/officeart/2018/5/layout/IconCircleLabelList"/>
    <dgm:cxn modelId="{7D6696F5-1D44-41FF-9BB5-A6B0AB957F29}" type="presParOf" srcId="{F963D73C-D2C0-4740-9B1E-40269394BF27}" destId="{F15F9B20-8F77-4C43-B8D1-1AD33A3FEAB3}" srcOrd="1" destOrd="0" presId="urn:microsoft.com/office/officeart/2018/5/layout/IconCircleLabelList"/>
    <dgm:cxn modelId="{2805C712-ED7E-4064-AB48-9E34B8168E4C}" type="presParOf" srcId="{F963D73C-D2C0-4740-9B1E-40269394BF27}" destId="{E1DDD160-511E-4194-9C5C-59B19DDB6FCD}" srcOrd="2" destOrd="0" presId="urn:microsoft.com/office/officeart/2018/5/layout/IconCircleLabelList"/>
    <dgm:cxn modelId="{848C498B-B09C-470A-BD06-C97868B929BC}" type="presParOf" srcId="{F963D73C-D2C0-4740-9B1E-40269394BF27}" destId="{3B0396E0-2EE9-497E-BB4C-8BFC09EEB7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B6AA8-7879-46DC-BE2F-EE84C4619061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 dirty="0"/>
            <a:t>Health information systems</a:t>
          </a:r>
          <a:endParaRPr lang="en-US" sz="3400" kern="1200" dirty="0"/>
        </a:p>
      </dsp:txBody>
      <dsp:txXfrm>
        <a:off x="3433446" y="70578"/>
        <a:ext cx="3648708" cy="1265378"/>
      </dsp:txXfrm>
    </dsp:sp>
    <dsp:sp modelId="{4A23B307-D240-436A-A718-8BC3755DF4F1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Outcome monitoring</a:t>
          </a:r>
          <a:endParaRPr lang="en-US" sz="3400" kern="1200"/>
        </a:p>
      </dsp:txBody>
      <dsp:txXfrm>
        <a:off x="3433446" y="1542979"/>
        <a:ext cx="3648708" cy="1265378"/>
      </dsp:txXfrm>
    </dsp:sp>
    <dsp:sp modelId="{CEF8EB40-4865-4A77-B76A-4A960F5405DC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Transparent reporting</a:t>
          </a:r>
          <a:endParaRPr lang="en-US" sz="3400" kern="1200"/>
        </a:p>
      </dsp:txBody>
      <dsp:txXfrm>
        <a:off x="3433446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4A616-EA39-4FE4-B9A3-85CC884D675D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0A94A-30CD-492E-8437-04A59A65132B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499B8-C139-475E-B8BC-A24414A5EFE8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Strengthen primary healthcare systems</a:t>
          </a:r>
          <a:endParaRPr lang="en-US" sz="1500" kern="1200"/>
        </a:p>
      </dsp:txBody>
      <dsp:txXfrm>
        <a:off x="333914" y="2456402"/>
        <a:ext cx="1800000" cy="720000"/>
      </dsp:txXfrm>
    </dsp:sp>
    <dsp:sp modelId="{90525886-B930-4A5C-936D-C5398AEB2DAB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9578C-C499-4A75-9286-2667AB7BCEEB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CF45F-278F-46C6-93CB-C65DFB30A9CA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Invest in workforce training</a:t>
          </a:r>
          <a:endParaRPr lang="en-US" sz="1500" kern="1200"/>
        </a:p>
      </dsp:txBody>
      <dsp:txXfrm>
        <a:off x="2448914" y="2456402"/>
        <a:ext cx="1800000" cy="720000"/>
      </dsp:txXfrm>
    </dsp:sp>
    <dsp:sp modelId="{51132C1A-7095-4236-A798-A34AFAEFAB19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B27F6-A9CA-4911-BAA0-020DF78C49EF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F4808-C9CD-4FC2-8004-5468B4811AB2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Embed quality and safety standards</a:t>
          </a:r>
          <a:endParaRPr lang="en-US" sz="1500" kern="1200"/>
        </a:p>
      </dsp:txBody>
      <dsp:txXfrm>
        <a:off x="4563914" y="2456402"/>
        <a:ext cx="1800000" cy="720000"/>
      </dsp:txXfrm>
    </dsp:sp>
    <dsp:sp modelId="{6F273D04-CA10-490C-BE35-21FE51AB0436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9B730-3DA9-4701-BC7F-3777658F1BEC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796F7-C0FC-45D4-A1E2-10962278EDF5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Enhance community participation</a:t>
          </a:r>
          <a:endParaRPr lang="en-US" sz="1500" kern="1200"/>
        </a:p>
      </dsp:txBody>
      <dsp:txXfrm>
        <a:off x="6678914" y="2456402"/>
        <a:ext cx="1800000" cy="720000"/>
      </dsp:txXfrm>
    </dsp:sp>
    <dsp:sp modelId="{466E02FA-EFA9-473A-A900-14F7559B4617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F9B20-8F77-4C43-B8D1-1AD33A3FEAB3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396E0-2EE9-497E-BB4C-8BFC09EEB729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Use digital health tools for monitoring</a:t>
          </a:r>
          <a:endParaRPr lang="en-US" sz="1500" kern="1200"/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E77C3-1682-4749-9B38-42EB9FF14F6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2535F-D3C7-4A2C-80B1-944853DF8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3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2535F-D3C7-4A2C-80B1-944853DF8F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829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5CFA-4C4A-EBFC-41CA-8727FC8B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E64AD-4B8D-6359-6563-FF78250DE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8E7D6-06C2-3157-C0D2-73173F55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81536-AB5A-1541-C35E-4CF8CBF28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2535F-D3C7-4A2C-80B1-944853DF8F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965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3F88-A521-9846-D3FC-8AC5B8A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52B0F-417F-3DEE-4DAC-08A3F9CBB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6F1DA-6517-C9DE-C7DB-59AF2DD12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A901F-5AE4-438E-6BB0-5D6EC7510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06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21F8B-0407-CF0C-8A1B-CA1232FB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1B533-373F-42D0-85CE-D4642945B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4B700-7BEB-7AEC-7798-8D90C7C00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2660B-7AC6-BBA5-36BE-006A64251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43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B2EC-1307-538D-AAEB-E086AD8A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404D6-BF38-AC25-2832-9E1766945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F1595-FCCC-DD4C-38EA-5FCED496A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0ECC1-0FB5-D58E-335C-15CC9FB27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32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08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9352A-24DB-D67F-04C7-34913A38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CEE5F-00EF-23DA-E8C3-33DA51D5D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60C1F-A4FE-FBCC-6152-EB8E2F882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47C0E-BD77-B109-DA07-EEE558588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10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FF52-BCCF-A171-E640-194C57E6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83D56-215A-B4BC-170F-9C89A0D5A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7ED04-4741-F6D1-6374-C94F369C3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C3395-B4C2-A952-EE03-D4268567E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83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EDDA-7A01-CF47-4F46-262F73EA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B9C62-B7FC-9AAA-1FE9-66046C993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87DAE-8E8F-AF3D-7044-C0BF2E62E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B9AA8-5CF6-F08A-1FB7-8682CAF44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15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41C65-689F-18C3-6870-27CE3B94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87865-A891-1FFE-7B3A-0133550AE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8D3B8-9A83-E857-52BD-9B33894AA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2791-DD6D-FD4B-CFC4-FECEEF1DC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18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F3E97-4EB3-AE51-9836-C8E247BD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8E531-2C5F-3A5D-190D-DC0540899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BD733-9AA0-D0C9-3245-4AA478B6E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8819F-FEBF-28DD-2CFB-2078D466F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81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6466-5DEE-E698-1EF1-3D3601AA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0B969-6D81-406D-B2BC-B9320E938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2D97D-3603-4FB9-A725-4306D665A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2B9A-AB14-C7CF-AF32-F7153E9B9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12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0501-66CB-498B-4712-AFAD460F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F3FF0-D3BF-653F-ADA2-BF05372B4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5F292-3739-7FDD-7ED5-2B20AA23A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1C17-3AC3-65FC-7EA6-AF18DAD19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14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AAAF-8696-A42E-A333-EDD983181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90B62-6212-DE94-318C-4E96F44A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72F6C-F0DC-070C-926C-6DBD813CD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74602-D32C-E1FE-6A20-EFFC4FCBA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94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1AE1-73B9-3447-7476-AE0F874C1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222E3-616A-D054-FA31-BB10ACE92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E4EB3-9BA1-7178-F5AA-CA7B1B293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18505-AF47-DC15-F958-4F05D7FFE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01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98CC3-171A-6122-0645-3D720D03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E4B03-6362-D126-CC8D-DE45F654A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8E7CB-7064-D0F6-9964-1F332BB35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36F9A-06AA-2DB6-9B94-41403EB56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97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B63A-7940-32D8-1F6A-2CE715BD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ACD04-4CE5-174A-D77E-A36E1B8E4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FF04B-BFC5-96A2-6224-5F00D1EB6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D8686-C902-C8A7-E02B-FB5B9DB09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95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62C9-7D93-B5DC-8457-EED7A5EF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3C76B-28A9-0D29-2789-616CFD19D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0925E-734F-A187-18CC-2A0538F89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A0722-1205-2A43-5664-2538B721A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32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5440F-F034-8F7E-162D-1D6D2C6B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BA251-3579-5975-F200-EA1CC30A9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F01F2-871A-41CB-96AD-85C7CED2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1C632-FA4E-644C-312A-AF2DF42F4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2535F-D3C7-4A2C-80B1-944853DF8F7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6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996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895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02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58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2547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370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668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928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734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224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068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626E9-10F4-4194-B333-45FBFF7BE419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00DB5-F4EA-4345-B8EF-79C490BD62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14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8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950387"/>
            <a:ext cx="3935505" cy="3531403"/>
          </a:xfrm>
        </p:spPr>
        <p:txBody>
          <a:bodyPr anchor="t">
            <a:normAutofit/>
          </a:bodyPr>
          <a:lstStyle/>
          <a:p>
            <a:br>
              <a:rPr lang="en-US" sz="2800" b="1" dirty="0">
                <a:solidFill>
                  <a:srgbClr val="FFFFFF"/>
                </a:solidFill>
                <a:latin typeface="+mn-lt"/>
              </a:rPr>
            </a:br>
            <a:br>
              <a:rPr lang="en-US" sz="2800" b="1" dirty="0">
                <a:solidFill>
                  <a:srgbClr val="FFFFFF"/>
                </a:solidFill>
                <a:latin typeface="+mn-lt"/>
              </a:rPr>
            </a:br>
            <a:br>
              <a:rPr lang="en-US" sz="2800" b="1" dirty="0">
                <a:solidFill>
                  <a:srgbClr val="FFFFFF"/>
                </a:solidFill>
                <a:latin typeface="+mn-lt"/>
              </a:rPr>
            </a:br>
            <a:r>
              <a:rPr lang="en-US" sz="2800" b="1" dirty="0">
                <a:solidFill>
                  <a:srgbClr val="FFFFFF"/>
                </a:solidFill>
                <a:latin typeface="+mn-lt"/>
              </a:rPr>
              <a:t>EFFECTIVE MANAGEMENT STRATEGIES IN HEALTHCARE SECTOR</a:t>
            </a:r>
            <a:br>
              <a:rPr lang="en-US" sz="2800" dirty="0">
                <a:solidFill>
                  <a:srgbClr val="FFFFFF"/>
                </a:solidFill>
              </a:rPr>
            </a:b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743803"/>
            <a:ext cx="3935504" cy="1382392"/>
          </a:xfrm>
        </p:spPr>
        <p:txBody>
          <a:bodyPr anchor="b"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PUBLIC HEALTH SEMINAR </a:t>
            </a:r>
          </a:p>
          <a:p>
            <a:r>
              <a:rPr lang="en-US" sz="2000" b="1" dirty="0" err="1">
                <a:solidFill>
                  <a:srgbClr val="FFFFFF"/>
                </a:solidFill>
              </a:rPr>
              <a:t>Ms</a:t>
            </a:r>
            <a:r>
              <a:rPr lang="en-US" sz="2000" b="1" dirty="0">
                <a:solidFill>
                  <a:srgbClr val="FFFFFF"/>
                </a:solidFill>
              </a:rPr>
              <a:t> Bono Nemukula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22 April 2026</a:t>
            </a:r>
          </a:p>
          <a:p>
            <a:pPr algn="r"/>
            <a:endParaRPr lang="en-ZA" sz="14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36822-4B98-0FBD-BBA3-8C3F2C98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4" y="1"/>
            <a:ext cx="8153396" cy="687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07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of content </a:t>
            </a:r>
          </a:p>
        </p:txBody>
      </p:sp>
      <p:sp>
        <p:nvSpPr>
          <p:cNvPr id="5" name="Text Placeholder 4"/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/>
          <p:cNvSpPr>
            <a:spLocks/>
          </p:cNvSpPr>
          <p:nvPr/>
        </p:nvSpPr>
        <p:spPr>
          <a:xfrm>
            <a:off x="6152321" y="2312622"/>
            <a:ext cx="4426537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7DCC6-9245-E478-D216-7B74B56CD7BA}"/>
              </a:ext>
            </a:extLst>
          </p:cNvPr>
          <p:cNvSpPr>
            <a:spLocks/>
          </p:cNvSpPr>
          <p:nvPr/>
        </p:nvSpPr>
        <p:spPr>
          <a:xfrm>
            <a:off x="489857" y="1681163"/>
            <a:ext cx="7639000" cy="482797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Organization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Framework for effective health care management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Leadership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Governance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Financing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Calibri" panose="020F0502020204030204"/>
              </a:rPr>
              <a:t>Service delivery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Quality of care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Calibri" panose="020F0502020204030204"/>
              </a:rPr>
              <a:t>Workforce and resources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 work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Calibri" panose="020F0502020204030204"/>
              </a:rPr>
              <a:t>Monitoring and accountability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Calibri" panose="020F0502020204030204"/>
              </a:rPr>
              <a:t>Risk and challenges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Calibri" panose="020F0502020204030204"/>
              </a:rPr>
              <a:t>Actionable recommendations</a:t>
            </a: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8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73062-1A16-60FA-252A-1ECC4842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508A461-3CE4-DCE2-62C3-C2B4747DC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77C70E-DEC5-0646-98D5-A5723BCA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6AAAF7-4FFC-0027-1658-C17EF0F3E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522C41-007F-BE8E-ACA5-81CBEDA69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0D32D-B04B-9EEC-75F3-B14AC9F9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Scenario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F5962-9CB9-4687-4A17-CE2CFC0320EA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BBCA1A-DF66-AB96-3463-0D70FF1C21D9}"/>
              </a:ext>
            </a:extLst>
          </p:cNvPr>
          <p:cNvSpPr>
            <a:spLocks/>
          </p:cNvSpPr>
          <p:nvPr/>
        </p:nvSpPr>
        <p:spPr>
          <a:xfrm>
            <a:off x="6152321" y="2312622"/>
            <a:ext cx="4426537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1BB55-D906-BE88-5E68-2848EC8EB17E}"/>
              </a:ext>
            </a:extLst>
          </p:cNvPr>
          <p:cNvSpPr>
            <a:spLocks/>
          </p:cNvSpPr>
          <p:nvPr/>
        </p:nvSpPr>
        <p:spPr>
          <a:xfrm>
            <a:off x="1484149" y="2312623"/>
            <a:ext cx="4404844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9151B8-8D3C-5C0D-05A0-F240B5701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6419"/>
            <a:ext cx="7059168" cy="2515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3F7F9B-2EF5-3001-E790-A72AC3373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018" y="1575459"/>
            <a:ext cx="4505098" cy="3820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A80AA8-C72B-E424-0D69-F947FA4E3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7" y="4142232"/>
            <a:ext cx="5192129" cy="27157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D04C3D-2244-B601-9E50-C56320ADC6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306" y="3186508"/>
            <a:ext cx="5334530" cy="37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38452-4812-CF11-2834-2C7A1EA4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41E7396-DF65-CF61-A3DC-5098A837F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F57DED-1430-5749-9ADE-EB638A791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2FB14D-06CE-2C57-0AB8-1CACDC8F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270678-8396-33C6-DA55-4D0026DD6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5F069-4614-0C6E-24DA-32815467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South Africa’s Health System at a Glance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C1075F-36F5-E5DC-618F-52961CCA017D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E1064E-D31B-A6DC-74DC-B00ADE77F8CF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9EABA-ED47-9A66-097D-EE6FCF071D62}"/>
              </a:ext>
            </a:extLst>
          </p:cNvPr>
          <p:cNvSpPr txBox="1"/>
          <p:nvPr/>
        </p:nvSpPr>
        <p:spPr>
          <a:xfrm>
            <a:off x="0" y="1973842"/>
            <a:ext cx="11960352" cy="519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/>
              </a:rPr>
              <a:t>“A long and healthy life for all for South Africans”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Increase life expectancy to 70 years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63,1 million population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9 provinces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52 Health districts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(8 Metro &amp; 44 District municipalities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3841 CHC’s &amp; 3477 PHC’s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1500 private clinics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260 private hospitals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403 public hospitals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18E872-E0F3-50D5-0B0B-825F751C0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026" y="2159535"/>
            <a:ext cx="5212532" cy="3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42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C7678-EFF5-4C8C-719D-8A393733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C507E0F-B620-5197-2E28-111E91DE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1A8BB-5DCF-E790-8D97-C48023394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8485632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Quadruple burden of disease  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ECC7E33C-4195-B961-E11F-0988E6C4F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8BB15-D376-EA62-9C0A-9E758E960763}"/>
              </a:ext>
            </a:extLst>
          </p:cNvPr>
          <p:cNvSpPr txBox="1"/>
          <p:nvPr/>
        </p:nvSpPr>
        <p:spPr>
          <a:xfrm>
            <a:off x="253573" y="2660725"/>
            <a:ext cx="11459891" cy="39907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b="1" dirty="0"/>
              <a:t>Tackling: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HIV/AIDS, 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TB, 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high maternal/child mortality, 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rising non-communicable diseases (NCDs), and 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high injury rates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Mortality: TB is a top killer, while HIV, diabetes, and cardiovascular diseases (like stroke and hypertension) dominate. Stats SA reports a 58.7% rise in NCD deaths, with CANSA highlighting high TB/HIV co-infection rates</a:t>
            </a:r>
            <a:endParaRPr kumimoji="0" lang="en-US" sz="22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0FB5DD-5470-E501-7B32-7A088953C22F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673306-1AB7-BAAC-EB42-C3F8B7137CD1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70924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0344E-5723-B4C7-A636-D60DD7B6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0A37BDA-9359-5E6E-640D-09C5D6F8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30F16-2F08-94DF-5AB1-E200A386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8485632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Drivers   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DFDEF7F6-E8D0-164B-4DBD-793609D45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54422-FCEE-5646-53D3-7C367D892E67}"/>
              </a:ext>
            </a:extLst>
          </p:cNvPr>
          <p:cNvSpPr txBox="1"/>
          <p:nvPr/>
        </p:nvSpPr>
        <p:spPr>
          <a:xfrm>
            <a:off x="253573" y="2660725"/>
            <a:ext cx="11459891" cy="39907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Climate change 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Air pollution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Poverty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Overcrowding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Rapid urbanization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Lifestyle change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Alcohol abuse and risky behaviors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Crime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Unsafe roads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38FE1D-0FC0-9678-4D28-9E034C46CFA6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9971DF-6A31-A3DE-8589-07EB103B56EE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5838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Framework for effective management </a:t>
            </a:r>
          </a:p>
        </p:txBody>
      </p:sp>
      <p:sp>
        <p:nvSpPr>
          <p:cNvPr id="6" name="Text Placeholder 5"/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7" name="Text Placeholder 6"/>
          <p:cNvSpPr>
            <a:spLocks/>
          </p:cNvSpPr>
          <p:nvPr/>
        </p:nvSpPr>
        <p:spPr>
          <a:xfrm>
            <a:off x="8549640" y="1904104"/>
            <a:ext cx="3642360" cy="1576446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740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Health System Framework – Six building blocks </a:t>
            </a:r>
          </a:p>
          <a:p>
            <a:pPr marL="0" marR="0" lvl="0" indent="0" algn="l" defTabSz="740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ZA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740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PESTEL</a:t>
            </a:r>
          </a:p>
        </p:txBody>
      </p:sp>
      <p:sp>
        <p:nvSpPr>
          <p:cNvPr id="8" name="Content Placeholder 7"/>
          <p:cNvSpPr>
            <a:spLocks/>
          </p:cNvSpPr>
          <p:nvPr/>
        </p:nvSpPr>
        <p:spPr>
          <a:xfrm>
            <a:off x="8439911" y="1570310"/>
            <a:ext cx="3752089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5BAD0A-E470-4782-EB14-29D20A304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5459"/>
            <a:ext cx="8439912" cy="52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7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D33DD-56DC-893B-E5B3-2D3CDE93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323FFF2-0949-291D-F9F7-8343866A8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7B433F-54E7-317B-3158-BEC07AA46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42F081-2D12-C612-70E7-24FA9BD02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D1713F-C968-01B4-72BF-06BEC446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FAA27-2CD6-5E73-D9CA-879B7128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Leadership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18BD10-9B7A-BAF7-2F6C-2EA48F77E0ED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943105-5385-20A1-7F5D-77B84265AC47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BAF33-B936-6A39-38DF-1866610FD404}"/>
              </a:ext>
            </a:extLst>
          </p:cNvPr>
          <p:cNvSpPr txBox="1"/>
          <p:nvPr/>
        </p:nvSpPr>
        <p:spPr>
          <a:xfrm>
            <a:off x="576072" y="1973842"/>
            <a:ext cx="11384280" cy="5512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0" i="0" dirty="0">
                <a:solidFill>
                  <a:srgbClr val="252729"/>
                </a:solidFill>
                <a:effectLst/>
                <a:latin typeface="din-2014"/>
              </a:rPr>
              <a:t>Political and administrative leadership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0" i="0" dirty="0">
                <a:solidFill>
                  <a:srgbClr val="252729"/>
                </a:solidFill>
                <a:effectLst/>
                <a:latin typeface="din-2014"/>
              </a:rPr>
              <a:t>Leaders: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800" b="0" i="0" dirty="0">
                <a:solidFill>
                  <a:srgbClr val="252729"/>
                </a:solidFill>
                <a:effectLst/>
                <a:latin typeface="din-2014"/>
              </a:rPr>
              <a:t>high </a:t>
            </a:r>
            <a:r>
              <a:rPr lang="en-US" sz="2800" b="1" i="0" dirty="0">
                <a:solidFill>
                  <a:srgbClr val="252729"/>
                </a:solidFill>
                <a:effectLst/>
                <a:latin typeface="din-2014"/>
              </a:rPr>
              <a:t>Emotional Intelligence </a:t>
            </a:r>
            <a:r>
              <a:rPr lang="en-US" sz="2800" b="0" i="0" dirty="0">
                <a:solidFill>
                  <a:srgbClr val="252729"/>
                </a:solidFill>
                <a:effectLst/>
                <a:latin typeface="din-2014"/>
              </a:rPr>
              <a:t>can understand their own emotions and 	those of their team members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thinking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communication skills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eam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building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ZA" sz="2800" b="1" dirty="0">
                <a:solidFill>
                  <a:srgbClr val="040C28"/>
                </a:solidFill>
                <a:latin typeface="Google Sans"/>
              </a:rPr>
              <a:t>D</a:t>
            </a:r>
            <a:r>
              <a:rPr lang="en-ZA" sz="2800" b="1" i="0" dirty="0">
                <a:solidFill>
                  <a:srgbClr val="040C28"/>
                </a:solidFill>
                <a:effectLst/>
                <a:latin typeface="Google Sans"/>
              </a:rPr>
              <a:t>ecision-making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ZA" sz="2800" b="1" dirty="0">
                <a:solidFill>
                  <a:srgbClr val="040C28"/>
                </a:solidFill>
                <a:latin typeface="Google Sans"/>
              </a:rPr>
              <a:t>M</a:t>
            </a:r>
            <a:r>
              <a:rPr lang="en-ZA" sz="2800" b="1" i="0" dirty="0">
                <a:solidFill>
                  <a:srgbClr val="040C28"/>
                </a:solidFill>
                <a:effectLst/>
                <a:latin typeface="Google Sans"/>
              </a:rPr>
              <a:t>entorship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10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4DF4B-EA85-D2AF-D7ED-8490988E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20895-BA80-ECF9-A3A1-DDA713A5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Governance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83AA4-7B1A-6703-F429-828099DF7BF6}"/>
              </a:ext>
            </a:extLst>
          </p:cNvPr>
          <p:cNvSpPr txBox="1"/>
          <p:nvPr/>
        </p:nvSpPr>
        <p:spPr>
          <a:xfrm>
            <a:off x="630936" y="2807167"/>
            <a:ext cx="3895522" cy="33863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STRATEGIC POLICY FRAMEWORKS: </a:t>
            </a: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/>
              <a:t>- Global commitments – COP &amp; SDGs ,   </a:t>
            </a:r>
          </a:p>
          <a:p>
            <a:pPr marR="0"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700" dirty="0"/>
              <a:t>       IHR 2005, SADC Malaria Elimination 8</a:t>
            </a:r>
            <a:endParaRPr kumimoji="0" lang="en-US" sz="170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- National Development Plan 2030</a:t>
            </a: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- Presidential Health Compact</a:t>
            </a: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/>
              <a:t>- </a:t>
            </a:r>
            <a:r>
              <a:rPr kumimoji="0" lang="en-US" sz="17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National</a:t>
            </a:r>
            <a:r>
              <a:rPr kumimoji="0" lang="en-US" sz="1700" i="0" u="none" strike="noStrike" cap="none" spc="0" normalizeH="0" noProof="0" dirty="0">
                <a:ln>
                  <a:noFill/>
                </a:ln>
                <a:effectLst/>
                <a:uLnTx/>
                <a:uFillTx/>
              </a:rPr>
              <a:t> Health Act</a:t>
            </a: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OVERSIGHT AND ACCOUNTABILITY</a:t>
            </a:r>
          </a:p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COALITION-BUILDING WITH STAKEHOLDERS: </a:t>
            </a:r>
            <a:r>
              <a:rPr lang="en-US" sz="1700" dirty="0"/>
              <a:t>Actor management strategies</a:t>
            </a:r>
          </a:p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6D38C-5EE5-B81E-52E1-292CA6F15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730377"/>
            <a:ext cx="3099816" cy="23248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BD5682-9D77-76CE-14DE-7952CBBA9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21175"/>
            <a:ext cx="3785616" cy="21294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529D12-D517-A212-F2CA-AD1D54E65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4033601"/>
            <a:ext cx="3099816" cy="1921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0BD747-3A9B-8E9F-4EB4-0ABF682BC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163056"/>
            <a:ext cx="3785616" cy="283921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7028E8-3BB1-847B-F50D-750C1545F7A6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C13C7E-2FF1-ED13-C293-7CC9D663B359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sp>
        <p:nvSpPr>
          <p:cNvPr id="9" name="AutoShape 6" descr="CONCEPT OF GOVERNANCE.ppt">
            <a:extLst>
              <a:ext uri="{FF2B5EF4-FFF2-40B4-BE49-F238E27FC236}">
                <a16:creationId xmlns:a16="http://schemas.microsoft.com/office/drawing/2014/main" id="{1B30EDBE-99C5-1246-12D7-23094D16CF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890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CE856-A532-11FF-A56B-91CCEAA5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Calculator, pen, compass, money and a paper with graphs printed on it">
            <a:extLst>
              <a:ext uri="{FF2B5EF4-FFF2-40B4-BE49-F238E27FC236}">
                <a16:creationId xmlns:a16="http://schemas.microsoft.com/office/drawing/2014/main" id="{02B34C49-8B94-944D-20A0-E205AE9CBC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39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BBBEC-16E5-8AE5-3C71-2BBE37AF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Financing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A0820E-A8C5-5B64-C038-42E07A63318C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CD87D8-7A6B-7EA9-961B-54B28843037C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61011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33361-CF1A-F24B-D096-B1C52443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05D7B1B-C374-0900-88C8-394F4F0AE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0E036-072A-680E-BF83-884BD50D6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C09E5-C733-EF40-6B1A-CBA6F0B21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4D9B14-CB09-3980-640D-E4EFD96E6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6F797-7A55-F046-457A-803BDC22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Financing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ABB5F6-E522-D822-B97E-6402FA9F8E75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36DE85-4391-D935-0645-34DA1CEEABF7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99D9B-725D-356B-3B89-B29FC622569A}"/>
              </a:ext>
            </a:extLst>
          </p:cNvPr>
          <p:cNvSpPr txBox="1"/>
          <p:nvPr/>
        </p:nvSpPr>
        <p:spPr>
          <a:xfrm>
            <a:off x="576072" y="1973842"/>
            <a:ext cx="7388352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2002A-3F68-DF6B-E6BD-D573C6A62FBE}"/>
              </a:ext>
            </a:extLst>
          </p:cNvPr>
          <p:cNvSpPr txBox="1"/>
          <p:nvPr/>
        </p:nvSpPr>
        <p:spPr>
          <a:xfrm>
            <a:off x="438912" y="2006990"/>
            <a:ext cx="7388352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DA7F7-B0F3-B692-2578-977C25DB6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38" y="1575459"/>
            <a:ext cx="12192000" cy="3121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3E7B21-9B87-5E9B-8FB3-BC3E7B2EFA75}"/>
              </a:ext>
            </a:extLst>
          </p:cNvPr>
          <p:cNvSpPr txBox="1"/>
          <p:nvPr/>
        </p:nvSpPr>
        <p:spPr>
          <a:xfrm>
            <a:off x="1223010" y="5308255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</a:t>
            </a:r>
            <a:r>
              <a:rPr lang="en-US" b="1" dirty="0"/>
              <a:t>ublic </a:t>
            </a:r>
            <a:r>
              <a:rPr lang="en-US" sz="1800" b="1" dirty="0"/>
              <a:t>Finance Management Act</a:t>
            </a:r>
          </a:p>
          <a:p>
            <a:r>
              <a:rPr lang="en-US" b="1" dirty="0"/>
              <a:t>Municipal Finance Management Act</a:t>
            </a:r>
          </a:p>
          <a:p>
            <a:r>
              <a:rPr lang="en-US" sz="1800" b="1" dirty="0"/>
              <a:t>Auditor General </a:t>
            </a:r>
          </a:p>
          <a:p>
            <a:r>
              <a:rPr lang="en-US" b="1" dirty="0"/>
              <a:t>Public Protector</a:t>
            </a:r>
            <a:endParaRPr lang="en-US" sz="1800" b="1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74232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39146-A7EB-3681-052A-B60B7773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55136-8EDE-938F-2D3D-4327C194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0" y="751294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Workforce &amp; Resources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5AB9A-B181-2251-7384-23F68E17D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494" y="364672"/>
            <a:ext cx="7452794" cy="426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1D62EA-31FA-DE52-F6A0-F69378B81762}"/>
              </a:ext>
            </a:extLst>
          </p:cNvPr>
          <p:cNvSpPr txBox="1"/>
          <p:nvPr/>
        </p:nvSpPr>
        <p:spPr>
          <a:xfrm>
            <a:off x="4501896" y="4441371"/>
            <a:ext cx="7568616" cy="2231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Adequately trained health workers – </a:t>
            </a:r>
            <a:r>
              <a:rPr kumimoji="0" lang="en-US" sz="15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scale up training institutions to meet demand</a:t>
            </a:r>
          </a:p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Continuous professional development – </a:t>
            </a:r>
            <a:r>
              <a:rPr kumimoji="0" lang="en-US" sz="15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capacity building of health workers</a:t>
            </a:r>
          </a:p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Efficient resource allocation – </a:t>
            </a:r>
            <a:r>
              <a:rPr kumimoji="0" lang="en-US" sz="15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tools of trade</a:t>
            </a:r>
            <a:endParaRPr lang="en-US" sz="1500" b="1" dirty="0"/>
          </a:p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b="1" dirty="0">
                <a:effectLst/>
              </a:rPr>
              <a:t>Retention policies and staff wellbeing</a:t>
            </a:r>
            <a:r>
              <a:rPr lang="en-US" sz="1500" dirty="0">
                <a:effectLst/>
              </a:rPr>
              <a:t>: rural allowances, housing, career progression. </a:t>
            </a:r>
            <a:r>
              <a:rPr lang="en-US" sz="1500" b="1" dirty="0">
                <a:effectLst/>
              </a:rPr>
              <a:t>(Employee Wellness </a:t>
            </a:r>
            <a:r>
              <a:rPr lang="en-US" sz="1500" b="1" dirty="0" err="1">
                <a:effectLst/>
              </a:rPr>
              <a:t>Programme</a:t>
            </a:r>
            <a:r>
              <a:rPr lang="en-US" sz="1500" b="1" dirty="0">
                <a:effectLst/>
              </a:rPr>
              <a:t>)</a:t>
            </a:r>
            <a:endParaRPr lang="en-US" sz="1500" b="1" dirty="0"/>
          </a:p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b="1" dirty="0">
                <a:effectLst/>
              </a:rPr>
              <a:t>Monitoring systems</a:t>
            </a:r>
            <a:r>
              <a:rPr lang="en-US" sz="1500" dirty="0">
                <a:effectLst/>
              </a:rPr>
              <a:t>: integrate workforce data into national health information systems.</a:t>
            </a:r>
            <a:endParaRPr lang="en-US" sz="1500" dirty="0"/>
          </a:p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b="1" dirty="0">
                <a:effectLst/>
              </a:rPr>
              <a:t>Global partnerships</a:t>
            </a:r>
            <a:r>
              <a:rPr lang="en-US" sz="1500" dirty="0">
                <a:effectLst/>
              </a:rPr>
              <a:t>: leverage WHO and donor support for workforce strengthening.</a:t>
            </a:r>
            <a:endParaRPr lang="en-US" sz="1500" dirty="0"/>
          </a:p>
          <a:p>
            <a:pPr marL="342900" marR="0" lvl="0" indent="-2286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BC9947-92D3-8941-22CE-244062D62707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69D4DC-B846-6A10-8EEE-AE799E9300C8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204295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D6AF1-CFD8-71AB-2E86-4FD08C23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FF674-CAC1-725E-008C-CF5754BF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 Delivery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D8653-840B-E7A0-755A-CD34183D63E5}"/>
              </a:ext>
            </a:extLst>
          </p:cNvPr>
          <p:cNvSpPr txBox="1"/>
          <p:nvPr/>
        </p:nvSpPr>
        <p:spPr>
          <a:xfrm>
            <a:off x="630936" y="2660725"/>
            <a:ext cx="4434840" cy="35571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b="1" dirty="0"/>
              <a:t>Challenges in South Africa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Inequality</a:t>
            </a:r>
            <a:r>
              <a:rPr lang="en-US" sz="2200" dirty="0"/>
              <a:t>: Urban area often have 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   better facilities than rural areas.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Workforce Shortages</a:t>
            </a:r>
            <a:r>
              <a:rPr lang="en-US" sz="2200" dirty="0"/>
              <a:t>: Limited numbers   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   of trained healthcare professionals.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Infrastructure Gaps</a:t>
            </a:r>
            <a:r>
              <a:rPr lang="en-US" sz="2200" dirty="0"/>
              <a:t>: Aging facilities and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   insufficient equipment.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Financial Constraints</a:t>
            </a:r>
            <a:r>
              <a:rPr lang="en-US" sz="2200" dirty="0"/>
              <a:t>: High costs of care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   and limited budgets.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b="1" dirty="0"/>
              <a:t>    Financing in South Africa’s health system</a:t>
            </a:r>
            <a:r>
              <a:rPr lang="en-US" sz="2400" dirty="0"/>
              <a:t> is central to understanding   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/>
              <a:t>    why the </a:t>
            </a:r>
            <a:r>
              <a:rPr lang="en-US" sz="2400" dirty="0">
                <a:highlight>
                  <a:srgbClr val="FFFF00"/>
                </a:highlight>
              </a:rPr>
              <a:t>country struggles with the quadruple burden of disease.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/>
              <a:t>    Financing determines </a:t>
            </a:r>
            <a:r>
              <a:rPr lang="en-US" sz="2400" b="1" dirty="0">
                <a:highlight>
                  <a:srgbClr val="FFFF00"/>
                </a:highlight>
              </a:rPr>
              <a:t>the resources available</a:t>
            </a:r>
            <a:r>
              <a:rPr lang="en-US" sz="2400" dirty="0"/>
              <a:t>, while service delivery   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/>
              <a:t>      reflects how those </a:t>
            </a:r>
            <a:r>
              <a:rPr lang="en-US" sz="2400" b="1" dirty="0"/>
              <a:t>resources are </a:t>
            </a:r>
            <a:r>
              <a:rPr lang="en-US" sz="2400" b="1" dirty="0">
                <a:highlight>
                  <a:srgbClr val="FFFF00"/>
                </a:highlight>
              </a:rPr>
              <a:t>translated into care</a:t>
            </a:r>
            <a:endParaRPr lang="en-US" sz="2200" b="1" dirty="0">
              <a:highlight>
                <a:srgbClr val="FFFF00"/>
              </a:highlight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Implementation of NHI</a:t>
            </a:r>
            <a:r>
              <a:rPr lang="en-US" sz="2200" dirty="0"/>
              <a:t>: Ensuring smooth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rollout and sustainability of universal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coverage.</a:t>
            </a:r>
            <a:endParaRPr kumimoji="0" lang="en-US" sz="22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27331-CB3C-3A01-2B29-44C2544C7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018" y="640080"/>
            <a:ext cx="4964276" cy="557784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2488FD-34E4-BBF1-A002-D388BEA22CF8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1EB5F2-7DD2-DEDE-BD52-D2DD74659B33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2649721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432D9-1E11-0D42-884A-28014C7D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05208B7-402D-B73C-A64C-8F822A65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3EECC-2177-4DD2-0E5B-3778DD29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841172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Programmes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C508CA05-74A6-91D0-2A73-90BC7DB7F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7227E-67CA-4F5C-D3DF-9C68D2A2363E}"/>
              </a:ext>
            </a:extLst>
          </p:cNvPr>
          <p:cNvSpPr txBox="1"/>
          <p:nvPr/>
        </p:nvSpPr>
        <p:spPr>
          <a:xfrm>
            <a:off x="253573" y="2660725"/>
            <a:ext cx="11459891" cy="39907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5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Health Promotion</a:t>
            </a:r>
            <a:r>
              <a:rPr lang="en-US" sz="2200" b="1" dirty="0"/>
              <a:t>:  </a:t>
            </a:r>
            <a:r>
              <a:rPr lang="en-US" sz="2200" dirty="0"/>
              <a:t>promoting healthy lifestyles and behaviors within communities. .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Disease Prevention:  </a:t>
            </a:r>
            <a:r>
              <a:rPr lang="en-US" sz="2200" dirty="0"/>
              <a:t>prevent the spread of diseases through vaccination campaigns, health screenings, and education about communicable diseases. They also monitor and respond to outbreaks to protect public health</a:t>
            </a:r>
            <a:r>
              <a:rPr lang="en-US" sz="2200" b="1" dirty="0"/>
              <a:t>.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Disease management</a:t>
            </a:r>
            <a:r>
              <a:rPr lang="en-US" sz="2200" dirty="0"/>
              <a:t>: the systematic prevention, diagnosis, treatment, and long‑term management of diseases, especially chronic and communicable conditions</a:t>
            </a:r>
            <a:r>
              <a:rPr lang="en-US" sz="2200" b="1" dirty="0"/>
              <a:t>.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Hospital and other clinical care services</a:t>
            </a:r>
            <a:r>
              <a:rPr lang="en-US" sz="2200" dirty="0"/>
              <a:t>:  facility‑based health services provided by trained health professionals for diagnosis, treatment, rehabilitation, and emergency care such as ambulance services, pre‑hospital emergency care, stabilization, and patient transport.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Addressing Health Disparities</a:t>
            </a:r>
            <a:r>
              <a:rPr lang="en-US" sz="2200" b="1" dirty="0"/>
              <a:t>: </a:t>
            </a:r>
            <a:r>
              <a:rPr lang="en-US" sz="2200" dirty="0"/>
              <a:t>addressing social determinants of health, such as poverty, education, and access to healthcare</a:t>
            </a:r>
            <a:r>
              <a:rPr lang="en-US" sz="2200" b="1" dirty="0"/>
              <a:t>.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Community Engagement</a:t>
            </a:r>
            <a:r>
              <a:rPr lang="en-US" sz="2200" b="1" dirty="0"/>
              <a:t>: </a:t>
            </a:r>
            <a:r>
              <a:rPr lang="en-US" sz="2200" dirty="0"/>
              <a:t>collaboration with local communities, government agencies, and organizations. 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/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dirty="0"/>
              <a:t>Research and Policy Development: </a:t>
            </a:r>
            <a:r>
              <a:rPr lang="en-US" sz="2200" dirty="0"/>
              <a:t>to inform policy decisions and improve health outcomes. This includes studying health trends, evaluating program effectiveness, and advocating for health policies that benefit the community. 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dirty="0"/>
              <a:t>     </a:t>
            </a:r>
            <a:endParaRPr kumimoji="0" lang="en-US" sz="22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67A4BE-7F99-5C7E-ED26-2334B5313EDA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1AD320-A5E3-6EEB-9DA7-8871A794927F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185898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4A905-2579-88B6-6AD0-F888A0B95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2A20E6E-2F4E-B567-130D-6D68A6E0E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738161-D138-8DC6-8D64-D08EBA402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56CBD9-02A6-A5B2-58F0-89617326E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071A92-19E1-E58C-30FA-1FA61567A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B4022-6506-328C-A4F0-057C1EF0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Digital Health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106A99-20E2-77F4-3B94-061133B3CB7B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C36A7C-36CD-7E92-0AF9-24614561A373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EB164-BF64-DCD9-A032-9B20002DFB01}"/>
              </a:ext>
            </a:extLst>
          </p:cNvPr>
          <p:cNvSpPr txBox="1"/>
          <p:nvPr/>
        </p:nvSpPr>
        <p:spPr>
          <a:xfrm>
            <a:off x="122945" y="1513756"/>
            <a:ext cx="7899186" cy="4140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healthcare applications are diverse and rapidly evolving: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Telehealth and telemedicine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Virtual consultations and remote monitoring, which have become standard in primary care and urgent care services.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and data-driven platforms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Tools for predictive analytics, personalized treatment recommendations, and population health management.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Wearable devices and mobile apps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Devices that track vital signs, physical activity, and medication adherence, supporting preventive care and wellness.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2F2A5-B981-9F87-B352-DDED359FD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372" y="2485757"/>
            <a:ext cx="3691230" cy="291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3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Work </a:t>
            </a:r>
          </a:p>
        </p:txBody>
      </p:sp>
      <p:sp>
        <p:nvSpPr>
          <p:cNvPr id="6" name="Text Placeholder 5"/>
          <p:cNvSpPr>
            <a:spLocks/>
          </p:cNvSpPr>
          <p:nvPr/>
        </p:nvSpPr>
        <p:spPr>
          <a:xfrm>
            <a:off x="6172200" y="1280160"/>
            <a:ext cx="5183188" cy="679269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5" name="Text Placeholder 4"/>
          <p:cNvSpPr>
            <a:spLocks/>
          </p:cNvSpPr>
          <p:nvPr/>
        </p:nvSpPr>
        <p:spPr>
          <a:xfrm>
            <a:off x="1519654" y="2112579"/>
            <a:ext cx="4796627" cy="766220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41248">
              <a:spcAft>
                <a:spcPts val="600"/>
              </a:spcAft>
            </a:pPr>
            <a:endParaRPr lang="en-US" sz="1656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ZA"/>
          </a:p>
        </p:txBody>
      </p:sp>
      <p:sp>
        <p:nvSpPr>
          <p:cNvPr id="7" name="Content Placeholder 6"/>
          <p:cNvSpPr>
            <a:spLocks/>
          </p:cNvSpPr>
          <p:nvPr/>
        </p:nvSpPr>
        <p:spPr>
          <a:xfrm>
            <a:off x="6595370" y="2112579"/>
            <a:ext cx="4820250" cy="342658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841248">
              <a:spcAft>
                <a:spcPts val="600"/>
              </a:spcAft>
            </a:pPr>
            <a:r>
              <a:rPr lang="en-US" sz="220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Tuckman’s FSNP model (Models of team effectiveness)</a:t>
            </a:r>
          </a:p>
          <a:p>
            <a:pPr defTabSz="841248">
              <a:spcAft>
                <a:spcPts val="600"/>
              </a:spcAft>
            </a:pPr>
            <a:endParaRPr lang="en-US" sz="220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41248">
              <a:spcAft>
                <a:spcPts val="600"/>
              </a:spcAft>
            </a:pPr>
            <a:r>
              <a:rPr lang="en-US" sz="220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Understanding the actors and leverage support  – position and  power  strategy</a:t>
            </a:r>
          </a:p>
          <a:p>
            <a:pPr defTabSz="841248">
              <a:spcAft>
                <a:spcPts val="600"/>
              </a:spcAft>
            </a:pPr>
            <a:endParaRPr lang="en-US" sz="2208" dirty="0"/>
          </a:p>
          <a:p>
            <a:pPr defTabSz="841248">
              <a:spcAft>
                <a:spcPts val="600"/>
              </a:spcAft>
            </a:pPr>
            <a:r>
              <a:rPr lang="en-US" sz="220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Generational gaps</a:t>
            </a:r>
          </a:p>
          <a:p>
            <a:pPr defTabSz="841248">
              <a:spcAft>
                <a:spcPts val="600"/>
              </a:spcAft>
            </a:pPr>
            <a:endParaRPr lang="en-US" sz="220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41248">
              <a:spcAft>
                <a:spcPts val="600"/>
              </a:spcAft>
            </a:pPr>
            <a:r>
              <a:rPr lang="en-US" sz="220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841248">
              <a:spcAft>
                <a:spcPts val="600"/>
              </a:spcAft>
            </a:pPr>
            <a:endParaRPr lang="en-US" sz="220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41248">
              <a:spcAft>
                <a:spcPts val="600"/>
              </a:spcAft>
            </a:pPr>
            <a:endParaRPr lang="en-US" sz="220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41248">
              <a:spcAft>
                <a:spcPts val="600"/>
              </a:spcAft>
            </a:pPr>
            <a:endParaRPr lang="en-US" sz="220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ZA" sz="2400" dirty="0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357257" y="2700880"/>
            <a:ext cx="4796627" cy="342658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841248">
              <a:spcAft>
                <a:spcPts val="600"/>
              </a:spcAft>
            </a:pPr>
            <a:endParaRPr lang="en-US" sz="1656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/>
          </a:p>
        </p:txBody>
      </p:sp>
      <p:pic>
        <p:nvPicPr>
          <p:cNvPr id="4" name="Picture 3" descr="Models of Team Effectiveness - Agile Blog - Riter">
            <a:extLst>
              <a:ext uri="{FF2B5EF4-FFF2-40B4-BE49-F238E27FC236}">
                <a16:creationId xmlns:a16="http://schemas.microsoft.com/office/drawing/2014/main" id="{8979980B-CECD-5E13-8FBD-0B4A095C4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12" y="2204662"/>
            <a:ext cx="5330177" cy="3074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652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B0C63-B6E0-FEC2-2B0B-B6B6DB45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E81A5C3-B46F-BFC4-CDEF-E2577B83718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7DE6D-5637-BD5B-8D36-C3CAD2DF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Monitoring &amp; Accountability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E83DA-001B-8DF3-465F-1B88F68924F1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35576F-BAA2-E595-ACD1-075982ED50BF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graphicFrame>
        <p:nvGraphicFramePr>
          <p:cNvPr id="27" name="TextBox 3">
            <a:extLst>
              <a:ext uri="{FF2B5EF4-FFF2-40B4-BE49-F238E27FC236}">
                <a16:creationId xmlns:a16="http://schemas.microsoft.com/office/drawing/2014/main" id="{54EDE133-5E13-E3DB-0D31-85FC0F87D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28533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183CC11-7542-0E20-81DC-0D5FD60206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321" y="1185452"/>
            <a:ext cx="3383573" cy="50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5A1A5-9D9B-7466-067F-4B1030AB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3E2221D-3187-6042-E1C3-5383511A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1462D7-C7AC-8550-7649-EACB60E31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57E4A4-20DC-895F-2081-1D2FC328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0F1DB4-B819-5AFC-9FF4-6FE1427A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1DA8D-E4FD-E1CB-9D95-AE4FC68C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Risks &amp; Challenges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35B619-F0DD-229F-D1BF-C43D6C9AB037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5D8EB1-6B75-1E68-34F8-E6CEA8F912D3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E8461-3786-A08D-3218-1F523CEFFA03}"/>
              </a:ext>
            </a:extLst>
          </p:cNvPr>
          <p:cNvSpPr txBox="1"/>
          <p:nvPr/>
        </p:nvSpPr>
        <p:spPr>
          <a:xfrm>
            <a:off x="527086" y="1982007"/>
            <a:ext cx="7388352" cy="523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Weak governance structures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latin typeface="Calibri"/>
              </a:rPr>
              <a:t>Disease burden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latin typeface="Calibri"/>
              </a:rPr>
              <a:t>Fragmented </a:t>
            </a:r>
            <a:r>
              <a:rPr lang="en-US" sz="3200" dirty="0" err="1">
                <a:latin typeface="Calibri"/>
              </a:rPr>
              <a:t>programmes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Resource constraints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Infrastructure and Equipment Challenges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Resistance to change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Information and Data management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026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81B64-A4A6-3186-4298-792690F1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8142D-D794-74D7-FCA6-7A332DE7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Actionable Recommendations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9D4A85-DD5B-CFD4-3884-A8286D8029EF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E8B6FC-2914-E1BB-F183-D8638C7C8AB0}"/>
              </a:ext>
            </a:extLst>
          </p:cNvPr>
          <p:cNvSpPr>
            <a:spLocks/>
          </p:cNvSpPr>
          <p:nvPr/>
        </p:nvSpPr>
        <p:spPr>
          <a:xfrm>
            <a:off x="6389438" y="2557422"/>
            <a:ext cx="4227766" cy="350064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US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>
              <a:spcAft>
                <a:spcPts val="600"/>
              </a:spcAft>
            </a:pPr>
            <a:endParaRPr lang="en-ZA" sz="1296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ZA" sz="1600"/>
          </a:p>
        </p:txBody>
      </p:sp>
      <p:graphicFrame>
        <p:nvGraphicFramePr>
          <p:cNvPr id="27" name="TextBox 3">
            <a:extLst>
              <a:ext uri="{FF2B5EF4-FFF2-40B4-BE49-F238E27FC236}">
                <a16:creationId xmlns:a16="http://schemas.microsoft.com/office/drawing/2014/main" id="{A35959FF-FCEC-5BB2-98B8-B6D2D91E10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1321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5960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5F126-A1E4-7701-153C-05D57256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DDDA9-3B4E-97C4-AE37-427CA2E1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Benefit of effective health care management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7BEF8-D99D-8327-2A47-6A5A9872F1A7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6571C5-4F6D-DDF9-B5F2-79405A3F22E2}"/>
              </a:ext>
            </a:extLst>
          </p:cNvPr>
          <p:cNvSpPr>
            <a:spLocks/>
          </p:cNvSpPr>
          <p:nvPr/>
        </p:nvSpPr>
        <p:spPr>
          <a:xfrm>
            <a:off x="6152321" y="2312622"/>
            <a:ext cx="4426537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CBCCE-5D33-A660-CA5F-C9F6233EB9FE}"/>
              </a:ext>
            </a:extLst>
          </p:cNvPr>
          <p:cNvSpPr>
            <a:spLocks/>
          </p:cNvSpPr>
          <p:nvPr/>
        </p:nvSpPr>
        <p:spPr>
          <a:xfrm>
            <a:off x="1484149" y="2312623"/>
            <a:ext cx="4404844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D13EC5-9A7B-E79F-FAC3-7D4B9BEBF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264337"/>
              </p:ext>
            </p:extLst>
          </p:nvPr>
        </p:nvGraphicFramePr>
        <p:xfrm>
          <a:off x="4502428" y="622490"/>
          <a:ext cx="7225749" cy="5613023"/>
        </p:xfrm>
        <a:graphic>
          <a:graphicData uri="http://schemas.openxmlformats.org/drawingml/2006/table">
            <a:tbl>
              <a:tblPr/>
              <a:tblGrid>
                <a:gridCol w="3333951">
                  <a:extLst>
                    <a:ext uri="{9D8B030D-6E8A-4147-A177-3AD203B41FA5}">
                      <a16:colId xmlns:a16="http://schemas.microsoft.com/office/drawing/2014/main" val="1538387586"/>
                    </a:ext>
                  </a:extLst>
                </a:gridCol>
                <a:gridCol w="3891798">
                  <a:extLst>
                    <a:ext uri="{9D8B030D-6E8A-4147-A177-3AD203B41FA5}">
                      <a16:colId xmlns:a16="http://schemas.microsoft.com/office/drawing/2014/main" val="4015672600"/>
                    </a:ext>
                  </a:extLst>
                </a:gridCol>
              </a:tblGrid>
              <a:tr h="5110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70495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Improved Service Delivery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Accessible, equitable, continuous care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13729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Better Health Outcomes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Lower mortality, reduced disease burden</a:t>
                      </a:r>
                      <a:endParaRPr lang="en-US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935436"/>
                  </a:ext>
                </a:extLst>
              </a:tr>
              <a:tr h="445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 dirty="0"/>
                        <a:t>Efficient Resource Use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Sustainability, minimized waste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559692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Workforce Performance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Higher quality, reduced shortages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547851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Financial Protection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Affordable care, universal coverage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189340"/>
                  </a:ext>
                </a:extLst>
              </a:tr>
              <a:tr h="445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Patient-Centered Care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Trust, satisfaction, adherence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10764"/>
                  </a:ext>
                </a:extLst>
              </a:tr>
              <a:tr h="445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Resilience to Shocks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Continuity during crises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88313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/>
                        <a:t>Innovation &amp; Integration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 dirty="0"/>
                        <a:t>Modernized, coordinated systems</a:t>
                      </a:r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456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90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i="1"/>
              <a:t>All hands on deck together we can do more</a:t>
            </a:r>
          </a:p>
        </p:txBody>
      </p:sp>
      <p:sp>
        <p:nvSpPr>
          <p:cNvPr id="4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ETHICAL CONSIDERATION</a:t>
            </a: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Ethical leadership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Respect for others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Accountability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Ensuring fairness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4312A8-ED5F-B889-9EEC-6489E27F2F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19" r="1802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 Placeholder 3"/>
          <p:cNvSpPr>
            <a:spLocks/>
          </p:cNvSpPr>
          <p:nvPr/>
        </p:nvSpPr>
        <p:spPr>
          <a:xfrm>
            <a:off x="1693648" y="2112579"/>
            <a:ext cx="4330353" cy="691737"/>
          </a:xfrm>
          <a:prstGeom prst="rect">
            <a:avLst/>
          </a:prstGeom>
        </p:spPr>
        <p:txBody>
          <a:bodyPr/>
          <a:lstStyle/>
          <a:p>
            <a:pPr defTabSz="758952">
              <a:spcAft>
                <a:spcPts val="600"/>
              </a:spcAft>
            </a:pPr>
            <a:endParaRPr lang="en-ZA" dirty="0"/>
          </a:p>
        </p:txBody>
      </p:sp>
      <p:sp>
        <p:nvSpPr>
          <p:cNvPr id="5" name="Text Placeholder 4"/>
          <p:cNvSpPr>
            <a:spLocks/>
          </p:cNvSpPr>
          <p:nvPr/>
        </p:nvSpPr>
        <p:spPr>
          <a:xfrm>
            <a:off x="6170612" y="2112579"/>
            <a:ext cx="4351680" cy="691737"/>
          </a:xfrm>
          <a:prstGeom prst="rect">
            <a:avLst/>
          </a:prstGeom>
        </p:spPr>
        <p:txBody>
          <a:bodyPr/>
          <a:lstStyle/>
          <a:p>
            <a:pPr defTabSz="758952">
              <a:spcAft>
                <a:spcPts val="600"/>
              </a:spcAft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93071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448DA-009D-AD61-1A42-66E372BC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BB4ACD6-6B26-32CF-78B6-4479F7F5E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CBF4C4-51E7-B5FF-C8E1-CC59ED946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139F4D-FEF8-21F3-CEAA-BD4C01860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D1B6D8-8DF1-6AD0-B7C2-6718AB23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4707747-DE46-556F-CD96-5A95F191D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BC69-0238-F007-94C6-4B4837B2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0187E-8281-A2F8-B985-0B864254D370}"/>
              </a:ext>
            </a:extLst>
          </p:cNvPr>
          <p:cNvSpPr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Z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5EEE5B-C63D-B9AA-FD64-3056669F2E75}"/>
              </a:ext>
            </a:extLst>
          </p:cNvPr>
          <p:cNvSpPr>
            <a:spLocks/>
          </p:cNvSpPr>
          <p:nvPr/>
        </p:nvSpPr>
        <p:spPr>
          <a:xfrm>
            <a:off x="6152321" y="2312622"/>
            <a:ext cx="4426537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0C8B6-9845-A213-A379-27CDAB3C5A55}"/>
              </a:ext>
            </a:extLst>
          </p:cNvPr>
          <p:cNvSpPr>
            <a:spLocks/>
          </p:cNvSpPr>
          <p:nvPr/>
        </p:nvSpPr>
        <p:spPr>
          <a:xfrm>
            <a:off x="1484149" y="2312623"/>
            <a:ext cx="4404844" cy="314670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B7D7E9-5134-4973-4433-3472FAE98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31680"/>
              </p:ext>
            </p:extLst>
          </p:nvPr>
        </p:nvGraphicFramePr>
        <p:xfrm>
          <a:off x="4556632" y="622490"/>
          <a:ext cx="7171545" cy="6421852"/>
        </p:xfrm>
        <a:graphic>
          <a:graphicData uri="http://schemas.openxmlformats.org/drawingml/2006/table">
            <a:tbl>
              <a:tblPr/>
              <a:tblGrid>
                <a:gridCol w="3279747">
                  <a:extLst>
                    <a:ext uri="{9D8B030D-6E8A-4147-A177-3AD203B41FA5}">
                      <a16:colId xmlns:a16="http://schemas.microsoft.com/office/drawing/2014/main" val="1538387586"/>
                    </a:ext>
                  </a:extLst>
                </a:gridCol>
                <a:gridCol w="3891798">
                  <a:extLst>
                    <a:ext uri="{9D8B030D-6E8A-4147-A177-3AD203B41FA5}">
                      <a16:colId xmlns:a16="http://schemas.microsoft.com/office/drawing/2014/main" val="4015672600"/>
                    </a:ext>
                  </a:extLst>
                </a:gridCol>
              </a:tblGrid>
              <a:tr h="5110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  <a:p>
                      <a:pPr>
                        <a:buNone/>
                      </a:pPr>
                      <a:endParaRPr lang="en-ZA" sz="2000" dirty="0"/>
                    </a:p>
                    <a:p>
                      <a:pPr>
                        <a:buNone/>
                      </a:pPr>
                      <a:endParaRPr lang="en-ZA" sz="2000" dirty="0"/>
                    </a:p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70495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13729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935436"/>
                  </a:ext>
                </a:extLst>
              </a:tr>
              <a:tr h="4453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559692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547851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189340"/>
                  </a:ext>
                </a:extLst>
              </a:tr>
              <a:tr h="4453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10764"/>
                  </a:ext>
                </a:extLst>
              </a:tr>
              <a:tr h="4453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88313"/>
                  </a:ext>
                </a:extLst>
              </a:tr>
              <a:tr h="7531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A" sz="2000" dirty="0"/>
                    </a:p>
                  </a:txBody>
                  <a:tcPr marL="100673" marR="100673" marT="50337" marB="5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456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97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Widescreen</PresentationFormat>
  <Paragraphs>338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din-2014</vt:lpstr>
      <vt:lpstr>Google Sans</vt:lpstr>
      <vt:lpstr>Wingdings</vt:lpstr>
      <vt:lpstr>Office Theme</vt:lpstr>
      <vt:lpstr>   EFFECTIVE MANAGEMENT STRATEGIES IN HEALTHCARE SECTOR </vt:lpstr>
      <vt:lpstr>Table of content </vt:lpstr>
      <vt:lpstr>Scenario </vt:lpstr>
      <vt:lpstr>South Africa’s Health System at a Glance</vt:lpstr>
      <vt:lpstr>Quadruple burden of disease  </vt:lpstr>
      <vt:lpstr>Drivers   </vt:lpstr>
      <vt:lpstr>Framework for effective management </vt:lpstr>
      <vt:lpstr>Leadership</vt:lpstr>
      <vt:lpstr>Governance</vt:lpstr>
      <vt:lpstr>Financing </vt:lpstr>
      <vt:lpstr>Financing</vt:lpstr>
      <vt:lpstr>Workforce &amp; Resources</vt:lpstr>
      <vt:lpstr>Service Delivery</vt:lpstr>
      <vt:lpstr>Programmes</vt:lpstr>
      <vt:lpstr>Digital Health </vt:lpstr>
      <vt:lpstr>Team Work </vt:lpstr>
      <vt:lpstr>Monitoring &amp; Accountability</vt:lpstr>
      <vt:lpstr>Risks &amp; Challenges</vt:lpstr>
      <vt:lpstr>Actionable Recommendations</vt:lpstr>
      <vt:lpstr>Benefit of effective health care management</vt:lpstr>
      <vt:lpstr>All hands on deck together we can do more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Bono Nemukula</dc:creator>
  <cp:lastModifiedBy>Bono Nemukula</cp:lastModifiedBy>
  <cp:revision>54</cp:revision>
  <dcterms:created xsi:type="dcterms:W3CDTF">2023-05-18T20:17:49Z</dcterms:created>
  <dcterms:modified xsi:type="dcterms:W3CDTF">2026-04-22T09:43:43Z</dcterms:modified>
</cp:coreProperties>
</file>